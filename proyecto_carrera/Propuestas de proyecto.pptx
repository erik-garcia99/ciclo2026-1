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6"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2941" autoAdjust="0"/>
  </p:normalViewPr>
  <p:slideViewPr>
    <p:cSldViewPr snapToGrid="0">
      <p:cViewPr varScale="1">
        <p:scale>
          <a:sx n="60" d="100"/>
          <a:sy n="60" d="100"/>
        </p:scale>
        <p:origin x="1550"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92740B-5CD8-4479-BF4E-9E6AAA34BB60}" type="datetimeFigureOut">
              <a:rPr lang="en-US" smtClean="0"/>
              <a:t>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D43D4A-F303-459B-971A-5AD6D4E0EB87}" type="slidenum">
              <a:rPr lang="en-US" smtClean="0"/>
              <a:t>‹#›</a:t>
            </a:fld>
            <a:endParaRPr lang="en-US"/>
          </a:p>
        </p:txBody>
      </p:sp>
    </p:spTree>
    <p:extLst>
      <p:ext uri="{BB962C8B-B14F-4D97-AF65-F5344CB8AC3E}">
        <p14:creationId xmlns:p14="http://schemas.microsoft.com/office/powerpoint/2010/main" val="6264117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noProof="0" dirty="0"/>
              <a:t>-conteo visual: por lo que es común que cuando un cliente pregunta por algún producto si no se ha hecho el inventario, por lo que sospechara de que tiene, pero en el mero momento no cuenta con el producto, por lo que ya quedo mal con dicho cliente. </a:t>
            </a:r>
          </a:p>
          <a:p>
            <a:endParaRPr lang="en-US" dirty="0"/>
          </a:p>
        </p:txBody>
      </p:sp>
      <p:sp>
        <p:nvSpPr>
          <p:cNvPr id="4" name="Slide Number Placeholder 3"/>
          <p:cNvSpPr>
            <a:spLocks noGrp="1"/>
          </p:cNvSpPr>
          <p:nvPr>
            <p:ph type="sldNum" sz="quarter" idx="5"/>
          </p:nvPr>
        </p:nvSpPr>
        <p:spPr/>
        <p:txBody>
          <a:bodyPr/>
          <a:lstStyle/>
          <a:p>
            <a:fld id="{16D43D4A-F303-459B-971A-5AD6D4E0EB87}" type="slidenum">
              <a:rPr lang="en-US" smtClean="0"/>
              <a:t>2</a:t>
            </a:fld>
            <a:endParaRPr lang="en-US"/>
          </a:p>
        </p:txBody>
      </p:sp>
    </p:spTree>
    <p:extLst>
      <p:ext uri="{BB962C8B-B14F-4D97-AF65-F5344CB8AC3E}">
        <p14:creationId xmlns:p14="http://schemas.microsoft.com/office/powerpoint/2010/main" val="8228424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s-MX" noProof="0" dirty="0"/>
              <a:t>El sistema esta monitoreando </a:t>
            </a:r>
            <a:r>
              <a:rPr lang="es-MX" noProof="0" dirty="0" err="1"/>
              <a:t>constanteme</a:t>
            </a:r>
            <a:r>
              <a:rPr lang="es-MX" noProof="0" dirty="0"/>
              <a:t> los estantes, en cualquier momento un cambio de ese peso quedara registrado. </a:t>
            </a:r>
          </a:p>
          <a:p>
            <a:pPr marL="171450" indent="-171450">
              <a:buFontTx/>
              <a:buChar char="-"/>
            </a:pPr>
            <a:endParaRPr lang="es-MX" noProof="0" dirty="0"/>
          </a:p>
          <a:p>
            <a:pPr marL="171450" indent="-171450">
              <a:buFontTx/>
              <a:buChar char="-"/>
            </a:pPr>
            <a:endParaRPr lang="es-MX" noProof="0" dirty="0"/>
          </a:p>
          <a:p>
            <a:pPr marL="171450" indent="-171450">
              <a:buFontTx/>
              <a:buChar char="-"/>
            </a:pPr>
            <a:r>
              <a:rPr lang="es-MX" noProof="0" dirty="0"/>
              <a:t>Rango : digamos que se tiene un peso inicial o ideal sobre el producto y si el peso total de ese estante rebaja el 15% del peso ideal entonces el sistema podría ordenar automáticamente el proveedor para que reestablezca el producto lo mas pronto posible. </a:t>
            </a:r>
          </a:p>
          <a:p>
            <a:pPr marL="171450" indent="-171450">
              <a:buFontTx/>
              <a:buChar char="-"/>
            </a:pPr>
            <a:endParaRPr lang="es-MX" noProof="0" dirty="0"/>
          </a:p>
          <a:p>
            <a:pPr marL="171450" indent="-171450">
              <a:buFontTx/>
              <a:buChar char="-"/>
            </a:pPr>
            <a:r>
              <a:rPr lang="es-MX" noProof="0" dirty="0"/>
              <a:t>Aprendizaje del negocio: lo que indica que el sistema podrá aprender sobre el negocio en el termino de que por ejemplo, ciertas fechas, una papelería, en los periodos de enero-febrero, agosto-septiembre que son cunado inician los ciclos escolares, por ejemplo las libreas, lápices, colores, etc.. Es lo que mas va a estarse vendido entre esas fechas a x hora por lo general, por lo que el sistema estará al pendiente y asignando mayor prioridad a esos estantes antes que otros.  </a:t>
            </a:r>
          </a:p>
          <a:p>
            <a:pPr marL="171450" indent="-171450">
              <a:buFontTx/>
              <a:buChar char="-"/>
            </a:pPr>
            <a:endParaRPr lang="es-MX" noProof="0" dirty="0"/>
          </a:p>
          <a:p>
            <a:pPr marL="171450" indent="-171450">
              <a:buFontTx/>
              <a:buChar char="-"/>
            </a:pPr>
            <a:endParaRPr lang="es-MX" noProof="0" dirty="0"/>
          </a:p>
          <a:p>
            <a:pPr marL="171450" indent="-171450">
              <a:buFontTx/>
              <a:buChar char="-"/>
            </a:pPr>
            <a:endParaRPr lang="es-MX" noProof="0" dirty="0"/>
          </a:p>
          <a:p>
            <a:pPr marL="171450" indent="-171450">
              <a:buFontTx/>
              <a:buChar char="-"/>
            </a:pPr>
            <a:r>
              <a:rPr lang="es-MX" noProof="0" dirty="0"/>
              <a:t>Un problema que puede tener este sistema es que para que este sistema funcione idealmente los estantes solo deberían de constar con 1 solo producto o productos que pesen mas o menos lo mismo para que el monitoreo tenga un sentido. </a:t>
            </a:r>
          </a:p>
        </p:txBody>
      </p:sp>
      <p:sp>
        <p:nvSpPr>
          <p:cNvPr id="4" name="Slide Number Placeholder 3"/>
          <p:cNvSpPr>
            <a:spLocks noGrp="1"/>
          </p:cNvSpPr>
          <p:nvPr>
            <p:ph type="sldNum" sz="quarter" idx="5"/>
          </p:nvPr>
        </p:nvSpPr>
        <p:spPr/>
        <p:txBody>
          <a:bodyPr/>
          <a:lstStyle/>
          <a:p>
            <a:fld id="{16D43D4A-F303-459B-971A-5AD6D4E0EB87}" type="slidenum">
              <a:rPr lang="en-US" smtClean="0"/>
              <a:t>3</a:t>
            </a:fld>
            <a:endParaRPr lang="en-US"/>
          </a:p>
        </p:txBody>
      </p:sp>
    </p:spTree>
    <p:extLst>
      <p:ext uri="{BB962C8B-B14F-4D97-AF65-F5344CB8AC3E}">
        <p14:creationId xmlns:p14="http://schemas.microsoft.com/office/powerpoint/2010/main" val="18612381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MX" noProof="0" dirty="0"/>
              <a:t>-parte del ESP32, la celda de carga de encarga convierte la energía mecánica en una señal eléctrica, el ADC interno del ESP32 es muy Ruidoso y será mas porque el ESP32 se estará comunicando con el </a:t>
            </a:r>
            <a:r>
              <a:rPr lang="es-MX" noProof="0" dirty="0" err="1"/>
              <a:t>raspberry</a:t>
            </a:r>
            <a:r>
              <a:rPr lang="es-MX" noProof="0" dirty="0"/>
              <a:t> pi mediante wifi, para eso se utiliza el sensor HX711 que manda la lectura directa al ESP32 por lo que el wifi no afectara a la lectura del peso. </a:t>
            </a:r>
          </a:p>
          <a:p>
            <a:endParaRPr lang="es-MX" noProof="0" dirty="0"/>
          </a:p>
          <a:p>
            <a:r>
              <a:rPr lang="es-MX" noProof="0" dirty="0"/>
              <a:t>-porque ese protocolo MQTT: es un protocolo creado específicamente para el </a:t>
            </a:r>
            <a:r>
              <a:rPr lang="es-MX" noProof="0" dirty="0" err="1"/>
              <a:t>IoT</a:t>
            </a:r>
            <a:r>
              <a:rPr lang="es-MX" noProof="0" dirty="0"/>
              <a:t>, el ESP32 envía el peso un tópico el cual escucha la </a:t>
            </a:r>
            <a:r>
              <a:rPr lang="es-MX" noProof="0" dirty="0" err="1"/>
              <a:t>rasberry</a:t>
            </a:r>
            <a:r>
              <a:rPr lang="es-MX" noProof="0" dirty="0"/>
              <a:t> pi para guardarlos en una base de datos. </a:t>
            </a:r>
          </a:p>
        </p:txBody>
      </p:sp>
      <p:sp>
        <p:nvSpPr>
          <p:cNvPr id="4" name="Slide Number Placeholder 3"/>
          <p:cNvSpPr>
            <a:spLocks noGrp="1"/>
          </p:cNvSpPr>
          <p:nvPr>
            <p:ph type="sldNum" sz="quarter" idx="5"/>
          </p:nvPr>
        </p:nvSpPr>
        <p:spPr/>
        <p:txBody>
          <a:bodyPr/>
          <a:lstStyle/>
          <a:p>
            <a:fld id="{16D43D4A-F303-459B-971A-5AD6D4E0EB87}" type="slidenum">
              <a:rPr lang="en-US" smtClean="0"/>
              <a:t>4</a:t>
            </a:fld>
            <a:endParaRPr lang="en-US"/>
          </a:p>
        </p:txBody>
      </p:sp>
    </p:spTree>
    <p:extLst>
      <p:ext uri="{BB962C8B-B14F-4D97-AF65-F5344CB8AC3E}">
        <p14:creationId xmlns:p14="http://schemas.microsoft.com/office/powerpoint/2010/main" val="11820098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MX" noProof="0" dirty="0"/>
          </a:p>
          <a:p>
            <a:r>
              <a:rPr lang="es-MX" noProof="0" dirty="0"/>
              <a:t>-en un negocio puede que se tengan 2, 3, 10 estantes con esta infraestructura, la idea es que toda es información se orqueste en un solo paquete que se envié, en vez de la ESP32 sea la que mande la información, se tendrían por 10 ESP32 mandando constantemente información a la nube a un servidor en AWS por dar un ejemplo, se podría dar el caso que la conexión pueda perderse, que la información en la DB pueda corromperse, para que eso no pase y que el proceso sea mucho mas simple tanto para el software, como para el ingeniero, a la hora de mantenimiento o posible estabilidad sea mucho mas sencillo y Seguro</a:t>
            </a:r>
          </a:p>
          <a:p>
            <a:endParaRPr lang="es-MX" noProof="0" dirty="0"/>
          </a:p>
          <a:p>
            <a:r>
              <a:rPr lang="es-MX" noProof="0" dirty="0"/>
              <a:t>-Modo offline: en caso de que no haya internet el servicio seguirá corriendo, posiblemente no pueda ver la pagina pero los ESP32 siguen funcionando y la </a:t>
            </a:r>
            <a:r>
              <a:rPr lang="es-MX" noProof="0" dirty="0" err="1"/>
              <a:t>raspberry</a:t>
            </a:r>
            <a:r>
              <a:rPr lang="es-MX" noProof="0" dirty="0"/>
              <a:t> pi, la información se guarda temporalmente en ella una vez que el internet se reestablezca se enviara la información a los distintos servicios de poco a poco hasta que el flujo normal se reestablezca lo que se conoce como “back-off”</a:t>
            </a:r>
          </a:p>
          <a:p>
            <a:endParaRPr lang="es-MX" noProof="0" dirty="0"/>
          </a:p>
          <a:p>
            <a:r>
              <a:rPr lang="es-MX" noProof="0" dirty="0"/>
              <a:t>-la posibilidad de conectar toda la información a un agente de IA, esto para que el Sistema sea mucho mas autónomo, pueda aprender sobre el negocio, como se menciono anteriormente en fechas, horas, días de la semana puede aprender que es lo que mas se vente, lo que menos, puede anticiparse y encargar productos para llegado x días el stock será bajo pero no habría problema porque el agente se encargo de llamar al proveedor y encargar dependiendo de las necesidades del usuario. </a:t>
            </a:r>
          </a:p>
        </p:txBody>
      </p:sp>
      <p:sp>
        <p:nvSpPr>
          <p:cNvPr id="4" name="Slide Number Placeholder 3"/>
          <p:cNvSpPr>
            <a:spLocks noGrp="1"/>
          </p:cNvSpPr>
          <p:nvPr>
            <p:ph type="sldNum" sz="quarter" idx="5"/>
          </p:nvPr>
        </p:nvSpPr>
        <p:spPr/>
        <p:txBody>
          <a:bodyPr/>
          <a:lstStyle/>
          <a:p>
            <a:fld id="{16D43D4A-F303-459B-971A-5AD6D4E0EB87}" type="slidenum">
              <a:rPr lang="en-US" smtClean="0"/>
              <a:t>5</a:t>
            </a:fld>
            <a:endParaRPr lang="en-US"/>
          </a:p>
        </p:txBody>
      </p:sp>
    </p:spTree>
    <p:extLst>
      <p:ext uri="{BB962C8B-B14F-4D97-AF65-F5344CB8AC3E}">
        <p14:creationId xmlns:p14="http://schemas.microsoft.com/office/powerpoint/2010/main" val="3879789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s-MX" noProof="0" dirty="0"/>
              <a:t>Error humanos: hacemos referencia a la negligencia como el cunado se toma nota de las placas del carro muchas veces pasa rápido no alcanza a anotar el numero de placas por lo que se inventa los números o no lo hace, el escribir mal y no poder distinguir las letras en caso de un percance poder dar seguimiento. </a:t>
            </a:r>
          </a:p>
          <a:p>
            <a:pPr marL="171450" indent="-171450">
              <a:buFontTx/>
              <a:buChar char="-"/>
            </a:pPr>
            <a:endParaRPr lang="es-MX" noProof="0" dirty="0"/>
          </a:p>
          <a:p>
            <a:pPr marL="171450" indent="-171450">
              <a:buFontTx/>
              <a:buChar char="-"/>
            </a:pPr>
            <a:r>
              <a:rPr lang="es-MX" noProof="0" dirty="0"/>
              <a:t>El ser humando puede ceder: un guarda de seguridad puede ser susceptible a la ingeniería social, como el convencerlo que es un amigo de alguien dentro del complejo, lo cual puede ser real o no, en peor caso es que no y pueda ocasionar un percance. </a:t>
            </a:r>
          </a:p>
        </p:txBody>
      </p:sp>
      <p:sp>
        <p:nvSpPr>
          <p:cNvPr id="4" name="Slide Number Placeholder 3"/>
          <p:cNvSpPr>
            <a:spLocks noGrp="1"/>
          </p:cNvSpPr>
          <p:nvPr>
            <p:ph type="sldNum" sz="quarter" idx="5"/>
          </p:nvPr>
        </p:nvSpPr>
        <p:spPr/>
        <p:txBody>
          <a:bodyPr/>
          <a:lstStyle/>
          <a:p>
            <a:fld id="{16D43D4A-F303-459B-971A-5AD6D4E0EB87}" type="slidenum">
              <a:rPr lang="en-US" smtClean="0"/>
              <a:t>7</a:t>
            </a:fld>
            <a:endParaRPr lang="en-US"/>
          </a:p>
        </p:txBody>
      </p:sp>
    </p:spTree>
    <p:extLst>
      <p:ext uri="{BB962C8B-B14F-4D97-AF65-F5344CB8AC3E}">
        <p14:creationId xmlns:p14="http://schemas.microsoft.com/office/powerpoint/2010/main" val="26789274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s-MX" noProof="0" dirty="0"/>
              <a:t>Mala letra: en vez de estar escribiendo, el Sistema detecta las placas las digitalice para guardas en una base de datos, hacer el proceso para saber si el vehículo se encuentra registrado como un residente dar el acceso, el otro caso negarlo </a:t>
            </a:r>
          </a:p>
          <a:p>
            <a:pPr marL="171450" indent="-171450">
              <a:buFontTx/>
              <a:buChar char="-"/>
            </a:pPr>
            <a:endParaRPr lang="es-MX" noProof="0" dirty="0"/>
          </a:p>
          <a:p>
            <a:pPr marL="171450" indent="-171450">
              <a:buFontTx/>
              <a:buChar char="-"/>
            </a:pPr>
            <a:r>
              <a:rPr lang="es-MX" noProof="0" dirty="0"/>
              <a:t>Como se menciono un guardia puede tardar hasta 1 minute – 2 en poder verificar la identidad de las personas, pero un Sistema inteligente lo hace casi al instante en lo que tarda en procesarse la imagen, por lo que en este punto puede agilizarse. </a:t>
            </a:r>
          </a:p>
          <a:p>
            <a:pPr marL="171450" indent="-171450">
              <a:buFontTx/>
              <a:buChar char="-"/>
            </a:pPr>
            <a:endParaRPr lang="es-MX" noProof="0" dirty="0"/>
          </a:p>
          <a:p>
            <a:pPr marL="171450" indent="-171450">
              <a:buFontTx/>
              <a:buChar char="-"/>
            </a:pPr>
            <a:r>
              <a:rPr lang="es-MX" noProof="0" dirty="0"/>
              <a:t>El personal: ahora no seria necesario que este una persona físicamente en la Puerta, el guarda o los guardas podrían reasignarse a realizar rondines en el fraccionamiento para mayor seguridad. </a:t>
            </a:r>
          </a:p>
          <a:p>
            <a:pPr marL="171450" indent="-171450">
              <a:buFontTx/>
              <a:buChar char="-"/>
            </a:pPr>
            <a:r>
              <a:rPr lang="es-MX" noProof="0" dirty="0"/>
              <a:t>Un Sistema inteligente puede realizar un análisis sobre los datos y poder proyectar anomalías, como el que un auto entra muchas veces y sale rápido, puede ser algo inicial, detector los horarios picos, podría sugerir abrir una Segunda entrada. Identificar abuso de uso de cajones de estacionamiento. Etc..</a:t>
            </a:r>
          </a:p>
          <a:p>
            <a:pPr marL="171450" indent="-171450">
              <a:buFontTx/>
              <a:buChar char="-"/>
            </a:pPr>
            <a:endParaRPr lang="es-MX" noProof="0" dirty="0"/>
          </a:p>
          <a:p>
            <a:pPr marL="171450" indent="-171450">
              <a:buFontTx/>
              <a:buChar char="-"/>
            </a:pPr>
            <a:r>
              <a:rPr lang="es-MX" noProof="0" dirty="0"/>
              <a:t>El Sistema es estricto, no se cuenta registrado no podrás entrar. </a:t>
            </a:r>
          </a:p>
          <a:p>
            <a:pPr marL="171450" indent="-171450">
              <a:buFontTx/>
              <a:buChar char="-"/>
            </a:pPr>
            <a:endParaRPr lang="es-MX" noProof="0" dirty="0"/>
          </a:p>
        </p:txBody>
      </p:sp>
      <p:sp>
        <p:nvSpPr>
          <p:cNvPr id="4" name="Slide Number Placeholder 3"/>
          <p:cNvSpPr>
            <a:spLocks noGrp="1"/>
          </p:cNvSpPr>
          <p:nvPr>
            <p:ph type="sldNum" sz="quarter" idx="5"/>
          </p:nvPr>
        </p:nvSpPr>
        <p:spPr/>
        <p:txBody>
          <a:bodyPr/>
          <a:lstStyle/>
          <a:p>
            <a:fld id="{16D43D4A-F303-459B-971A-5AD6D4E0EB87}" type="slidenum">
              <a:rPr lang="en-US" smtClean="0"/>
              <a:t>8</a:t>
            </a:fld>
            <a:endParaRPr lang="en-US"/>
          </a:p>
        </p:txBody>
      </p:sp>
    </p:spTree>
    <p:extLst>
      <p:ext uri="{BB962C8B-B14F-4D97-AF65-F5344CB8AC3E}">
        <p14:creationId xmlns:p14="http://schemas.microsoft.com/office/powerpoint/2010/main" val="226372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s-MX" noProof="0" dirty="0"/>
              <a:t>Tenemos a </a:t>
            </a:r>
            <a:r>
              <a:rPr lang="es-MX" noProof="0" dirty="0" err="1"/>
              <a:t>Avigilon</a:t>
            </a:r>
            <a:r>
              <a:rPr lang="es-MX" noProof="0" dirty="0"/>
              <a:t> donde el costo de solo el hardware puede rondar los 10 mil a 30 mil </a:t>
            </a:r>
            <a:r>
              <a:rPr lang="es-MX" noProof="0" dirty="0" err="1"/>
              <a:t>dolares</a:t>
            </a:r>
            <a:r>
              <a:rPr lang="es-MX" noProof="0" dirty="0"/>
              <a:t>, aun se le suman el software un costo anual de 15 mil </a:t>
            </a:r>
            <a:r>
              <a:rPr lang="es-MX" noProof="0" dirty="0" err="1"/>
              <a:t>dlls</a:t>
            </a:r>
            <a:r>
              <a:rPr lang="es-MX" noProof="0" dirty="0"/>
              <a:t> al </a:t>
            </a:r>
            <a:r>
              <a:rPr lang="es-MX" noProof="0" dirty="0" err="1"/>
              <a:t>anio</a:t>
            </a:r>
            <a:r>
              <a:rPr lang="es-MX" noProof="0" dirty="0"/>
              <a:t>, una </a:t>
            </a:r>
            <a:r>
              <a:rPr lang="es-MX" noProof="0" dirty="0" err="1"/>
              <a:t>instalcion</a:t>
            </a:r>
            <a:r>
              <a:rPr lang="es-MX" noProof="0" dirty="0"/>
              <a:t> de 8 mil </a:t>
            </a:r>
            <a:r>
              <a:rPr lang="es-MX" noProof="0" dirty="0" err="1"/>
              <a:t>dlls</a:t>
            </a:r>
            <a:r>
              <a:rPr lang="es-MX" noProof="0" dirty="0"/>
              <a:t>, etc. </a:t>
            </a:r>
          </a:p>
          <a:p>
            <a:pPr marL="171450" indent="-171450">
              <a:buFontTx/>
              <a:buChar char="-"/>
            </a:pPr>
            <a:r>
              <a:rPr lang="es-MX" noProof="0" dirty="0"/>
              <a:t>Tenemos a </a:t>
            </a:r>
            <a:r>
              <a:rPr lang="es-MX" noProof="0" dirty="0" err="1"/>
              <a:t>pelco</a:t>
            </a:r>
            <a:r>
              <a:rPr lang="es-MX" noProof="0" dirty="0"/>
              <a:t> donde el hardware puede costar hasta casi 40 mil, </a:t>
            </a:r>
            <a:r>
              <a:rPr lang="es-MX" noProof="0" dirty="0" err="1"/>
              <a:t>uns</a:t>
            </a:r>
            <a:r>
              <a:rPr lang="es-MX" noProof="0" dirty="0"/>
              <a:t> suscripción a sus servicios de 10 mil al </a:t>
            </a:r>
            <a:r>
              <a:rPr lang="es-MX" noProof="0" dirty="0" err="1"/>
              <a:t>anio</a:t>
            </a:r>
            <a:r>
              <a:rPr lang="es-MX" noProof="0"/>
              <a:t>. </a:t>
            </a:r>
          </a:p>
          <a:p>
            <a:pPr marL="171450" indent="-171450">
              <a:buFontTx/>
              <a:buChar char="-"/>
            </a:pPr>
            <a:endParaRPr lang="es-MX" noProof="0" dirty="0"/>
          </a:p>
        </p:txBody>
      </p:sp>
      <p:sp>
        <p:nvSpPr>
          <p:cNvPr id="4" name="Slide Number Placeholder 3"/>
          <p:cNvSpPr>
            <a:spLocks noGrp="1"/>
          </p:cNvSpPr>
          <p:nvPr>
            <p:ph type="sldNum" sz="quarter" idx="5"/>
          </p:nvPr>
        </p:nvSpPr>
        <p:spPr/>
        <p:txBody>
          <a:bodyPr/>
          <a:lstStyle/>
          <a:p>
            <a:fld id="{16D43D4A-F303-459B-971A-5AD6D4E0EB87}" type="slidenum">
              <a:rPr lang="en-US" smtClean="0"/>
              <a:t>10</a:t>
            </a:fld>
            <a:endParaRPr lang="en-US"/>
          </a:p>
        </p:txBody>
      </p:sp>
    </p:spTree>
    <p:extLst>
      <p:ext uri="{BB962C8B-B14F-4D97-AF65-F5344CB8AC3E}">
        <p14:creationId xmlns:p14="http://schemas.microsoft.com/office/powerpoint/2010/main" val="90393574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2/9/2026</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2/9/2026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2/9/2026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2/9/2026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2/9/2026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2/9/2026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2/9/2026</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C7FAD-26B1-7F8C-4773-1DA244C5798D}"/>
              </a:ext>
            </a:extLst>
          </p:cNvPr>
          <p:cNvSpPr>
            <a:spLocks noGrp="1"/>
          </p:cNvSpPr>
          <p:nvPr>
            <p:ph type="ctrTitle"/>
          </p:nvPr>
        </p:nvSpPr>
        <p:spPr>
          <a:xfrm>
            <a:off x="1876424" y="1122363"/>
            <a:ext cx="8791575" cy="1749929"/>
          </a:xfrm>
        </p:spPr>
        <p:txBody>
          <a:bodyPr/>
          <a:lstStyle/>
          <a:p>
            <a:r>
              <a:rPr lang="es-MX" dirty="0"/>
              <a:t>Propuestas de proyecto</a:t>
            </a:r>
          </a:p>
        </p:txBody>
      </p:sp>
      <p:sp>
        <p:nvSpPr>
          <p:cNvPr id="3" name="Subtitle 2">
            <a:extLst>
              <a:ext uri="{FF2B5EF4-FFF2-40B4-BE49-F238E27FC236}">
                <a16:creationId xmlns:a16="http://schemas.microsoft.com/office/drawing/2014/main" id="{89875514-5FA7-807E-9DDC-6D4E9F50C440}"/>
              </a:ext>
            </a:extLst>
          </p:cNvPr>
          <p:cNvSpPr>
            <a:spLocks noGrp="1"/>
          </p:cNvSpPr>
          <p:nvPr>
            <p:ph type="subTitle" idx="1"/>
          </p:nvPr>
        </p:nvSpPr>
        <p:spPr>
          <a:xfrm>
            <a:off x="1876424" y="2872292"/>
            <a:ext cx="8791575" cy="2385508"/>
          </a:xfrm>
        </p:spPr>
        <p:txBody>
          <a:bodyPr>
            <a:normAutofit/>
          </a:bodyPr>
          <a:lstStyle/>
          <a:p>
            <a:r>
              <a:rPr lang="es-MX" dirty="0"/>
              <a:t>Proyecto de Carrera</a:t>
            </a:r>
          </a:p>
          <a:p>
            <a:r>
              <a:rPr lang="es-MX" dirty="0"/>
              <a:t>Ing. en computación  </a:t>
            </a:r>
          </a:p>
          <a:p>
            <a:r>
              <a:rPr lang="es-MX" dirty="0"/>
              <a:t>Mauricio ALONSO SANCHEZ HERRERA </a:t>
            </a:r>
          </a:p>
          <a:p>
            <a:r>
              <a:rPr lang="es-MX" dirty="0"/>
              <a:t>Garcia Chávez erik </a:t>
            </a:r>
          </a:p>
        </p:txBody>
      </p:sp>
    </p:spTree>
    <p:extLst>
      <p:ext uri="{BB962C8B-B14F-4D97-AF65-F5344CB8AC3E}">
        <p14:creationId xmlns:p14="http://schemas.microsoft.com/office/powerpoint/2010/main" val="27187964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E0180-09BB-838A-46AF-8E31609AA699}"/>
              </a:ext>
            </a:extLst>
          </p:cNvPr>
          <p:cNvSpPr>
            <a:spLocks noGrp="1"/>
          </p:cNvSpPr>
          <p:nvPr>
            <p:ph type="title"/>
          </p:nvPr>
        </p:nvSpPr>
        <p:spPr/>
        <p:txBody>
          <a:bodyPr/>
          <a:lstStyle/>
          <a:p>
            <a:r>
              <a:rPr lang="es-MX" dirty="0"/>
              <a:t>Propuesta 1: Smart </a:t>
            </a:r>
            <a:r>
              <a:rPr lang="es-MX" dirty="0" err="1"/>
              <a:t>Shelves</a:t>
            </a:r>
            <a:endParaRPr lang="es-MX" dirty="0"/>
          </a:p>
        </p:txBody>
      </p:sp>
      <p:sp>
        <p:nvSpPr>
          <p:cNvPr id="3" name="Content Placeholder 2">
            <a:extLst>
              <a:ext uri="{FF2B5EF4-FFF2-40B4-BE49-F238E27FC236}">
                <a16:creationId xmlns:a16="http://schemas.microsoft.com/office/drawing/2014/main" id="{EFD82E2A-A9CC-42E2-5D53-9430CF1CD0AF}"/>
              </a:ext>
            </a:extLst>
          </p:cNvPr>
          <p:cNvSpPr>
            <a:spLocks noGrp="1"/>
          </p:cNvSpPr>
          <p:nvPr>
            <p:ph idx="1"/>
          </p:nvPr>
        </p:nvSpPr>
        <p:spPr/>
        <p:txBody>
          <a:bodyPr/>
          <a:lstStyle/>
          <a:p>
            <a:r>
              <a:rPr lang="es-MX" b="1" dirty="0"/>
              <a:t>Problema</a:t>
            </a:r>
            <a:r>
              <a:rPr lang="es-MX" dirty="0"/>
              <a:t>: Muchos negocios pequeños, medianos hasta empresas grandes consolidadas, comúnmente son victimas del romo “hormiga” en donde el responsable/dueño del negocio no se da cuenta de la falta de productos hasta que lo necesita o realizan inventario.  </a:t>
            </a:r>
          </a:p>
          <a:p>
            <a:r>
              <a:rPr lang="es-MX" dirty="0"/>
              <a:t>comúnmente las </a:t>
            </a:r>
            <a:r>
              <a:rPr lang="es-MX" dirty="0" err="1"/>
              <a:t>PyME’s</a:t>
            </a:r>
            <a:r>
              <a:rPr lang="es-MX" dirty="0"/>
              <a:t> dependen mucho del conteo visual.</a:t>
            </a:r>
          </a:p>
        </p:txBody>
      </p:sp>
      <p:pic>
        <p:nvPicPr>
          <p:cNvPr id="1030" name="Picture 6" descr="CÓMO EVITAR EL ROBO HORMIGA EN TU NEGOCIO | Kordata México">
            <a:extLst>
              <a:ext uri="{FF2B5EF4-FFF2-40B4-BE49-F238E27FC236}">
                <a16:creationId xmlns:a16="http://schemas.microsoft.com/office/drawing/2014/main" id="{F0BC7464-DF63-6B9E-0EAF-8BC0B0F371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6296" y="4649586"/>
            <a:ext cx="4110814" cy="19359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28045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4BC1A-AC9B-A5C1-FD8C-A8807AC88813}"/>
              </a:ext>
            </a:extLst>
          </p:cNvPr>
          <p:cNvSpPr>
            <a:spLocks noGrp="1"/>
          </p:cNvSpPr>
          <p:nvPr>
            <p:ph type="title"/>
          </p:nvPr>
        </p:nvSpPr>
        <p:spPr/>
        <p:txBody>
          <a:bodyPr/>
          <a:lstStyle/>
          <a:p>
            <a:r>
              <a:rPr lang="en-US" dirty="0"/>
              <a:t>Smart Shelves</a:t>
            </a:r>
          </a:p>
        </p:txBody>
      </p:sp>
      <p:sp>
        <p:nvSpPr>
          <p:cNvPr id="3" name="Content Placeholder 2">
            <a:extLst>
              <a:ext uri="{FF2B5EF4-FFF2-40B4-BE49-F238E27FC236}">
                <a16:creationId xmlns:a16="http://schemas.microsoft.com/office/drawing/2014/main" id="{A50966FB-66DC-234E-4457-ED98774E4E9D}"/>
              </a:ext>
            </a:extLst>
          </p:cNvPr>
          <p:cNvSpPr>
            <a:spLocks noGrp="1"/>
          </p:cNvSpPr>
          <p:nvPr>
            <p:ph idx="1"/>
          </p:nvPr>
        </p:nvSpPr>
        <p:spPr/>
        <p:txBody>
          <a:bodyPr/>
          <a:lstStyle/>
          <a:p>
            <a:r>
              <a:rPr lang="es-MX" dirty="0"/>
              <a:t>solución: </a:t>
            </a:r>
          </a:p>
          <a:p>
            <a:pPr lvl="1"/>
            <a:r>
              <a:rPr lang="es-MX" dirty="0"/>
              <a:t>estantes inteligentes los cuales detectan la cantidad de productos evitando errores humanos</a:t>
            </a:r>
          </a:p>
          <a:p>
            <a:pPr lvl="1"/>
            <a:r>
              <a:rPr lang="es-MX" dirty="0"/>
              <a:t> automatización en el pedido personalizado sobre un rango</a:t>
            </a:r>
          </a:p>
          <a:p>
            <a:pPr lvl="1"/>
            <a:r>
              <a:rPr lang="es-MX" dirty="0"/>
              <a:t>Aprendizaje del negocio</a:t>
            </a:r>
          </a:p>
          <a:p>
            <a:pPr lvl="1"/>
            <a:r>
              <a:rPr lang="es-MX" dirty="0"/>
              <a:t>Adaptabilidad al rublo del negocio</a:t>
            </a:r>
          </a:p>
          <a:p>
            <a:pPr lvl="1"/>
            <a:r>
              <a:rPr lang="es-MX" dirty="0"/>
              <a:t>Aplicación móvil/web en donde pueden llegar toda la gestión de los estantes como de los diferentes apartados que esta infraestructura puede ofrecer.</a:t>
            </a:r>
          </a:p>
        </p:txBody>
      </p:sp>
    </p:spTree>
    <p:extLst>
      <p:ext uri="{BB962C8B-B14F-4D97-AF65-F5344CB8AC3E}">
        <p14:creationId xmlns:p14="http://schemas.microsoft.com/office/powerpoint/2010/main" val="7924147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23BCB-F06F-75A8-98BD-273688AEEC0B}"/>
              </a:ext>
            </a:extLst>
          </p:cNvPr>
          <p:cNvSpPr>
            <a:spLocks noGrp="1"/>
          </p:cNvSpPr>
          <p:nvPr>
            <p:ph type="title"/>
          </p:nvPr>
        </p:nvSpPr>
        <p:spPr/>
        <p:txBody>
          <a:bodyPr/>
          <a:lstStyle/>
          <a:p>
            <a:r>
              <a:rPr lang="es-MX" dirty="0"/>
              <a:t>Smart </a:t>
            </a:r>
            <a:r>
              <a:rPr lang="es-MX" dirty="0" err="1"/>
              <a:t>Shelves</a:t>
            </a:r>
            <a:r>
              <a:rPr lang="es-MX" dirty="0"/>
              <a:t>: ASPECTO TECNICO</a:t>
            </a:r>
          </a:p>
        </p:txBody>
      </p:sp>
      <p:sp>
        <p:nvSpPr>
          <p:cNvPr id="3" name="Content Placeholder 2">
            <a:extLst>
              <a:ext uri="{FF2B5EF4-FFF2-40B4-BE49-F238E27FC236}">
                <a16:creationId xmlns:a16="http://schemas.microsoft.com/office/drawing/2014/main" id="{42E729F6-7DFA-BC9C-0F85-ADA74DC18BF4}"/>
              </a:ext>
            </a:extLst>
          </p:cNvPr>
          <p:cNvSpPr>
            <a:spLocks noGrp="1"/>
          </p:cNvSpPr>
          <p:nvPr>
            <p:ph idx="1"/>
          </p:nvPr>
        </p:nvSpPr>
        <p:spPr>
          <a:xfrm>
            <a:off x="1027112" y="1658143"/>
            <a:ext cx="9905999" cy="3541714"/>
          </a:xfrm>
        </p:spPr>
        <p:txBody>
          <a:bodyPr/>
          <a:lstStyle/>
          <a:p>
            <a:r>
              <a:rPr lang="es-MX" dirty="0"/>
              <a:t>El Sistema estará operando bajo microcontroladores ESP32 y  la microcomputadora </a:t>
            </a:r>
            <a:r>
              <a:rPr lang="es-MX" dirty="0" err="1"/>
              <a:t>raspberry</a:t>
            </a:r>
            <a:r>
              <a:rPr lang="es-MX" dirty="0"/>
              <a:t> pi</a:t>
            </a:r>
          </a:p>
          <a:p>
            <a:r>
              <a:rPr lang="es-MX" dirty="0"/>
              <a:t>Parte lógica del mundo real estará a cargo de ESP32’s, celdas de carga y el HX711.</a:t>
            </a:r>
          </a:p>
          <a:p>
            <a:r>
              <a:rPr lang="es-MX" dirty="0"/>
              <a:t>La ESP32 se comunicara por la </a:t>
            </a:r>
            <a:r>
              <a:rPr lang="es-MX" dirty="0" err="1"/>
              <a:t>rasberry</a:t>
            </a:r>
            <a:r>
              <a:rPr lang="es-MX" dirty="0"/>
              <a:t> pi mediante el protocolo MQTT</a:t>
            </a:r>
          </a:p>
        </p:txBody>
      </p:sp>
      <p:pic>
        <p:nvPicPr>
          <p:cNvPr id="3074" name="Picture 2" descr="MicroPython - Python for microcontrollers">
            <a:extLst>
              <a:ext uri="{FF2B5EF4-FFF2-40B4-BE49-F238E27FC236}">
                <a16:creationId xmlns:a16="http://schemas.microsoft.com/office/drawing/2014/main" id="{AA64FFEC-0200-6E85-A046-68068924FB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7112" y="4619527"/>
            <a:ext cx="2469719" cy="1749142"/>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Buy a Raspberry Pi 5 – Raspberry Pi">
            <a:extLst>
              <a:ext uri="{FF2B5EF4-FFF2-40B4-BE49-F238E27FC236}">
                <a16:creationId xmlns:a16="http://schemas.microsoft.com/office/drawing/2014/main" id="{49609953-B7AB-ED4E-2563-B09BB27203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64541" y="4395904"/>
            <a:ext cx="2947101" cy="22176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0452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3BA0F-6929-AC74-0EF7-900D62C4BB04}"/>
              </a:ext>
            </a:extLst>
          </p:cNvPr>
          <p:cNvSpPr>
            <a:spLocks noGrp="1"/>
          </p:cNvSpPr>
          <p:nvPr>
            <p:ph type="title"/>
          </p:nvPr>
        </p:nvSpPr>
        <p:spPr>
          <a:xfrm>
            <a:off x="1141413" y="618518"/>
            <a:ext cx="9905998" cy="1128639"/>
          </a:xfrm>
        </p:spPr>
        <p:txBody>
          <a:bodyPr/>
          <a:lstStyle/>
          <a:p>
            <a:r>
              <a:rPr lang="es-MX" dirty="0"/>
              <a:t>Smart </a:t>
            </a:r>
            <a:r>
              <a:rPr lang="es-MX" dirty="0" err="1"/>
              <a:t>Shelves</a:t>
            </a:r>
            <a:r>
              <a:rPr lang="es-MX" dirty="0"/>
              <a:t>: ASPECTO TECNICO</a:t>
            </a:r>
            <a:endParaRPr lang="en-US" dirty="0"/>
          </a:p>
        </p:txBody>
      </p:sp>
      <p:sp>
        <p:nvSpPr>
          <p:cNvPr id="3" name="Content Placeholder 2">
            <a:extLst>
              <a:ext uri="{FF2B5EF4-FFF2-40B4-BE49-F238E27FC236}">
                <a16:creationId xmlns:a16="http://schemas.microsoft.com/office/drawing/2014/main" id="{1F3C49EE-6FA5-5D80-05B3-39DDBEC09AF1}"/>
              </a:ext>
            </a:extLst>
          </p:cNvPr>
          <p:cNvSpPr>
            <a:spLocks noGrp="1"/>
          </p:cNvSpPr>
          <p:nvPr>
            <p:ph idx="1"/>
          </p:nvPr>
        </p:nvSpPr>
        <p:spPr>
          <a:xfrm>
            <a:off x="1141412" y="1569130"/>
            <a:ext cx="9905999" cy="4439784"/>
          </a:xfrm>
        </p:spPr>
        <p:txBody>
          <a:bodyPr>
            <a:normAutofit fontScale="92500"/>
          </a:bodyPr>
          <a:lstStyle/>
          <a:p>
            <a:r>
              <a:rPr lang="es-MX" dirty="0" err="1"/>
              <a:t>Funcion</a:t>
            </a:r>
            <a:r>
              <a:rPr lang="es-MX" dirty="0"/>
              <a:t> de la </a:t>
            </a:r>
            <a:r>
              <a:rPr lang="es-MX" dirty="0" err="1"/>
              <a:t>raspberry</a:t>
            </a:r>
            <a:r>
              <a:rPr lang="es-MX" dirty="0"/>
              <a:t> pi: </a:t>
            </a:r>
          </a:p>
          <a:p>
            <a:r>
              <a:rPr lang="es-MX" dirty="0"/>
              <a:t>La arquitectura del sistema es </a:t>
            </a:r>
            <a:r>
              <a:rPr lang="es-MX" dirty="0" err="1"/>
              <a:t>basdo</a:t>
            </a:r>
            <a:r>
              <a:rPr lang="es-MX" dirty="0"/>
              <a:t> en Edge </a:t>
            </a:r>
            <a:r>
              <a:rPr lang="es-MX" dirty="0" err="1"/>
              <a:t>computing</a:t>
            </a:r>
            <a:r>
              <a:rPr lang="es-MX" dirty="0"/>
              <a:t>, donde el cerebro mas importante es la </a:t>
            </a:r>
            <a:r>
              <a:rPr lang="es-MX" dirty="0" err="1"/>
              <a:t>rasberry</a:t>
            </a:r>
            <a:r>
              <a:rPr lang="es-MX" dirty="0"/>
              <a:t> pi. </a:t>
            </a:r>
          </a:p>
          <a:p>
            <a:r>
              <a:rPr lang="es-MX" dirty="0"/>
              <a:t>la </a:t>
            </a:r>
            <a:r>
              <a:rPr lang="es-MX" dirty="0" err="1"/>
              <a:t>raspberry</a:t>
            </a:r>
            <a:r>
              <a:rPr lang="es-MX" dirty="0"/>
              <a:t> pi es la única con capacidad de conexión a internet los ESP32 solo estarán en la red local.</a:t>
            </a:r>
          </a:p>
          <a:p>
            <a:r>
              <a:rPr lang="es-MX" dirty="0"/>
              <a:t>Juntar la información de los distintos estantes, una vez procesada la información poder mandarla a la nube, una base de datos, para poder mostrar en la web y posiblemente algún agente que pueda aprender de esta información</a:t>
            </a:r>
          </a:p>
          <a:p>
            <a:r>
              <a:rPr lang="es-MX" dirty="0"/>
              <a:t>Funcionara en modo offline en caso de no haya internet</a:t>
            </a:r>
          </a:p>
        </p:txBody>
      </p:sp>
    </p:spTree>
    <p:extLst>
      <p:ext uri="{BB962C8B-B14F-4D97-AF65-F5344CB8AC3E}">
        <p14:creationId xmlns:p14="http://schemas.microsoft.com/office/powerpoint/2010/main" val="17947461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97E9C-76D4-2AD9-310A-AF22FDE4CA19}"/>
              </a:ext>
            </a:extLst>
          </p:cNvPr>
          <p:cNvSpPr>
            <a:spLocks noGrp="1"/>
          </p:cNvSpPr>
          <p:nvPr>
            <p:ph type="title"/>
          </p:nvPr>
        </p:nvSpPr>
        <p:spPr>
          <a:xfrm>
            <a:off x="1141413" y="618518"/>
            <a:ext cx="9905998" cy="1081945"/>
          </a:xfrm>
        </p:spPr>
        <p:txBody>
          <a:bodyPr/>
          <a:lstStyle/>
          <a:p>
            <a:r>
              <a:rPr lang="es-MX" dirty="0"/>
              <a:t>Smart </a:t>
            </a:r>
            <a:r>
              <a:rPr lang="es-MX" dirty="0" err="1"/>
              <a:t>Shelves</a:t>
            </a:r>
            <a:r>
              <a:rPr lang="es-MX" dirty="0"/>
              <a:t>: costos y viabilidad</a:t>
            </a:r>
            <a:endParaRPr lang="en-US" dirty="0"/>
          </a:p>
        </p:txBody>
      </p:sp>
      <p:sp>
        <p:nvSpPr>
          <p:cNvPr id="3" name="Content Placeholder 2">
            <a:extLst>
              <a:ext uri="{FF2B5EF4-FFF2-40B4-BE49-F238E27FC236}">
                <a16:creationId xmlns:a16="http://schemas.microsoft.com/office/drawing/2014/main" id="{2EC657F7-96D0-7D71-DF84-C8E7D5C725C0}"/>
              </a:ext>
            </a:extLst>
          </p:cNvPr>
          <p:cNvSpPr>
            <a:spLocks noGrp="1"/>
          </p:cNvSpPr>
          <p:nvPr>
            <p:ph idx="1"/>
          </p:nvPr>
        </p:nvSpPr>
        <p:spPr>
          <a:xfrm>
            <a:off x="1141412" y="1491916"/>
            <a:ext cx="9905999" cy="4747566"/>
          </a:xfrm>
        </p:spPr>
        <p:txBody>
          <a:bodyPr/>
          <a:lstStyle/>
          <a:p>
            <a:r>
              <a:rPr lang="es-MX" dirty="0"/>
              <a:t>El Sistema complete podría costar cerca de 100-150 </a:t>
            </a:r>
            <a:r>
              <a:rPr lang="es-MX" dirty="0" err="1"/>
              <a:t>dlls</a:t>
            </a:r>
            <a:r>
              <a:rPr lang="es-MX" dirty="0"/>
              <a:t> incluyendo todo, </a:t>
            </a:r>
          </a:p>
          <a:p>
            <a:r>
              <a:rPr lang="es-MX" dirty="0"/>
              <a:t>Si una </a:t>
            </a:r>
            <a:r>
              <a:rPr lang="es-MX" dirty="0" err="1"/>
              <a:t>PyME</a:t>
            </a:r>
            <a:r>
              <a:rPr lang="es-MX" dirty="0"/>
              <a:t> pierde cerca de 200 </a:t>
            </a:r>
            <a:r>
              <a:rPr lang="es-MX" dirty="0" err="1"/>
              <a:t>dlls</a:t>
            </a:r>
            <a:r>
              <a:rPr lang="es-MX" dirty="0"/>
              <a:t> mensuales en mercancía no contabilizada el Sistema recupera su inversión en menos del mes o un poco mas. </a:t>
            </a:r>
          </a:p>
          <a:p>
            <a:r>
              <a:rPr lang="es-MX" dirty="0"/>
              <a:t>El Sistema puede escalar. </a:t>
            </a:r>
          </a:p>
          <a:p>
            <a:r>
              <a:rPr lang="es-MX" dirty="0"/>
              <a:t>Modelo de negocio SaaS. La venta de hardware seria único en la instalación. Mas una mensualidad por el uso de la Plataforma. Como la </a:t>
            </a:r>
            <a:r>
              <a:rPr lang="es-MX" dirty="0" err="1"/>
              <a:t>raspberry</a:t>
            </a:r>
            <a:r>
              <a:rPr lang="es-MX" dirty="0"/>
              <a:t> pi es la que absorberá casi todo el proceso el costo en la nube seria mucho mas barato y se puede ofrecer una mensualidad mas reducida.</a:t>
            </a:r>
          </a:p>
        </p:txBody>
      </p:sp>
    </p:spTree>
    <p:extLst>
      <p:ext uri="{BB962C8B-B14F-4D97-AF65-F5344CB8AC3E}">
        <p14:creationId xmlns:p14="http://schemas.microsoft.com/office/powerpoint/2010/main" val="40334607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5241C-C6AF-7AE4-9A74-0F233761C920}"/>
              </a:ext>
            </a:extLst>
          </p:cNvPr>
          <p:cNvSpPr>
            <a:spLocks noGrp="1"/>
          </p:cNvSpPr>
          <p:nvPr>
            <p:ph type="title"/>
          </p:nvPr>
        </p:nvSpPr>
        <p:spPr>
          <a:xfrm>
            <a:off x="1141413" y="618518"/>
            <a:ext cx="9905998" cy="898310"/>
          </a:xfrm>
        </p:spPr>
        <p:txBody>
          <a:bodyPr/>
          <a:lstStyle/>
          <a:p>
            <a:r>
              <a:rPr lang="es-MX" dirty="0"/>
              <a:t>Control de acceso residencial </a:t>
            </a:r>
          </a:p>
        </p:txBody>
      </p:sp>
      <p:sp>
        <p:nvSpPr>
          <p:cNvPr id="3" name="Content Placeholder 2">
            <a:extLst>
              <a:ext uri="{FF2B5EF4-FFF2-40B4-BE49-F238E27FC236}">
                <a16:creationId xmlns:a16="http://schemas.microsoft.com/office/drawing/2014/main" id="{4F2B52DA-3EF9-0E3E-BFC4-56A78A77344A}"/>
              </a:ext>
            </a:extLst>
          </p:cNvPr>
          <p:cNvSpPr>
            <a:spLocks noGrp="1"/>
          </p:cNvSpPr>
          <p:nvPr>
            <p:ph idx="1"/>
          </p:nvPr>
        </p:nvSpPr>
        <p:spPr>
          <a:xfrm>
            <a:off x="1141412" y="1516828"/>
            <a:ext cx="9905999" cy="4274373"/>
          </a:xfrm>
        </p:spPr>
        <p:txBody>
          <a:bodyPr/>
          <a:lstStyle/>
          <a:p>
            <a:r>
              <a:rPr lang="es-MX" dirty="0" err="1"/>
              <a:t>Problematica</a:t>
            </a:r>
            <a:r>
              <a:rPr lang="es-MX" dirty="0"/>
              <a:t>: </a:t>
            </a:r>
          </a:p>
          <a:p>
            <a:r>
              <a:rPr lang="es-MX" dirty="0"/>
              <a:t>El error humano sigue siendo un gran problema en muchas industrias en temas de seguridad no queda excluido.</a:t>
            </a:r>
          </a:p>
          <a:p>
            <a:r>
              <a:rPr lang="es-MX" dirty="0"/>
              <a:t>Cuello de botella en horas pica donde un humano debería de verificar uno a uno las identidades de las personas, puede tardar hasta 1 minute lo que alarga la cola.</a:t>
            </a:r>
          </a:p>
          <a:p>
            <a:r>
              <a:rPr lang="es-MX" dirty="0"/>
              <a:t>un guarda de seguridad puede ser susceptible a la ingeniería social</a:t>
            </a:r>
          </a:p>
        </p:txBody>
      </p:sp>
    </p:spTree>
    <p:extLst>
      <p:ext uri="{BB962C8B-B14F-4D97-AF65-F5344CB8AC3E}">
        <p14:creationId xmlns:p14="http://schemas.microsoft.com/office/powerpoint/2010/main" val="20161388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FFCF8-C2E6-FAA1-7E93-99AC8A016CCD}"/>
              </a:ext>
            </a:extLst>
          </p:cNvPr>
          <p:cNvSpPr>
            <a:spLocks noGrp="1"/>
          </p:cNvSpPr>
          <p:nvPr>
            <p:ph type="title"/>
          </p:nvPr>
        </p:nvSpPr>
        <p:spPr>
          <a:xfrm>
            <a:off x="1141413" y="618518"/>
            <a:ext cx="9905998" cy="1114029"/>
          </a:xfrm>
        </p:spPr>
        <p:txBody>
          <a:bodyPr/>
          <a:lstStyle/>
          <a:p>
            <a:r>
              <a:rPr lang="es-MX" dirty="0"/>
              <a:t>Control de acceso residencial </a:t>
            </a:r>
            <a:endParaRPr lang="en-US" dirty="0"/>
          </a:p>
        </p:txBody>
      </p:sp>
      <p:sp>
        <p:nvSpPr>
          <p:cNvPr id="3" name="Content Placeholder 2">
            <a:extLst>
              <a:ext uri="{FF2B5EF4-FFF2-40B4-BE49-F238E27FC236}">
                <a16:creationId xmlns:a16="http://schemas.microsoft.com/office/drawing/2014/main" id="{9A20BC47-77D9-9C3C-F561-1BEC70F06426}"/>
              </a:ext>
            </a:extLst>
          </p:cNvPr>
          <p:cNvSpPr>
            <a:spLocks noGrp="1"/>
          </p:cNvSpPr>
          <p:nvPr>
            <p:ph idx="1"/>
          </p:nvPr>
        </p:nvSpPr>
        <p:spPr>
          <a:xfrm>
            <a:off x="1141412" y="1491916"/>
            <a:ext cx="9905999" cy="5037221"/>
          </a:xfrm>
        </p:spPr>
        <p:txBody>
          <a:bodyPr/>
          <a:lstStyle/>
          <a:p>
            <a:r>
              <a:rPr lang="es-MX" dirty="0" err="1"/>
              <a:t>Solucion</a:t>
            </a:r>
            <a:r>
              <a:rPr lang="es-MX" dirty="0"/>
              <a:t>:</a:t>
            </a:r>
          </a:p>
          <a:p>
            <a:r>
              <a:rPr lang="es-MX" dirty="0"/>
              <a:t>Sistema de acceso el cual </a:t>
            </a:r>
            <a:r>
              <a:rPr lang="es-MX" dirty="0" err="1"/>
              <a:t>dara</a:t>
            </a:r>
            <a:r>
              <a:rPr lang="es-MX" dirty="0"/>
              <a:t> acceso automáticamente, si el vehículo es residente del fraccionamiento, solo si esta registrado dentro del Sistema</a:t>
            </a:r>
          </a:p>
          <a:p>
            <a:r>
              <a:rPr lang="es-MX" dirty="0"/>
              <a:t>Este Sistema pretende solucionar los errores humanos como la mala letra</a:t>
            </a:r>
          </a:p>
          <a:p>
            <a:r>
              <a:rPr lang="es-MX" dirty="0"/>
              <a:t>Agiliza los tiempos en horas pico</a:t>
            </a:r>
          </a:p>
          <a:p>
            <a:r>
              <a:rPr lang="es-MX" dirty="0"/>
              <a:t>Pude ahorrar sueldo de personal o reasignar personal</a:t>
            </a:r>
          </a:p>
          <a:p>
            <a:r>
              <a:rPr lang="es-MX" dirty="0"/>
              <a:t>Recopilar datos, analizarlos y detector patrones</a:t>
            </a:r>
          </a:p>
          <a:p>
            <a:r>
              <a:rPr lang="es-MX" dirty="0"/>
              <a:t>El Sistema es estricto.</a:t>
            </a:r>
          </a:p>
        </p:txBody>
      </p:sp>
    </p:spTree>
    <p:extLst>
      <p:ext uri="{BB962C8B-B14F-4D97-AF65-F5344CB8AC3E}">
        <p14:creationId xmlns:p14="http://schemas.microsoft.com/office/powerpoint/2010/main" val="29176546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2EDA7-B65D-D5B1-9BE9-06983AB04019}"/>
              </a:ext>
            </a:extLst>
          </p:cNvPr>
          <p:cNvSpPr>
            <a:spLocks noGrp="1"/>
          </p:cNvSpPr>
          <p:nvPr>
            <p:ph type="title"/>
          </p:nvPr>
        </p:nvSpPr>
        <p:spPr>
          <a:xfrm>
            <a:off x="1141413" y="618518"/>
            <a:ext cx="9905998" cy="1081945"/>
          </a:xfrm>
        </p:spPr>
        <p:txBody>
          <a:bodyPr/>
          <a:lstStyle/>
          <a:p>
            <a:r>
              <a:rPr lang="en-US" dirty="0"/>
              <a:t>Control de accesso a residencias</a:t>
            </a:r>
          </a:p>
        </p:txBody>
      </p:sp>
      <p:sp>
        <p:nvSpPr>
          <p:cNvPr id="3" name="Content Placeholder 2">
            <a:extLst>
              <a:ext uri="{FF2B5EF4-FFF2-40B4-BE49-F238E27FC236}">
                <a16:creationId xmlns:a16="http://schemas.microsoft.com/office/drawing/2014/main" id="{1CC37CE2-1C75-F6D4-608F-62A6AAF1C1EC}"/>
              </a:ext>
            </a:extLst>
          </p:cNvPr>
          <p:cNvSpPr>
            <a:spLocks noGrp="1"/>
          </p:cNvSpPr>
          <p:nvPr>
            <p:ph idx="1"/>
          </p:nvPr>
        </p:nvSpPr>
        <p:spPr>
          <a:xfrm>
            <a:off x="1141412" y="1588168"/>
            <a:ext cx="9905999" cy="4651314"/>
          </a:xfrm>
        </p:spPr>
        <p:txBody>
          <a:bodyPr/>
          <a:lstStyle/>
          <a:p>
            <a:r>
              <a:rPr lang="es-MX" dirty="0" err="1"/>
              <a:t>Stack</a:t>
            </a:r>
            <a:r>
              <a:rPr lang="es-MX" dirty="0"/>
              <a:t> </a:t>
            </a:r>
            <a:r>
              <a:rPr lang="es-MX" dirty="0" err="1"/>
              <a:t>tecnologico</a:t>
            </a:r>
            <a:r>
              <a:rPr lang="es-MX" dirty="0"/>
              <a:t>: </a:t>
            </a:r>
          </a:p>
          <a:p>
            <a:r>
              <a:rPr lang="es-MX" dirty="0"/>
              <a:t>Para el Proyecto se utilizara ESP32, </a:t>
            </a:r>
            <a:r>
              <a:rPr lang="es-MX" dirty="0" err="1"/>
              <a:t>raspberry</a:t>
            </a:r>
            <a:r>
              <a:rPr lang="es-MX" dirty="0"/>
              <a:t> pi, </a:t>
            </a:r>
            <a:r>
              <a:rPr lang="es-MX" dirty="0" err="1"/>
              <a:t>camara</a:t>
            </a:r>
            <a:r>
              <a:rPr lang="es-MX" dirty="0"/>
              <a:t> ESP32-CAM</a:t>
            </a:r>
          </a:p>
          <a:p>
            <a:r>
              <a:rPr lang="es-MX" dirty="0"/>
              <a:t>Sistema </a:t>
            </a:r>
            <a:r>
              <a:rPr lang="es-MX" dirty="0" err="1"/>
              <a:t>edge</a:t>
            </a:r>
            <a:r>
              <a:rPr lang="es-MX" dirty="0"/>
              <a:t> </a:t>
            </a:r>
            <a:r>
              <a:rPr lang="es-MX" dirty="0" err="1"/>
              <a:t>computing</a:t>
            </a:r>
            <a:r>
              <a:rPr lang="es-MX" dirty="0"/>
              <a:t>, en donde los datos se procesan localmente para después ser enviados a la nube. </a:t>
            </a:r>
          </a:p>
          <a:p>
            <a:r>
              <a:rPr lang="es-MX" dirty="0"/>
              <a:t>La </a:t>
            </a:r>
            <a:r>
              <a:rPr lang="es-MX" dirty="0" err="1"/>
              <a:t>raspberry</a:t>
            </a:r>
            <a:r>
              <a:rPr lang="es-MX" dirty="0"/>
              <a:t> pi funcionara como un servidor temporal para que el fraccionamiento no se quede cerrado en caso de fallas con la conexión a la nube. </a:t>
            </a:r>
          </a:p>
        </p:txBody>
      </p:sp>
    </p:spTree>
    <p:extLst>
      <p:ext uri="{BB962C8B-B14F-4D97-AF65-F5344CB8AC3E}">
        <p14:creationId xmlns:p14="http://schemas.microsoft.com/office/powerpoint/2010/main" val="37941410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70151-65E2-0C10-907F-7B93B9AFDC15}"/>
              </a:ext>
            </a:extLst>
          </p:cNvPr>
          <p:cNvSpPr>
            <a:spLocks noGrp="1"/>
          </p:cNvSpPr>
          <p:nvPr>
            <p:ph type="title"/>
          </p:nvPr>
        </p:nvSpPr>
        <p:spPr/>
        <p:txBody>
          <a:bodyPr/>
          <a:lstStyle/>
          <a:p>
            <a:r>
              <a:rPr lang="en-US" dirty="0"/>
              <a:t>Control de accesso a residencias</a:t>
            </a:r>
          </a:p>
        </p:txBody>
      </p:sp>
      <p:sp>
        <p:nvSpPr>
          <p:cNvPr id="3" name="Content Placeholder 2">
            <a:extLst>
              <a:ext uri="{FF2B5EF4-FFF2-40B4-BE49-F238E27FC236}">
                <a16:creationId xmlns:a16="http://schemas.microsoft.com/office/drawing/2014/main" id="{A81414C0-8691-A7B3-7EBB-C3901422C477}"/>
              </a:ext>
            </a:extLst>
          </p:cNvPr>
          <p:cNvSpPr>
            <a:spLocks noGrp="1"/>
          </p:cNvSpPr>
          <p:nvPr>
            <p:ph idx="1"/>
          </p:nvPr>
        </p:nvSpPr>
        <p:spPr>
          <a:xfrm>
            <a:off x="1141412" y="2249487"/>
            <a:ext cx="9905999" cy="4263608"/>
          </a:xfrm>
        </p:spPr>
        <p:txBody>
          <a:bodyPr>
            <a:normAutofit/>
          </a:bodyPr>
          <a:lstStyle/>
          <a:p>
            <a:r>
              <a:rPr lang="es-MX" dirty="0"/>
              <a:t>Costo y viabilidad: </a:t>
            </a:r>
          </a:p>
          <a:p>
            <a:r>
              <a:rPr lang="es-MX" dirty="0"/>
              <a:t>La implementación física del Sistema no costara mas allá de los 200 </a:t>
            </a:r>
            <a:r>
              <a:rPr lang="es-MX" dirty="0" err="1"/>
              <a:t>dlls</a:t>
            </a:r>
            <a:r>
              <a:rPr lang="es-MX" dirty="0"/>
              <a:t>. </a:t>
            </a:r>
          </a:p>
          <a:p>
            <a:r>
              <a:rPr lang="es-MX" dirty="0"/>
              <a:t>Seguirá un modelo SaaS por lo que se mantiene una mensualidad para el mantenimiento de software y app en la nube </a:t>
            </a:r>
          </a:p>
          <a:p>
            <a:r>
              <a:rPr lang="es-MX" dirty="0"/>
              <a:t>Un costo de venta podría ser al rededor de los 1000 </a:t>
            </a:r>
            <a:r>
              <a:rPr lang="es-MX" dirty="0" err="1"/>
              <a:t>dlls</a:t>
            </a:r>
            <a:r>
              <a:rPr lang="es-MX" dirty="0"/>
              <a:t>, siendo mucho mas barato de alguno premium que podría costar 8 a 10 veces mas. </a:t>
            </a:r>
          </a:p>
          <a:p>
            <a:r>
              <a:rPr lang="es-MX" dirty="0"/>
              <a:t>Solución simple eficaz, no es un golpe al bolsillo incluso en materias primas, si alguna pieza falla es barato y sencillo de reemplazar.</a:t>
            </a:r>
          </a:p>
        </p:txBody>
      </p:sp>
    </p:spTree>
    <p:extLst>
      <p:ext uri="{BB962C8B-B14F-4D97-AF65-F5344CB8AC3E}">
        <p14:creationId xmlns:p14="http://schemas.microsoft.com/office/powerpoint/2010/main" val="414378291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{0B95C62D-CCB6-49F7-899C-3E5BF0E2DB41}TF6d5feb1e-e145-43f1-b745-cb4b54c5ee975d365c52-ce22229b0e48</Template>
  <TotalTime>556</TotalTime>
  <Words>1722</Words>
  <Application>Microsoft Office PowerPoint</Application>
  <PresentationFormat>Widescreen</PresentationFormat>
  <Paragraphs>94</Paragraphs>
  <Slides>10</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Arial</vt:lpstr>
      <vt:lpstr>Tw Cen MT</vt:lpstr>
      <vt:lpstr>Circuit</vt:lpstr>
      <vt:lpstr>Propuestas de proyecto</vt:lpstr>
      <vt:lpstr>Propuesta 1: Smart Shelves</vt:lpstr>
      <vt:lpstr>Smart Shelves</vt:lpstr>
      <vt:lpstr>Smart Shelves: ASPECTO TECNICO</vt:lpstr>
      <vt:lpstr>Smart Shelves: ASPECTO TECNICO</vt:lpstr>
      <vt:lpstr>Smart Shelves: costos y viabilidad</vt:lpstr>
      <vt:lpstr>Control de acceso residencial </vt:lpstr>
      <vt:lpstr>Control de acceso residencial </vt:lpstr>
      <vt:lpstr>Control de accesso a residencias</vt:lpstr>
      <vt:lpstr>Control de accesso a residencias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erik garcia</dc:creator>
  <cp:lastModifiedBy>erik garcia</cp:lastModifiedBy>
  <cp:revision>38</cp:revision>
  <dcterms:created xsi:type="dcterms:W3CDTF">2026-02-05T21:25:18Z</dcterms:created>
  <dcterms:modified xsi:type="dcterms:W3CDTF">2026-02-09T19:20:26Z</dcterms:modified>
</cp:coreProperties>
</file>