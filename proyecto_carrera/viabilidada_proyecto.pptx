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Lst>
  <p:sldSz cy="5143500" cx="9144000"/>
  <p:notesSz cx="6858000" cy="9144000"/>
  <p:embeddedFontLst>
    <p:embeddedFont>
      <p:font typeface="Montserrat"/>
      <p:regular r:id="rId14"/>
      <p:bold r:id="rId15"/>
      <p:italic r:id="rId16"/>
      <p:boldItalic r:id="rId17"/>
    </p:embeddedFont>
    <p:embeddedFont>
      <p:font typeface="Lato"/>
      <p:regular r:id="rId18"/>
      <p:bold r:id="rId19"/>
      <p:italic r:id="rId20"/>
      <p:boldItalic r:id="rId2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font" Target="fonts/Lato-italic.fntdata"/><Relationship Id="rId11" Type="http://schemas.openxmlformats.org/officeDocument/2006/relationships/slide" Target="slides/slide6.xml"/><Relationship Id="rId10" Type="http://schemas.openxmlformats.org/officeDocument/2006/relationships/slide" Target="slides/slide5.xml"/><Relationship Id="rId21" Type="http://schemas.openxmlformats.org/officeDocument/2006/relationships/font" Target="fonts/Lato-boldItalic.fntdata"/><Relationship Id="rId13" Type="http://schemas.openxmlformats.org/officeDocument/2006/relationships/slide" Target="slides/slide8.xml"/><Relationship Id="rId12" Type="http://schemas.openxmlformats.org/officeDocument/2006/relationships/slide" Target="slides/slide7.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font" Target="fonts/Montserrat-bold.fntdata"/><Relationship Id="rId14" Type="http://schemas.openxmlformats.org/officeDocument/2006/relationships/font" Target="fonts/Montserrat-regular.fntdata"/><Relationship Id="rId17" Type="http://schemas.openxmlformats.org/officeDocument/2006/relationships/font" Target="fonts/Montserrat-boldItalic.fntdata"/><Relationship Id="rId16" Type="http://schemas.openxmlformats.org/officeDocument/2006/relationships/font" Target="fonts/Montserrat-italic.fntdata"/><Relationship Id="rId5" Type="http://schemas.openxmlformats.org/officeDocument/2006/relationships/notesMaster" Target="notesMasters/notesMaster1.xml"/><Relationship Id="rId19" Type="http://schemas.openxmlformats.org/officeDocument/2006/relationships/font" Target="fonts/Lato-bold.fntdata"/><Relationship Id="rId6" Type="http://schemas.openxmlformats.org/officeDocument/2006/relationships/slide" Target="slides/slide1.xml"/><Relationship Id="rId18" Type="http://schemas.openxmlformats.org/officeDocument/2006/relationships/font" Target="fonts/Lato-regular.fntdata"/><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132" name="Google Shape;13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beb7879902_0_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beb7879902_0_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298450" lvl="0" marL="457200" rtl="0" algn="l">
              <a:spcBef>
                <a:spcPts val="0"/>
              </a:spcBef>
              <a:spcAft>
                <a:spcPts val="0"/>
              </a:spcAft>
              <a:buSzPts val="1100"/>
              <a:buChar char="-"/>
            </a:pPr>
            <a:r>
              <a:rPr lang="es"/>
              <a:t>en la parte de la arquitectura se especifica que es un IoT Getaway Aggregator, la rasberry pi se encargara de recopilar toda la informacion de los ESP32, les da un formato, y lo envia a la nube todo en un mismo paquete en vez de que cada esp lo haga, esto para ahorrar ancho de banda y costes en la nube. </a:t>
            </a:r>
            <a:endParaRPr/>
          </a:p>
          <a:p>
            <a:pPr indent="0" lvl="0" marL="0" rtl="0" algn="l">
              <a:spcBef>
                <a:spcPts val="0"/>
              </a:spcBef>
              <a:spcAft>
                <a:spcPts val="0"/>
              </a:spcAft>
              <a:buNone/>
            </a:pPr>
            <a:r>
              <a:t/>
            </a:r>
            <a:endParaRPr/>
          </a:p>
          <a:p>
            <a:pPr indent="-298450" lvl="0" marL="457200" rtl="0" algn="l">
              <a:spcBef>
                <a:spcPts val="0"/>
              </a:spcBef>
              <a:spcAft>
                <a:spcPts val="0"/>
              </a:spcAft>
              <a:buSzPts val="1100"/>
              <a:buChar char="-"/>
            </a:pPr>
            <a:r>
              <a:rPr lang="es"/>
              <a:t>protoitpo beta: implementacion de mecanismo de almacenamineto y reenvio, desarrollo de colas de mensajes en el gateway para garantizar que ningun dato se pierda durante desconexiones y despliegue de la logica de negocio en la nube. </a:t>
            </a:r>
            <a:endParaRPr/>
          </a:p>
          <a:p>
            <a:pPr indent="-298450" lvl="0" marL="457200" rtl="0" algn="l">
              <a:spcBef>
                <a:spcPts val="0"/>
              </a:spcBef>
              <a:spcAft>
                <a:spcPts val="0"/>
              </a:spcAft>
              <a:buSzPts val="1100"/>
              <a:buChar char="-"/>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 name="Shape 142"/>
        <p:cNvGrpSpPr/>
        <p:nvPr/>
      </p:nvGrpSpPr>
      <p:grpSpPr>
        <a:xfrm>
          <a:off x="0" y="0"/>
          <a:ext cx="0" cy="0"/>
          <a:chOff x="0" y="0"/>
          <a:chExt cx="0" cy="0"/>
        </a:xfrm>
      </p:grpSpPr>
      <p:sp>
        <p:nvSpPr>
          <p:cNvPr id="143" name="Google Shape;143;g3beb7879902_0_6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4" name="Google Shape;144;g3beb7879902_0_6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298450" lvl="0" marL="457200" rtl="0" algn="l">
              <a:spcBef>
                <a:spcPts val="0"/>
              </a:spcBef>
              <a:spcAft>
                <a:spcPts val="0"/>
              </a:spcAft>
              <a:buSzPts val="1100"/>
              <a:buChar char="-"/>
            </a:pPr>
            <a:r>
              <a:rPr lang="es"/>
              <a:t>el HX711 es un ADC de 24 bits diseniado para balanzas, es un ADC de alta presicion, esto nos ayudara por el hecho que el ESP32 tiene un ADC de 12 bits y este tendria mucho ruido al estar encendido el WIFI al momento de la medicion, por lo que el modulo es ideal para dar una medicion lo mas exacta posible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g3beb7fab722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3" name="Google Shape;153;g3beb7fab722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en cuestion de las rasberry pi, estare limitado a sus capacidades, dado que es de un modelo reducido en capacidades. pero ideal para una muestra y una demostracion de las posibles capacidades. </a:t>
            </a:r>
            <a:endParaRPr/>
          </a:p>
          <a:p>
            <a:pPr indent="0" lvl="0" marL="0" rtl="0" algn="l">
              <a:spcBef>
                <a:spcPts val="0"/>
              </a:spcBef>
              <a:spcAft>
                <a:spcPts val="0"/>
              </a:spcAft>
              <a:buNone/>
            </a:pPr>
            <a:r>
              <a:t/>
            </a:r>
            <a:endParaRPr/>
          </a:p>
          <a:p>
            <a:pPr indent="-298450" lvl="0" marL="457200" rtl="0" algn="l">
              <a:spcBef>
                <a:spcPts val="0"/>
              </a:spcBef>
              <a:spcAft>
                <a:spcPts val="0"/>
              </a:spcAft>
              <a:buSzPts val="1100"/>
              <a:buChar char="-"/>
            </a:pPr>
            <a:r>
              <a:rPr lang="es"/>
              <a:t>se estara trabajando con esas distintas bases de datos, cada uno orientada a una especificacion del siste,a SQlite es un confiable, ligero, facil de implementar, su funcion es el guardar temporalmente lo que pasa en el negocio mientras no haya conexion en internet, cuando la res vuelva, este empezara a enviar los datos de poco a poco hatas que el inventario este en orden. </a:t>
            </a:r>
            <a:endParaRPr/>
          </a:p>
          <a:p>
            <a:pPr indent="-298450" lvl="0" marL="457200" rtl="0" algn="l">
              <a:spcBef>
                <a:spcPts val="0"/>
              </a:spcBef>
              <a:spcAft>
                <a:spcPts val="0"/>
              </a:spcAft>
              <a:buSzPts val="1100"/>
              <a:buChar char="-"/>
            </a:pPr>
            <a:r>
              <a:rPr lang="es"/>
              <a:t>posgresSQL se encuentra en la nube en donde esta el sistema en si, inventario, empleados, en donde stara el sistema prinicpal en donde el procesamiento de datos tomara decisiones, sobre si llamar a proveedores, hace el inventario del sistema, etc.</a:t>
            </a:r>
            <a:endParaRPr/>
          </a:p>
          <a:p>
            <a:pPr indent="-298450" lvl="0" marL="457200" rtl="0" algn="l">
              <a:spcBef>
                <a:spcPts val="0"/>
              </a:spcBef>
              <a:spcAft>
                <a:spcPts val="0"/>
              </a:spcAft>
              <a:buClr>
                <a:schemeClr val="dk1"/>
              </a:buClr>
              <a:buSzPts val="1100"/>
              <a:buChar char="-"/>
            </a:pPr>
            <a:r>
              <a:rPr lang="es">
                <a:solidFill>
                  <a:schemeClr val="dk1"/>
                </a:solidFill>
              </a:rPr>
              <a:t>InfluxDB tambien en la nube mucho mas rapida hecha para guardar el historico de los sensores, ideal para poder aprender del sistema, monitorar que pasa en cada estante a que minuto. </a:t>
            </a:r>
            <a:endParaRPr>
              <a:solidFill>
                <a:schemeClr val="dk1"/>
              </a:solidFill>
            </a:endParaRPr>
          </a:p>
          <a:p>
            <a:pPr indent="-298450" lvl="0" marL="457200" rtl="0" algn="l">
              <a:spcBef>
                <a:spcPts val="0"/>
              </a:spcBef>
              <a:spcAft>
                <a:spcPts val="0"/>
              </a:spcAft>
              <a:buSzPts val="1100"/>
              <a:buChar char="-"/>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s"/>
              <a:t>-&gt; el rasbrry pi solo se encargara de recibir los datos, darles formato y reenviarlo a la nube, tambien se encargara del almacenar esos datos en caso de fallo de internet, los datos seguiran fluyendo, pero se almacenaran localmente hasta que la red vuelva y se puedan reenviar de poco en poco hasta que todos los datos esten actualizados.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 name="Shape 157"/>
        <p:cNvGrpSpPr/>
        <p:nvPr/>
      </p:nvGrpSpPr>
      <p:grpSpPr>
        <a:xfrm>
          <a:off x="0" y="0"/>
          <a:ext cx="0" cy="0"/>
          <a:chOff x="0" y="0"/>
          <a:chExt cx="0" cy="0"/>
        </a:xfrm>
      </p:grpSpPr>
      <p:sp>
        <p:nvSpPr>
          <p:cNvPr id="158" name="Google Shape;158;g3beb7879902_0_6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9" name="Google Shape;159;g3beb7879902_0_6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298450" lvl="0" marL="457200" rtl="0" algn="l">
              <a:spcBef>
                <a:spcPts val="0"/>
              </a:spcBef>
              <a:spcAft>
                <a:spcPts val="0"/>
              </a:spcAft>
              <a:buSzPts val="1100"/>
              <a:buChar char="-"/>
            </a:pPr>
            <a:r>
              <a:rPr lang="es"/>
              <a:t>en la fase 1 el objetivo es conseguir las piezas de hardware necesarias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3" name="Shape 163"/>
        <p:cNvGrpSpPr/>
        <p:nvPr/>
      </p:nvGrpSpPr>
      <p:grpSpPr>
        <a:xfrm>
          <a:off x="0" y="0"/>
          <a:ext cx="0" cy="0"/>
          <a:chOff x="0" y="0"/>
          <a:chExt cx="0" cy="0"/>
        </a:xfrm>
      </p:grpSpPr>
      <p:sp>
        <p:nvSpPr>
          <p:cNvPr id="164" name="Google Shape;164;g3c8545b8258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5" name="Google Shape;165;g3c8545b8258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298450" lvl="0" marL="457200" rtl="0" algn="l">
              <a:spcBef>
                <a:spcPts val="0"/>
              </a:spcBef>
              <a:spcAft>
                <a:spcPts val="0"/>
              </a:spcAft>
              <a:buSzPts val="1100"/>
              <a:buChar char="-"/>
            </a:pPr>
            <a:r>
              <a:rPr lang="es"/>
              <a:t>nube a utilizad: utilizare sistemas hibrido, con algunos servicios de la nube dependiendo de lo que se necesito, mas que nada por el costo de implementacion</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 name="Shape 169"/>
        <p:cNvGrpSpPr/>
        <p:nvPr/>
      </p:nvGrpSpPr>
      <p:grpSpPr>
        <a:xfrm>
          <a:off x="0" y="0"/>
          <a:ext cx="0" cy="0"/>
          <a:chOff x="0" y="0"/>
          <a:chExt cx="0" cy="0"/>
        </a:xfrm>
      </p:grpSpPr>
      <p:sp>
        <p:nvSpPr>
          <p:cNvPr id="170" name="Google Shape;170;g3c8545b8258_1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1" name="Google Shape;171;g3c8545b8258_1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 name="Shape 175"/>
        <p:cNvGrpSpPr/>
        <p:nvPr/>
      </p:nvGrpSpPr>
      <p:grpSpPr>
        <a:xfrm>
          <a:off x="0" y="0"/>
          <a:ext cx="0" cy="0"/>
          <a:chOff x="0" y="0"/>
          <a:chExt cx="0" cy="0"/>
        </a:xfrm>
      </p:grpSpPr>
      <p:sp>
        <p:nvSpPr>
          <p:cNvPr id="176" name="Google Shape;176;g3c8545b8258_1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7" name="Google Shape;177;g3c8545b8258_1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Clr>
                <a:schemeClr val="dk1"/>
              </a:buClr>
              <a:buSzPts val="1100"/>
              <a:buFont typeface="Arial"/>
              <a:buNone/>
            </a:pPr>
            <a:r>
              <a:rPr lang="es">
                <a:solidFill>
                  <a:schemeClr val="dk1"/>
                </a:solidFill>
              </a:rPr>
              <a:t>priorizamos la </a:t>
            </a:r>
            <a:r>
              <a:rPr b="1" lang="es">
                <a:solidFill>
                  <a:schemeClr val="dk1"/>
                </a:solidFill>
              </a:rPr>
              <a:t>Integridad del Dato</a:t>
            </a:r>
            <a:r>
              <a:rPr lang="es">
                <a:solidFill>
                  <a:schemeClr val="dk1"/>
                </a:solidFill>
              </a:rPr>
              <a:t>. Implementamos un Gateway con capacidad </a:t>
            </a:r>
            <a:r>
              <a:rPr i="1" lang="es">
                <a:solidFill>
                  <a:schemeClr val="dk1"/>
                </a:solidFill>
              </a:rPr>
              <a:t>Offline-First</a:t>
            </a:r>
            <a:r>
              <a:rPr lang="es">
                <a:solidFill>
                  <a:schemeClr val="dk1"/>
                </a:solidFill>
              </a:rPr>
              <a:t> que actúa como una 'caja negra': si el internet falla, los datos se guardan localmente en SQLite y se sincronizan automáticamente al reconectar. Esto elimina la pérdida de ventas por fallos de red.</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s">
                <a:solidFill>
                  <a:schemeClr val="dk1"/>
                </a:solidFill>
              </a:rPr>
              <a:t>Segundo, apostamos por la </a:t>
            </a:r>
            <a:r>
              <a:rPr b="1" lang="es">
                <a:solidFill>
                  <a:schemeClr val="dk1"/>
                </a:solidFill>
              </a:rPr>
              <a:t>Escalabilidad</a:t>
            </a:r>
            <a:r>
              <a:rPr lang="es">
                <a:solidFill>
                  <a:schemeClr val="dk1"/>
                </a:solidFill>
              </a:rPr>
              <a:t>. Al mover la lógica pesada de inventario a la nube, nuestro sistema no está limitado por la potencia de la Raspberry Pi, permitiendo crecer de una tiendita a una cadena completa simplemente escalando el servidor.</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s">
                <a:solidFill>
                  <a:schemeClr val="dk1"/>
                </a:solidFill>
              </a:rPr>
              <a:t>Finalmente, mejoramos la experiencia del usuario con un enfoque </a:t>
            </a:r>
            <a:r>
              <a:rPr b="1" lang="es">
                <a:solidFill>
                  <a:schemeClr val="dk1"/>
                </a:solidFill>
              </a:rPr>
              <a:t>Mobile-First</a:t>
            </a:r>
            <a:r>
              <a:rPr lang="es">
                <a:solidFill>
                  <a:schemeClr val="dk1"/>
                </a:solidFill>
              </a:rPr>
              <a:t>. El dueño no necesita estar pegado a una computadora; el sistema le 'avisa' al celular mediante notificaciones si detecta un robo o falta de producto."</a:t>
            </a:r>
            <a:endParaRPr>
              <a:solidFill>
                <a:schemeClr val="dk1"/>
              </a:solidFill>
            </a:endParaRPr>
          </a:p>
          <a:p>
            <a:pPr indent="0" lvl="0" marL="0" rtl="0" algn="l">
              <a:spcBef>
                <a:spcPts val="120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p:nvPr/>
        </p:nvSpPr>
        <p:spPr>
          <a:xfrm rot="5400000">
            <a:off x="7500300" y="505"/>
            <a:ext cx="1643700" cy="1643700"/>
          </a:xfrm>
          <a:prstGeom prst="diagStripe">
            <a:avLst>
              <a:gd fmla="val 0" name="adj"/>
            </a:avLst>
          </a:prstGeom>
          <a:solidFill>
            <a:schemeClr val="lt1">
              <a:alpha val="303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 name="Google Shape;11;p2"/>
          <p:cNvGrpSpPr/>
          <p:nvPr/>
        </p:nvGrpSpPr>
        <p:grpSpPr>
          <a:xfrm>
            <a:off x="0" y="490"/>
            <a:ext cx="5153705" cy="5134399"/>
            <a:chOff x="0" y="75"/>
            <a:chExt cx="5153705" cy="5152950"/>
          </a:xfrm>
        </p:grpSpPr>
        <p:sp>
          <p:nvSpPr>
            <p:cNvPr id="12" name="Google Shape;12;p2"/>
            <p:cNvSpPr/>
            <p:nvPr/>
          </p:nvSpPr>
          <p:spPr>
            <a:xfrm rot="-5400000">
              <a:off x="455" y="-225"/>
              <a:ext cx="5152800" cy="5153700"/>
            </a:xfrm>
            <a:prstGeom prst="diagStripe">
              <a:avLst>
                <a:gd fmla="val 50000" name="adj"/>
              </a:avLst>
            </a:prstGeom>
            <a:solidFill>
              <a:schemeClr val="lt1">
                <a:alpha val="303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 name="Google Shape;13;p2"/>
            <p:cNvSpPr/>
            <p:nvPr/>
          </p:nvSpPr>
          <p:spPr>
            <a:xfrm rot="-5400000">
              <a:off x="150" y="1145825"/>
              <a:ext cx="3996600" cy="3996900"/>
            </a:xfrm>
            <a:prstGeom prst="diagStripe">
              <a:avLst>
                <a:gd fmla="val 58774" name="adj"/>
              </a:avLst>
            </a:prstGeom>
            <a:solidFill>
              <a:schemeClr val="lt1">
                <a:alpha val="303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 name="Google Shape;14;p2"/>
            <p:cNvSpPr/>
            <p:nvPr/>
          </p:nvSpPr>
          <p:spPr>
            <a:xfrm rot="-5400000">
              <a:off x="1646" y="-75"/>
              <a:ext cx="2299800" cy="23001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 name="Google Shape;15;p2"/>
            <p:cNvSpPr/>
            <p:nvPr/>
          </p:nvSpPr>
          <p:spPr>
            <a:xfrm flipH="1">
              <a:off x="652821" y="590035"/>
              <a:ext cx="2300100" cy="2299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6" name="Google Shape;16;p2"/>
          <p:cNvSpPr txBox="1"/>
          <p:nvPr>
            <p:ph type="ctrTitle"/>
          </p:nvPr>
        </p:nvSpPr>
        <p:spPr>
          <a:xfrm>
            <a:off x="3537150" y="1578400"/>
            <a:ext cx="5017500" cy="1578900"/>
          </a:xfrm>
          <a:prstGeom prst="rect">
            <a:avLst/>
          </a:prstGeom>
        </p:spPr>
        <p:txBody>
          <a:bodyPr anchorCtr="0" anchor="t" bIns="91425" lIns="91425" spcFirstLastPara="1" rIns="91425" wrap="square" tIns="91425">
            <a:normAutofit/>
          </a:bodyPr>
          <a:lstStyle>
            <a:lvl1pPr lvl="0">
              <a:spcBef>
                <a:spcPts val="0"/>
              </a:spcBef>
              <a:spcAft>
                <a:spcPts val="0"/>
              </a:spcAft>
              <a:buSzPts val="4000"/>
              <a:buNone/>
              <a:defRPr sz="4000"/>
            </a:lvl1pPr>
            <a:lvl2pPr lvl="1">
              <a:spcBef>
                <a:spcPts val="0"/>
              </a:spcBef>
              <a:spcAft>
                <a:spcPts val="0"/>
              </a:spcAft>
              <a:buSzPts val="4000"/>
              <a:buNone/>
              <a:defRPr sz="4000"/>
            </a:lvl2pPr>
            <a:lvl3pPr lvl="2">
              <a:spcBef>
                <a:spcPts val="0"/>
              </a:spcBef>
              <a:spcAft>
                <a:spcPts val="0"/>
              </a:spcAft>
              <a:buSzPts val="4000"/>
              <a:buNone/>
              <a:defRPr sz="4000"/>
            </a:lvl3pPr>
            <a:lvl4pPr lvl="3">
              <a:spcBef>
                <a:spcPts val="0"/>
              </a:spcBef>
              <a:spcAft>
                <a:spcPts val="0"/>
              </a:spcAft>
              <a:buSzPts val="4000"/>
              <a:buNone/>
              <a:defRPr sz="4000"/>
            </a:lvl4pPr>
            <a:lvl5pPr lvl="4">
              <a:spcBef>
                <a:spcPts val="0"/>
              </a:spcBef>
              <a:spcAft>
                <a:spcPts val="0"/>
              </a:spcAft>
              <a:buSzPts val="4000"/>
              <a:buNone/>
              <a:defRPr sz="4000"/>
            </a:lvl5pPr>
            <a:lvl6pPr lvl="5">
              <a:spcBef>
                <a:spcPts val="0"/>
              </a:spcBef>
              <a:spcAft>
                <a:spcPts val="0"/>
              </a:spcAft>
              <a:buSzPts val="4000"/>
              <a:buNone/>
              <a:defRPr sz="4000"/>
            </a:lvl6pPr>
            <a:lvl7pPr lvl="6">
              <a:spcBef>
                <a:spcPts val="0"/>
              </a:spcBef>
              <a:spcAft>
                <a:spcPts val="0"/>
              </a:spcAft>
              <a:buSzPts val="4000"/>
              <a:buNone/>
              <a:defRPr sz="4000"/>
            </a:lvl7pPr>
            <a:lvl8pPr lvl="7">
              <a:spcBef>
                <a:spcPts val="0"/>
              </a:spcBef>
              <a:spcAft>
                <a:spcPts val="0"/>
              </a:spcAft>
              <a:buSzPts val="4000"/>
              <a:buNone/>
              <a:defRPr sz="4000"/>
            </a:lvl8pPr>
            <a:lvl9pPr lvl="8">
              <a:spcBef>
                <a:spcPts val="0"/>
              </a:spcBef>
              <a:spcAft>
                <a:spcPts val="0"/>
              </a:spcAft>
              <a:buSzPts val="4000"/>
              <a:buNone/>
              <a:defRPr sz="4000"/>
            </a:lvl9pPr>
          </a:lstStyle>
          <a:p/>
        </p:txBody>
      </p:sp>
      <p:sp>
        <p:nvSpPr>
          <p:cNvPr id="17" name="Google Shape;17;p2"/>
          <p:cNvSpPr txBox="1"/>
          <p:nvPr>
            <p:ph idx="1" type="subTitle"/>
          </p:nvPr>
        </p:nvSpPr>
        <p:spPr>
          <a:xfrm>
            <a:off x="5083950" y="3924925"/>
            <a:ext cx="3470700" cy="506100"/>
          </a:xfrm>
          <a:prstGeom prst="rect">
            <a:avLst/>
          </a:prstGeom>
        </p:spPr>
        <p:txBody>
          <a:bodyPr anchorCtr="0" anchor="t" bIns="91425" lIns="91425" spcFirstLastPara="1" rIns="91425" wrap="square" tIns="91425">
            <a:normAutofit/>
          </a:bodyPr>
          <a:lstStyle>
            <a:lvl1pPr lvl="0">
              <a:lnSpc>
                <a:spcPct val="100000"/>
              </a:lnSpc>
              <a:spcBef>
                <a:spcPts val="0"/>
              </a:spcBef>
              <a:spcAft>
                <a:spcPts val="0"/>
              </a:spcAft>
              <a:buSzPts val="1300"/>
              <a:buNone/>
              <a:defRPr/>
            </a:lvl1pPr>
            <a:lvl2pPr lvl="1">
              <a:lnSpc>
                <a:spcPct val="100000"/>
              </a:lnSpc>
              <a:spcBef>
                <a:spcPts val="0"/>
              </a:spcBef>
              <a:spcAft>
                <a:spcPts val="0"/>
              </a:spcAft>
              <a:buSzPts val="1300"/>
              <a:buNone/>
              <a:defRPr sz="1300"/>
            </a:lvl2pPr>
            <a:lvl3pPr lvl="2">
              <a:lnSpc>
                <a:spcPct val="100000"/>
              </a:lnSpc>
              <a:spcBef>
                <a:spcPts val="0"/>
              </a:spcBef>
              <a:spcAft>
                <a:spcPts val="0"/>
              </a:spcAft>
              <a:buSzPts val="1300"/>
              <a:buNone/>
              <a:defRPr sz="1300"/>
            </a:lvl3pPr>
            <a:lvl4pPr lvl="3">
              <a:lnSpc>
                <a:spcPct val="100000"/>
              </a:lnSpc>
              <a:spcBef>
                <a:spcPts val="0"/>
              </a:spcBef>
              <a:spcAft>
                <a:spcPts val="0"/>
              </a:spcAft>
              <a:buSzPts val="1300"/>
              <a:buNone/>
              <a:defRPr sz="1300"/>
            </a:lvl4pPr>
            <a:lvl5pPr lvl="4">
              <a:lnSpc>
                <a:spcPct val="100000"/>
              </a:lnSpc>
              <a:spcBef>
                <a:spcPts val="0"/>
              </a:spcBef>
              <a:spcAft>
                <a:spcPts val="0"/>
              </a:spcAft>
              <a:buSzPts val="1300"/>
              <a:buNone/>
              <a:defRPr sz="1300"/>
            </a:lvl5pPr>
            <a:lvl6pPr lvl="5">
              <a:lnSpc>
                <a:spcPct val="100000"/>
              </a:lnSpc>
              <a:spcBef>
                <a:spcPts val="0"/>
              </a:spcBef>
              <a:spcAft>
                <a:spcPts val="0"/>
              </a:spcAft>
              <a:buSzPts val="1300"/>
              <a:buNone/>
              <a:defRPr sz="1300"/>
            </a:lvl6pPr>
            <a:lvl7pPr lvl="6">
              <a:lnSpc>
                <a:spcPct val="100000"/>
              </a:lnSpc>
              <a:spcBef>
                <a:spcPts val="0"/>
              </a:spcBef>
              <a:spcAft>
                <a:spcPts val="0"/>
              </a:spcAft>
              <a:buSzPts val="1300"/>
              <a:buNone/>
              <a:defRPr sz="1300"/>
            </a:lvl7pPr>
            <a:lvl8pPr lvl="7">
              <a:lnSpc>
                <a:spcPct val="100000"/>
              </a:lnSpc>
              <a:spcBef>
                <a:spcPts val="0"/>
              </a:spcBef>
              <a:spcAft>
                <a:spcPts val="0"/>
              </a:spcAft>
              <a:buSzPts val="1300"/>
              <a:buNone/>
              <a:defRPr sz="1300"/>
            </a:lvl8pPr>
            <a:lvl9pPr lvl="8">
              <a:lnSpc>
                <a:spcPct val="100000"/>
              </a:lnSpc>
              <a:spcBef>
                <a:spcPts val="0"/>
              </a:spcBef>
              <a:spcAft>
                <a:spcPts val="0"/>
              </a:spcAft>
              <a:buSzPts val="1300"/>
              <a:buNone/>
              <a:defRPr sz="1300"/>
            </a:lvl9pPr>
          </a:lstStyle>
          <a:p/>
        </p:txBody>
      </p:sp>
      <p:sp>
        <p:nvSpPr>
          <p:cNvPr id="18" name="Google Shape;18;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9" name="Shape 19"/>
        <p:cNvGrpSpPr/>
        <p:nvPr/>
      </p:nvGrpSpPr>
      <p:grpSpPr>
        <a:xfrm>
          <a:off x="0" y="0"/>
          <a:ext cx="0" cy="0"/>
          <a:chOff x="0" y="0"/>
          <a:chExt cx="0" cy="0"/>
        </a:xfrm>
      </p:grpSpPr>
      <p:grpSp>
        <p:nvGrpSpPr>
          <p:cNvPr id="20" name="Google Shape;20;p3"/>
          <p:cNvGrpSpPr/>
          <p:nvPr/>
        </p:nvGrpSpPr>
        <p:grpSpPr>
          <a:xfrm>
            <a:off x="4406400" y="0"/>
            <a:ext cx="4737600" cy="5143065"/>
            <a:chOff x="4406400" y="0"/>
            <a:chExt cx="4737600" cy="5143065"/>
          </a:xfrm>
        </p:grpSpPr>
        <p:sp>
          <p:nvSpPr>
            <p:cNvPr id="21" name="Google Shape;21;p3"/>
            <p:cNvSpPr/>
            <p:nvPr/>
          </p:nvSpPr>
          <p:spPr>
            <a:xfrm rot="5400000">
              <a:off x="4408200" y="-1800"/>
              <a:ext cx="4734000" cy="4737600"/>
            </a:xfrm>
            <a:prstGeom prst="diagStripe">
              <a:avLst>
                <a:gd fmla="val 49469"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 name="Google Shape;22;p3"/>
            <p:cNvSpPr/>
            <p:nvPr/>
          </p:nvSpPr>
          <p:spPr>
            <a:xfrm rot="5400000">
              <a:off x="4841125" y="5700"/>
              <a:ext cx="4298100" cy="4286700"/>
            </a:xfrm>
            <a:prstGeom prst="diagStripe">
              <a:avLst>
                <a:gd fmla="val 0"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 name="Google Shape;23;p3"/>
            <p:cNvSpPr/>
            <p:nvPr/>
          </p:nvSpPr>
          <p:spPr>
            <a:xfrm rot="-5400000">
              <a:off x="5618399" y="123646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 name="Google Shape;24;p3"/>
            <p:cNvSpPr/>
            <p:nvPr/>
          </p:nvSpPr>
          <p:spPr>
            <a:xfrm flipH="1">
              <a:off x="5849857" y="1443956"/>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 name="Google Shape;25;p3"/>
            <p:cNvSpPr/>
            <p:nvPr/>
          </p:nvSpPr>
          <p:spPr>
            <a:xfrm rot="-5400000">
              <a:off x="5987081" y="246946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 name="Google Shape;26;p3"/>
            <p:cNvSpPr/>
            <p:nvPr/>
          </p:nvSpPr>
          <p:spPr>
            <a:xfrm flipH="1">
              <a:off x="6222115" y="267695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 name="Google Shape;27;p3"/>
            <p:cNvSpPr/>
            <p:nvPr/>
          </p:nvSpPr>
          <p:spPr>
            <a:xfrm rot="-5400000">
              <a:off x="6675341" y="186201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 name="Google Shape;28;p3"/>
            <p:cNvSpPr/>
            <p:nvPr/>
          </p:nvSpPr>
          <p:spPr>
            <a:xfrm flipH="1">
              <a:off x="6908099" y="2069505"/>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 name="Google Shape;29;p3"/>
            <p:cNvSpPr/>
            <p:nvPr/>
          </p:nvSpPr>
          <p:spPr>
            <a:xfrm rot="-5400000">
              <a:off x="6861141" y="2477810"/>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 name="Google Shape;30;p3"/>
            <p:cNvSpPr/>
            <p:nvPr/>
          </p:nvSpPr>
          <p:spPr>
            <a:xfrm flipH="1">
              <a:off x="7965266" y="269296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 name="Google Shape;31;p3"/>
            <p:cNvSpPr/>
            <p:nvPr/>
          </p:nvSpPr>
          <p:spPr>
            <a:xfrm flipH="1">
              <a:off x="8145082" y="330875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 name="Google Shape;32;p3"/>
            <p:cNvSpPr/>
            <p:nvPr/>
          </p:nvSpPr>
          <p:spPr>
            <a:xfrm rot="-5400000">
              <a:off x="7047599" y="309501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 name="Google Shape;33;p3"/>
            <p:cNvSpPr/>
            <p:nvPr/>
          </p:nvSpPr>
          <p:spPr>
            <a:xfrm flipH="1">
              <a:off x="7276649" y="3302502"/>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 name="Google Shape;34;p3"/>
            <p:cNvSpPr/>
            <p:nvPr/>
          </p:nvSpPr>
          <p:spPr>
            <a:xfrm rot="-5400000">
              <a:off x="7227414" y="3710807"/>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 name="Google Shape;35;p3"/>
            <p:cNvSpPr/>
            <p:nvPr/>
          </p:nvSpPr>
          <p:spPr>
            <a:xfrm flipH="1">
              <a:off x="7462448" y="3918294"/>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 name="Google Shape;36;p3"/>
            <p:cNvSpPr/>
            <p:nvPr/>
          </p:nvSpPr>
          <p:spPr>
            <a:xfrm rot="-5400000">
              <a:off x="8102491" y="371847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3"/>
            <p:cNvSpPr/>
            <p:nvPr/>
          </p:nvSpPr>
          <p:spPr>
            <a:xfrm flipH="1">
              <a:off x="8334533" y="3925960"/>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 name="Google Shape;38;p3"/>
            <p:cNvSpPr/>
            <p:nvPr/>
          </p:nvSpPr>
          <p:spPr>
            <a:xfrm rot="-5400000">
              <a:off x="8288290" y="433426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9" name="Google Shape;39;p3"/>
          <p:cNvSpPr txBox="1"/>
          <p:nvPr>
            <p:ph type="title"/>
          </p:nvPr>
        </p:nvSpPr>
        <p:spPr>
          <a:xfrm>
            <a:off x="823850" y="2053000"/>
            <a:ext cx="4587000" cy="1148700"/>
          </a:xfrm>
          <a:prstGeom prst="rect">
            <a:avLst/>
          </a:prstGeom>
        </p:spPr>
        <p:txBody>
          <a:bodyPr anchorCtr="0" anchor="ctr"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40" name="Google Shape;40;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41" name="Shape 41"/>
        <p:cNvGrpSpPr/>
        <p:nvPr/>
      </p:nvGrpSpPr>
      <p:grpSpPr>
        <a:xfrm>
          <a:off x="0" y="0"/>
          <a:ext cx="0" cy="0"/>
          <a:chOff x="0" y="0"/>
          <a:chExt cx="0" cy="0"/>
        </a:xfrm>
      </p:grpSpPr>
      <p:grpSp>
        <p:nvGrpSpPr>
          <p:cNvPr id="42" name="Google Shape;42;p4"/>
          <p:cNvGrpSpPr/>
          <p:nvPr/>
        </p:nvGrpSpPr>
        <p:grpSpPr>
          <a:xfrm>
            <a:off x="0" y="381001"/>
            <a:ext cx="1037850" cy="1016287"/>
            <a:chOff x="0" y="381001"/>
            <a:chExt cx="1037850" cy="1016287"/>
          </a:xfrm>
        </p:grpSpPr>
        <p:sp>
          <p:nvSpPr>
            <p:cNvPr id="43" name="Google Shape;43;p4"/>
            <p:cNvSpPr/>
            <p:nvPr/>
          </p:nvSpPr>
          <p:spPr>
            <a:xfrm rot="-5400000">
              <a:off x="0" y="381001"/>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 name="Google Shape;44;p4"/>
            <p:cNvSpPr/>
            <p:nvPr/>
          </p:nvSpPr>
          <p:spPr>
            <a:xfrm flipH="1">
              <a:off x="229050" y="588489"/>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5" name="Google Shape;45;p4"/>
          <p:cNvSpPr txBox="1"/>
          <p:nvPr>
            <p:ph type="title"/>
          </p:nvPr>
        </p:nvSpPr>
        <p:spPr>
          <a:xfrm>
            <a:off x="1297500" y="393750"/>
            <a:ext cx="7038900" cy="914100"/>
          </a:xfrm>
          <a:prstGeom prst="rect">
            <a:avLst/>
          </a:prstGeom>
        </p:spPr>
        <p:txBody>
          <a:bodyPr anchorCtr="0" anchor="t"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46" name="Google Shape;46;p4"/>
          <p:cNvSpPr txBox="1"/>
          <p:nvPr>
            <p:ph idx="1" type="body"/>
          </p:nvPr>
        </p:nvSpPr>
        <p:spPr>
          <a:xfrm>
            <a:off x="1297500" y="1567550"/>
            <a:ext cx="7038900" cy="29112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47" name="Google Shape;47;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48" name="Shape 48"/>
        <p:cNvGrpSpPr/>
        <p:nvPr/>
      </p:nvGrpSpPr>
      <p:grpSpPr>
        <a:xfrm>
          <a:off x="0" y="0"/>
          <a:ext cx="0" cy="0"/>
          <a:chOff x="0" y="0"/>
          <a:chExt cx="0" cy="0"/>
        </a:xfrm>
      </p:grpSpPr>
      <p:grpSp>
        <p:nvGrpSpPr>
          <p:cNvPr id="49" name="Google Shape;49;p5"/>
          <p:cNvGrpSpPr/>
          <p:nvPr/>
        </p:nvGrpSpPr>
        <p:grpSpPr>
          <a:xfrm>
            <a:off x="0" y="381001"/>
            <a:ext cx="1037850" cy="1016287"/>
            <a:chOff x="0" y="381001"/>
            <a:chExt cx="1037850" cy="1016287"/>
          </a:xfrm>
        </p:grpSpPr>
        <p:sp>
          <p:nvSpPr>
            <p:cNvPr id="50" name="Google Shape;50;p5"/>
            <p:cNvSpPr/>
            <p:nvPr/>
          </p:nvSpPr>
          <p:spPr>
            <a:xfrm rot="-5400000">
              <a:off x="0" y="381001"/>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 name="Google Shape;51;p5"/>
            <p:cNvSpPr/>
            <p:nvPr/>
          </p:nvSpPr>
          <p:spPr>
            <a:xfrm flipH="1">
              <a:off x="229050" y="588489"/>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52" name="Google Shape;52;p5"/>
          <p:cNvSpPr txBox="1"/>
          <p:nvPr>
            <p:ph type="title"/>
          </p:nvPr>
        </p:nvSpPr>
        <p:spPr>
          <a:xfrm>
            <a:off x="1297500" y="393750"/>
            <a:ext cx="7038900" cy="914100"/>
          </a:xfrm>
          <a:prstGeom prst="rect">
            <a:avLst/>
          </a:prstGeom>
        </p:spPr>
        <p:txBody>
          <a:bodyPr anchorCtr="0" anchor="t"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53" name="Google Shape;53;p5"/>
          <p:cNvSpPr txBox="1"/>
          <p:nvPr>
            <p:ph idx="1" type="body"/>
          </p:nvPr>
        </p:nvSpPr>
        <p:spPr>
          <a:xfrm>
            <a:off x="1297500" y="1567550"/>
            <a:ext cx="3403200" cy="29112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54" name="Google Shape;54;p5"/>
          <p:cNvSpPr txBox="1"/>
          <p:nvPr>
            <p:ph idx="2" type="body"/>
          </p:nvPr>
        </p:nvSpPr>
        <p:spPr>
          <a:xfrm>
            <a:off x="4933221" y="1567550"/>
            <a:ext cx="3403200" cy="29112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55" name="Google Shape;55;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6" name="Shape 56"/>
        <p:cNvGrpSpPr/>
        <p:nvPr/>
      </p:nvGrpSpPr>
      <p:grpSpPr>
        <a:xfrm>
          <a:off x="0" y="0"/>
          <a:ext cx="0" cy="0"/>
          <a:chOff x="0" y="0"/>
          <a:chExt cx="0" cy="0"/>
        </a:xfrm>
      </p:grpSpPr>
      <p:grpSp>
        <p:nvGrpSpPr>
          <p:cNvPr id="57" name="Google Shape;57;p6"/>
          <p:cNvGrpSpPr/>
          <p:nvPr/>
        </p:nvGrpSpPr>
        <p:grpSpPr>
          <a:xfrm>
            <a:off x="0" y="381001"/>
            <a:ext cx="1037850" cy="1016287"/>
            <a:chOff x="0" y="381001"/>
            <a:chExt cx="1037850" cy="1016287"/>
          </a:xfrm>
        </p:grpSpPr>
        <p:sp>
          <p:nvSpPr>
            <p:cNvPr id="58" name="Google Shape;58;p6"/>
            <p:cNvSpPr/>
            <p:nvPr/>
          </p:nvSpPr>
          <p:spPr>
            <a:xfrm rot="-5400000">
              <a:off x="0" y="381001"/>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6"/>
            <p:cNvSpPr/>
            <p:nvPr/>
          </p:nvSpPr>
          <p:spPr>
            <a:xfrm flipH="1">
              <a:off x="229050" y="588489"/>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60" name="Google Shape;60;p6"/>
          <p:cNvSpPr txBox="1"/>
          <p:nvPr>
            <p:ph type="title"/>
          </p:nvPr>
        </p:nvSpPr>
        <p:spPr>
          <a:xfrm>
            <a:off x="1297500" y="393750"/>
            <a:ext cx="7038900" cy="914100"/>
          </a:xfrm>
          <a:prstGeom prst="rect">
            <a:avLst/>
          </a:prstGeom>
        </p:spPr>
        <p:txBody>
          <a:bodyPr anchorCtr="0" anchor="t"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61" name="Google Shape;61;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62" name="Shape 62"/>
        <p:cNvGrpSpPr/>
        <p:nvPr/>
      </p:nvGrpSpPr>
      <p:grpSpPr>
        <a:xfrm>
          <a:off x="0" y="0"/>
          <a:ext cx="0" cy="0"/>
          <a:chOff x="0" y="0"/>
          <a:chExt cx="0" cy="0"/>
        </a:xfrm>
      </p:grpSpPr>
      <p:grpSp>
        <p:nvGrpSpPr>
          <p:cNvPr id="63" name="Google Shape;63;p7"/>
          <p:cNvGrpSpPr/>
          <p:nvPr/>
        </p:nvGrpSpPr>
        <p:grpSpPr>
          <a:xfrm>
            <a:off x="0" y="381001"/>
            <a:ext cx="1037850" cy="1016287"/>
            <a:chOff x="0" y="381001"/>
            <a:chExt cx="1037850" cy="1016287"/>
          </a:xfrm>
        </p:grpSpPr>
        <p:sp>
          <p:nvSpPr>
            <p:cNvPr id="64" name="Google Shape;64;p7"/>
            <p:cNvSpPr/>
            <p:nvPr/>
          </p:nvSpPr>
          <p:spPr>
            <a:xfrm rot="-5400000">
              <a:off x="0" y="381001"/>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 name="Google Shape;65;p7"/>
            <p:cNvSpPr/>
            <p:nvPr/>
          </p:nvSpPr>
          <p:spPr>
            <a:xfrm flipH="1">
              <a:off x="229050" y="588489"/>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66" name="Google Shape;66;p7"/>
          <p:cNvSpPr txBox="1"/>
          <p:nvPr>
            <p:ph type="title"/>
          </p:nvPr>
        </p:nvSpPr>
        <p:spPr>
          <a:xfrm>
            <a:off x="1297500" y="393750"/>
            <a:ext cx="3798900" cy="1493100"/>
          </a:xfrm>
          <a:prstGeom prst="rect">
            <a:avLst/>
          </a:prstGeom>
        </p:spPr>
        <p:txBody>
          <a:bodyPr anchorCtr="0" anchor="t"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67" name="Google Shape;67;p7"/>
          <p:cNvSpPr txBox="1"/>
          <p:nvPr>
            <p:ph idx="1" type="body"/>
          </p:nvPr>
        </p:nvSpPr>
        <p:spPr>
          <a:xfrm>
            <a:off x="1297500" y="1972550"/>
            <a:ext cx="3798900" cy="24159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68" name="Google Shape;68;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69" name="Shape 69"/>
        <p:cNvGrpSpPr/>
        <p:nvPr/>
      </p:nvGrpSpPr>
      <p:grpSpPr>
        <a:xfrm>
          <a:off x="0" y="0"/>
          <a:ext cx="0" cy="0"/>
          <a:chOff x="0" y="0"/>
          <a:chExt cx="0" cy="0"/>
        </a:xfrm>
      </p:grpSpPr>
      <p:grpSp>
        <p:nvGrpSpPr>
          <p:cNvPr id="70" name="Google Shape;70;p8"/>
          <p:cNvGrpSpPr/>
          <p:nvPr/>
        </p:nvGrpSpPr>
        <p:grpSpPr>
          <a:xfrm>
            <a:off x="4406400" y="0"/>
            <a:ext cx="4737600" cy="5143500"/>
            <a:chOff x="4406400" y="0"/>
            <a:chExt cx="4737600" cy="5143500"/>
          </a:xfrm>
        </p:grpSpPr>
        <p:sp>
          <p:nvSpPr>
            <p:cNvPr id="71" name="Google Shape;71;p8"/>
            <p:cNvSpPr/>
            <p:nvPr/>
          </p:nvSpPr>
          <p:spPr>
            <a:xfrm rot="5400000">
              <a:off x="4407900" y="-1500"/>
              <a:ext cx="4734600" cy="4737600"/>
            </a:xfrm>
            <a:prstGeom prst="diagStripe">
              <a:avLst>
                <a:gd fmla="val 49469"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 name="Google Shape;72;p8"/>
            <p:cNvSpPr/>
            <p:nvPr/>
          </p:nvSpPr>
          <p:spPr>
            <a:xfrm rot="5400000">
              <a:off x="4840825" y="6000"/>
              <a:ext cx="4298700" cy="4286700"/>
            </a:xfrm>
            <a:prstGeom prst="diagStripe">
              <a:avLst>
                <a:gd fmla="val 0"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 name="Google Shape;73;p8"/>
            <p:cNvSpPr/>
            <p:nvPr/>
          </p:nvSpPr>
          <p:spPr>
            <a:xfrm rot="-5400000">
              <a:off x="5618399" y="1236641"/>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 name="Google Shape;74;p8"/>
            <p:cNvSpPr/>
            <p:nvPr/>
          </p:nvSpPr>
          <p:spPr>
            <a:xfrm flipH="1">
              <a:off x="5849857" y="144407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 name="Google Shape;75;p8"/>
            <p:cNvSpPr/>
            <p:nvPr/>
          </p:nvSpPr>
          <p:spPr>
            <a:xfrm rot="-5400000">
              <a:off x="5987081" y="246974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 name="Google Shape;76;p8"/>
            <p:cNvSpPr/>
            <p:nvPr/>
          </p:nvSpPr>
          <p:spPr>
            <a:xfrm flipH="1">
              <a:off x="6222115" y="2677179"/>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 name="Google Shape;77;p8"/>
            <p:cNvSpPr/>
            <p:nvPr/>
          </p:nvSpPr>
          <p:spPr>
            <a:xfrm rot="-5400000">
              <a:off x="6675341" y="1862244"/>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 name="Google Shape;78;p8"/>
            <p:cNvSpPr/>
            <p:nvPr/>
          </p:nvSpPr>
          <p:spPr>
            <a:xfrm flipH="1">
              <a:off x="6908099" y="2069680"/>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 name="Google Shape;79;p8"/>
            <p:cNvSpPr/>
            <p:nvPr/>
          </p:nvSpPr>
          <p:spPr>
            <a:xfrm rot="-5400000">
              <a:off x="6861141" y="247808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 name="Google Shape;80;p8"/>
            <p:cNvSpPr/>
            <p:nvPr/>
          </p:nvSpPr>
          <p:spPr>
            <a:xfrm flipH="1">
              <a:off x="7965266" y="2693191"/>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 name="Google Shape;81;p8"/>
            <p:cNvSpPr/>
            <p:nvPr/>
          </p:nvSpPr>
          <p:spPr>
            <a:xfrm flipH="1">
              <a:off x="8145082" y="3309036"/>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8"/>
            <p:cNvSpPr/>
            <p:nvPr/>
          </p:nvSpPr>
          <p:spPr>
            <a:xfrm rot="-5400000">
              <a:off x="7047599" y="309534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 name="Google Shape;83;p8"/>
            <p:cNvSpPr/>
            <p:nvPr/>
          </p:nvSpPr>
          <p:spPr>
            <a:xfrm flipH="1">
              <a:off x="7276649" y="3302781"/>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 name="Google Shape;84;p8"/>
            <p:cNvSpPr/>
            <p:nvPr/>
          </p:nvSpPr>
          <p:spPr>
            <a:xfrm rot="-5400000">
              <a:off x="7227414" y="3711189"/>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8"/>
            <p:cNvSpPr/>
            <p:nvPr/>
          </p:nvSpPr>
          <p:spPr>
            <a:xfrm flipH="1">
              <a:off x="7462448" y="391862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 name="Google Shape;86;p8"/>
            <p:cNvSpPr/>
            <p:nvPr/>
          </p:nvSpPr>
          <p:spPr>
            <a:xfrm rot="-5400000">
              <a:off x="8102491" y="3718856"/>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 name="Google Shape;87;p8"/>
            <p:cNvSpPr/>
            <p:nvPr/>
          </p:nvSpPr>
          <p:spPr>
            <a:xfrm flipH="1">
              <a:off x="8334533" y="3926292"/>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 name="Google Shape;88;p8"/>
            <p:cNvSpPr/>
            <p:nvPr/>
          </p:nvSpPr>
          <p:spPr>
            <a:xfrm rot="-5400000">
              <a:off x="8288290" y="4334700"/>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89" name="Google Shape;89;p8"/>
          <p:cNvSpPr txBox="1"/>
          <p:nvPr>
            <p:ph type="title"/>
          </p:nvPr>
        </p:nvSpPr>
        <p:spPr>
          <a:xfrm>
            <a:off x="823850" y="866775"/>
            <a:ext cx="4587000" cy="3521100"/>
          </a:xfrm>
          <a:prstGeom prst="rect">
            <a:avLst/>
          </a:prstGeom>
        </p:spPr>
        <p:txBody>
          <a:bodyPr anchorCtr="0" anchor="ctr"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90" name="Google Shape;90;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91" name="Shape 91"/>
        <p:cNvGrpSpPr/>
        <p:nvPr/>
      </p:nvGrpSpPr>
      <p:grpSpPr>
        <a:xfrm>
          <a:off x="0" y="0"/>
          <a:ext cx="0" cy="0"/>
          <a:chOff x="0" y="0"/>
          <a:chExt cx="0" cy="0"/>
        </a:xfrm>
      </p:grpSpPr>
      <p:grpSp>
        <p:nvGrpSpPr>
          <p:cNvPr id="92" name="Google Shape;92;p9"/>
          <p:cNvGrpSpPr/>
          <p:nvPr/>
        </p:nvGrpSpPr>
        <p:grpSpPr>
          <a:xfrm>
            <a:off x="0" y="381001"/>
            <a:ext cx="1037850" cy="1016287"/>
            <a:chOff x="0" y="381001"/>
            <a:chExt cx="1037850" cy="1016287"/>
          </a:xfrm>
        </p:grpSpPr>
        <p:sp>
          <p:nvSpPr>
            <p:cNvPr id="93" name="Google Shape;93;p9"/>
            <p:cNvSpPr/>
            <p:nvPr/>
          </p:nvSpPr>
          <p:spPr>
            <a:xfrm rot="-5400000">
              <a:off x="0" y="381001"/>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 name="Google Shape;94;p9"/>
            <p:cNvSpPr/>
            <p:nvPr/>
          </p:nvSpPr>
          <p:spPr>
            <a:xfrm flipH="1">
              <a:off x="229050" y="588489"/>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5" name="Google Shape;95;p9"/>
          <p:cNvSpPr txBox="1"/>
          <p:nvPr>
            <p:ph type="title"/>
          </p:nvPr>
        </p:nvSpPr>
        <p:spPr>
          <a:xfrm>
            <a:off x="1297500" y="1658325"/>
            <a:ext cx="3036300" cy="1751700"/>
          </a:xfrm>
          <a:prstGeom prst="rect">
            <a:avLst/>
          </a:prstGeom>
        </p:spPr>
        <p:txBody>
          <a:bodyPr anchorCtr="0" anchor="t"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96" name="Google Shape;96;p9"/>
          <p:cNvSpPr txBox="1"/>
          <p:nvPr>
            <p:ph idx="1" type="subTitle"/>
          </p:nvPr>
        </p:nvSpPr>
        <p:spPr>
          <a:xfrm>
            <a:off x="1297500" y="3538000"/>
            <a:ext cx="3036300" cy="506100"/>
          </a:xfrm>
          <a:prstGeom prst="rect">
            <a:avLst/>
          </a:prstGeom>
        </p:spPr>
        <p:txBody>
          <a:bodyPr anchorCtr="0" anchor="t" bIns="91425" lIns="91425" spcFirstLastPara="1" rIns="91425" wrap="square" tIns="91425">
            <a:normAutofit/>
          </a:bodyPr>
          <a:lstStyle>
            <a:lvl1pPr lvl="0">
              <a:lnSpc>
                <a:spcPct val="100000"/>
              </a:lnSpc>
              <a:spcBef>
                <a:spcPts val="0"/>
              </a:spcBef>
              <a:spcAft>
                <a:spcPts val="0"/>
              </a:spcAft>
              <a:buSzPts val="1300"/>
              <a:buNone/>
              <a:defRPr/>
            </a:lvl1pPr>
            <a:lvl2pPr lvl="1">
              <a:lnSpc>
                <a:spcPct val="100000"/>
              </a:lnSpc>
              <a:spcBef>
                <a:spcPts val="0"/>
              </a:spcBef>
              <a:spcAft>
                <a:spcPts val="0"/>
              </a:spcAft>
              <a:buSzPts val="1300"/>
              <a:buNone/>
              <a:defRPr sz="1300"/>
            </a:lvl2pPr>
            <a:lvl3pPr lvl="2">
              <a:lnSpc>
                <a:spcPct val="100000"/>
              </a:lnSpc>
              <a:spcBef>
                <a:spcPts val="0"/>
              </a:spcBef>
              <a:spcAft>
                <a:spcPts val="0"/>
              </a:spcAft>
              <a:buSzPts val="1300"/>
              <a:buNone/>
              <a:defRPr sz="1300"/>
            </a:lvl3pPr>
            <a:lvl4pPr lvl="3">
              <a:lnSpc>
                <a:spcPct val="100000"/>
              </a:lnSpc>
              <a:spcBef>
                <a:spcPts val="0"/>
              </a:spcBef>
              <a:spcAft>
                <a:spcPts val="0"/>
              </a:spcAft>
              <a:buSzPts val="1300"/>
              <a:buNone/>
              <a:defRPr sz="1300"/>
            </a:lvl4pPr>
            <a:lvl5pPr lvl="4">
              <a:lnSpc>
                <a:spcPct val="100000"/>
              </a:lnSpc>
              <a:spcBef>
                <a:spcPts val="0"/>
              </a:spcBef>
              <a:spcAft>
                <a:spcPts val="0"/>
              </a:spcAft>
              <a:buSzPts val="1300"/>
              <a:buNone/>
              <a:defRPr sz="1300"/>
            </a:lvl5pPr>
            <a:lvl6pPr lvl="5">
              <a:lnSpc>
                <a:spcPct val="100000"/>
              </a:lnSpc>
              <a:spcBef>
                <a:spcPts val="0"/>
              </a:spcBef>
              <a:spcAft>
                <a:spcPts val="0"/>
              </a:spcAft>
              <a:buSzPts val="1300"/>
              <a:buNone/>
              <a:defRPr sz="1300"/>
            </a:lvl6pPr>
            <a:lvl7pPr lvl="6">
              <a:lnSpc>
                <a:spcPct val="100000"/>
              </a:lnSpc>
              <a:spcBef>
                <a:spcPts val="0"/>
              </a:spcBef>
              <a:spcAft>
                <a:spcPts val="0"/>
              </a:spcAft>
              <a:buSzPts val="1300"/>
              <a:buNone/>
              <a:defRPr sz="1300"/>
            </a:lvl7pPr>
            <a:lvl8pPr lvl="7">
              <a:lnSpc>
                <a:spcPct val="100000"/>
              </a:lnSpc>
              <a:spcBef>
                <a:spcPts val="0"/>
              </a:spcBef>
              <a:spcAft>
                <a:spcPts val="0"/>
              </a:spcAft>
              <a:buSzPts val="1300"/>
              <a:buNone/>
              <a:defRPr sz="1300"/>
            </a:lvl8pPr>
            <a:lvl9pPr lvl="8">
              <a:lnSpc>
                <a:spcPct val="100000"/>
              </a:lnSpc>
              <a:spcBef>
                <a:spcPts val="0"/>
              </a:spcBef>
              <a:spcAft>
                <a:spcPts val="0"/>
              </a:spcAft>
              <a:buSzPts val="1300"/>
              <a:buNone/>
              <a:defRPr sz="1300"/>
            </a:lvl9pPr>
          </a:lstStyle>
          <a:p/>
        </p:txBody>
      </p:sp>
      <p:sp>
        <p:nvSpPr>
          <p:cNvPr id="97" name="Google Shape;97;p9"/>
          <p:cNvSpPr txBox="1"/>
          <p:nvPr>
            <p:ph idx="2" type="body"/>
          </p:nvPr>
        </p:nvSpPr>
        <p:spPr>
          <a:xfrm>
            <a:off x="4648200" y="1696600"/>
            <a:ext cx="3676800" cy="23475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98" name="Google Shape;98;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99" name="Shape 99"/>
        <p:cNvGrpSpPr/>
        <p:nvPr/>
      </p:nvGrpSpPr>
      <p:grpSpPr>
        <a:xfrm>
          <a:off x="0" y="0"/>
          <a:ext cx="0" cy="0"/>
          <a:chOff x="0" y="0"/>
          <a:chExt cx="0" cy="0"/>
        </a:xfrm>
      </p:grpSpPr>
      <p:grpSp>
        <p:nvGrpSpPr>
          <p:cNvPr id="100" name="Google Shape;100;p10"/>
          <p:cNvGrpSpPr/>
          <p:nvPr/>
        </p:nvGrpSpPr>
        <p:grpSpPr>
          <a:xfrm>
            <a:off x="0" y="4128572"/>
            <a:ext cx="698925" cy="684657"/>
            <a:chOff x="0" y="3785672"/>
            <a:chExt cx="698925" cy="684657"/>
          </a:xfrm>
        </p:grpSpPr>
        <p:sp>
          <p:nvSpPr>
            <p:cNvPr id="101" name="Google Shape;101;p10"/>
            <p:cNvSpPr/>
            <p:nvPr/>
          </p:nvSpPr>
          <p:spPr>
            <a:xfrm rot="-5400000">
              <a:off x="0" y="3785672"/>
              <a:ext cx="544800" cy="544800"/>
            </a:xfrm>
            <a:prstGeom prst="diagStripe">
              <a:avLst>
                <a:gd fmla="val 50000" name="adj"/>
              </a:avLst>
            </a:prstGeom>
            <a:solidFill>
              <a:schemeClr val="lt1">
                <a:alpha val="962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 name="Google Shape;102;p10"/>
            <p:cNvSpPr/>
            <p:nvPr/>
          </p:nvSpPr>
          <p:spPr>
            <a:xfrm flipH="1">
              <a:off x="154125" y="3925529"/>
              <a:ext cx="544800" cy="544800"/>
            </a:xfrm>
            <a:prstGeom prst="diagStripe">
              <a:avLst>
                <a:gd fmla="val 50000" name="adj"/>
              </a:avLst>
            </a:prstGeom>
            <a:solidFill>
              <a:schemeClr val="lt1">
                <a:alpha val="962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3" name="Google Shape;103;p10"/>
          <p:cNvSpPr txBox="1"/>
          <p:nvPr>
            <p:ph idx="1" type="body"/>
          </p:nvPr>
        </p:nvSpPr>
        <p:spPr>
          <a:xfrm>
            <a:off x="812725" y="4305375"/>
            <a:ext cx="6936000" cy="5238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300"/>
              <a:buNone/>
              <a:defRPr/>
            </a:lvl1pPr>
          </a:lstStyle>
          <a:p/>
        </p:txBody>
      </p:sp>
      <p:sp>
        <p:nvSpPr>
          <p:cNvPr id="104" name="Google Shape;104;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105" name="Shape 105"/>
        <p:cNvGrpSpPr/>
        <p:nvPr/>
      </p:nvGrpSpPr>
      <p:grpSpPr>
        <a:xfrm>
          <a:off x="0" y="0"/>
          <a:ext cx="0" cy="0"/>
          <a:chOff x="0" y="0"/>
          <a:chExt cx="0" cy="0"/>
        </a:xfrm>
      </p:grpSpPr>
      <p:grpSp>
        <p:nvGrpSpPr>
          <p:cNvPr id="106" name="Google Shape;106;p11"/>
          <p:cNvGrpSpPr/>
          <p:nvPr/>
        </p:nvGrpSpPr>
        <p:grpSpPr>
          <a:xfrm>
            <a:off x="4406400" y="0"/>
            <a:ext cx="4737600" cy="5143065"/>
            <a:chOff x="4406400" y="0"/>
            <a:chExt cx="4737600" cy="5143065"/>
          </a:xfrm>
        </p:grpSpPr>
        <p:sp>
          <p:nvSpPr>
            <p:cNvPr id="107" name="Google Shape;107;p11"/>
            <p:cNvSpPr/>
            <p:nvPr/>
          </p:nvSpPr>
          <p:spPr>
            <a:xfrm rot="5400000">
              <a:off x="4408200" y="-1800"/>
              <a:ext cx="4734000" cy="4737600"/>
            </a:xfrm>
            <a:prstGeom prst="diagStripe">
              <a:avLst>
                <a:gd fmla="val 49469"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 name="Google Shape;108;p11"/>
            <p:cNvSpPr/>
            <p:nvPr/>
          </p:nvSpPr>
          <p:spPr>
            <a:xfrm rot="5400000">
              <a:off x="4841125" y="5700"/>
              <a:ext cx="4298100" cy="4286700"/>
            </a:xfrm>
            <a:prstGeom prst="diagStripe">
              <a:avLst>
                <a:gd fmla="val 0"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 name="Google Shape;109;p11"/>
            <p:cNvSpPr/>
            <p:nvPr/>
          </p:nvSpPr>
          <p:spPr>
            <a:xfrm rot="-5400000">
              <a:off x="5618399" y="123646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 name="Google Shape;110;p11"/>
            <p:cNvSpPr/>
            <p:nvPr/>
          </p:nvSpPr>
          <p:spPr>
            <a:xfrm flipH="1">
              <a:off x="5849857" y="1443956"/>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 name="Google Shape;111;p11"/>
            <p:cNvSpPr/>
            <p:nvPr/>
          </p:nvSpPr>
          <p:spPr>
            <a:xfrm rot="-5400000">
              <a:off x="5987081" y="246946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 name="Google Shape;112;p11"/>
            <p:cNvSpPr/>
            <p:nvPr/>
          </p:nvSpPr>
          <p:spPr>
            <a:xfrm flipH="1">
              <a:off x="6222115" y="267695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 name="Google Shape;113;p11"/>
            <p:cNvSpPr/>
            <p:nvPr/>
          </p:nvSpPr>
          <p:spPr>
            <a:xfrm rot="-5400000">
              <a:off x="6675341" y="186201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 name="Google Shape;114;p11"/>
            <p:cNvSpPr/>
            <p:nvPr/>
          </p:nvSpPr>
          <p:spPr>
            <a:xfrm flipH="1">
              <a:off x="6908099" y="2069505"/>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 name="Google Shape;115;p11"/>
            <p:cNvSpPr/>
            <p:nvPr/>
          </p:nvSpPr>
          <p:spPr>
            <a:xfrm rot="-5400000">
              <a:off x="6861141" y="2477810"/>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 name="Google Shape;116;p11"/>
            <p:cNvSpPr/>
            <p:nvPr/>
          </p:nvSpPr>
          <p:spPr>
            <a:xfrm flipH="1">
              <a:off x="7965266" y="269296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 name="Google Shape;117;p11"/>
            <p:cNvSpPr/>
            <p:nvPr/>
          </p:nvSpPr>
          <p:spPr>
            <a:xfrm flipH="1">
              <a:off x="8145082" y="330875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 name="Google Shape;118;p11"/>
            <p:cNvSpPr/>
            <p:nvPr/>
          </p:nvSpPr>
          <p:spPr>
            <a:xfrm rot="-5400000">
              <a:off x="7047599" y="309501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 name="Google Shape;119;p11"/>
            <p:cNvSpPr/>
            <p:nvPr/>
          </p:nvSpPr>
          <p:spPr>
            <a:xfrm flipH="1">
              <a:off x="7276649" y="3302502"/>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 name="Google Shape;120;p11"/>
            <p:cNvSpPr/>
            <p:nvPr/>
          </p:nvSpPr>
          <p:spPr>
            <a:xfrm rot="-5400000">
              <a:off x="7227414" y="3710807"/>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 name="Google Shape;121;p11"/>
            <p:cNvSpPr/>
            <p:nvPr/>
          </p:nvSpPr>
          <p:spPr>
            <a:xfrm flipH="1">
              <a:off x="7462448" y="3918294"/>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 name="Google Shape;122;p11"/>
            <p:cNvSpPr/>
            <p:nvPr/>
          </p:nvSpPr>
          <p:spPr>
            <a:xfrm rot="-5400000">
              <a:off x="8102491" y="371847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11"/>
            <p:cNvSpPr/>
            <p:nvPr/>
          </p:nvSpPr>
          <p:spPr>
            <a:xfrm flipH="1">
              <a:off x="8334533" y="3925960"/>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11"/>
            <p:cNvSpPr/>
            <p:nvPr/>
          </p:nvSpPr>
          <p:spPr>
            <a:xfrm rot="-5400000">
              <a:off x="8288290" y="433426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25" name="Google Shape;125;p11"/>
          <p:cNvSpPr txBox="1"/>
          <p:nvPr>
            <p:ph hasCustomPrompt="1" type="title"/>
          </p:nvPr>
        </p:nvSpPr>
        <p:spPr>
          <a:xfrm>
            <a:off x="823850" y="1284675"/>
            <a:ext cx="4776000" cy="1300800"/>
          </a:xfrm>
          <a:prstGeom prst="rect">
            <a:avLst/>
          </a:prstGeom>
        </p:spPr>
        <p:txBody>
          <a:bodyPr anchorCtr="0" anchor="t" bIns="91425" lIns="91425" spcFirstLastPara="1" rIns="91425" wrap="square" tIns="91425">
            <a:normAutofit/>
          </a:bodyPr>
          <a:lstStyle>
            <a:lvl1pPr lvl="0">
              <a:spcBef>
                <a:spcPts val="0"/>
              </a:spcBef>
              <a:spcAft>
                <a:spcPts val="0"/>
              </a:spcAft>
              <a:buSzPts val="8000"/>
              <a:buNone/>
              <a:defRPr sz="8000"/>
            </a:lvl1pPr>
            <a:lvl2pPr lvl="1">
              <a:spcBef>
                <a:spcPts val="0"/>
              </a:spcBef>
              <a:spcAft>
                <a:spcPts val="0"/>
              </a:spcAft>
              <a:buSzPts val="8000"/>
              <a:buNone/>
              <a:defRPr sz="8000"/>
            </a:lvl2pPr>
            <a:lvl3pPr lvl="2">
              <a:spcBef>
                <a:spcPts val="0"/>
              </a:spcBef>
              <a:spcAft>
                <a:spcPts val="0"/>
              </a:spcAft>
              <a:buSzPts val="8000"/>
              <a:buNone/>
              <a:defRPr sz="8000"/>
            </a:lvl3pPr>
            <a:lvl4pPr lvl="3">
              <a:spcBef>
                <a:spcPts val="0"/>
              </a:spcBef>
              <a:spcAft>
                <a:spcPts val="0"/>
              </a:spcAft>
              <a:buSzPts val="8000"/>
              <a:buNone/>
              <a:defRPr sz="8000"/>
            </a:lvl4pPr>
            <a:lvl5pPr lvl="4">
              <a:spcBef>
                <a:spcPts val="0"/>
              </a:spcBef>
              <a:spcAft>
                <a:spcPts val="0"/>
              </a:spcAft>
              <a:buSzPts val="8000"/>
              <a:buNone/>
              <a:defRPr sz="8000"/>
            </a:lvl5pPr>
            <a:lvl6pPr lvl="5">
              <a:spcBef>
                <a:spcPts val="0"/>
              </a:spcBef>
              <a:spcAft>
                <a:spcPts val="0"/>
              </a:spcAft>
              <a:buSzPts val="8000"/>
              <a:buNone/>
              <a:defRPr sz="8000"/>
            </a:lvl6pPr>
            <a:lvl7pPr lvl="6">
              <a:spcBef>
                <a:spcPts val="0"/>
              </a:spcBef>
              <a:spcAft>
                <a:spcPts val="0"/>
              </a:spcAft>
              <a:buSzPts val="8000"/>
              <a:buNone/>
              <a:defRPr sz="8000"/>
            </a:lvl7pPr>
            <a:lvl8pPr lvl="7">
              <a:spcBef>
                <a:spcPts val="0"/>
              </a:spcBef>
              <a:spcAft>
                <a:spcPts val="0"/>
              </a:spcAft>
              <a:buSzPts val="8000"/>
              <a:buNone/>
              <a:defRPr sz="8000"/>
            </a:lvl8pPr>
            <a:lvl9pPr lvl="8">
              <a:spcBef>
                <a:spcPts val="0"/>
              </a:spcBef>
              <a:spcAft>
                <a:spcPts val="0"/>
              </a:spcAft>
              <a:buSzPts val="8000"/>
              <a:buNone/>
              <a:defRPr sz="8000"/>
            </a:lvl9pPr>
          </a:lstStyle>
          <a:p>
            <a:r>
              <a:t>xx%</a:t>
            </a:r>
          </a:p>
        </p:txBody>
      </p:sp>
      <p:sp>
        <p:nvSpPr>
          <p:cNvPr id="126" name="Google Shape;126;p11"/>
          <p:cNvSpPr txBox="1"/>
          <p:nvPr>
            <p:ph idx="1" type="body"/>
          </p:nvPr>
        </p:nvSpPr>
        <p:spPr>
          <a:xfrm>
            <a:off x="823850" y="2643124"/>
            <a:ext cx="4776000" cy="12189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127" name="Google Shape;12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28" name="Shape 128"/>
        <p:cNvGrpSpPr/>
        <p:nvPr/>
      </p:nvGrpSpPr>
      <p:grpSpPr>
        <a:xfrm>
          <a:off x="0" y="0"/>
          <a:ext cx="0" cy="0"/>
          <a:chOff x="0" y="0"/>
          <a:chExt cx="0" cy="0"/>
        </a:xfrm>
      </p:grpSpPr>
      <p:sp>
        <p:nvSpPr>
          <p:cNvPr id="129" name="Google Shape;12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focus">
    <p:bg>
      <p:bgPr>
        <a:solidFill>
          <a:schemeClr val="dk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1pPr>
            <a:lvl2pPr lvl="1">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2pPr>
            <a:lvl3pPr lvl="2">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3pPr>
            <a:lvl4pPr lvl="3">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4pPr>
            <a:lvl5pPr lvl="4">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5pPr>
            <a:lvl6pPr lvl="5">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6pPr>
            <a:lvl7pPr lvl="6">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7pPr>
            <a:lvl8pPr lvl="7">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8pPr>
            <a:lvl9pPr lvl="8">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11150" lvl="0" marL="457200">
              <a:lnSpc>
                <a:spcPct val="115000"/>
              </a:lnSpc>
              <a:spcBef>
                <a:spcPts val="0"/>
              </a:spcBef>
              <a:spcAft>
                <a:spcPts val="0"/>
              </a:spcAft>
              <a:buClr>
                <a:schemeClr val="lt1"/>
              </a:buClr>
              <a:buSzPts val="1300"/>
              <a:buFont typeface="Lato"/>
              <a:buChar char="●"/>
              <a:defRPr sz="1300">
                <a:solidFill>
                  <a:schemeClr val="lt1"/>
                </a:solidFill>
                <a:latin typeface="Lato"/>
                <a:ea typeface="Lato"/>
                <a:cs typeface="Lato"/>
                <a:sym typeface="Lato"/>
              </a:defRPr>
            </a:lvl1pPr>
            <a:lvl2pPr indent="-298450" lvl="1" marL="91440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2pPr>
            <a:lvl3pPr indent="-298450" lvl="2" marL="137160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3pPr>
            <a:lvl4pPr indent="-298450" lvl="3" marL="182880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4pPr>
            <a:lvl5pPr indent="-298450" lvl="4" marL="228600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5pPr>
            <a:lvl6pPr indent="-298450" lvl="5" marL="274320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6pPr>
            <a:lvl7pPr indent="-298450" lvl="6" marL="320040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7pPr>
            <a:lvl8pPr indent="-298450" lvl="7" marL="365760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8pPr>
            <a:lvl9pPr indent="-298450" lvl="8" marL="411480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lt1"/>
                </a:solidFill>
                <a:latin typeface="Lato"/>
                <a:ea typeface="Lato"/>
                <a:cs typeface="Lato"/>
                <a:sym typeface="Lato"/>
              </a:defRPr>
            </a:lvl1pPr>
            <a:lvl2pPr lvl="1" algn="r">
              <a:buNone/>
              <a:defRPr sz="1000">
                <a:solidFill>
                  <a:schemeClr val="lt1"/>
                </a:solidFill>
                <a:latin typeface="Lato"/>
                <a:ea typeface="Lato"/>
                <a:cs typeface="Lato"/>
                <a:sym typeface="Lato"/>
              </a:defRPr>
            </a:lvl2pPr>
            <a:lvl3pPr lvl="2" algn="r">
              <a:buNone/>
              <a:defRPr sz="1000">
                <a:solidFill>
                  <a:schemeClr val="lt1"/>
                </a:solidFill>
                <a:latin typeface="Lato"/>
                <a:ea typeface="Lato"/>
                <a:cs typeface="Lato"/>
                <a:sym typeface="Lato"/>
              </a:defRPr>
            </a:lvl3pPr>
            <a:lvl4pPr lvl="3" algn="r">
              <a:buNone/>
              <a:defRPr sz="1000">
                <a:solidFill>
                  <a:schemeClr val="lt1"/>
                </a:solidFill>
                <a:latin typeface="Lato"/>
                <a:ea typeface="Lato"/>
                <a:cs typeface="Lato"/>
                <a:sym typeface="Lato"/>
              </a:defRPr>
            </a:lvl4pPr>
            <a:lvl5pPr lvl="4" algn="r">
              <a:buNone/>
              <a:defRPr sz="1000">
                <a:solidFill>
                  <a:schemeClr val="lt1"/>
                </a:solidFill>
                <a:latin typeface="Lato"/>
                <a:ea typeface="Lato"/>
                <a:cs typeface="Lato"/>
                <a:sym typeface="Lato"/>
              </a:defRPr>
            </a:lvl5pPr>
            <a:lvl6pPr lvl="5" algn="r">
              <a:buNone/>
              <a:defRPr sz="1000">
                <a:solidFill>
                  <a:schemeClr val="lt1"/>
                </a:solidFill>
                <a:latin typeface="Lato"/>
                <a:ea typeface="Lato"/>
                <a:cs typeface="Lato"/>
                <a:sym typeface="Lato"/>
              </a:defRPr>
            </a:lvl6pPr>
            <a:lvl7pPr lvl="6" algn="r">
              <a:buNone/>
              <a:defRPr sz="1000">
                <a:solidFill>
                  <a:schemeClr val="lt1"/>
                </a:solidFill>
                <a:latin typeface="Lato"/>
                <a:ea typeface="Lato"/>
                <a:cs typeface="Lato"/>
                <a:sym typeface="Lato"/>
              </a:defRPr>
            </a:lvl7pPr>
            <a:lvl8pPr lvl="7" algn="r">
              <a:buNone/>
              <a:defRPr sz="1000">
                <a:solidFill>
                  <a:schemeClr val="lt1"/>
                </a:solidFill>
                <a:latin typeface="Lato"/>
                <a:ea typeface="Lato"/>
                <a:cs typeface="Lato"/>
                <a:sym typeface="Lato"/>
              </a:defRPr>
            </a:lvl8pPr>
            <a:lvl9pPr lvl="8" algn="r">
              <a:buNone/>
              <a:defRPr sz="1000">
                <a:solidFill>
                  <a:schemeClr val="lt1"/>
                </a:solidFill>
                <a:latin typeface="Lato"/>
                <a:ea typeface="Lato"/>
                <a:cs typeface="Lato"/>
                <a:sym typeface="Lato"/>
              </a:defRPr>
            </a:lvl9pPr>
          </a:lstStyle>
          <a:p>
            <a:pPr indent="0" lvl="0" marL="0" rtl="0" algn="r">
              <a:spcBef>
                <a:spcPts val="0"/>
              </a:spcBef>
              <a:spcAft>
                <a:spcPts val="0"/>
              </a:spcAft>
              <a:buNone/>
            </a:pPr>
            <a:fld id="{00000000-1234-1234-1234-123412341234}" type="slidenum">
              <a:rPr lang="e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1.png"/><Relationship Id="rId5"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 name="Shape 133"/>
        <p:cNvGrpSpPr/>
        <p:nvPr/>
      </p:nvGrpSpPr>
      <p:grpSpPr>
        <a:xfrm>
          <a:off x="0" y="0"/>
          <a:ext cx="0" cy="0"/>
          <a:chOff x="0" y="0"/>
          <a:chExt cx="0" cy="0"/>
        </a:xfrm>
      </p:grpSpPr>
      <p:sp>
        <p:nvSpPr>
          <p:cNvPr id="134" name="Google Shape;134;p13"/>
          <p:cNvSpPr txBox="1"/>
          <p:nvPr>
            <p:ph type="ctrTitle"/>
          </p:nvPr>
        </p:nvSpPr>
        <p:spPr>
          <a:xfrm>
            <a:off x="3537150" y="1578400"/>
            <a:ext cx="5017500" cy="15789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s"/>
              <a:t>universidad </a:t>
            </a:r>
            <a:r>
              <a:rPr lang="es"/>
              <a:t>autónoma</a:t>
            </a:r>
            <a:r>
              <a:rPr lang="es"/>
              <a:t> de baja california </a:t>
            </a:r>
            <a:endParaRPr/>
          </a:p>
        </p:txBody>
      </p:sp>
      <p:sp>
        <p:nvSpPr>
          <p:cNvPr id="135" name="Google Shape;135;p13"/>
          <p:cNvSpPr txBox="1"/>
          <p:nvPr>
            <p:ph idx="1" type="subTitle"/>
          </p:nvPr>
        </p:nvSpPr>
        <p:spPr>
          <a:xfrm>
            <a:off x="255000" y="2759975"/>
            <a:ext cx="3899700" cy="1701000"/>
          </a:xfrm>
          <a:prstGeom prst="rect">
            <a:avLst/>
          </a:prstGeom>
        </p:spPr>
        <p:txBody>
          <a:bodyPr anchorCtr="0" anchor="t" bIns="91425" lIns="91425" spcFirstLastPara="1" rIns="91425" wrap="square" tIns="91425">
            <a:normAutofit fontScale="92500" lnSpcReduction="10000"/>
          </a:bodyPr>
          <a:lstStyle/>
          <a:p>
            <a:pPr indent="0" lvl="0" marL="0" rtl="0" algn="l">
              <a:spcBef>
                <a:spcPts val="0"/>
              </a:spcBef>
              <a:spcAft>
                <a:spcPts val="0"/>
              </a:spcAft>
              <a:buNone/>
            </a:pPr>
            <a:r>
              <a:rPr lang="es" sz="1500">
                <a:latin typeface="Arial"/>
                <a:ea typeface="Arial"/>
                <a:cs typeface="Arial"/>
                <a:sym typeface="Arial"/>
              </a:rPr>
              <a:t>proyecto de carrera </a:t>
            </a:r>
            <a:endParaRPr sz="1500">
              <a:latin typeface="Arial"/>
              <a:ea typeface="Arial"/>
              <a:cs typeface="Arial"/>
              <a:sym typeface="Arial"/>
            </a:endParaRPr>
          </a:p>
          <a:p>
            <a:pPr indent="0" lvl="0" marL="0" rtl="0" algn="l">
              <a:spcBef>
                <a:spcPts val="0"/>
              </a:spcBef>
              <a:spcAft>
                <a:spcPts val="0"/>
              </a:spcAft>
              <a:buNone/>
            </a:pPr>
            <a:r>
              <a:t/>
            </a:r>
            <a:endParaRPr sz="1500">
              <a:latin typeface="Arial"/>
              <a:ea typeface="Arial"/>
              <a:cs typeface="Arial"/>
              <a:sym typeface="Arial"/>
            </a:endParaRPr>
          </a:p>
          <a:p>
            <a:pPr indent="0" lvl="0" marL="0" rtl="0" algn="l">
              <a:spcBef>
                <a:spcPts val="0"/>
              </a:spcBef>
              <a:spcAft>
                <a:spcPts val="0"/>
              </a:spcAft>
              <a:buNone/>
            </a:pPr>
            <a:r>
              <a:rPr lang="es" sz="1500">
                <a:latin typeface="Arial"/>
                <a:ea typeface="Arial"/>
                <a:cs typeface="Arial"/>
                <a:sym typeface="Arial"/>
              </a:rPr>
              <a:t>estantes inteligentes</a:t>
            </a:r>
            <a:endParaRPr sz="1500">
              <a:latin typeface="Arial"/>
              <a:ea typeface="Arial"/>
              <a:cs typeface="Arial"/>
              <a:sym typeface="Arial"/>
            </a:endParaRPr>
          </a:p>
          <a:p>
            <a:pPr indent="0" lvl="0" marL="0" rtl="0" algn="l">
              <a:spcBef>
                <a:spcPts val="0"/>
              </a:spcBef>
              <a:spcAft>
                <a:spcPts val="0"/>
              </a:spcAft>
              <a:buNone/>
            </a:pPr>
            <a:r>
              <a:t/>
            </a:r>
            <a:endParaRPr sz="1500">
              <a:latin typeface="Arial"/>
              <a:ea typeface="Arial"/>
              <a:cs typeface="Arial"/>
              <a:sym typeface="Arial"/>
            </a:endParaRPr>
          </a:p>
          <a:p>
            <a:pPr indent="0" lvl="0" marL="0" rtl="0" algn="l">
              <a:spcBef>
                <a:spcPts val="0"/>
              </a:spcBef>
              <a:spcAft>
                <a:spcPts val="0"/>
              </a:spcAft>
              <a:buNone/>
            </a:pPr>
            <a:r>
              <a:rPr lang="es" sz="1500">
                <a:latin typeface="Arial"/>
                <a:ea typeface="Arial"/>
                <a:cs typeface="Arial"/>
                <a:sym typeface="Arial"/>
              </a:rPr>
              <a:t>MAURICIO ALONSO SANCHEZ HERRERA</a:t>
            </a:r>
            <a:endParaRPr sz="1500">
              <a:latin typeface="Arial"/>
              <a:ea typeface="Arial"/>
              <a:cs typeface="Arial"/>
              <a:sym typeface="Arial"/>
            </a:endParaRPr>
          </a:p>
          <a:p>
            <a:pPr indent="0" lvl="0" marL="0" rtl="0" algn="l">
              <a:spcBef>
                <a:spcPts val="0"/>
              </a:spcBef>
              <a:spcAft>
                <a:spcPts val="0"/>
              </a:spcAft>
              <a:buNone/>
            </a:pPr>
            <a:r>
              <a:t/>
            </a:r>
            <a:endParaRPr sz="1500">
              <a:latin typeface="Arial"/>
              <a:ea typeface="Arial"/>
              <a:cs typeface="Arial"/>
              <a:sym typeface="Arial"/>
            </a:endParaRPr>
          </a:p>
          <a:p>
            <a:pPr indent="0" lvl="0" marL="0" rtl="0" algn="l">
              <a:spcBef>
                <a:spcPts val="0"/>
              </a:spcBef>
              <a:spcAft>
                <a:spcPts val="0"/>
              </a:spcAft>
              <a:buNone/>
            </a:pPr>
            <a:r>
              <a:rPr lang="es" sz="1500">
                <a:latin typeface="Arial"/>
                <a:ea typeface="Arial"/>
                <a:cs typeface="Arial"/>
                <a:sym typeface="Arial"/>
              </a:rPr>
              <a:t>erik garcia chavez 01275863</a:t>
            </a:r>
            <a:endParaRPr sz="1500">
              <a:latin typeface="Arial"/>
              <a:ea typeface="Arial"/>
              <a:cs typeface="Arial"/>
              <a:sym typeface="Arial"/>
            </a:endParaRPr>
          </a:p>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sp>
        <p:nvSpPr>
          <p:cNvPr id="140" name="Google Shape;140;p14"/>
          <p:cNvSpPr txBox="1"/>
          <p:nvPr>
            <p:ph type="title"/>
          </p:nvPr>
        </p:nvSpPr>
        <p:spPr>
          <a:xfrm>
            <a:off x="1297500" y="393750"/>
            <a:ext cx="7038900" cy="722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s"/>
              <a:t>metodologia de analisis y disenio a </a:t>
            </a:r>
            <a:r>
              <a:rPr lang="es"/>
              <a:t>utilizar</a:t>
            </a:r>
            <a:endParaRPr/>
          </a:p>
        </p:txBody>
      </p:sp>
      <p:sp>
        <p:nvSpPr>
          <p:cNvPr id="141" name="Google Shape;141;p14"/>
          <p:cNvSpPr txBox="1"/>
          <p:nvPr>
            <p:ph idx="1" type="body"/>
          </p:nvPr>
        </p:nvSpPr>
        <p:spPr>
          <a:xfrm>
            <a:off x="1129400" y="1115850"/>
            <a:ext cx="7620000" cy="3728400"/>
          </a:xfrm>
          <a:prstGeom prst="rect">
            <a:avLst/>
          </a:prstGeom>
        </p:spPr>
        <p:txBody>
          <a:bodyPr anchorCtr="0" anchor="t" bIns="91425" lIns="91425" spcFirstLastPara="1" rIns="91425" wrap="square" tIns="91425">
            <a:noAutofit/>
          </a:bodyPr>
          <a:lstStyle/>
          <a:p>
            <a:pPr indent="-311150" lvl="0" marL="457200" rtl="0" algn="l">
              <a:lnSpc>
                <a:spcPct val="95000"/>
              </a:lnSpc>
              <a:spcBef>
                <a:spcPts val="0"/>
              </a:spcBef>
              <a:spcAft>
                <a:spcPts val="0"/>
              </a:spcAft>
              <a:buSzPts val="1300"/>
              <a:buFont typeface="Arial"/>
              <a:buChar char="-"/>
            </a:pPr>
            <a:r>
              <a:rPr lang="es">
                <a:latin typeface="Arial"/>
                <a:ea typeface="Arial"/>
                <a:cs typeface="Arial"/>
                <a:sym typeface="Arial"/>
              </a:rPr>
              <a:t>la </a:t>
            </a:r>
            <a:r>
              <a:rPr lang="es">
                <a:latin typeface="Arial"/>
                <a:ea typeface="Arial"/>
                <a:cs typeface="Arial"/>
                <a:sym typeface="Arial"/>
              </a:rPr>
              <a:t>metodología</a:t>
            </a:r>
            <a:r>
              <a:rPr lang="es">
                <a:latin typeface="Arial"/>
                <a:ea typeface="Arial"/>
                <a:cs typeface="Arial"/>
                <a:sym typeface="Arial"/>
              </a:rPr>
              <a:t> que se acomoda de mejor manera al proyecto es la "</a:t>
            </a:r>
            <a:r>
              <a:rPr lang="es">
                <a:latin typeface="Arial"/>
                <a:ea typeface="Arial"/>
                <a:cs typeface="Arial"/>
                <a:sym typeface="Arial"/>
              </a:rPr>
              <a:t>metodología</a:t>
            </a:r>
            <a:r>
              <a:rPr lang="es">
                <a:latin typeface="Arial"/>
                <a:ea typeface="Arial"/>
                <a:cs typeface="Arial"/>
                <a:sym typeface="Arial"/>
              </a:rPr>
              <a:t> de prototipado evolutivo" dado a la </a:t>
            </a:r>
            <a:r>
              <a:rPr lang="es">
                <a:latin typeface="Arial"/>
                <a:ea typeface="Arial"/>
                <a:cs typeface="Arial"/>
                <a:sym typeface="Arial"/>
              </a:rPr>
              <a:t>incorporación</a:t>
            </a:r>
            <a:r>
              <a:rPr lang="es">
                <a:latin typeface="Arial"/>
                <a:ea typeface="Arial"/>
                <a:cs typeface="Arial"/>
                <a:sym typeface="Arial"/>
              </a:rPr>
              <a:t> de software y hardware</a:t>
            </a:r>
            <a:endParaRPr>
              <a:latin typeface="Arial"/>
              <a:ea typeface="Arial"/>
              <a:cs typeface="Arial"/>
              <a:sym typeface="Arial"/>
            </a:endParaRPr>
          </a:p>
          <a:p>
            <a:pPr indent="0" lvl="0" marL="0" rtl="0" algn="l">
              <a:lnSpc>
                <a:spcPct val="95000"/>
              </a:lnSpc>
              <a:spcBef>
                <a:spcPts val="1200"/>
              </a:spcBef>
              <a:spcAft>
                <a:spcPts val="0"/>
              </a:spcAft>
              <a:buNone/>
            </a:pPr>
            <a:r>
              <a:t/>
            </a:r>
            <a:endParaRPr>
              <a:latin typeface="Arial"/>
              <a:ea typeface="Arial"/>
              <a:cs typeface="Arial"/>
              <a:sym typeface="Arial"/>
            </a:endParaRPr>
          </a:p>
          <a:p>
            <a:pPr indent="-311150" lvl="0" marL="457200" rtl="0" algn="l">
              <a:lnSpc>
                <a:spcPct val="95000"/>
              </a:lnSpc>
              <a:spcBef>
                <a:spcPts val="1200"/>
              </a:spcBef>
              <a:spcAft>
                <a:spcPts val="0"/>
              </a:spcAft>
              <a:buSzPts val="1300"/>
              <a:buFont typeface="Arial"/>
              <a:buChar char="-"/>
            </a:pPr>
            <a:r>
              <a:rPr lang="es">
                <a:latin typeface="Arial"/>
                <a:ea typeface="Arial"/>
                <a:cs typeface="Arial"/>
                <a:sym typeface="Arial"/>
              </a:rPr>
              <a:t>El sistema </a:t>
            </a:r>
            <a:r>
              <a:rPr lang="es">
                <a:latin typeface="Arial"/>
                <a:ea typeface="Arial"/>
                <a:cs typeface="Arial"/>
                <a:sym typeface="Arial"/>
              </a:rPr>
              <a:t>consta</a:t>
            </a:r>
            <a:r>
              <a:rPr lang="es">
                <a:latin typeface="Arial"/>
                <a:ea typeface="Arial"/>
                <a:cs typeface="Arial"/>
                <a:sym typeface="Arial"/>
              </a:rPr>
              <a:t> de las </a:t>
            </a:r>
            <a:r>
              <a:rPr lang="es">
                <a:latin typeface="Arial"/>
                <a:ea typeface="Arial"/>
                <a:cs typeface="Arial"/>
                <a:sym typeface="Arial"/>
              </a:rPr>
              <a:t>siguientes</a:t>
            </a:r>
            <a:r>
              <a:rPr lang="es">
                <a:latin typeface="Arial"/>
                <a:ea typeface="Arial"/>
                <a:cs typeface="Arial"/>
                <a:sym typeface="Arial"/>
              </a:rPr>
              <a:t> fases:</a:t>
            </a:r>
            <a:endParaRPr>
              <a:latin typeface="Arial"/>
              <a:ea typeface="Arial"/>
              <a:cs typeface="Arial"/>
              <a:sym typeface="Arial"/>
            </a:endParaRPr>
          </a:p>
          <a:p>
            <a:pPr indent="-311150" lvl="1" marL="914400" rtl="0" algn="l">
              <a:lnSpc>
                <a:spcPct val="95000"/>
              </a:lnSpc>
              <a:spcBef>
                <a:spcPts val="0"/>
              </a:spcBef>
              <a:spcAft>
                <a:spcPts val="0"/>
              </a:spcAft>
              <a:buSzPts val="1300"/>
              <a:buChar char="-"/>
            </a:pPr>
            <a:r>
              <a:rPr b="1" lang="es" sz="1300">
                <a:latin typeface="Arial"/>
                <a:ea typeface="Arial"/>
                <a:cs typeface="Arial"/>
                <a:sym typeface="Arial"/>
              </a:rPr>
              <a:t>análisis</a:t>
            </a:r>
            <a:r>
              <a:rPr b="1" lang="es" sz="1300">
                <a:latin typeface="Arial"/>
                <a:ea typeface="Arial"/>
                <a:cs typeface="Arial"/>
                <a:sym typeface="Arial"/>
              </a:rPr>
              <a:t> de </a:t>
            </a:r>
            <a:r>
              <a:rPr b="1" lang="es" sz="1300">
                <a:latin typeface="Arial"/>
                <a:ea typeface="Arial"/>
                <a:cs typeface="Arial"/>
                <a:sym typeface="Arial"/>
              </a:rPr>
              <a:t>requerimientos</a:t>
            </a:r>
            <a:r>
              <a:rPr b="1" lang="es" sz="1300">
                <a:latin typeface="Arial"/>
                <a:ea typeface="Arial"/>
                <a:cs typeface="Arial"/>
                <a:sym typeface="Arial"/>
              </a:rPr>
              <a:t>: </a:t>
            </a:r>
            <a:r>
              <a:rPr lang="es" sz="1300">
                <a:latin typeface="Arial"/>
                <a:ea typeface="Arial"/>
                <a:cs typeface="Arial"/>
                <a:sym typeface="Arial"/>
              </a:rPr>
              <a:t>fase en donde se descubre, analiza, documenta y verifica que debe hacer el sistema, sin importar el </a:t>
            </a:r>
            <a:r>
              <a:rPr lang="es" sz="1300">
                <a:latin typeface="Arial"/>
                <a:ea typeface="Arial"/>
                <a:cs typeface="Arial"/>
                <a:sym typeface="Arial"/>
              </a:rPr>
              <a:t>cómo</a:t>
            </a:r>
            <a:r>
              <a:rPr lang="es" sz="1300">
                <a:latin typeface="Arial"/>
                <a:ea typeface="Arial"/>
                <a:cs typeface="Arial"/>
                <a:sym typeface="Arial"/>
              </a:rPr>
              <a:t> se va hacer.</a:t>
            </a:r>
            <a:endParaRPr sz="1300">
              <a:latin typeface="Arial"/>
              <a:ea typeface="Arial"/>
              <a:cs typeface="Arial"/>
              <a:sym typeface="Arial"/>
            </a:endParaRPr>
          </a:p>
          <a:p>
            <a:pPr indent="-311150" lvl="1" marL="914400" rtl="0" algn="l">
              <a:lnSpc>
                <a:spcPct val="95000"/>
              </a:lnSpc>
              <a:spcBef>
                <a:spcPts val="0"/>
              </a:spcBef>
              <a:spcAft>
                <a:spcPts val="0"/>
              </a:spcAft>
              <a:buSzPts val="1300"/>
              <a:buChar char="-"/>
            </a:pPr>
            <a:r>
              <a:rPr b="1" lang="es" sz="1300">
                <a:latin typeface="Arial"/>
                <a:ea typeface="Arial"/>
                <a:cs typeface="Arial"/>
                <a:sym typeface="Arial"/>
              </a:rPr>
              <a:t>diseño</a:t>
            </a:r>
            <a:r>
              <a:rPr b="1" lang="es" sz="1300">
                <a:latin typeface="Arial"/>
                <a:ea typeface="Arial"/>
                <a:cs typeface="Arial"/>
                <a:sym typeface="Arial"/>
              </a:rPr>
              <a:t> de arquitectura: </a:t>
            </a:r>
            <a:r>
              <a:rPr lang="es" sz="1300">
                <a:latin typeface="Arial"/>
                <a:ea typeface="Arial"/>
                <a:cs typeface="Arial"/>
                <a:sym typeface="Arial"/>
              </a:rPr>
              <a:t>especificación</a:t>
            </a:r>
            <a:r>
              <a:rPr lang="es" sz="1300">
                <a:latin typeface="Arial"/>
                <a:ea typeface="Arial"/>
                <a:cs typeface="Arial"/>
                <a:sym typeface="Arial"/>
              </a:rPr>
              <a:t> </a:t>
            </a:r>
            <a:r>
              <a:rPr lang="es" sz="1300">
                <a:latin typeface="Arial"/>
                <a:ea typeface="Arial"/>
                <a:cs typeface="Arial"/>
                <a:sym typeface="Arial"/>
              </a:rPr>
              <a:t>técnica</a:t>
            </a:r>
            <a:r>
              <a:rPr lang="es" sz="1300">
                <a:latin typeface="Arial"/>
                <a:ea typeface="Arial"/>
                <a:cs typeface="Arial"/>
                <a:sym typeface="Arial"/>
              </a:rPr>
              <a:t> de la </a:t>
            </a:r>
            <a:r>
              <a:rPr lang="es" sz="1300">
                <a:latin typeface="Arial"/>
                <a:ea typeface="Arial"/>
                <a:cs typeface="Arial"/>
                <a:sym typeface="Arial"/>
              </a:rPr>
              <a:t>interacción</a:t>
            </a:r>
            <a:r>
              <a:rPr lang="es" sz="1300">
                <a:latin typeface="Arial"/>
                <a:ea typeface="Arial"/>
                <a:cs typeface="Arial"/>
                <a:sym typeface="Arial"/>
              </a:rPr>
              <a:t> entre componentes, detallando </a:t>
            </a:r>
            <a:r>
              <a:rPr lang="es" sz="1300">
                <a:latin typeface="Arial"/>
                <a:ea typeface="Arial"/>
                <a:cs typeface="Arial"/>
                <a:sym typeface="Arial"/>
              </a:rPr>
              <a:t>cómo</a:t>
            </a:r>
            <a:r>
              <a:rPr lang="es" sz="1300">
                <a:latin typeface="Arial"/>
                <a:ea typeface="Arial"/>
                <a:cs typeface="Arial"/>
                <a:sym typeface="Arial"/>
              </a:rPr>
              <a:t> se transforma la </a:t>
            </a:r>
            <a:r>
              <a:rPr lang="es" sz="1300">
                <a:latin typeface="Arial"/>
                <a:ea typeface="Arial"/>
                <a:cs typeface="Arial"/>
                <a:sym typeface="Arial"/>
              </a:rPr>
              <a:t>señal</a:t>
            </a:r>
            <a:r>
              <a:rPr lang="es" sz="1300">
                <a:latin typeface="Arial"/>
                <a:ea typeface="Arial"/>
                <a:cs typeface="Arial"/>
                <a:sym typeface="Arial"/>
              </a:rPr>
              <a:t> </a:t>
            </a:r>
            <a:r>
              <a:rPr lang="es" sz="1300">
                <a:latin typeface="Arial"/>
                <a:ea typeface="Arial"/>
                <a:cs typeface="Arial"/>
                <a:sym typeface="Arial"/>
              </a:rPr>
              <a:t>física</a:t>
            </a:r>
            <a:r>
              <a:rPr lang="es" sz="1300">
                <a:latin typeface="Arial"/>
                <a:ea typeface="Arial"/>
                <a:cs typeface="Arial"/>
                <a:sym typeface="Arial"/>
              </a:rPr>
              <a:t> del sensor en </a:t>
            </a:r>
            <a:r>
              <a:rPr lang="es" sz="1300">
                <a:latin typeface="Arial"/>
                <a:ea typeface="Arial"/>
                <a:cs typeface="Arial"/>
                <a:sym typeface="Arial"/>
              </a:rPr>
              <a:t>información</a:t>
            </a:r>
            <a:r>
              <a:rPr lang="es" sz="1300">
                <a:latin typeface="Arial"/>
                <a:ea typeface="Arial"/>
                <a:cs typeface="Arial"/>
                <a:sym typeface="Arial"/>
              </a:rPr>
              <a:t> digital procesable por el sistema.</a:t>
            </a:r>
            <a:endParaRPr sz="1300">
              <a:latin typeface="Arial"/>
              <a:ea typeface="Arial"/>
              <a:cs typeface="Arial"/>
              <a:sym typeface="Arial"/>
            </a:endParaRPr>
          </a:p>
          <a:p>
            <a:pPr indent="-311150" lvl="1" marL="914400" rtl="0" algn="l">
              <a:lnSpc>
                <a:spcPct val="95000"/>
              </a:lnSpc>
              <a:spcBef>
                <a:spcPts val="0"/>
              </a:spcBef>
              <a:spcAft>
                <a:spcPts val="0"/>
              </a:spcAft>
              <a:buSzPts val="1300"/>
              <a:buChar char="-"/>
            </a:pPr>
            <a:r>
              <a:rPr b="1" lang="es" sz="1300">
                <a:latin typeface="Arial"/>
                <a:ea typeface="Arial"/>
                <a:cs typeface="Arial"/>
                <a:sym typeface="Arial"/>
              </a:rPr>
              <a:t>prototipo alfa: </a:t>
            </a:r>
            <a:r>
              <a:rPr lang="es" sz="1300">
                <a:latin typeface="Arial"/>
                <a:ea typeface="Arial"/>
                <a:cs typeface="Arial"/>
                <a:sym typeface="Arial"/>
              </a:rPr>
              <a:t>implementación</a:t>
            </a:r>
            <a:r>
              <a:rPr lang="es" sz="1300">
                <a:latin typeface="Arial"/>
                <a:ea typeface="Arial"/>
                <a:cs typeface="Arial"/>
                <a:sym typeface="Arial"/>
              </a:rPr>
              <a:t> de la capa </a:t>
            </a:r>
            <a:r>
              <a:rPr lang="es" sz="1300">
                <a:latin typeface="Arial"/>
                <a:ea typeface="Arial"/>
                <a:cs typeface="Arial"/>
                <a:sym typeface="Arial"/>
              </a:rPr>
              <a:t>física</a:t>
            </a:r>
            <a:r>
              <a:rPr lang="es" sz="1300">
                <a:latin typeface="Arial"/>
                <a:ea typeface="Arial"/>
                <a:cs typeface="Arial"/>
                <a:sym typeface="Arial"/>
              </a:rPr>
              <a:t> de </a:t>
            </a:r>
            <a:r>
              <a:rPr lang="es" sz="1300">
                <a:latin typeface="Arial"/>
                <a:ea typeface="Arial"/>
                <a:cs typeface="Arial"/>
                <a:sym typeface="Arial"/>
              </a:rPr>
              <a:t>adquisición</a:t>
            </a:r>
            <a:r>
              <a:rPr lang="es" sz="1300">
                <a:latin typeface="Arial"/>
                <a:ea typeface="Arial"/>
                <a:cs typeface="Arial"/>
                <a:sym typeface="Arial"/>
              </a:rPr>
              <a:t> de datos, lectura de variables de peso y envio exitoso al </a:t>
            </a:r>
            <a:r>
              <a:rPr lang="es" sz="1300">
                <a:latin typeface="Arial"/>
                <a:ea typeface="Arial"/>
                <a:cs typeface="Arial"/>
                <a:sym typeface="Arial"/>
              </a:rPr>
              <a:t>gateway</a:t>
            </a:r>
            <a:r>
              <a:rPr lang="es" sz="1300">
                <a:latin typeface="Arial"/>
                <a:ea typeface="Arial"/>
                <a:cs typeface="Arial"/>
                <a:sym typeface="Arial"/>
              </a:rPr>
              <a:t> sin </a:t>
            </a:r>
            <a:r>
              <a:rPr lang="es" sz="1300">
                <a:latin typeface="Arial"/>
                <a:ea typeface="Arial"/>
                <a:cs typeface="Arial"/>
                <a:sym typeface="Arial"/>
              </a:rPr>
              <a:t>procesamiento</a:t>
            </a:r>
            <a:r>
              <a:rPr lang="es" sz="1300">
                <a:latin typeface="Arial"/>
                <a:ea typeface="Arial"/>
                <a:cs typeface="Arial"/>
                <a:sym typeface="Arial"/>
              </a:rPr>
              <a:t> </a:t>
            </a:r>
            <a:r>
              <a:rPr lang="es" sz="1300">
                <a:latin typeface="Arial"/>
                <a:ea typeface="Arial"/>
                <a:cs typeface="Arial"/>
                <a:sym typeface="Arial"/>
              </a:rPr>
              <a:t>lógico</a:t>
            </a:r>
            <a:r>
              <a:rPr lang="es" sz="1300">
                <a:latin typeface="Arial"/>
                <a:ea typeface="Arial"/>
                <a:cs typeface="Arial"/>
                <a:sym typeface="Arial"/>
              </a:rPr>
              <a:t> complejo.</a:t>
            </a:r>
            <a:endParaRPr sz="1300">
              <a:latin typeface="Arial"/>
              <a:ea typeface="Arial"/>
              <a:cs typeface="Arial"/>
              <a:sym typeface="Arial"/>
            </a:endParaRPr>
          </a:p>
          <a:p>
            <a:pPr indent="-311150" lvl="1" marL="914400" rtl="0" algn="l">
              <a:lnSpc>
                <a:spcPct val="95000"/>
              </a:lnSpc>
              <a:spcBef>
                <a:spcPts val="0"/>
              </a:spcBef>
              <a:spcAft>
                <a:spcPts val="0"/>
              </a:spcAft>
              <a:buSzPts val="1300"/>
              <a:buChar char="-"/>
            </a:pPr>
            <a:r>
              <a:rPr b="1" lang="es" sz="1300">
                <a:latin typeface="Arial"/>
                <a:ea typeface="Arial"/>
                <a:cs typeface="Arial"/>
                <a:sym typeface="Arial"/>
              </a:rPr>
              <a:t>prototipo beta: </a:t>
            </a:r>
            <a:r>
              <a:rPr lang="es" sz="1300">
                <a:latin typeface="Arial"/>
                <a:ea typeface="Arial"/>
                <a:cs typeface="Arial"/>
                <a:sym typeface="Arial"/>
              </a:rPr>
              <a:t>implementación</a:t>
            </a:r>
            <a:r>
              <a:rPr lang="es" sz="1300">
                <a:latin typeface="Arial"/>
                <a:ea typeface="Arial"/>
                <a:cs typeface="Arial"/>
                <a:sym typeface="Arial"/>
              </a:rPr>
              <a:t> de la </a:t>
            </a:r>
            <a:r>
              <a:rPr lang="es" sz="1300">
                <a:latin typeface="Arial"/>
                <a:ea typeface="Arial"/>
                <a:cs typeface="Arial"/>
                <a:sym typeface="Arial"/>
              </a:rPr>
              <a:t>lógica</a:t>
            </a:r>
            <a:r>
              <a:rPr lang="es" sz="1300">
                <a:latin typeface="Arial"/>
                <a:ea typeface="Arial"/>
                <a:cs typeface="Arial"/>
                <a:sym typeface="Arial"/>
              </a:rPr>
              <a:t> de negocio, </a:t>
            </a:r>
            <a:r>
              <a:rPr lang="es" sz="1300">
                <a:latin typeface="Arial"/>
                <a:ea typeface="Arial"/>
                <a:cs typeface="Arial"/>
                <a:sym typeface="Arial"/>
              </a:rPr>
              <a:t>procesamiento</a:t>
            </a:r>
            <a:r>
              <a:rPr lang="es" sz="1300">
                <a:latin typeface="Arial"/>
                <a:ea typeface="Arial"/>
                <a:cs typeface="Arial"/>
                <a:sym typeface="Arial"/>
              </a:rPr>
              <a:t> de datos para la </a:t>
            </a:r>
            <a:r>
              <a:rPr lang="es" sz="1300">
                <a:latin typeface="Arial"/>
                <a:ea typeface="Arial"/>
                <a:cs typeface="Arial"/>
                <a:sym typeface="Arial"/>
              </a:rPr>
              <a:t>detección</a:t>
            </a:r>
            <a:r>
              <a:rPr lang="es" sz="1300">
                <a:latin typeface="Arial"/>
                <a:ea typeface="Arial"/>
                <a:cs typeface="Arial"/>
                <a:sym typeface="Arial"/>
              </a:rPr>
              <a:t> </a:t>
            </a:r>
            <a:r>
              <a:rPr lang="es" sz="1300">
                <a:latin typeface="Arial"/>
                <a:ea typeface="Arial"/>
                <a:cs typeface="Arial"/>
                <a:sym typeface="Arial"/>
              </a:rPr>
              <a:t>automática</a:t>
            </a:r>
            <a:r>
              <a:rPr lang="es" sz="1300">
                <a:latin typeface="Arial"/>
                <a:ea typeface="Arial"/>
                <a:cs typeface="Arial"/>
                <a:sym typeface="Arial"/>
              </a:rPr>
              <a:t> de eventos de venta y </a:t>
            </a:r>
            <a:r>
              <a:rPr lang="es" sz="1300">
                <a:latin typeface="Arial"/>
                <a:ea typeface="Arial"/>
                <a:cs typeface="Arial"/>
                <a:sym typeface="Arial"/>
              </a:rPr>
              <a:t>gestión</a:t>
            </a:r>
            <a:r>
              <a:rPr lang="es" sz="1300">
                <a:latin typeface="Arial"/>
                <a:ea typeface="Arial"/>
                <a:cs typeface="Arial"/>
                <a:sym typeface="Arial"/>
              </a:rPr>
              <a:t> de persistencia </a:t>
            </a:r>
            <a:r>
              <a:rPr lang="es" sz="1300">
                <a:latin typeface="Arial"/>
                <a:ea typeface="Arial"/>
                <a:cs typeface="Arial"/>
                <a:sym typeface="Arial"/>
              </a:rPr>
              <a:t>híbrida</a:t>
            </a:r>
            <a:r>
              <a:rPr lang="es" sz="1300">
                <a:latin typeface="Arial"/>
                <a:ea typeface="Arial"/>
                <a:cs typeface="Arial"/>
                <a:sym typeface="Arial"/>
              </a:rPr>
              <a:t> (Local/Nube)</a:t>
            </a:r>
            <a:endParaRPr sz="1300">
              <a:latin typeface="Arial"/>
              <a:ea typeface="Arial"/>
              <a:cs typeface="Arial"/>
              <a:sym typeface="Arial"/>
            </a:endParaRPr>
          </a:p>
          <a:p>
            <a:pPr indent="-311150" lvl="1" marL="914400" rtl="0" algn="l">
              <a:lnSpc>
                <a:spcPct val="95000"/>
              </a:lnSpc>
              <a:spcBef>
                <a:spcPts val="0"/>
              </a:spcBef>
              <a:spcAft>
                <a:spcPts val="0"/>
              </a:spcAft>
              <a:buSzPts val="1300"/>
              <a:buChar char="-"/>
            </a:pPr>
            <a:r>
              <a:rPr b="1" lang="es" sz="1300">
                <a:latin typeface="Arial"/>
                <a:ea typeface="Arial"/>
                <a:cs typeface="Arial"/>
                <a:sym typeface="Arial"/>
              </a:rPr>
              <a:t>despliegue y </a:t>
            </a:r>
            <a:r>
              <a:rPr b="1" lang="es" sz="1300">
                <a:latin typeface="Arial"/>
                <a:ea typeface="Arial"/>
                <a:cs typeface="Arial"/>
                <a:sym typeface="Arial"/>
              </a:rPr>
              <a:t>validación</a:t>
            </a:r>
            <a:r>
              <a:rPr b="1" lang="es" sz="1300">
                <a:latin typeface="Arial"/>
                <a:ea typeface="Arial"/>
                <a:cs typeface="Arial"/>
                <a:sym typeface="Arial"/>
              </a:rPr>
              <a:t>: </a:t>
            </a:r>
            <a:r>
              <a:rPr lang="es" sz="1300">
                <a:latin typeface="Arial"/>
                <a:ea typeface="Arial"/>
                <a:cs typeface="Arial"/>
                <a:sym typeface="Arial"/>
              </a:rPr>
              <a:t>pruebas de robustez y </a:t>
            </a:r>
            <a:r>
              <a:rPr lang="es" sz="1300">
                <a:latin typeface="Arial"/>
                <a:ea typeface="Arial"/>
                <a:cs typeface="Arial"/>
                <a:sym typeface="Arial"/>
              </a:rPr>
              <a:t>fiabilidad</a:t>
            </a:r>
            <a:r>
              <a:rPr lang="es" sz="1300">
                <a:latin typeface="Arial"/>
                <a:ea typeface="Arial"/>
                <a:cs typeface="Arial"/>
                <a:sym typeface="Arial"/>
              </a:rPr>
              <a:t>, </a:t>
            </a:r>
            <a:r>
              <a:rPr lang="es" sz="1300">
                <a:latin typeface="Arial"/>
                <a:ea typeface="Arial"/>
                <a:cs typeface="Arial"/>
                <a:sym typeface="Arial"/>
              </a:rPr>
              <a:t>evaluación</a:t>
            </a:r>
            <a:r>
              <a:rPr lang="es" sz="1300">
                <a:latin typeface="Arial"/>
                <a:ea typeface="Arial"/>
                <a:cs typeface="Arial"/>
                <a:sym typeface="Arial"/>
              </a:rPr>
              <a:t> del comportamientos del sistema ante fallo de </a:t>
            </a:r>
            <a:r>
              <a:rPr lang="es" sz="1300">
                <a:latin typeface="Arial"/>
                <a:ea typeface="Arial"/>
                <a:cs typeface="Arial"/>
                <a:sym typeface="Arial"/>
              </a:rPr>
              <a:t>infraestructura</a:t>
            </a:r>
            <a:r>
              <a:rPr lang="es" sz="1300">
                <a:latin typeface="Arial"/>
                <a:ea typeface="Arial"/>
                <a:cs typeface="Arial"/>
                <a:sym typeface="Arial"/>
              </a:rPr>
              <a:t> (</a:t>
            </a:r>
            <a:r>
              <a:rPr lang="es" sz="1300">
                <a:latin typeface="Arial"/>
                <a:ea typeface="Arial"/>
                <a:cs typeface="Arial"/>
                <a:sym typeface="Arial"/>
              </a:rPr>
              <a:t>energía</a:t>
            </a:r>
            <a:r>
              <a:rPr lang="es" sz="1300">
                <a:latin typeface="Arial"/>
                <a:ea typeface="Arial"/>
                <a:cs typeface="Arial"/>
                <a:sym typeface="Arial"/>
              </a:rPr>
              <a:t>/red) y </a:t>
            </a:r>
            <a:r>
              <a:rPr lang="es" sz="1300">
                <a:latin typeface="Arial"/>
                <a:ea typeface="Arial"/>
                <a:cs typeface="Arial"/>
                <a:sym typeface="Arial"/>
              </a:rPr>
              <a:t>consolidación</a:t>
            </a:r>
            <a:r>
              <a:rPr lang="es" sz="1300">
                <a:latin typeface="Arial"/>
                <a:ea typeface="Arial"/>
                <a:cs typeface="Arial"/>
                <a:sym typeface="Arial"/>
              </a:rPr>
              <a:t> del montaje </a:t>
            </a:r>
            <a:r>
              <a:rPr lang="es" sz="1300">
                <a:latin typeface="Arial"/>
                <a:ea typeface="Arial"/>
                <a:cs typeface="Arial"/>
                <a:sym typeface="Arial"/>
              </a:rPr>
              <a:t>físico</a:t>
            </a:r>
            <a:r>
              <a:rPr lang="es" sz="1300">
                <a:latin typeface="Arial"/>
                <a:ea typeface="Arial"/>
                <a:cs typeface="Arial"/>
                <a:sym typeface="Arial"/>
              </a:rPr>
              <a:t> final</a:t>
            </a:r>
            <a:endParaRPr sz="1300">
              <a:latin typeface="Arial"/>
              <a:ea typeface="Arial"/>
              <a:cs typeface="Arial"/>
              <a:sym typeface="Arial"/>
            </a:endParaRPr>
          </a:p>
          <a:p>
            <a:pPr indent="0" lvl="0" marL="0" rtl="0" algn="l">
              <a:lnSpc>
                <a:spcPct val="95000"/>
              </a:lnSpc>
              <a:spcBef>
                <a:spcPts val="1200"/>
              </a:spcBef>
              <a:spcAft>
                <a:spcPts val="1200"/>
              </a:spcAft>
              <a:buSzPts val="275"/>
              <a:buNone/>
            </a:pPr>
            <a:r>
              <a:t/>
            </a:r>
            <a:endParaRPr>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5" name="Shape 145"/>
        <p:cNvGrpSpPr/>
        <p:nvPr/>
      </p:nvGrpSpPr>
      <p:grpSpPr>
        <a:xfrm>
          <a:off x="0" y="0"/>
          <a:ext cx="0" cy="0"/>
          <a:chOff x="0" y="0"/>
          <a:chExt cx="0" cy="0"/>
        </a:xfrm>
      </p:grpSpPr>
      <p:sp>
        <p:nvSpPr>
          <p:cNvPr id="146" name="Google Shape;146;p15"/>
          <p:cNvSpPr txBox="1"/>
          <p:nvPr>
            <p:ph type="title"/>
          </p:nvPr>
        </p:nvSpPr>
        <p:spPr>
          <a:xfrm>
            <a:off x="1297500" y="393750"/>
            <a:ext cx="7038900" cy="630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s"/>
              <a:t>técnicas</a:t>
            </a:r>
            <a:r>
              <a:rPr lang="es"/>
              <a:t> y herramientas a utilizar</a:t>
            </a:r>
            <a:endParaRPr/>
          </a:p>
        </p:txBody>
      </p:sp>
      <p:sp>
        <p:nvSpPr>
          <p:cNvPr id="147" name="Google Shape;147;p15"/>
          <p:cNvSpPr txBox="1"/>
          <p:nvPr>
            <p:ph idx="1" type="body"/>
          </p:nvPr>
        </p:nvSpPr>
        <p:spPr>
          <a:xfrm>
            <a:off x="497425" y="1262050"/>
            <a:ext cx="7839000" cy="3216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s" sz="1400"/>
              <a:t>Hardware:  </a:t>
            </a:r>
            <a:endParaRPr b="1" sz="1400"/>
          </a:p>
          <a:p>
            <a:pPr indent="-317500" lvl="0" marL="457200" rtl="0" algn="l">
              <a:spcBef>
                <a:spcPts val="1200"/>
              </a:spcBef>
              <a:spcAft>
                <a:spcPts val="0"/>
              </a:spcAft>
              <a:buSzPts val="1400"/>
              <a:buChar char="-"/>
            </a:pPr>
            <a:r>
              <a:rPr lang="es" sz="1400"/>
              <a:t>el sistema </a:t>
            </a:r>
            <a:r>
              <a:rPr lang="es" sz="1400"/>
              <a:t>está</a:t>
            </a:r>
            <a:r>
              <a:rPr lang="es" sz="1400"/>
              <a:t> operando bajo </a:t>
            </a:r>
            <a:r>
              <a:rPr lang="es" sz="1400"/>
              <a:t>microcontroladores</a:t>
            </a:r>
            <a:r>
              <a:rPr lang="es" sz="1400"/>
              <a:t> ESP32 y la microcomputadora </a:t>
            </a:r>
            <a:r>
              <a:rPr lang="es" sz="1400"/>
              <a:t>raspberry</a:t>
            </a:r>
            <a:r>
              <a:rPr lang="es" sz="1400"/>
              <a:t> PI </a:t>
            </a:r>
            <a:endParaRPr sz="1400"/>
          </a:p>
          <a:p>
            <a:pPr indent="-317500" lvl="0" marL="457200" rtl="0" algn="l">
              <a:spcBef>
                <a:spcPts val="0"/>
              </a:spcBef>
              <a:spcAft>
                <a:spcPts val="0"/>
              </a:spcAft>
              <a:buSzPts val="1400"/>
              <a:buChar char="-"/>
            </a:pPr>
            <a:r>
              <a:rPr lang="es" sz="1400"/>
              <a:t>la parte </a:t>
            </a:r>
            <a:r>
              <a:rPr lang="es" sz="1400"/>
              <a:t>lógica</a:t>
            </a:r>
            <a:r>
              <a:rPr lang="es" sz="1400"/>
              <a:t> del mundo real </a:t>
            </a:r>
            <a:r>
              <a:rPr lang="es" sz="1400"/>
              <a:t>está</a:t>
            </a:r>
            <a:r>
              <a:rPr lang="es" sz="1400"/>
              <a:t> a cargo de ESP32, celdas de carga y el HX711</a:t>
            </a:r>
            <a:endParaRPr sz="1400"/>
          </a:p>
          <a:p>
            <a:pPr indent="-317500" lvl="0" marL="457200" rtl="0" algn="l">
              <a:spcBef>
                <a:spcPts val="0"/>
              </a:spcBef>
              <a:spcAft>
                <a:spcPts val="0"/>
              </a:spcAft>
              <a:buSzPts val="1400"/>
              <a:buChar char="-"/>
            </a:pPr>
            <a:r>
              <a:rPr lang="es" sz="1400"/>
              <a:t>soporte bajo estantes de </a:t>
            </a:r>
            <a:r>
              <a:rPr lang="es" sz="1400"/>
              <a:t>madera</a:t>
            </a:r>
            <a:r>
              <a:rPr lang="es" sz="1400"/>
              <a:t> y metal en donde se acoplaran los sistemas bajo ESP32</a:t>
            </a:r>
            <a:endParaRPr sz="1400"/>
          </a:p>
        </p:txBody>
      </p:sp>
      <p:pic>
        <p:nvPicPr>
          <p:cNvPr id="148" name="Google Shape;148;p15"/>
          <p:cNvPicPr preferRelativeResize="0"/>
          <p:nvPr/>
        </p:nvPicPr>
        <p:blipFill>
          <a:blip r:embed="rId3">
            <a:alphaModFix/>
          </a:blip>
          <a:stretch>
            <a:fillRect/>
          </a:stretch>
        </p:blipFill>
        <p:spPr>
          <a:xfrm>
            <a:off x="701500" y="2880774"/>
            <a:ext cx="1854200" cy="1310750"/>
          </a:xfrm>
          <a:prstGeom prst="rect">
            <a:avLst/>
          </a:prstGeom>
          <a:noFill/>
          <a:ln>
            <a:noFill/>
          </a:ln>
        </p:spPr>
      </p:pic>
      <p:pic>
        <p:nvPicPr>
          <p:cNvPr id="149" name="Google Shape;149;p15"/>
          <p:cNvPicPr preferRelativeResize="0"/>
          <p:nvPr/>
        </p:nvPicPr>
        <p:blipFill>
          <a:blip r:embed="rId4">
            <a:alphaModFix/>
          </a:blip>
          <a:stretch>
            <a:fillRect/>
          </a:stretch>
        </p:blipFill>
        <p:spPr>
          <a:xfrm>
            <a:off x="5956700" y="3035675"/>
            <a:ext cx="1599075" cy="1205100"/>
          </a:xfrm>
          <a:prstGeom prst="rect">
            <a:avLst/>
          </a:prstGeom>
          <a:noFill/>
          <a:ln>
            <a:noFill/>
          </a:ln>
        </p:spPr>
      </p:pic>
      <p:pic>
        <p:nvPicPr>
          <p:cNvPr id="150" name="Google Shape;150;p15"/>
          <p:cNvPicPr preferRelativeResize="0"/>
          <p:nvPr/>
        </p:nvPicPr>
        <p:blipFill>
          <a:blip r:embed="rId5">
            <a:alphaModFix/>
          </a:blip>
          <a:stretch>
            <a:fillRect/>
          </a:stretch>
        </p:blipFill>
        <p:spPr>
          <a:xfrm>
            <a:off x="3670823" y="2982850"/>
            <a:ext cx="1310750" cy="1310750"/>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4" name="Shape 154"/>
        <p:cNvGrpSpPr/>
        <p:nvPr/>
      </p:nvGrpSpPr>
      <p:grpSpPr>
        <a:xfrm>
          <a:off x="0" y="0"/>
          <a:ext cx="0" cy="0"/>
          <a:chOff x="0" y="0"/>
          <a:chExt cx="0" cy="0"/>
        </a:xfrm>
      </p:grpSpPr>
      <p:sp>
        <p:nvSpPr>
          <p:cNvPr id="155" name="Google Shape;155;p16"/>
          <p:cNvSpPr txBox="1"/>
          <p:nvPr>
            <p:ph type="title"/>
          </p:nvPr>
        </p:nvSpPr>
        <p:spPr>
          <a:xfrm>
            <a:off x="1297500" y="393750"/>
            <a:ext cx="7038900" cy="7359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s">
                <a:latin typeface="Arial"/>
                <a:ea typeface="Arial"/>
                <a:cs typeface="Arial"/>
                <a:sym typeface="Arial"/>
              </a:rPr>
              <a:t>técnicas y herramientas a utilizar</a:t>
            </a:r>
            <a:endParaRPr>
              <a:latin typeface="Arial"/>
              <a:ea typeface="Arial"/>
              <a:cs typeface="Arial"/>
              <a:sym typeface="Arial"/>
            </a:endParaRPr>
          </a:p>
          <a:p>
            <a:pPr indent="0" lvl="0" marL="0" rtl="0" algn="l">
              <a:spcBef>
                <a:spcPts val="0"/>
              </a:spcBef>
              <a:spcAft>
                <a:spcPts val="0"/>
              </a:spcAft>
              <a:buNone/>
            </a:pPr>
            <a:r>
              <a:t/>
            </a:r>
            <a:endParaRPr>
              <a:latin typeface="Arial"/>
              <a:ea typeface="Arial"/>
              <a:cs typeface="Arial"/>
              <a:sym typeface="Arial"/>
            </a:endParaRPr>
          </a:p>
        </p:txBody>
      </p:sp>
      <p:sp>
        <p:nvSpPr>
          <p:cNvPr id="156" name="Google Shape;156;p16"/>
          <p:cNvSpPr txBox="1"/>
          <p:nvPr>
            <p:ph idx="1" type="body"/>
          </p:nvPr>
        </p:nvSpPr>
        <p:spPr>
          <a:xfrm>
            <a:off x="259300" y="1288525"/>
            <a:ext cx="8077200" cy="3190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s" sz="1400">
                <a:latin typeface="Arial"/>
                <a:ea typeface="Arial"/>
                <a:cs typeface="Arial"/>
                <a:sym typeface="Arial"/>
              </a:rPr>
              <a:t>software: </a:t>
            </a:r>
            <a:endParaRPr b="1" sz="1400">
              <a:latin typeface="Arial"/>
              <a:ea typeface="Arial"/>
              <a:cs typeface="Arial"/>
              <a:sym typeface="Arial"/>
            </a:endParaRPr>
          </a:p>
          <a:p>
            <a:pPr indent="-317500" lvl="0" marL="457200" rtl="0" algn="l">
              <a:spcBef>
                <a:spcPts val="1200"/>
              </a:spcBef>
              <a:spcAft>
                <a:spcPts val="0"/>
              </a:spcAft>
              <a:buSzPts val="1400"/>
              <a:buChar char="-"/>
            </a:pPr>
            <a:r>
              <a:rPr b="1" lang="es" sz="1400">
                <a:latin typeface="Arial"/>
                <a:ea typeface="Arial"/>
                <a:cs typeface="Arial"/>
                <a:sym typeface="Arial"/>
              </a:rPr>
              <a:t>firmware: </a:t>
            </a:r>
            <a:r>
              <a:rPr lang="es" sz="1400">
                <a:latin typeface="Arial"/>
                <a:ea typeface="Arial"/>
                <a:cs typeface="Arial"/>
                <a:sym typeface="Arial"/>
              </a:rPr>
              <a:t>se </a:t>
            </a:r>
            <a:r>
              <a:rPr lang="es" sz="1400">
                <a:latin typeface="Arial"/>
                <a:ea typeface="Arial"/>
                <a:cs typeface="Arial"/>
                <a:sym typeface="Arial"/>
              </a:rPr>
              <a:t>utilizará</a:t>
            </a:r>
            <a:r>
              <a:rPr lang="es" sz="1400">
                <a:latin typeface="Arial"/>
                <a:ea typeface="Arial"/>
                <a:cs typeface="Arial"/>
                <a:sym typeface="Arial"/>
              </a:rPr>
              <a:t> lenguaje C usando el API de ESP-IDF, asi como </a:t>
            </a:r>
            <a:r>
              <a:rPr lang="es" sz="1400">
                <a:latin typeface="Arial"/>
                <a:ea typeface="Arial"/>
                <a:cs typeface="Arial"/>
                <a:sym typeface="Arial"/>
              </a:rPr>
              <a:t>librerías</a:t>
            </a:r>
            <a:r>
              <a:rPr lang="es" sz="1400">
                <a:latin typeface="Arial"/>
                <a:ea typeface="Arial"/>
                <a:cs typeface="Arial"/>
                <a:sym typeface="Arial"/>
              </a:rPr>
              <a:t> para el sensor. </a:t>
            </a:r>
            <a:endParaRPr sz="1400">
              <a:latin typeface="Arial"/>
              <a:ea typeface="Arial"/>
              <a:cs typeface="Arial"/>
              <a:sym typeface="Arial"/>
            </a:endParaRPr>
          </a:p>
          <a:p>
            <a:pPr indent="-317500" lvl="0" marL="457200" rtl="0" algn="l">
              <a:spcBef>
                <a:spcPts val="0"/>
              </a:spcBef>
              <a:spcAft>
                <a:spcPts val="0"/>
              </a:spcAft>
              <a:buSzPts val="1400"/>
              <a:buFont typeface="Arial"/>
              <a:buChar char="-"/>
            </a:pPr>
            <a:r>
              <a:rPr b="1" lang="es" sz="1400">
                <a:latin typeface="Arial"/>
                <a:ea typeface="Arial"/>
                <a:cs typeface="Arial"/>
                <a:sym typeface="Arial"/>
              </a:rPr>
              <a:t>edge </a:t>
            </a:r>
            <a:r>
              <a:rPr b="1" lang="es" sz="1400">
                <a:latin typeface="Arial"/>
                <a:ea typeface="Arial"/>
                <a:cs typeface="Arial"/>
                <a:sym typeface="Arial"/>
              </a:rPr>
              <a:t>gateway</a:t>
            </a:r>
            <a:r>
              <a:rPr b="1" lang="es" sz="1400">
                <a:latin typeface="Arial"/>
                <a:ea typeface="Arial"/>
                <a:cs typeface="Arial"/>
                <a:sym typeface="Arial"/>
              </a:rPr>
              <a:t> (</a:t>
            </a:r>
            <a:r>
              <a:rPr b="1" lang="es" sz="1400">
                <a:latin typeface="Arial"/>
                <a:ea typeface="Arial"/>
                <a:cs typeface="Arial"/>
                <a:sym typeface="Arial"/>
              </a:rPr>
              <a:t>raspberry</a:t>
            </a:r>
            <a:r>
              <a:rPr b="1" lang="es" sz="1400">
                <a:latin typeface="Arial"/>
                <a:ea typeface="Arial"/>
                <a:cs typeface="Arial"/>
                <a:sym typeface="Arial"/>
              </a:rPr>
              <a:t> pi): </a:t>
            </a:r>
            <a:endParaRPr b="1" sz="1400">
              <a:latin typeface="Arial"/>
              <a:ea typeface="Arial"/>
              <a:cs typeface="Arial"/>
              <a:sym typeface="Arial"/>
            </a:endParaRPr>
          </a:p>
          <a:p>
            <a:pPr indent="-317500" lvl="1" marL="914400" rtl="0" algn="l">
              <a:spcBef>
                <a:spcPts val="0"/>
              </a:spcBef>
              <a:spcAft>
                <a:spcPts val="0"/>
              </a:spcAft>
              <a:buSzPts val="1400"/>
              <a:buFont typeface="Arial"/>
              <a:buChar char="-"/>
            </a:pPr>
            <a:r>
              <a:rPr b="1" lang="es" sz="1400">
                <a:latin typeface="Arial"/>
                <a:ea typeface="Arial"/>
                <a:cs typeface="Arial"/>
                <a:sym typeface="Arial"/>
              </a:rPr>
              <a:t>broker MQTT:  mosquitto</a:t>
            </a:r>
            <a:endParaRPr b="1" sz="1400">
              <a:latin typeface="Arial"/>
              <a:ea typeface="Arial"/>
              <a:cs typeface="Arial"/>
              <a:sym typeface="Arial"/>
            </a:endParaRPr>
          </a:p>
          <a:p>
            <a:pPr indent="-317500" lvl="1" marL="914400" rtl="0" algn="l">
              <a:spcBef>
                <a:spcPts val="0"/>
              </a:spcBef>
              <a:spcAft>
                <a:spcPts val="0"/>
              </a:spcAft>
              <a:buSzPts val="1400"/>
              <a:buFont typeface="Arial"/>
              <a:buChar char="-"/>
            </a:pPr>
            <a:r>
              <a:rPr lang="es" sz="1400">
                <a:latin typeface="Arial"/>
                <a:ea typeface="Arial"/>
                <a:cs typeface="Arial"/>
                <a:sym typeface="Arial"/>
              </a:rPr>
              <a:t>utilización de scripts en python para la gestión de colas y el reenvío de datos a la nube </a:t>
            </a:r>
            <a:endParaRPr sz="1400">
              <a:latin typeface="Arial"/>
              <a:ea typeface="Arial"/>
              <a:cs typeface="Arial"/>
              <a:sym typeface="Arial"/>
            </a:endParaRPr>
          </a:p>
          <a:p>
            <a:pPr indent="-317500" lvl="1" marL="914400" rtl="0" algn="l">
              <a:spcBef>
                <a:spcPts val="0"/>
              </a:spcBef>
              <a:spcAft>
                <a:spcPts val="0"/>
              </a:spcAft>
              <a:buSzPts val="1400"/>
              <a:buChar char="-"/>
            </a:pPr>
            <a:r>
              <a:rPr b="1" lang="es" sz="1400">
                <a:latin typeface="Arial"/>
                <a:ea typeface="Arial"/>
                <a:cs typeface="Arial"/>
                <a:sym typeface="Arial"/>
              </a:rPr>
              <a:t>contenerización: </a:t>
            </a:r>
            <a:r>
              <a:rPr lang="es" sz="1400">
                <a:latin typeface="Arial"/>
                <a:ea typeface="Arial"/>
                <a:cs typeface="Arial"/>
                <a:sym typeface="Arial"/>
              </a:rPr>
              <a:t>contenedores para el broker y otro para manejar SQlite para el almacenamiento offline </a:t>
            </a:r>
            <a:endParaRPr b="1" sz="1400">
              <a:latin typeface="Arial"/>
              <a:ea typeface="Arial"/>
              <a:cs typeface="Arial"/>
              <a:sym typeface="Arial"/>
            </a:endParaRPr>
          </a:p>
          <a:p>
            <a:pPr indent="-317500" lvl="0" marL="457200" rtl="0" algn="l">
              <a:spcBef>
                <a:spcPts val="0"/>
              </a:spcBef>
              <a:spcAft>
                <a:spcPts val="0"/>
              </a:spcAft>
              <a:buSzPts val="1400"/>
              <a:buFont typeface="Arial"/>
              <a:buChar char="-"/>
            </a:pPr>
            <a:r>
              <a:rPr b="1" lang="es" sz="1400">
                <a:latin typeface="Arial"/>
                <a:ea typeface="Arial"/>
                <a:cs typeface="Arial"/>
                <a:sym typeface="Arial"/>
              </a:rPr>
              <a:t>Nube/ backend :</a:t>
            </a:r>
            <a:endParaRPr b="1" sz="1400">
              <a:latin typeface="Arial"/>
              <a:ea typeface="Arial"/>
              <a:cs typeface="Arial"/>
              <a:sym typeface="Arial"/>
            </a:endParaRPr>
          </a:p>
          <a:p>
            <a:pPr indent="-317500" lvl="1" marL="914400" rtl="0" algn="l">
              <a:spcBef>
                <a:spcPts val="0"/>
              </a:spcBef>
              <a:spcAft>
                <a:spcPts val="0"/>
              </a:spcAft>
              <a:buSzPts val="1400"/>
              <a:buChar char="-"/>
            </a:pPr>
            <a:r>
              <a:rPr b="1" lang="es" sz="1400">
                <a:latin typeface="Arial"/>
                <a:ea typeface="Arial"/>
                <a:cs typeface="Arial"/>
                <a:sym typeface="Arial"/>
              </a:rPr>
              <a:t>procesamiento: </a:t>
            </a:r>
            <a:r>
              <a:rPr lang="es" sz="1400">
                <a:latin typeface="Arial"/>
                <a:ea typeface="Arial"/>
                <a:cs typeface="Arial"/>
                <a:sym typeface="Arial"/>
              </a:rPr>
              <a:t> backend en python que </a:t>
            </a:r>
            <a:r>
              <a:rPr lang="es" sz="1400">
                <a:latin typeface="Arial"/>
                <a:ea typeface="Arial"/>
                <a:cs typeface="Arial"/>
                <a:sym typeface="Arial"/>
              </a:rPr>
              <a:t>procesa</a:t>
            </a:r>
            <a:r>
              <a:rPr lang="es" sz="1400">
                <a:latin typeface="Arial"/>
                <a:ea typeface="Arial"/>
                <a:cs typeface="Arial"/>
                <a:sym typeface="Arial"/>
              </a:rPr>
              <a:t> los datos,</a:t>
            </a:r>
            <a:r>
              <a:rPr lang="es" sz="1400">
                <a:latin typeface="Arial"/>
                <a:ea typeface="Arial"/>
                <a:cs typeface="Arial"/>
                <a:sym typeface="Arial"/>
              </a:rPr>
              <a:t> </a:t>
            </a:r>
            <a:endParaRPr sz="1400">
              <a:latin typeface="Arial"/>
              <a:ea typeface="Arial"/>
              <a:cs typeface="Arial"/>
              <a:sym typeface="Arial"/>
            </a:endParaRPr>
          </a:p>
          <a:p>
            <a:pPr indent="-317500" lvl="1" marL="914400" rtl="0" algn="l">
              <a:spcBef>
                <a:spcPts val="0"/>
              </a:spcBef>
              <a:spcAft>
                <a:spcPts val="0"/>
              </a:spcAft>
              <a:buSzPts val="1400"/>
              <a:buChar char="-"/>
            </a:pPr>
            <a:r>
              <a:rPr b="1" lang="es" sz="1400">
                <a:latin typeface="Arial"/>
                <a:ea typeface="Arial"/>
                <a:cs typeface="Arial"/>
                <a:sym typeface="Arial"/>
              </a:rPr>
              <a:t>bases de datos: </a:t>
            </a:r>
            <a:r>
              <a:rPr lang="es" sz="1400">
                <a:latin typeface="Arial"/>
                <a:ea typeface="Arial"/>
                <a:cs typeface="Arial"/>
                <a:sym typeface="Arial"/>
              </a:rPr>
              <a:t>InfluxDB para guardar </a:t>
            </a:r>
            <a:r>
              <a:rPr lang="es" sz="1400">
                <a:latin typeface="Arial"/>
                <a:ea typeface="Arial"/>
                <a:cs typeface="Arial"/>
                <a:sym typeface="Arial"/>
              </a:rPr>
              <a:t>históricos</a:t>
            </a:r>
            <a:r>
              <a:rPr lang="es" sz="1400">
                <a:latin typeface="Arial"/>
                <a:ea typeface="Arial"/>
                <a:cs typeface="Arial"/>
                <a:sym typeface="Arial"/>
              </a:rPr>
              <a:t> de sensores y postgresSQL para el inventario del negocio</a:t>
            </a:r>
            <a:r>
              <a:rPr b="1" lang="es" sz="1400">
                <a:latin typeface="Arial"/>
                <a:ea typeface="Arial"/>
                <a:cs typeface="Arial"/>
                <a:sym typeface="Arial"/>
              </a:rPr>
              <a:t> </a:t>
            </a:r>
            <a:endParaRPr b="1" sz="1400">
              <a:latin typeface="Arial"/>
              <a:ea typeface="Arial"/>
              <a:cs typeface="Arial"/>
              <a:sym typeface="Arial"/>
            </a:endParaRPr>
          </a:p>
          <a:p>
            <a:pPr indent="-317500" lvl="1" marL="914400" rtl="0" algn="l">
              <a:spcBef>
                <a:spcPts val="0"/>
              </a:spcBef>
              <a:spcAft>
                <a:spcPts val="0"/>
              </a:spcAft>
              <a:buSzPts val="1400"/>
              <a:buFont typeface="Arial"/>
              <a:buChar char="-"/>
            </a:pPr>
            <a:r>
              <a:rPr lang="es" sz="1400">
                <a:latin typeface="Arial"/>
                <a:ea typeface="Arial"/>
                <a:cs typeface="Arial"/>
                <a:sym typeface="Arial"/>
              </a:rPr>
              <a:t>visualización</a:t>
            </a:r>
            <a:r>
              <a:rPr lang="es" sz="1400">
                <a:latin typeface="Arial"/>
                <a:ea typeface="Arial"/>
                <a:cs typeface="Arial"/>
                <a:sym typeface="Arial"/>
              </a:rPr>
              <a:t>: Grafana para dashboard </a:t>
            </a:r>
            <a:r>
              <a:rPr lang="es" sz="1400">
                <a:latin typeface="Arial"/>
                <a:ea typeface="Arial"/>
                <a:cs typeface="Arial"/>
                <a:sym typeface="Arial"/>
              </a:rPr>
              <a:t>rápidos</a:t>
            </a:r>
            <a:r>
              <a:rPr lang="es" sz="1400">
                <a:latin typeface="Arial"/>
                <a:ea typeface="Arial"/>
                <a:cs typeface="Arial"/>
                <a:sym typeface="Arial"/>
              </a:rPr>
              <a:t> conectado a InfluxDB</a:t>
            </a:r>
            <a:endParaRPr sz="1400">
              <a:latin typeface="Arial"/>
              <a:ea typeface="Arial"/>
              <a:cs typeface="Arial"/>
              <a:sym typeface="Arial"/>
            </a:endParaRPr>
          </a:p>
          <a:p>
            <a:pPr indent="-317500" lvl="1" marL="914400" rtl="0" algn="l">
              <a:spcBef>
                <a:spcPts val="0"/>
              </a:spcBef>
              <a:spcAft>
                <a:spcPts val="0"/>
              </a:spcAft>
              <a:buSzPts val="1400"/>
              <a:buFont typeface="Arial"/>
              <a:buChar char="-"/>
            </a:pPr>
            <a:r>
              <a:rPr lang="es" sz="1400">
                <a:latin typeface="Arial"/>
                <a:ea typeface="Arial"/>
                <a:cs typeface="Arial"/>
                <a:sym typeface="Arial"/>
              </a:rPr>
              <a:t>aplicación</a:t>
            </a:r>
            <a:r>
              <a:rPr lang="es" sz="1400">
                <a:latin typeface="Arial"/>
                <a:ea typeface="Arial"/>
                <a:cs typeface="Arial"/>
                <a:sym typeface="Arial"/>
              </a:rPr>
              <a:t> </a:t>
            </a:r>
            <a:r>
              <a:rPr lang="es" sz="1400">
                <a:latin typeface="Arial"/>
                <a:ea typeface="Arial"/>
                <a:cs typeface="Arial"/>
                <a:sym typeface="Arial"/>
              </a:rPr>
              <a:t>móvil</a:t>
            </a:r>
            <a:r>
              <a:rPr lang="es" sz="1400">
                <a:latin typeface="Arial"/>
                <a:ea typeface="Arial"/>
                <a:cs typeface="Arial"/>
                <a:sym typeface="Arial"/>
              </a:rPr>
              <a:t>/web con react para el usuario final</a:t>
            </a:r>
            <a:endParaRPr sz="1400">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0" name="Shape 160"/>
        <p:cNvGrpSpPr/>
        <p:nvPr/>
      </p:nvGrpSpPr>
      <p:grpSpPr>
        <a:xfrm>
          <a:off x="0" y="0"/>
          <a:ext cx="0" cy="0"/>
          <a:chOff x="0" y="0"/>
          <a:chExt cx="0" cy="0"/>
        </a:xfrm>
      </p:grpSpPr>
      <p:sp>
        <p:nvSpPr>
          <p:cNvPr id="161" name="Google Shape;161;p17"/>
          <p:cNvSpPr txBox="1"/>
          <p:nvPr>
            <p:ph type="title"/>
          </p:nvPr>
        </p:nvSpPr>
        <p:spPr>
          <a:xfrm>
            <a:off x="1297500" y="393750"/>
            <a:ext cx="7038900" cy="599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s">
                <a:latin typeface="Arial"/>
                <a:ea typeface="Arial"/>
                <a:cs typeface="Arial"/>
                <a:sym typeface="Arial"/>
              </a:rPr>
              <a:t>tiempo de </a:t>
            </a:r>
            <a:r>
              <a:rPr lang="es">
                <a:latin typeface="Arial"/>
                <a:ea typeface="Arial"/>
                <a:cs typeface="Arial"/>
                <a:sym typeface="Arial"/>
              </a:rPr>
              <a:t>implementación</a:t>
            </a:r>
            <a:endParaRPr>
              <a:latin typeface="Arial"/>
              <a:ea typeface="Arial"/>
              <a:cs typeface="Arial"/>
              <a:sym typeface="Arial"/>
            </a:endParaRPr>
          </a:p>
        </p:txBody>
      </p:sp>
      <p:sp>
        <p:nvSpPr>
          <p:cNvPr id="162" name="Google Shape;162;p17"/>
          <p:cNvSpPr txBox="1"/>
          <p:nvPr>
            <p:ph idx="1" type="body"/>
          </p:nvPr>
        </p:nvSpPr>
        <p:spPr>
          <a:xfrm>
            <a:off x="401400" y="1356175"/>
            <a:ext cx="8402400" cy="3667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s">
                <a:latin typeface="Arial"/>
                <a:ea typeface="Arial"/>
                <a:cs typeface="Arial"/>
                <a:sym typeface="Arial"/>
              </a:rPr>
              <a:t>fase 1: </a:t>
            </a:r>
            <a:r>
              <a:rPr b="1" lang="es">
                <a:latin typeface="Arial"/>
                <a:ea typeface="Arial"/>
                <a:cs typeface="Arial"/>
                <a:sym typeface="Arial"/>
              </a:rPr>
              <a:t>definición</a:t>
            </a:r>
            <a:r>
              <a:rPr b="1" lang="es">
                <a:latin typeface="Arial"/>
                <a:ea typeface="Arial"/>
                <a:cs typeface="Arial"/>
                <a:sym typeface="Arial"/>
              </a:rPr>
              <a:t>  (3 semanas)</a:t>
            </a:r>
            <a:endParaRPr b="1">
              <a:latin typeface="Arial"/>
              <a:ea typeface="Arial"/>
              <a:cs typeface="Arial"/>
              <a:sym typeface="Arial"/>
            </a:endParaRPr>
          </a:p>
          <a:p>
            <a:pPr indent="-311150" lvl="0" marL="457200" rtl="0" algn="l">
              <a:spcBef>
                <a:spcPts val="1200"/>
              </a:spcBef>
              <a:spcAft>
                <a:spcPts val="0"/>
              </a:spcAft>
              <a:buSzPts val="1300"/>
              <a:buChar char="-"/>
            </a:pPr>
            <a:r>
              <a:rPr b="1" lang="es">
                <a:latin typeface="Arial"/>
                <a:ea typeface="Arial"/>
                <a:cs typeface="Arial"/>
                <a:sym typeface="Arial"/>
              </a:rPr>
              <a:t>semana 1 : </a:t>
            </a:r>
            <a:r>
              <a:rPr lang="es">
                <a:latin typeface="Arial"/>
                <a:ea typeface="Arial"/>
                <a:cs typeface="Arial"/>
                <a:sym typeface="Arial"/>
              </a:rPr>
              <a:t>ingeniería</a:t>
            </a:r>
            <a:r>
              <a:rPr lang="es">
                <a:latin typeface="Arial"/>
                <a:ea typeface="Arial"/>
                <a:cs typeface="Arial"/>
                <a:sym typeface="Arial"/>
              </a:rPr>
              <a:t> de requisitos y adquisiciones de hardware:</a:t>
            </a:r>
            <a:endParaRPr>
              <a:latin typeface="Arial"/>
              <a:ea typeface="Arial"/>
              <a:cs typeface="Arial"/>
              <a:sym typeface="Arial"/>
            </a:endParaRPr>
          </a:p>
          <a:p>
            <a:pPr indent="-311150" lvl="1" marL="914400" rtl="0" algn="l">
              <a:spcBef>
                <a:spcPts val="0"/>
              </a:spcBef>
              <a:spcAft>
                <a:spcPts val="0"/>
              </a:spcAft>
              <a:buSzPts val="1300"/>
              <a:buFont typeface="Arial"/>
              <a:buChar char="-"/>
            </a:pPr>
            <a:r>
              <a:rPr lang="es" sz="1300">
                <a:latin typeface="Arial"/>
                <a:ea typeface="Arial"/>
                <a:cs typeface="Arial"/>
                <a:sym typeface="Arial"/>
              </a:rPr>
              <a:t>requerimientos funcionales y no funcionales</a:t>
            </a:r>
            <a:endParaRPr sz="1300">
              <a:latin typeface="Arial"/>
              <a:ea typeface="Arial"/>
              <a:cs typeface="Arial"/>
              <a:sym typeface="Arial"/>
            </a:endParaRPr>
          </a:p>
          <a:p>
            <a:pPr indent="-311150" lvl="1" marL="914400" rtl="0" algn="l">
              <a:spcBef>
                <a:spcPts val="0"/>
              </a:spcBef>
              <a:spcAft>
                <a:spcPts val="0"/>
              </a:spcAft>
              <a:buSzPts val="1300"/>
              <a:buFont typeface="Arial"/>
              <a:buChar char="-"/>
            </a:pPr>
            <a:r>
              <a:rPr lang="es" sz="1300">
                <a:latin typeface="Arial"/>
                <a:ea typeface="Arial"/>
                <a:cs typeface="Arial"/>
                <a:sym typeface="Arial"/>
              </a:rPr>
              <a:t>reglas del negocio </a:t>
            </a:r>
            <a:endParaRPr sz="1300">
              <a:latin typeface="Arial"/>
              <a:ea typeface="Arial"/>
              <a:cs typeface="Arial"/>
              <a:sym typeface="Arial"/>
            </a:endParaRPr>
          </a:p>
          <a:p>
            <a:pPr indent="-311150" lvl="1" marL="914400" rtl="0" algn="l">
              <a:spcBef>
                <a:spcPts val="0"/>
              </a:spcBef>
              <a:spcAft>
                <a:spcPts val="0"/>
              </a:spcAft>
              <a:buSzPts val="1300"/>
              <a:buFont typeface="Arial"/>
              <a:buChar char="-"/>
            </a:pPr>
            <a:r>
              <a:rPr lang="es" sz="1300">
                <a:latin typeface="Arial"/>
                <a:ea typeface="Arial"/>
                <a:cs typeface="Arial"/>
                <a:sym typeface="Arial"/>
              </a:rPr>
              <a:t>definir alcance </a:t>
            </a:r>
            <a:endParaRPr sz="1300">
              <a:latin typeface="Arial"/>
              <a:ea typeface="Arial"/>
              <a:cs typeface="Arial"/>
              <a:sym typeface="Arial"/>
            </a:endParaRPr>
          </a:p>
          <a:p>
            <a:pPr indent="-311150" lvl="1" marL="914400" rtl="0" algn="l">
              <a:spcBef>
                <a:spcPts val="0"/>
              </a:spcBef>
              <a:spcAft>
                <a:spcPts val="0"/>
              </a:spcAft>
              <a:buSzPts val="1300"/>
              <a:buFont typeface="Arial"/>
              <a:buChar char="-"/>
            </a:pPr>
            <a:r>
              <a:rPr lang="es" sz="1300">
                <a:latin typeface="Arial"/>
                <a:ea typeface="Arial"/>
                <a:cs typeface="Arial"/>
                <a:sym typeface="Arial"/>
              </a:rPr>
              <a:t>pedir hardware necesario </a:t>
            </a:r>
            <a:endParaRPr sz="1300">
              <a:latin typeface="Arial"/>
              <a:ea typeface="Arial"/>
              <a:cs typeface="Arial"/>
              <a:sym typeface="Arial"/>
            </a:endParaRPr>
          </a:p>
          <a:p>
            <a:pPr indent="-311150" lvl="0" marL="457200" rtl="0" algn="l">
              <a:spcBef>
                <a:spcPts val="0"/>
              </a:spcBef>
              <a:spcAft>
                <a:spcPts val="0"/>
              </a:spcAft>
              <a:buSzPts val="1300"/>
              <a:buChar char="-"/>
            </a:pPr>
            <a:r>
              <a:rPr b="1" lang="es">
                <a:latin typeface="Arial"/>
                <a:ea typeface="Arial"/>
                <a:cs typeface="Arial"/>
                <a:sym typeface="Arial"/>
              </a:rPr>
              <a:t>semana 2 : </a:t>
            </a:r>
            <a:r>
              <a:rPr lang="es">
                <a:latin typeface="Arial"/>
                <a:ea typeface="Arial"/>
                <a:cs typeface="Arial"/>
                <a:sym typeface="Arial"/>
              </a:rPr>
              <a:t>diseño</a:t>
            </a:r>
            <a:r>
              <a:rPr lang="es">
                <a:latin typeface="Arial"/>
                <a:ea typeface="Arial"/>
                <a:cs typeface="Arial"/>
                <a:sym typeface="Arial"/>
              </a:rPr>
              <a:t> de arquitectura y montaje </a:t>
            </a:r>
            <a:endParaRPr>
              <a:latin typeface="Arial"/>
              <a:ea typeface="Arial"/>
              <a:cs typeface="Arial"/>
              <a:sym typeface="Arial"/>
            </a:endParaRPr>
          </a:p>
          <a:p>
            <a:pPr indent="-311150" lvl="1" marL="914400" rtl="0" algn="l">
              <a:spcBef>
                <a:spcPts val="0"/>
              </a:spcBef>
              <a:spcAft>
                <a:spcPts val="0"/>
              </a:spcAft>
              <a:buSzPts val="1300"/>
              <a:buFont typeface="Arial"/>
              <a:buChar char="-"/>
            </a:pPr>
            <a:r>
              <a:rPr lang="es" sz="1300">
                <a:latin typeface="Arial"/>
                <a:ea typeface="Arial"/>
                <a:cs typeface="Arial"/>
                <a:sym typeface="Arial"/>
              </a:rPr>
              <a:t>diagramar la base de datos </a:t>
            </a:r>
            <a:endParaRPr sz="1300">
              <a:latin typeface="Arial"/>
              <a:ea typeface="Arial"/>
              <a:cs typeface="Arial"/>
              <a:sym typeface="Arial"/>
            </a:endParaRPr>
          </a:p>
          <a:p>
            <a:pPr indent="-311150" lvl="1" marL="914400" rtl="0" algn="l">
              <a:spcBef>
                <a:spcPts val="0"/>
              </a:spcBef>
              <a:spcAft>
                <a:spcPts val="0"/>
              </a:spcAft>
              <a:buSzPts val="1300"/>
              <a:buFont typeface="Arial"/>
              <a:buChar char="-"/>
            </a:pPr>
            <a:r>
              <a:rPr lang="es" sz="1300">
                <a:latin typeface="Arial"/>
                <a:ea typeface="Arial"/>
                <a:cs typeface="Arial"/>
                <a:sym typeface="Arial"/>
              </a:rPr>
              <a:t>diagramar el flujo de datos </a:t>
            </a:r>
            <a:endParaRPr sz="1300">
              <a:latin typeface="Arial"/>
              <a:ea typeface="Arial"/>
              <a:cs typeface="Arial"/>
              <a:sym typeface="Arial"/>
            </a:endParaRPr>
          </a:p>
          <a:p>
            <a:pPr indent="-311150" lvl="1" marL="914400" rtl="0" algn="l">
              <a:spcBef>
                <a:spcPts val="0"/>
              </a:spcBef>
              <a:spcAft>
                <a:spcPts val="0"/>
              </a:spcAft>
              <a:buSzPts val="1300"/>
              <a:buFont typeface="Arial"/>
              <a:buChar char="-"/>
            </a:pPr>
            <a:r>
              <a:rPr lang="es" sz="1300">
                <a:latin typeface="Arial"/>
                <a:ea typeface="Arial"/>
                <a:cs typeface="Arial"/>
                <a:sym typeface="Arial"/>
              </a:rPr>
              <a:t>disenia mockups  de la </a:t>
            </a:r>
            <a:r>
              <a:rPr lang="es" sz="1300">
                <a:latin typeface="Arial"/>
                <a:ea typeface="Arial"/>
                <a:cs typeface="Arial"/>
                <a:sym typeface="Arial"/>
              </a:rPr>
              <a:t>aplicación</a:t>
            </a:r>
            <a:r>
              <a:rPr lang="es" sz="1300">
                <a:latin typeface="Arial"/>
                <a:ea typeface="Arial"/>
                <a:cs typeface="Arial"/>
                <a:sym typeface="Arial"/>
              </a:rPr>
              <a:t> </a:t>
            </a:r>
            <a:r>
              <a:rPr lang="es" sz="1300">
                <a:latin typeface="Arial"/>
                <a:ea typeface="Arial"/>
                <a:cs typeface="Arial"/>
                <a:sym typeface="Arial"/>
              </a:rPr>
              <a:t>móvil</a:t>
            </a:r>
            <a:endParaRPr sz="1300">
              <a:latin typeface="Arial"/>
              <a:ea typeface="Arial"/>
              <a:cs typeface="Arial"/>
              <a:sym typeface="Arial"/>
            </a:endParaRPr>
          </a:p>
          <a:p>
            <a:pPr indent="-311150" lvl="1" marL="914400" rtl="0" algn="l">
              <a:spcBef>
                <a:spcPts val="0"/>
              </a:spcBef>
              <a:spcAft>
                <a:spcPts val="0"/>
              </a:spcAft>
              <a:buSzPts val="1300"/>
              <a:buFont typeface="Arial"/>
              <a:buChar char="-"/>
            </a:pPr>
            <a:r>
              <a:rPr lang="es" sz="1300">
                <a:latin typeface="Arial"/>
                <a:ea typeface="Arial"/>
                <a:cs typeface="Arial"/>
                <a:sym typeface="Arial"/>
              </a:rPr>
              <a:t>armar estantes. </a:t>
            </a:r>
            <a:endParaRPr sz="1300">
              <a:latin typeface="Arial"/>
              <a:ea typeface="Arial"/>
              <a:cs typeface="Arial"/>
              <a:sym typeface="Arial"/>
            </a:endParaRPr>
          </a:p>
          <a:p>
            <a:pPr indent="-311150" lvl="0" marL="457200" rtl="0" algn="l">
              <a:spcBef>
                <a:spcPts val="0"/>
              </a:spcBef>
              <a:spcAft>
                <a:spcPts val="0"/>
              </a:spcAft>
              <a:buSzPts val="1300"/>
              <a:buFont typeface="Arial"/>
              <a:buChar char="-"/>
            </a:pPr>
            <a:r>
              <a:rPr b="1" lang="es">
                <a:latin typeface="Arial"/>
                <a:ea typeface="Arial"/>
                <a:cs typeface="Arial"/>
                <a:sym typeface="Arial"/>
              </a:rPr>
              <a:t>semana 3: pruebas de concepto alfa </a:t>
            </a:r>
            <a:endParaRPr b="1">
              <a:latin typeface="Arial"/>
              <a:ea typeface="Arial"/>
              <a:cs typeface="Arial"/>
              <a:sym typeface="Arial"/>
            </a:endParaRPr>
          </a:p>
          <a:p>
            <a:pPr indent="-311150" lvl="1" marL="914400" rtl="0" algn="l">
              <a:spcBef>
                <a:spcPts val="0"/>
              </a:spcBef>
              <a:spcAft>
                <a:spcPts val="0"/>
              </a:spcAft>
              <a:buSzPts val="1300"/>
              <a:buFont typeface="Arial"/>
              <a:buChar char="-"/>
            </a:pPr>
            <a:r>
              <a:rPr lang="es" sz="1300">
                <a:latin typeface="Arial"/>
                <a:ea typeface="Arial"/>
                <a:cs typeface="Arial"/>
                <a:sym typeface="Arial"/>
              </a:rPr>
              <a:t>programar ESP32 para el </a:t>
            </a:r>
            <a:r>
              <a:rPr lang="es" sz="1300">
                <a:latin typeface="Arial"/>
                <a:ea typeface="Arial"/>
                <a:cs typeface="Arial"/>
                <a:sym typeface="Arial"/>
              </a:rPr>
              <a:t>envío</a:t>
            </a:r>
            <a:r>
              <a:rPr lang="es" sz="1300">
                <a:latin typeface="Arial"/>
                <a:ea typeface="Arial"/>
                <a:cs typeface="Arial"/>
                <a:sym typeface="Arial"/>
              </a:rPr>
              <a:t> de datos a la </a:t>
            </a:r>
            <a:r>
              <a:rPr lang="es" sz="1300">
                <a:latin typeface="Arial"/>
                <a:ea typeface="Arial"/>
                <a:cs typeface="Arial"/>
                <a:sym typeface="Arial"/>
              </a:rPr>
              <a:t>raspberry</a:t>
            </a:r>
            <a:r>
              <a:rPr lang="es" sz="1300">
                <a:latin typeface="Arial"/>
                <a:ea typeface="Arial"/>
                <a:cs typeface="Arial"/>
                <a:sym typeface="Arial"/>
              </a:rPr>
              <a:t> pi</a:t>
            </a:r>
            <a:endParaRPr sz="1300">
              <a:latin typeface="Arial"/>
              <a:ea typeface="Arial"/>
              <a:cs typeface="Arial"/>
              <a:sym typeface="Arial"/>
            </a:endParaRPr>
          </a:p>
          <a:p>
            <a:pPr indent="-311150" lvl="1" marL="914400" rtl="0" algn="l">
              <a:spcBef>
                <a:spcPts val="0"/>
              </a:spcBef>
              <a:spcAft>
                <a:spcPts val="0"/>
              </a:spcAft>
              <a:buSzPts val="1300"/>
              <a:buFont typeface="Arial"/>
              <a:buChar char="-"/>
            </a:pPr>
            <a:r>
              <a:rPr lang="es" sz="1300">
                <a:latin typeface="Arial"/>
                <a:ea typeface="Arial"/>
                <a:cs typeface="Arial"/>
                <a:sym typeface="Arial"/>
              </a:rPr>
              <a:t>validar que el hardware cumple con los requisitos no funcionales</a:t>
            </a:r>
            <a:endParaRPr sz="1300">
              <a:latin typeface="Arial"/>
              <a:ea typeface="Arial"/>
              <a:cs typeface="Arial"/>
              <a:sym typeface="Arial"/>
            </a:endParaRPr>
          </a:p>
          <a:p>
            <a:pPr indent="0" lvl="0" marL="0" rtl="0" algn="l">
              <a:spcBef>
                <a:spcPts val="1200"/>
              </a:spcBef>
              <a:spcAft>
                <a:spcPts val="1200"/>
              </a:spcAft>
              <a:buNone/>
            </a:pPr>
            <a:r>
              <a:t/>
            </a:r>
            <a:endParaRPr>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6" name="Shape 166"/>
        <p:cNvGrpSpPr/>
        <p:nvPr/>
      </p:nvGrpSpPr>
      <p:grpSpPr>
        <a:xfrm>
          <a:off x="0" y="0"/>
          <a:ext cx="0" cy="0"/>
          <a:chOff x="0" y="0"/>
          <a:chExt cx="0" cy="0"/>
        </a:xfrm>
      </p:grpSpPr>
      <p:sp>
        <p:nvSpPr>
          <p:cNvPr id="167" name="Google Shape;167;p18"/>
          <p:cNvSpPr txBox="1"/>
          <p:nvPr>
            <p:ph type="title"/>
          </p:nvPr>
        </p:nvSpPr>
        <p:spPr>
          <a:xfrm>
            <a:off x="1297500" y="393750"/>
            <a:ext cx="7038900" cy="9141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s">
                <a:latin typeface="Arial"/>
                <a:ea typeface="Arial"/>
                <a:cs typeface="Arial"/>
                <a:sym typeface="Arial"/>
              </a:rPr>
              <a:t>tiempo de implementación</a:t>
            </a:r>
            <a:endParaRPr>
              <a:latin typeface="Arial"/>
              <a:ea typeface="Arial"/>
              <a:cs typeface="Arial"/>
              <a:sym typeface="Arial"/>
            </a:endParaRPr>
          </a:p>
          <a:p>
            <a:pPr indent="0" lvl="0" marL="0" rtl="0" algn="l">
              <a:spcBef>
                <a:spcPts val="0"/>
              </a:spcBef>
              <a:spcAft>
                <a:spcPts val="0"/>
              </a:spcAft>
              <a:buNone/>
            </a:pPr>
            <a:r>
              <a:t/>
            </a:r>
            <a:endParaRPr>
              <a:latin typeface="Arial"/>
              <a:ea typeface="Arial"/>
              <a:cs typeface="Arial"/>
              <a:sym typeface="Arial"/>
            </a:endParaRPr>
          </a:p>
        </p:txBody>
      </p:sp>
      <p:sp>
        <p:nvSpPr>
          <p:cNvPr id="168" name="Google Shape;168;p18"/>
          <p:cNvSpPr txBox="1"/>
          <p:nvPr>
            <p:ph idx="1" type="body"/>
          </p:nvPr>
        </p:nvSpPr>
        <p:spPr>
          <a:xfrm>
            <a:off x="503475" y="1307850"/>
            <a:ext cx="8289000" cy="3516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s" sz="1400">
                <a:latin typeface="Arial"/>
                <a:ea typeface="Arial"/>
                <a:cs typeface="Arial"/>
                <a:sym typeface="Arial"/>
              </a:rPr>
              <a:t>FASE 2: </a:t>
            </a:r>
            <a:r>
              <a:rPr lang="es" sz="1400">
                <a:latin typeface="Arial"/>
                <a:ea typeface="Arial"/>
                <a:cs typeface="Arial"/>
                <a:sym typeface="Arial"/>
              </a:rPr>
              <a:t> </a:t>
            </a:r>
            <a:r>
              <a:rPr b="1" lang="es" sz="1400">
                <a:latin typeface="Arial"/>
                <a:ea typeface="Arial"/>
                <a:cs typeface="Arial"/>
                <a:sym typeface="Arial"/>
              </a:rPr>
              <a:t>gateway</a:t>
            </a:r>
            <a:r>
              <a:rPr b="1" lang="es" sz="1400">
                <a:latin typeface="Arial"/>
                <a:ea typeface="Arial"/>
                <a:cs typeface="Arial"/>
                <a:sym typeface="Arial"/>
              </a:rPr>
              <a:t> offline y backend Nube (</a:t>
            </a:r>
            <a:r>
              <a:rPr b="1" lang="es" sz="1400">
                <a:latin typeface="Arial"/>
                <a:ea typeface="Arial"/>
                <a:cs typeface="Arial"/>
                <a:sym typeface="Arial"/>
              </a:rPr>
              <a:t>4 semanas</a:t>
            </a:r>
            <a:r>
              <a:rPr b="1" lang="es" sz="1400">
                <a:latin typeface="Arial"/>
                <a:ea typeface="Arial"/>
                <a:cs typeface="Arial"/>
                <a:sym typeface="Arial"/>
              </a:rPr>
              <a:t>)</a:t>
            </a:r>
            <a:endParaRPr b="1" sz="1400">
              <a:latin typeface="Arial"/>
              <a:ea typeface="Arial"/>
              <a:cs typeface="Arial"/>
              <a:sym typeface="Arial"/>
            </a:endParaRPr>
          </a:p>
          <a:p>
            <a:pPr indent="-317500" lvl="0" marL="457200" rtl="0" algn="l">
              <a:spcBef>
                <a:spcPts val="1200"/>
              </a:spcBef>
              <a:spcAft>
                <a:spcPts val="0"/>
              </a:spcAft>
              <a:buSzPts val="1400"/>
              <a:buChar char="-"/>
            </a:pPr>
            <a:r>
              <a:rPr b="1" lang="es" sz="1400">
                <a:latin typeface="Arial"/>
                <a:ea typeface="Arial"/>
                <a:cs typeface="Arial"/>
                <a:sym typeface="Arial"/>
              </a:rPr>
              <a:t>semana 4: </a:t>
            </a:r>
            <a:r>
              <a:rPr lang="es" sz="1400">
                <a:latin typeface="Arial"/>
                <a:ea typeface="Arial"/>
                <a:cs typeface="Arial"/>
                <a:sym typeface="Arial"/>
              </a:rPr>
              <a:t>gateway</a:t>
            </a:r>
            <a:r>
              <a:rPr lang="es" sz="1400">
                <a:latin typeface="Arial"/>
                <a:ea typeface="Arial"/>
                <a:cs typeface="Arial"/>
                <a:sym typeface="Arial"/>
              </a:rPr>
              <a:t> offline, </a:t>
            </a:r>
            <a:r>
              <a:rPr lang="es" sz="1400">
                <a:latin typeface="Arial"/>
                <a:ea typeface="Arial"/>
                <a:cs typeface="Arial"/>
                <a:sym typeface="Arial"/>
              </a:rPr>
              <a:t>programación</a:t>
            </a:r>
            <a:r>
              <a:rPr lang="es" sz="1400">
                <a:latin typeface="Arial"/>
                <a:ea typeface="Arial"/>
                <a:cs typeface="Arial"/>
                <a:sym typeface="Arial"/>
              </a:rPr>
              <a:t> de script para guardar los datos offline </a:t>
            </a:r>
            <a:endParaRPr sz="1400">
              <a:latin typeface="Arial"/>
              <a:ea typeface="Arial"/>
              <a:cs typeface="Arial"/>
              <a:sym typeface="Arial"/>
            </a:endParaRPr>
          </a:p>
          <a:p>
            <a:pPr indent="-317500" lvl="0" marL="457200" rtl="0" algn="l">
              <a:spcBef>
                <a:spcPts val="0"/>
              </a:spcBef>
              <a:spcAft>
                <a:spcPts val="0"/>
              </a:spcAft>
              <a:buSzPts val="1400"/>
              <a:buChar char="-"/>
            </a:pPr>
            <a:r>
              <a:rPr b="1" lang="es" sz="1400">
                <a:latin typeface="Arial"/>
                <a:ea typeface="Arial"/>
                <a:cs typeface="Arial"/>
                <a:sym typeface="Arial"/>
              </a:rPr>
              <a:t>semana 5: </a:t>
            </a:r>
            <a:r>
              <a:rPr lang="es" sz="1400">
                <a:latin typeface="Arial"/>
                <a:ea typeface="Arial"/>
                <a:cs typeface="Arial"/>
                <a:sym typeface="Arial"/>
              </a:rPr>
              <a:t> backend Nube </a:t>
            </a:r>
            <a:endParaRPr sz="1400">
              <a:latin typeface="Arial"/>
              <a:ea typeface="Arial"/>
              <a:cs typeface="Arial"/>
              <a:sym typeface="Arial"/>
            </a:endParaRPr>
          </a:p>
          <a:p>
            <a:pPr indent="-317500" lvl="1" marL="914400" rtl="0" algn="l">
              <a:spcBef>
                <a:spcPts val="0"/>
              </a:spcBef>
              <a:spcAft>
                <a:spcPts val="0"/>
              </a:spcAft>
              <a:buSzPts val="1400"/>
              <a:buFont typeface="Arial"/>
              <a:buChar char="-"/>
            </a:pPr>
            <a:r>
              <a:rPr lang="es" sz="1400">
                <a:latin typeface="Arial"/>
                <a:ea typeface="Arial"/>
                <a:cs typeface="Arial"/>
                <a:sym typeface="Arial"/>
              </a:rPr>
              <a:t>lógica del negocio: API que recibe los datos y gestiona el inventario. </a:t>
            </a:r>
            <a:endParaRPr sz="1400">
              <a:latin typeface="Arial"/>
              <a:ea typeface="Arial"/>
              <a:cs typeface="Arial"/>
              <a:sym typeface="Arial"/>
            </a:endParaRPr>
          </a:p>
          <a:p>
            <a:pPr indent="-317500" lvl="0" marL="457200" rtl="0" algn="l">
              <a:spcBef>
                <a:spcPts val="0"/>
              </a:spcBef>
              <a:spcAft>
                <a:spcPts val="0"/>
              </a:spcAft>
              <a:buSzPts val="1400"/>
              <a:buChar char="-"/>
            </a:pPr>
            <a:r>
              <a:rPr b="1" lang="es" sz="1400">
                <a:latin typeface="Arial"/>
                <a:ea typeface="Arial"/>
                <a:cs typeface="Arial"/>
                <a:sym typeface="Arial"/>
              </a:rPr>
              <a:t>semana 6: </a:t>
            </a:r>
            <a:r>
              <a:rPr lang="es" sz="1400">
                <a:latin typeface="Arial"/>
                <a:ea typeface="Arial"/>
                <a:cs typeface="Arial"/>
                <a:sym typeface="Arial"/>
              </a:rPr>
              <a:t>integración</a:t>
            </a:r>
            <a:r>
              <a:rPr lang="es" sz="1400">
                <a:latin typeface="Arial"/>
                <a:ea typeface="Arial"/>
                <a:cs typeface="Arial"/>
                <a:sym typeface="Arial"/>
              </a:rPr>
              <a:t> total</a:t>
            </a:r>
            <a:endParaRPr sz="1400">
              <a:latin typeface="Arial"/>
              <a:ea typeface="Arial"/>
              <a:cs typeface="Arial"/>
              <a:sym typeface="Arial"/>
            </a:endParaRPr>
          </a:p>
          <a:p>
            <a:pPr indent="-317500" lvl="1" marL="914400" rtl="0" algn="l">
              <a:spcBef>
                <a:spcPts val="0"/>
              </a:spcBef>
              <a:spcAft>
                <a:spcPts val="0"/>
              </a:spcAft>
              <a:buSzPts val="1400"/>
              <a:buFont typeface="Arial"/>
              <a:buChar char="-"/>
            </a:pPr>
            <a:r>
              <a:rPr lang="es" sz="1400">
                <a:latin typeface="Arial"/>
                <a:ea typeface="Arial"/>
                <a:cs typeface="Arial"/>
                <a:sym typeface="Arial"/>
              </a:rPr>
              <a:t>conectar gateway con la nube. verificar que los datos fluyan como el </a:t>
            </a:r>
            <a:r>
              <a:rPr lang="es" sz="1400">
                <a:latin typeface="Arial"/>
                <a:ea typeface="Arial"/>
                <a:cs typeface="Arial"/>
                <a:sym typeface="Arial"/>
              </a:rPr>
              <a:t>diseño</a:t>
            </a:r>
            <a:r>
              <a:rPr lang="es" sz="1400">
                <a:latin typeface="Arial"/>
                <a:ea typeface="Arial"/>
                <a:cs typeface="Arial"/>
                <a:sym typeface="Arial"/>
              </a:rPr>
              <a:t> </a:t>
            </a:r>
            <a:endParaRPr sz="1400">
              <a:latin typeface="Arial"/>
              <a:ea typeface="Arial"/>
              <a:cs typeface="Arial"/>
              <a:sym typeface="Arial"/>
            </a:endParaRPr>
          </a:p>
          <a:p>
            <a:pPr indent="-317500" lvl="0" marL="457200" rtl="0" algn="l">
              <a:spcBef>
                <a:spcPts val="0"/>
              </a:spcBef>
              <a:spcAft>
                <a:spcPts val="0"/>
              </a:spcAft>
              <a:buSzPts val="1400"/>
              <a:buChar char="-"/>
            </a:pPr>
            <a:r>
              <a:rPr b="1" lang="es" sz="1400">
                <a:latin typeface="Arial"/>
                <a:ea typeface="Arial"/>
                <a:cs typeface="Arial"/>
                <a:sym typeface="Arial"/>
              </a:rPr>
              <a:t>semana 7: </a:t>
            </a:r>
            <a:r>
              <a:rPr lang="es" sz="1400">
                <a:latin typeface="Arial"/>
                <a:ea typeface="Arial"/>
                <a:cs typeface="Arial"/>
                <a:sym typeface="Arial"/>
              </a:rPr>
              <a:t>lógica</a:t>
            </a:r>
            <a:r>
              <a:rPr lang="es" sz="1400">
                <a:latin typeface="Arial"/>
                <a:ea typeface="Arial"/>
                <a:cs typeface="Arial"/>
                <a:sym typeface="Arial"/>
              </a:rPr>
              <a:t> avanzada</a:t>
            </a:r>
            <a:endParaRPr sz="1400">
              <a:latin typeface="Arial"/>
              <a:ea typeface="Arial"/>
              <a:cs typeface="Arial"/>
              <a:sym typeface="Arial"/>
            </a:endParaRPr>
          </a:p>
          <a:p>
            <a:pPr indent="-317500" lvl="1" marL="914400" rtl="0" algn="l">
              <a:spcBef>
                <a:spcPts val="0"/>
              </a:spcBef>
              <a:spcAft>
                <a:spcPts val="0"/>
              </a:spcAft>
              <a:buSzPts val="1400"/>
              <a:buFont typeface="Arial"/>
              <a:buChar char="-"/>
            </a:pPr>
            <a:r>
              <a:rPr lang="es" sz="1400">
                <a:latin typeface="Arial"/>
                <a:ea typeface="Arial"/>
                <a:cs typeface="Arial"/>
                <a:sym typeface="Arial"/>
              </a:rPr>
              <a:t>programar las utilidades especificadas en la </a:t>
            </a:r>
            <a:r>
              <a:rPr lang="es" sz="1400">
                <a:latin typeface="Arial"/>
                <a:ea typeface="Arial"/>
                <a:cs typeface="Arial"/>
                <a:sym typeface="Arial"/>
              </a:rPr>
              <a:t>recolección</a:t>
            </a:r>
            <a:r>
              <a:rPr lang="es" sz="1400">
                <a:latin typeface="Arial"/>
                <a:ea typeface="Arial"/>
                <a:cs typeface="Arial"/>
                <a:sym typeface="Arial"/>
              </a:rPr>
              <a:t> de requerimientos </a:t>
            </a:r>
            <a:endParaRPr sz="1400">
              <a:latin typeface="Arial"/>
              <a:ea typeface="Arial"/>
              <a:cs typeface="Arial"/>
              <a:sym typeface="Arial"/>
            </a:endParaRPr>
          </a:p>
          <a:p>
            <a:pPr indent="0" lvl="0" marL="0" rtl="0" algn="l">
              <a:spcBef>
                <a:spcPts val="1200"/>
              </a:spcBef>
              <a:spcAft>
                <a:spcPts val="0"/>
              </a:spcAft>
              <a:buNone/>
            </a:pPr>
            <a:r>
              <a:rPr b="1" lang="es" sz="1400">
                <a:latin typeface="Arial"/>
                <a:ea typeface="Arial"/>
                <a:cs typeface="Arial"/>
                <a:sym typeface="Arial"/>
              </a:rPr>
              <a:t>FASE 3: experiencia de usuario </a:t>
            </a:r>
            <a:r>
              <a:rPr b="1" lang="es" sz="1400">
                <a:latin typeface="Arial"/>
                <a:ea typeface="Arial"/>
                <a:cs typeface="Arial"/>
                <a:sym typeface="Arial"/>
              </a:rPr>
              <a:t>móvil</a:t>
            </a:r>
            <a:r>
              <a:rPr b="1" lang="es" sz="1400">
                <a:latin typeface="Arial"/>
                <a:ea typeface="Arial"/>
                <a:cs typeface="Arial"/>
                <a:sym typeface="Arial"/>
              </a:rPr>
              <a:t> (3 semanas)</a:t>
            </a:r>
            <a:endParaRPr b="1" sz="1400">
              <a:latin typeface="Arial"/>
              <a:ea typeface="Arial"/>
              <a:cs typeface="Arial"/>
              <a:sym typeface="Arial"/>
            </a:endParaRPr>
          </a:p>
          <a:p>
            <a:pPr indent="-317500" lvl="0" marL="457200" rtl="0" algn="l">
              <a:spcBef>
                <a:spcPts val="1200"/>
              </a:spcBef>
              <a:spcAft>
                <a:spcPts val="0"/>
              </a:spcAft>
              <a:buSzPts val="1400"/>
              <a:buChar char="-"/>
            </a:pPr>
            <a:r>
              <a:rPr b="1" lang="es" sz="1400">
                <a:latin typeface="Arial"/>
                <a:ea typeface="Arial"/>
                <a:cs typeface="Arial"/>
                <a:sym typeface="Arial"/>
              </a:rPr>
              <a:t>semana 8: </a:t>
            </a:r>
            <a:r>
              <a:rPr lang="es" sz="1400">
                <a:latin typeface="Arial"/>
                <a:ea typeface="Arial"/>
                <a:cs typeface="Arial"/>
                <a:sym typeface="Arial"/>
              </a:rPr>
              <a:t>interfaz </a:t>
            </a:r>
            <a:r>
              <a:rPr lang="es" sz="1400">
                <a:latin typeface="Arial"/>
                <a:ea typeface="Arial"/>
                <a:cs typeface="Arial"/>
                <a:sym typeface="Arial"/>
              </a:rPr>
              <a:t>móvil</a:t>
            </a:r>
            <a:r>
              <a:rPr lang="es" sz="1400">
                <a:latin typeface="Arial"/>
                <a:ea typeface="Arial"/>
                <a:cs typeface="Arial"/>
                <a:sym typeface="Arial"/>
              </a:rPr>
              <a:t>, crear las pantallas basadas en los mockups </a:t>
            </a:r>
            <a:endParaRPr sz="1400">
              <a:latin typeface="Arial"/>
              <a:ea typeface="Arial"/>
              <a:cs typeface="Arial"/>
              <a:sym typeface="Arial"/>
            </a:endParaRPr>
          </a:p>
          <a:p>
            <a:pPr indent="-317500" lvl="0" marL="457200" rtl="0" algn="l">
              <a:spcBef>
                <a:spcPts val="0"/>
              </a:spcBef>
              <a:spcAft>
                <a:spcPts val="0"/>
              </a:spcAft>
              <a:buSzPts val="1400"/>
              <a:buChar char="-"/>
            </a:pPr>
            <a:r>
              <a:rPr b="1" lang="es" sz="1400">
                <a:latin typeface="Arial"/>
                <a:ea typeface="Arial"/>
                <a:cs typeface="Arial"/>
                <a:sym typeface="Arial"/>
              </a:rPr>
              <a:t>semana 9: </a:t>
            </a:r>
            <a:r>
              <a:rPr lang="es" sz="1400">
                <a:latin typeface="Arial"/>
                <a:ea typeface="Arial"/>
                <a:cs typeface="Arial"/>
                <a:sym typeface="Arial"/>
              </a:rPr>
              <a:t>hacer que la APP muestre la </a:t>
            </a:r>
            <a:r>
              <a:rPr lang="es" sz="1400">
                <a:latin typeface="Arial"/>
                <a:ea typeface="Arial"/>
                <a:cs typeface="Arial"/>
                <a:sym typeface="Arial"/>
              </a:rPr>
              <a:t>información</a:t>
            </a:r>
            <a:r>
              <a:rPr lang="es" sz="1400">
                <a:latin typeface="Arial"/>
                <a:ea typeface="Arial"/>
                <a:cs typeface="Arial"/>
                <a:sym typeface="Arial"/>
              </a:rPr>
              <a:t> real del backend </a:t>
            </a:r>
            <a:endParaRPr sz="1400">
              <a:latin typeface="Arial"/>
              <a:ea typeface="Arial"/>
              <a:cs typeface="Arial"/>
              <a:sym typeface="Arial"/>
            </a:endParaRPr>
          </a:p>
          <a:p>
            <a:pPr indent="-317500" lvl="0" marL="457200" rtl="0" algn="l">
              <a:spcBef>
                <a:spcPts val="0"/>
              </a:spcBef>
              <a:spcAft>
                <a:spcPts val="0"/>
              </a:spcAft>
              <a:buSzPts val="1400"/>
              <a:buChar char="-"/>
            </a:pPr>
            <a:r>
              <a:rPr b="1" lang="es" sz="1400">
                <a:latin typeface="Arial"/>
                <a:ea typeface="Arial"/>
                <a:cs typeface="Arial"/>
                <a:sym typeface="Arial"/>
              </a:rPr>
              <a:t>semana 10: </a:t>
            </a:r>
            <a:r>
              <a:rPr lang="es" sz="1400">
                <a:latin typeface="Arial"/>
                <a:ea typeface="Arial"/>
                <a:cs typeface="Arial"/>
                <a:sym typeface="Arial"/>
              </a:rPr>
              <a:t>implementar notificaciones </a:t>
            </a:r>
            <a:endParaRPr sz="1400">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2" name="Shape 172"/>
        <p:cNvGrpSpPr/>
        <p:nvPr/>
      </p:nvGrpSpPr>
      <p:grpSpPr>
        <a:xfrm>
          <a:off x="0" y="0"/>
          <a:ext cx="0" cy="0"/>
          <a:chOff x="0" y="0"/>
          <a:chExt cx="0" cy="0"/>
        </a:xfrm>
      </p:grpSpPr>
      <p:sp>
        <p:nvSpPr>
          <p:cNvPr id="173" name="Google Shape;173;p19"/>
          <p:cNvSpPr txBox="1"/>
          <p:nvPr>
            <p:ph type="title"/>
          </p:nvPr>
        </p:nvSpPr>
        <p:spPr>
          <a:xfrm>
            <a:off x="1297500" y="393750"/>
            <a:ext cx="7038900" cy="6654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s">
                <a:latin typeface="Arial"/>
                <a:ea typeface="Arial"/>
                <a:cs typeface="Arial"/>
                <a:sym typeface="Arial"/>
              </a:rPr>
              <a:t>tiempo de implementación</a:t>
            </a:r>
            <a:endParaRPr>
              <a:latin typeface="Arial"/>
              <a:ea typeface="Arial"/>
              <a:cs typeface="Arial"/>
              <a:sym typeface="Arial"/>
            </a:endParaRPr>
          </a:p>
          <a:p>
            <a:pPr indent="0" lvl="0" marL="0" rtl="0" algn="l">
              <a:spcBef>
                <a:spcPts val="0"/>
              </a:spcBef>
              <a:spcAft>
                <a:spcPts val="0"/>
              </a:spcAft>
              <a:buNone/>
            </a:pPr>
            <a:r>
              <a:t/>
            </a:r>
            <a:endParaRPr>
              <a:latin typeface="Arial"/>
              <a:ea typeface="Arial"/>
              <a:cs typeface="Arial"/>
              <a:sym typeface="Arial"/>
            </a:endParaRPr>
          </a:p>
          <a:p>
            <a:pPr indent="0" lvl="0" marL="0" rtl="0" algn="l">
              <a:spcBef>
                <a:spcPts val="0"/>
              </a:spcBef>
              <a:spcAft>
                <a:spcPts val="0"/>
              </a:spcAft>
              <a:buNone/>
            </a:pPr>
            <a:r>
              <a:t/>
            </a:r>
            <a:endParaRPr>
              <a:latin typeface="Arial"/>
              <a:ea typeface="Arial"/>
              <a:cs typeface="Arial"/>
              <a:sym typeface="Arial"/>
            </a:endParaRPr>
          </a:p>
        </p:txBody>
      </p:sp>
      <p:sp>
        <p:nvSpPr>
          <p:cNvPr id="174" name="Google Shape;174;p19"/>
          <p:cNvSpPr txBox="1"/>
          <p:nvPr>
            <p:ph idx="1" type="body"/>
          </p:nvPr>
        </p:nvSpPr>
        <p:spPr>
          <a:xfrm>
            <a:off x="492125" y="1183825"/>
            <a:ext cx="8255100" cy="3294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s" sz="1400">
                <a:latin typeface="Arial"/>
                <a:ea typeface="Arial"/>
                <a:cs typeface="Arial"/>
                <a:sym typeface="Arial"/>
              </a:rPr>
              <a:t>FASE 4: </a:t>
            </a:r>
            <a:r>
              <a:rPr b="1" lang="es" sz="1400">
                <a:latin typeface="Arial"/>
                <a:ea typeface="Arial"/>
                <a:cs typeface="Arial"/>
                <a:sym typeface="Arial"/>
              </a:rPr>
              <a:t>validación</a:t>
            </a:r>
            <a:r>
              <a:rPr b="1" lang="es" sz="1400">
                <a:latin typeface="Arial"/>
                <a:ea typeface="Arial"/>
                <a:cs typeface="Arial"/>
                <a:sym typeface="Arial"/>
              </a:rPr>
              <a:t> y entrega (3 semanas)</a:t>
            </a:r>
            <a:endParaRPr b="1" sz="1400">
              <a:latin typeface="Arial"/>
              <a:ea typeface="Arial"/>
              <a:cs typeface="Arial"/>
              <a:sym typeface="Arial"/>
            </a:endParaRPr>
          </a:p>
          <a:p>
            <a:pPr indent="-317500" lvl="0" marL="457200" rtl="0" algn="l">
              <a:spcBef>
                <a:spcPts val="1200"/>
              </a:spcBef>
              <a:spcAft>
                <a:spcPts val="0"/>
              </a:spcAft>
              <a:buSzPts val="1400"/>
              <a:buChar char="-"/>
            </a:pPr>
            <a:r>
              <a:rPr b="1" lang="es" sz="1400">
                <a:latin typeface="Arial"/>
                <a:ea typeface="Arial"/>
                <a:cs typeface="Arial"/>
                <a:sym typeface="Arial"/>
              </a:rPr>
              <a:t>semana 11: </a:t>
            </a:r>
            <a:r>
              <a:rPr lang="es" sz="1400">
                <a:latin typeface="Arial"/>
                <a:ea typeface="Arial"/>
                <a:cs typeface="Arial"/>
                <a:sym typeface="Arial"/>
              </a:rPr>
              <a:t>pruebas contra requerimientos, verificar que los </a:t>
            </a:r>
            <a:r>
              <a:rPr lang="es" sz="1400">
                <a:latin typeface="Arial"/>
                <a:ea typeface="Arial"/>
                <a:cs typeface="Arial"/>
                <a:sym typeface="Arial"/>
              </a:rPr>
              <a:t>requerimientos</a:t>
            </a:r>
            <a:r>
              <a:rPr lang="es" sz="1400">
                <a:latin typeface="Arial"/>
                <a:ea typeface="Arial"/>
                <a:cs typeface="Arial"/>
                <a:sym typeface="Arial"/>
              </a:rPr>
              <a:t> se </a:t>
            </a:r>
            <a:r>
              <a:rPr lang="es" sz="1400">
                <a:latin typeface="Arial"/>
                <a:ea typeface="Arial"/>
                <a:cs typeface="Arial"/>
                <a:sym typeface="Arial"/>
              </a:rPr>
              <a:t>estén</a:t>
            </a:r>
            <a:r>
              <a:rPr lang="es" sz="1400">
                <a:latin typeface="Arial"/>
                <a:ea typeface="Arial"/>
                <a:cs typeface="Arial"/>
                <a:sym typeface="Arial"/>
              </a:rPr>
              <a:t> cumpliendo</a:t>
            </a:r>
            <a:endParaRPr sz="1400">
              <a:latin typeface="Arial"/>
              <a:ea typeface="Arial"/>
              <a:cs typeface="Arial"/>
              <a:sym typeface="Arial"/>
            </a:endParaRPr>
          </a:p>
          <a:p>
            <a:pPr indent="-317500" lvl="0" marL="457200" rtl="0" algn="l">
              <a:spcBef>
                <a:spcPts val="0"/>
              </a:spcBef>
              <a:spcAft>
                <a:spcPts val="0"/>
              </a:spcAft>
              <a:buSzPts val="1400"/>
              <a:buChar char="-"/>
            </a:pPr>
            <a:r>
              <a:rPr b="1" lang="es" sz="1400">
                <a:latin typeface="Arial"/>
                <a:ea typeface="Arial"/>
                <a:cs typeface="Arial"/>
                <a:sym typeface="Arial"/>
              </a:rPr>
              <a:t>semana 12 : </a:t>
            </a:r>
            <a:r>
              <a:rPr lang="es" sz="1400">
                <a:latin typeface="Arial"/>
                <a:ea typeface="Arial"/>
                <a:cs typeface="Arial"/>
                <a:sym typeface="Arial"/>
              </a:rPr>
              <a:t>despliegue final </a:t>
            </a:r>
            <a:endParaRPr sz="1400">
              <a:latin typeface="Arial"/>
              <a:ea typeface="Arial"/>
              <a:cs typeface="Arial"/>
              <a:sym typeface="Arial"/>
            </a:endParaRPr>
          </a:p>
          <a:p>
            <a:pPr indent="-317500" lvl="0" marL="457200" rtl="0" algn="l">
              <a:spcBef>
                <a:spcPts val="0"/>
              </a:spcBef>
              <a:spcAft>
                <a:spcPts val="0"/>
              </a:spcAft>
              <a:buSzPts val="1400"/>
              <a:buChar char="-"/>
            </a:pPr>
            <a:r>
              <a:rPr b="1" lang="es" sz="1400">
                <a:latin typeface="Arial"/>
                <a:ea typeface="Arial"/>
                <a:cs typeface="Arial"/>
                <a:sym typeface="Arial"/>
              </a:rPr>
              <a:t>semana 13: </a:t>
            </a:r>
            <a:r>
              <a:rPr lang="es" sz="1400">
                <a:latin typeface="Arial"/>
                <a:ea typeface="Arial"/>
                <a:cs typeface="Arial"/>
                <a:sym typeface="Arial"/>
              </a:rPr>
              <a:t>documentación</a:t>
            </a:r>
            <a:endParaRPr b="1" sz="1400">
              <a:latin typeface="Arial"/>
              <a:ea typeface="Arial"/>
              <a:cs typeface="Arial"/>
              <a:sym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8" name="Shape 178"/>
        <p:cNvGrpSpPr/>
        <p:nvPr/>
      </p:nvGrpSpPr>
      <p:grpSpPr>
        <a:xfrm>
          <a:off x="0" y="0"/>
          <a:ext cx="0" cy="0"/>
          <a:chOff x="0" y="0"/>
          <a:chExt cx="0" cy="0"/>
        </a:xfrm>
      </p:grpSpPr>
      <p:sp>
        <p:nvSpPr>
          <p:cNvPr id="179" name="Google Shape;179;p20"/>
          <p:cNvSpPr txBox="1"/>
          <p:nvPr>
            <p:ph type="title"/>
          </p:nvPr>
        </p:nvSpPr>
        <p:spPr>
          <a:xfrm>
            <a:off x="1270175" y="348400"/>
            <a:ext cx="7038900" cy="91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s">
                <a:latin typeface="Arial"/>
                <a:ea typeface="Arial"/>
                <a:cs typeface="Arial"/>
                <a:sym typeface="Arial"/>
              </a:rPr>
              <a:t>calidad de la </a:t>
            </a:r>
            <a:r>
              <a:rPr lang="es">
                <a:latin typeface="Arial"/>
                <a:ea typeface="Arial"/>
                <a:cs typeface="Arial"/>
                <a:sym typeface="Arial"/>
              </a:rPr>
              <a:t>solución</a:t>
            </a:r>
            <a:r>
              <a:rPr lang="es">
                <a:latin typeface="Arial"/>
                <a:ea typeface="Arial"/>
                <a:cs typeface="Arial"/>
                <a:sym typeface="Arial"/>
              </a:rPr>
              <a:t> proporcionada</a:t>
            </a:r>
            <a:endParaRPr>
              <a:latin typeface="Arial"/>
              <a:ea typeface="Arial"/>
              <a:cs typeface="Arial"/>
              <a:sym typeface="Arial"/>
            </a:endParaRPr>
          </a:p>
        </p:txBody>
      </p:sp>
      <p:sp>
        <p:nvSpPr>
          <p:cNvPr id="180" name="Google Shape;180;p20"/>
          <p:cNvSpPr txBox="1"/>
          <p:nvPr>
            <p:ph idx="1" type="body"/>
          </p:nvPr>
        </p:nvSpPr>
        <p:spPr>
          <a:xfrm>
            <a:off x="911675" y="1183825"/>
            <a:ext cx="7755900" cy="3294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s" sz="1400">
                <a:latin typeface="Arial"/>
                <a:ea typeface="Arial"/>
                <a:cs typeface="Arial"/>
                <a:sym typeface="Arial"/>
              </a:rPr>
              <a:t>arquitectura </a:t>
            </a:r>
            <a:r>
              <a:rPr b="1" lang="es" sz="1400">
                <a:latin typeface="Arial"/>
                <a:ea typeface="Arial"/>
                <a:cs typeface="Arial"/>
                <a:sym typeface="Arial"/>
              </a:rPr>
              <a:t>híbrida</a:t>
            </a:r>
            <a:r>
              <a:rPr b="1" lang="es" sz="1400">
                <a:latin typeface="Arial"/>
                <a:ea typeface="Arial"/>
                <a:cs typeface="Arial"/>
                <a:sym typeface="Arial"/>
              </a:rPr>
              <a:t> de alta disponibilidad - alta viabilidad de </a:t>
            </a:r>
            <a:r>
              <a:rPr b="1" lang="es" sz="1400">
                <a:latin typeface="Arial"/>
                <a:ea typeface="Arial"/>
                <a:cs typeface="Arial"/>
                <a:sym typeface="Arial"/>
              </a:rPr>
              <a:t>implementación</a:t>
            </a:r>
            <a:r>
              <a:rPr b="1" lang="es" sz="1400">
                <a:latin typeface="Arial"/>
                <a:ea typeface="Arial"/>
                <a:cs typeface="Arial"/>
                <a:sym typeface="Arial"/>
              </a:rPr>
              <a:t> </a:t>
            </a:r>
            <a:endParaRPr b="1" sz="1400">
              <a:latin typeface="Arial"/>
              <a:ea typeface="Arial"/>
              <a:cs typeface="Arial"/>
              <a:sym typeface="Arial"/>
            </a:endParaRPr>
          </a:p>
          <a:p>
            <a:pPr indent="-317500" lvl="0" marL="457200" rtl="0" algn="l">
              <a:spcBef>
                <a:spcPts val="1200"/>
              </a:spcBef>
              <a:spcAft>
                <a:spcPts val="0"/>
              </a:spcAft>
              <a:buSzPts val="1400"/>
              <a:buFont typeface="Arial"/>
              <a:buChar char="-"/>
            </a:pPr>
            <a:r>
              <a:rPr lang="es" sz="1400">
                <a:latin typeface="Arial"/>
                <a:ea typeface="Arial"/>
                <a:cs typeface="Arial"/>
                <a:sym typeface="Arial"/>
              </a:rPr>
              <a:t>la </a:t>
            </a:r>
            <a:r>
              <a:rPr lang="es" sz="1400">
                <a:latin typeface="Arial"/>
                <a:ea typeface="Arial"/>
                <a:cs typeface="Arial"/>
                <a:sym typeface="Arial"/>
              </a:rPr>
              <a:t>implementación</a:t>
            </a:r>
            <a:r>
              <a:rPr lang="es" sz="1400">
                <a:latin typeface="Arial"/>
                <a:ea typeface="Arial"/>
                <a:cs typeface="Arial"/>
                <a:sym typeface="Arial"/>
              </a:rPr>
              <a:t> del </a:t>
            </a:r>
            <a:r>
              <a:rPr lang="es" sz="1400">
                <a:latin typeface="Arial"/>
                <a:ea typeface="Arial"/>
                <a:cs typeface="Arial"/>
                <a:sym typeface="Arial"/>
              </a:rPr>
              <a:t>patrón</a:t>
            </a:r>
            <a:r>
              <a:rPr lang="es" sz="1400">
                <a:latin typeface="Arial"/>
                <a:ea typeface="Arial"/>
                <a:cs typeface="Arial"/>
                <a:sym typeface="Arial"/>
              </a:rPr>
              <a:t> guarda y </a:t>
            </a:r>
            <a:r>
              <a:rPr lang="es" sz="1400">
                <a:latin typeface="Arial"/>
                <a:ea typeface="Arial"/>
                <a:cs typeface="Arial"/>
                <a:sym typeface="Arial"/>
              </a:rPr>
              <a:t>envía</a:t>
            </a:r>
            <a:r>
              <a:rPr lang="es" sz="1400">
                <a:latin typeface="Arial"/>
                <a:ea typeface="Arial"/>
                <a:cs typeface="Arial"/>
                <a:sym typeface="Arial"/>
              </a:rPr>
              <a:t> en el gateway. garantiza la </a:t>
            </a:r>
            <a:r>
              <a:rPr lang="es" sz="1400">
                <a:latin typeface="Arial"/>
                <a:ea typeface="Arial"/>
                <a:cs typeface="Arial"/>
                <a:sym typeface="Arial"/>
              </a:rPr>
              <a:t>integridad</a:t>
            </a:r>
            <a:r>
              <a:rPr lang="es" sz="1400">
                <a:latin typeface="Arial"/>
                <a:ea typeface="Arial"/>
                <a:cs typeface="Arial"/>
                <a:sym typeface="Arial"/>
              </a:rPr>
              <a:t> total de los datos </a:t>
            </a:r>
            <a:r>
              <a:rPr lang="es" sz="1400">
                <a:latin typeface="Arial"/>
                <a:ea typeface="Arial"/>
                <a:cs typeface="Arial"/>
                <a:sym typeface="Arial"/>
              </a:rPr>
              <a:t>mediante</a:t>
            </a:r>
            <a:r>
              <a:rPr lang="es" sz="1400">
                <a:latin typeface="Arial"/>
                <a:ea typeface="Arial"/>
                <a:cs typeface="Arial"/>
                <a:sym typeface="Arial"/>
              </a:rPr>
              <a:t> un almacenamiento temporal local ante los fallos a internet </a:t>
            </a:r>
            <a:endParaRPr sz="1400">
              <a:latin typeface="Arial"/>
              <a:ea typeface="Arial"/>
              <a:cs typeface="Arial"/>
              <a:sym typeface="Arial"/>
            </a:endParaRPr>
          </a:p>
          <a:p>
            <a:pPr indent="-317500" lvl="0" marL="457200" rtl="0" algn="l">
              <a:spcBef>
                <a:spcPts val="0"/>
              </a:spcBef>
              <a:spcAft>
                <a:spcPts val="0"/>
              </a:spcAft>
              <a:buSzPts val="1400"/>
              <a:buFont typeface="Arial"/>
              <a:buChar char="-"/>
            </a:pPr>
            <a:r>
              <a:rPr lang="es" sz="1400">
                <a:latin typeface="Arial"/>
                <a:ea typeface="Arial"/>
                <a:cs typeface="Arial"/>
                <a:sym typeface="Arial"/>
              </a:rPr>
              <a:t>delegando el procesamineto analitico, el poder de computo a la </a:t>
            </a:r>
            <a:r>
              <a:rPr lang="es" sz="1400">
                <a:latin typeface="Arial"/>
                <a:ea typeface="Arial"/>
                <a:cs typeface="Arial"/>
                <a:sym typeface="Arial"/>
              </a:rPr>
              <a:t>nube</a:t>
            </a:r>
            <a:r>
              <a:rPr lang="es" sz="1400">
                <a:latin typeface="Arial"/>
                <a:ea typeface="Arial"/>
                <a:cs typeface="Arial"/>
                <a:sym typeface="Arial"/>
              </a:rPr>
              <a:t>, permite la </a:t>
            </a:r>
            <a:r>
              <a:rPr lang="es" sz="1400">
                <a:latin typeface="Arial"/>
                <a:ea typeface="Arial"/>
                <a:cs typeface="Arial"/>
                <a:sym typeface="Arial"/>
              </a:rPr>
              <a:t>gestión</a:t>
            </a:r>
            <a:r>
              <a:rPr lang="es" sz="1400">
                <a:latin typeface="Arial"/>
                <a:ea typeface="Arial"/>
                <a:cs typeface="Arial"/>
                <a:sym typeface="Arial"/>
              </a:rPr>
              <a:t> centralizada de </a:t>
            </a:r>
            <a:r>
              <a:rPr lang="es" sz="1400">
                <a:latin typeface="Arial"/>
                <a:ea typeface="Arial"/>
                <a:cs typeface="Arial"/>
                <a:sym typeface="Arial"/>
              </a:rPr>
              <a:t>múltiples</a:t>
            </a:r>
            <a:r>
              <a:rPr lang="es" sz="1400">
                <a:latin typeface="Arial"/>
                <a:ea typeface="Arial"/>
                <a:cs typeface="Arial"/>
                <a:sym typeface="Arial"/>
              </a:rPr>
              <a:t> sucursales sin saturar el </a:t>
            </a:r>
            <a:r>
              <a:rPr lang="es" sz="1400">
                <a:latin typeface="Arial"/>
                <a:ea typeface="Arial"/>
                <a:cs typeface="Arial"/>
                <a:sym typeface="Arial"/>
              </a:rPr>
              <a:t>hardware</a:t>
            </a:r>
            <a:r>
              <a:rPr lang="es" sz="1400">
                <a:latin typeface="Arial"/>
                <a:ea typeface="Arial"/>
                <a:cs typeface="Arial"/>
                <a:sym typeface="Arial"/>
              </a:rPr>
              <a:t> local </a:t>
            </a:r>
            <a:endParaRPr sz="1400">
              <a:latin typeface="Arial"/>
              <a:ea typeface="Arial"/>
              <a:cs typeface="Arial"/>
              <a:sym typeface="Arial"/>
            </a:endParaRPr>
          </a:p>
          <a:p>
            <a:pPr indent="-317500" lvl="0" marL="457200" rtl="0" algn="l">
              <a:spcBef>
                <a:spcPts val="0"/>
              </a:spcBef>
              <a:spcAft>
                <a:spcPts val="0"/>
              </a:spcAft>
              <a:buSzPts val="1400"/>
              <a:buFont typeface="Arial"/>
              <a:buChar char="-"/>
            </a:pPr>
            <a:r>
              <a:rPr lang="es" sz="1400">
                <a:latin typeface="Arial"/>
                <a:ea typeface="Arial"/>
                <a:cs typeface="Arial"/>
                <a:sym typeface="Arial"/>
              </a:rPr>
              <a:t>transición</a:t>
            </a:r>
            <a:r>
              <a:rPr lang="es" sz="1400">
                <a:latin typeface="Arial"/>
                <a:ea typeface="Arial"/>
                <a:cs typeface="Arial"/>
                <a:sym typeface="Arial"/>
              </a:rPr>
              <a:t> de monitoreo </a:t>
            </a:r>
            <a:r>
              <a:rPr lang="es" sz="1400">
                <a:latin typeface="Arial"/>
                <a:ea typeface="Arial"/>
                <a:cs typeface="Arial"/>
                <a:sym typeface="Arial"/>
              </a:rPr>
              <a:t>pasivo</a:t>
            </a:r>
            <a:r>
              <a:rPr lang="es" sz="1400">
                <a:latin typeface="Arial"/>
                <a:ea typeface="Arial"/>
                <a:cs typeface="Arial"/>
                <a:sym typeface="Arial"/>
              </a:rPr>
              <a:t> a activo, con el uso de alertar sobre cambios o sucesos de alta prioridad al celular del usuario</a:t>
            </a:r>
            <a:endParaRPr sz="1400">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Focus">
  <a:themeElements>
    <a:clrScheme name="Focus">
      <a:dk1>
        <a:srgbClr val="1B212C"/>
      </a:dk1>
      <a:lt1>
        <a:srgbClr val="FFFFFF"/>
      </a:lt1>
      <a:dk2>
        <a:srgbClr val="D9D9D9"/>
      </a:dk2>
      <a:lt2>
        <a:srgbClr val="82C7A5"/>
      </a:lt2>
      <a:accent1>
        <a:srgbClr val="0145AC"/>
      </a:accent1>
      <a:accent2>
        <a:srgbClr val="EECE1A"/>
      </a:accent2>
      <a:accent3>
        <a:srgbClr val="4E5567"/>
      </a:accent3>
      <a:accent4>
        <a:srgbClr val="F4D6AD"/>
      </a:accent4>
      <a:accent5>
        <a:srgbClr val="7890CD"/>
      </a:accent5>
      <a:accent6>
        <a:srgbClr val="F15E22"/>
      </a:accent6>
      <a:hlink>
        <a:srgbClr val="7890CD"/>
      </a:hlink>
      <a:folHlink>
        <a:srgbClr val="7890C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