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457200"/>
            <a:ext cx="3657600" cy="640080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0"/>
            <a:ext cx="73152" cy="514350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6949440" y="365760"/>
            <a:ext cx="502920" cy="5029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772400" y="731520"/>
            <a:ext cx="502920" cy="5029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315200" y="1371600"/>
            <a:ext cx="502920" cy="502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480" y="731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CINÉPOLIS</a:t>
            </a:r>
            <a:endParaRPr lang="en-US" sz="4400" dirty="0"/>
          </a:p>
        </p:txBody>
      </p:sp>
      <p:sp>
        <p:nvSpPr>
          <p:cNvPr id="9" name="Shape 4"/>
          <p:cNvSpPr/>
          <p:nvPr/>
        </p:nvSpPr>
        <p:spPr>
          <a:xfrm>
            <a:off x="411480" y="1463040"/>
            <a:ext cx="320040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5"/>
          <p:cNvSpPr/>
          <p:nvPr/>
        </p:nvSpPr>
        <p:spPr>
          <a:xfrm>
            <a:off x="411480" y="1600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Data-Driven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11480" y="22402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Cinépolis recolecta, analiza y convierte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decisiones estratégicas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11480" y="41148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B2540"/>
          </a:solidFill>
          <a:ln/>
        </p:spPr>
      </p:sp>
      <p:sp>
        <p:nvSpPr>
          <p:cNvPr id="13" name="Text 8"/>
          <p:cNvSpPr/>
          <p:nvPr/>
        </p:nvSpPr>
        <p:spPr>
          <a:xfrm>
            <a:off x="41148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 Complejos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423160" y="41148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B2540"/>
          </a:solidFill>
          <a:ln/>
        </p:spPr>
      </p:sp>
      <p:sp>
        <p:nvSpPr>
          <p:cNvPr id="15" name="Text 10"/>
          <p:cNvSpPr/>
          <p:nvPr/>
        </p:nvSpPr>
        <p:spPr>
          <a:xfrm>
            <a:off x="242316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Países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434840" y="41148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1B2540"/>
          </a:solidFill>
          <a:ln/>
        </p:spPr>
      </p:sp>
      <p:sp>
        <p:nvSpPr>
          <p:cNvPr id="17" name="Text 12"/>
          <p:cNvSpPr/>
          <p:nvPr/>
        </p:nvSpPr>
        <p:spPr>
          <a:xfrm>
            <a:off x="443484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+6,800 Salas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2860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en la Nube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16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 (AWS) como columna vertebral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1874520"/>
            <a:ext cx="2651760" cy="141732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874520"/>
            <a:ext cx="64008" cy="1417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" y="198424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AWS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6072" y="2295144"/>
            <a:ext cx="23957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servidores locales en Morelia a infraestructura cloud, impulsada por la pandemia y el crecimiento a 19 países.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874520"/>
            <a:ext cx="2651760" cy="141732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874520"/>
            <a:ext cx="64008" cy="1417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Text 11"/>
          <p:cNvSpPr/>
          <p:nvPr/>
        </p:nvSpPr>
        <p:spPr>
          <a:xfrm>
            <a:off x="3410712" y="198424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Cinépolis Klic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10712" y="2295144"/>
            <a:ext cx="23957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streaming creada a partir de la transformación digital. Escaló 6-8x su demanda sin perder estabilidad.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1874520"/>
            <a:ext cx="2651760" cy="141732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80760" y="1874520"/>
            <a:ext cx="64008" cy="1417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5"/>
          <p:cNvSpPr/>
          <p:nvPr/>
        </p:nvSpPr>
        <p:spPr>
          <a:xfrm>
            <a:off x="6245352" y="198424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Digital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45352" y="2295144"/>
            <a:ext cx="23957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dedicada a datos, arquitectura de software y mejora de experiencia de usuario.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3520440"/>
            <a:ext cx="8321040" cy="123444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11480" y="3520440"/>
            <a:ext cx="8321040" cy="54864"/>
          </a:xfrm>
          <a:prstGeom prst="rect">
            <a:avLst/>
          </a:prstGeom>
          <a:solidFill>
            <a:srgbClr val="2A9D8F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03320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43000" y="3657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aplicado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143000" y="400507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tráfico en salas físicas + datos de streaming → predice popularidad de películas, optimiza dulcería y boletos en kioscos.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2860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Analítica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846320" cy="356616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484632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hace?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hábitos de compra digitales por zona geográfica.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preferencias de productos por ciudad y complejo.</a:t>
            </a:r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 mercado como laboratorio para predecir resultados en otros territorios.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0" y="1234440"/>
            <a:ext cx="3246120" cy="3566160"/>
          </a:xfrm>
          <a:prstGeom prst="rect">
            <a:avLst/>
          </a:prstGeom>
          <a:solidFill>
            <a:srgbClr val="131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1234440"/>
            <a:ext cx="324612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1371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Digital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1874520"/>
            <a:ext cx="2834640" cy="128016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19385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🇪🇸  España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258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669280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Penetración digital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0" y="3337560"/>
            <a:ext cx="2834640" cy="128016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3401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🇲🇽  México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37216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669280" y="4224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Penetración digital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2860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Cinépolis: Motor de Captura de Datos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1920240" cy="118872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07008"/>
            <a:ext cx="192024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18653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socios en 3 meses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87168" y="1207008"/>
            <a:ext cx="1920240" cy="118872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207008"/>
            <a:ext cx="1920240" cy="5486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2" name="Text 10"/>
          <p:cNvSpPr/>
          <p:nvPr/>
        </p:nvSpPr>
        <p:spPr>
          <a:xfrm>
            <a:off x="2487168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87168" y="18653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proceso físico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207008"/>
            <a:ext cx="1920240" cy="118872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207008"/>
            <a:ext cx="192024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72000" y="18653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extra socio activo vs no socio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1207008"/>
            <a:ext cx="1920240" cy="118872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1207008"/>
            <a:ext cx="192024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675120" y="18653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 que perdieron tarjeta física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606040"/>
            <a:ext cx="4160520" cy="219456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606040"/>
            <a:ext cx="64008" cy="2194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Profiling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063240"/>
            <a:ext cx="3840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gradual de datos del socio para enviar la oferta correcta, a la persona correcta, en el momento adecuado.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por MFA: correos y teléfonos validados → datos limpios y confiables para personalización.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606040"/>
            <a:ext cx="3977640" cy="219456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606040"/>
            <a:ext cx="64008" cy="21945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 la digitalización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090672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Registro desde cualquier dispositivo
</a:t>
            </a:r>
            <a:pPr indent="0" marL="0">
              <a:buNone/>
            </a:pPr>
            <a:r>
              <a:rPr lang="en-US" sz="10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Datos verificados (sin correos falsos)
</a:t>
            </a:r>
            <a:pPr indent="0" marL="0">
              <a:buNone/>
            </a:pPr>
            <a:r>
              <a:rPr lang="en-US" sz="10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Vinculación a customer journeys digitales
</a:t>
            </a:r>
            <a:pPr indent="0" marL="0">
              <a:buNone/>
            </a:pPr>
            <a:r>
              <a:rPr lang="en-US" sz="10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Comunicación vía app, email y WhatsApp
</a:t>
            </a:r>
            <a:pPr indent="0" marL="0">
              <a:buNone/>
            </a:pPr>
            <a:r>
              <a:rPr lang="en-US" sz="10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Membresía siempre disponible en el celular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2860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228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4 &amp;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Dinámicos y Machine Learning Predictivo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160520" cy="356616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4160520" cy="54864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898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Dinámicos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847088"/>
            <a:ext cx="3794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en dulcería varían por miembro del Club según nivel de lealtad.
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pasar la membresía, el sistema muestra el precio personalizado en tiempo real.
</a:t>
            </a:r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distintos por zona, ciudad y complejo según poder adquisitivo local.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234440"/>
            <a:ext cx="3977640" cy="356616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234440"/>
            <a:ext cx="397764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3898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Predictivo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37760" y="190195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Predicción de popularidad de películas cruzando datos de streaming + tráfico en salas.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0" y="2587752"/>
            <a:ext cx="342900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17" name="Text 13"/>
          <p:cNvSpPr/>
          <p:nvPr/>
        </p:nvSpPr>
        <p:spPr>
          <a:xfrm>
            <a:off x="4937760" y="265176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🍿  Modelos de demanda por zona → abastecimiento correcto de dulcería en cada sucursal.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0" y="3337560"/>
            <a:ext cx="342900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19" name="Text 15"/>
          <p:cNvSpPr/>
          <p:nvPr/>
        </p:nvSpPr>
        <p:spPr>
          <a:xfrm>
            <a:off x="4937760" y="340156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Chatbot con IA: atiende el 91% de solicitudes y aprende del comportamiento del usuario.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029200" y="4087368"/>
            <a:ext cx="342900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21" name="Text 17"/>
          <p:cNvSpPr/>
          <p:nvPr/>
        </p:nvSpPr>
        <p:spPr>
          <a:xfrm>
            <a:off x="4937760" y="415137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IA Generativa aplicada en anuncios comerciales en salas (2025).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garantiza Cinépolis decisiones basadas en datos?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4114800" cy="192024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22960"/>
            <a:ext cx="64008" cy="19202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98755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61288" y="1005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Centralizada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14813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datos (boletos, dulcería, app, kioscos, redes) en un solo repositorio AWS.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silos de información entre países y canales.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114800" cy="192024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64008" cy="19202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Shape 10"/>
          <p:cNvSpPr/>
          <p:nvPr/>
        </p:nvSpPr>
        <p:spPr>
          <a:xfrm>
            <a:off x="4910328" y="98755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58968" y="1005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Cinépolis como fuente primaria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0328" y="148132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de socios habían perdido su tarjeta física.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ese dato, Cinépolis perdía capacidad de decisión sobre visitas, consumos y preferencias.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4114800" cy="192024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944368"/>
            <a:ext cx="64008" cy="1920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" y="31089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1288" y="31272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en la operación diaria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" y="360273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ad hoc, escenarios y planes de acción como conversación cotidiana entre el equipo corporativo y los complejos.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944368"/>
            <a:ext cx="4114800" cy="192024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44368"/>
            <a:ext cx="64008" cy="19202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4" name="Shape 22"/>
          <p:cNvSpPr/>
          <p:nvPr/>
        </p:nvSpPr>
        <p:spPr>
          <a:xfrm>
            <a:off x="4910328" y="31089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FD166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328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58968" y="31272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Experimentación sistemática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0328" y="360273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 (90% penetración digital) como laboratorio de pruebas.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validados con datos antes de escalar a otros mercados.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tipo de datos recolecta Cinépolis?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834640" cy="530352"/>
          </a:xfrm>
          <a:prstGeom prst="rect">
            <a:avLst/>
          </a:prstGeom>
          <a:solidFill>
            <a:srgbClr val="E6394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13816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8046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Transaccionales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389888"/>
            <a:ext cx="2834640" cy="342900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389888"/>
            <a:ext cx="54864" cy="34290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" y="1591056"/>
            <a:ext cx="109728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1508760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de boletos (taquilla, app, web, kioscos)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2057400"/>
            <a:ext cx="246888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12" name="Shape 9"/>
          <p:cNvSpPr/>
          <p:nvPr/>
        </p:nvSpPr>
        <p:spPr>
          <a:xfrm>
            <a:off x="438912" y="2212848"/>
            <a:ext cx="109728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213055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en dulcería por producto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2679192"/>
            <a:ext cx="246888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438912" y="2834640"/>
            <a:ext cx="109728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" y="2752344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sala: IMAX, 4DX, VIP, tradicional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3300984"/>
            <a:ext cx="246888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18" name="Shape 15"/>
          <p:cNvSpPr/>
          <p:nvPr/>
        </p:nvSpPr>
        <p:spPr>
          <a:xfrm>
            <a:off x="438912" y="3456432"/>
            <a:ext cx="109728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" y="3374136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elegidos y frecuencia de visita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922776"/>
            <a:ext cx="246888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21" name="Shape 18"/>
          <p:cNvSpPr/>
          <p:nvPr/>
        </p:nvSpPr>
        <p:spPr>
          <a:xfrm>
            <a:off x="438912" y="4078224"/>
            <a:ext cx="109728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3995928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asistencia por día y complejo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246120" y="749808"/>
            <a:ext cx="2834640" cy="530352"/>
          </a:xfrm>
          <a:prstGeom prst="rect">
            <a:avLst/>
          </a:prstGeom>
          <a:solidFill>
            <a:srgbClr val="2A9D8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813816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794760" y="8046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Socio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3246120" y="1389888"/>
            <a:ext cx="2834640" cy="342900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246120" y="1389888"/>
            <a:ext cx="54864" cy="3429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Shape 24"/>
          <p:cNvSpPr/>
          <p:nvPr/>
        </p:nvSpPr>
        <p:spPr>
          <a:xfrm>
            <a:off x="3410712" y="1591056"/>
            <a:ext cx="109728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9" name="Text 25"/>
          <p:cNvSpPr/>
          <p:nvPr/>
        </p:nvSpPr>
        <p:spPr>
          <a:xfrm>
            <a:off x="3630168" y="1508760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Arquetipos: Gru · Dory · Avatar · Tony Stark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429000" y="2057400"/>
            <a:ext cx="246888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31" name="Shape 27"/>
          <p:cNvSpPr/>
          <p:nvPr/>
        </p:nvSpPr>
        <p:spPr>
          <a:xfrm>
            <a:off x="3410712" y="2212848"/>
            <a:ext cx="109728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2" name="Text 28"/>
          <p:cNvSpPr/>
          <p:nvPr/>
        </p:nvSpPr>
        <p:spPr>
          <a:xfrm>
            <a:off x="3630168" y="213055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journeys en app, email y WhatsApp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429000" y="2679192"/>
            <a:ext cx="246888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34" name="Shape 30"/>
          <p:cNvSpPr/>
          <p:nvPr/>
        </p:nvSpPr>
        <p:spPr>
          <a:xfrm>
            <a:off x="3410712" y="2834640"/>
            <a:ext cx="109728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5" name="Text 31"/>
          <p:cNvSpPr/>
          <p:nvPr/>
        </p:nvSpPr>
        <p:spPr>
          <a:xfrm>
            <a:off x="3630168" y="2752344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activados y gasto promedio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429000" y="3300984"/>
            <a:ext cx="246888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37" name="Shape 33"/>
          <p:cNvSpPr/>
          <p:nvPr/>
        </p:nvSpPr>
        <p:spPr>
          <a:xfrm>
            <a:off x="3410712" y="3456432"/>
            <a:ext cx="109728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8" name="Text 34"/>
          <p:cNvSpPr/>
          <p:nvPr/>
        </p:nvSpPr>
        <p:spPr>
          <a:xfrm>
            <a:off x="3630168" y="3374136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verificados (MFA): correo y teléfono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429000" y="3922776"/>
            <a:ext cx="246888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40" name="Shape 36"/>
          <p:cNvSpPr/>
          <p:nvPr/>
        </p:nvSpPr>
        <p:spPr>
          <a:xfrm>
            <a:off x="3410712" y="4078224"/>
            <a:ext cx="109728" cy="1097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1" name="Text 37"/>
          <p:cNvSpPr/>
          <p:nvPr/>
        </p:nvSpPr>
        <p:spPr>
          <a:xfrm>
            <a:off x="3630168" y="3995928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para primera transacción (60-70 días)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6217920" y="749808"/>
            <a:ext cx="2834640" cy="530352"/>
          </a:xfrm>
          <a:prstGeom prst="rect">
            <a:avLst/>
          </a:prstGeom>
          <a:solidFill>
            <a:srgbClr val="FFD16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813816"/>
            <a:ext cx="347472" cy="34747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6766560" y="8046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y Redes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6217920" y="1389888"/>
            <a:ext cx="2834640" cy="342900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6217920" y="1389888"/>
            <a:ext cx="54864" cy="34290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7" name="Shape 42"/>
          <p:cNvSpPr/>
          <p:nvPr/>
        </p:nvSpPr>
        <p:spPr>
          <a:xfrm>
            <a:off x="6382512" y="1591056"/>
            <a:ext cx="109728" cy="10972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8" name="Text 43"/>
          <p:cNvSpPr/>
          <p:nvPr/>
        </p:nvSpPr>
        <p:spPr>
          <a:xfrm>
            <a:off x="6601968" y="1508760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82.3% accede desde móvil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6400800" y="2057400"/>
            <a:ext cx="246888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50" name="Shape 45"/>
          <p:cNvSpPr/>
          <p:nvPr/>
        </p:nvSpPr>
        <p:spPr>
          <a:xfrm>
            <a:off x="6382512" y="2212848"/>
            <a:ext cx="109728" cy="10972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1" name="Text 46"/>
          <p:cNvSpPr/>
          <p:nvPr/>
        </p:nvSpPr>
        <p:spPr>
          <a:xfrm>
            <a:off x="6601968" y="213055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32% · Facebook 29% · WhatsApp 19%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6400800" y="2679192"/>
            <a:ext cx="246888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53" name="Shape 48"/>
          <p:cNvSpPr/>
          <p:nvPr/>
        </p:nvSpPr>
        <p:spPr>
          <a:xfrm>
            <a:off x="6382512" y="2834640"/>
            <a:ext cx="109728" cy="10972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4" name="Text 49"/>
          <p:cNvSpPr/>
          <p:nvPr/>
        </p:nvSpPr>
        <p:spPr>
          <a:xfrm>
            <a:off x="6601968" y="2752344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sentimientos en redes sociales</a:t>
            </a: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6400800" y="3300984"/>
            <a:ext cx="246888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56" name="Shape 51"/>
          <p:cNvSpPr/>
          <p:nvPr/>
        </p:nvSpPr>
        <p:spPr>
          <a:xfrm>
            <a:off x="6382512" y="3456432"/>
            <a:ext cx="109728" cy="10972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7" name="Text 52"/>
          <p:cNvSpPr/>
          <p:nvPr/>
        </p:nvSpPr>
        <p:spPr>
          <a:xfrm>
            <a:off x="6601968" y="3374136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conversa sobre productos en estrenos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6400800" y="3922776"/>
            <a:ext cx="2468880" cy="18288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59" name="Shape 54"/>
          <p:cNvSpPr/>
          <p:nvPr/>
        </p:nvSpPr>
        <p:spPr>
          <a:xfrm>
            <a:off x="6382512" y="4078224"/>
            <a:ext cx="109728" cy="10972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60" name="Text 55"/>
          <p:cNvSpPr/>
          <p:nvPr/>
        </p:nvSpPr>
        <p:spPr>
          <a:xfrm>
            <a:off x="6601968" y="3995928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expresa preferencia sobre competidores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Segmentación: Los 4 Arquetipos de Cliente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Basados en motivaciones y comportamientos cinematográficos → estrategias y comunicaciones diferenciadas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011680" cy="374904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011680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207008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2070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2677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777240" cy="68580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15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417320" y="2697480"/>
            <a:ext cx="777240" cy="6858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2715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17320" y="29718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complacer a sus acompañantes. Menos comprometido con el cine en sí mismo.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1024128"/>
            <a:ext cx="2011680" cy="374904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1024128"/>
            <a:ext cx="2011680" cy="640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Shape 17"/>
          <p:cNvSpPr/>
          <p:nvPr/>
        </p:nvSpPr>
        <p:spPr>
          <a:xfrm>
            <a:off x="3017520" y="1207008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12070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🐟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468880" y="22677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06040" y="2697480"/>
            <a:ext cx="777240" cy="68580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2606040" y="2715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606040" y="29718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566160" y="2697480"/>
            <a:ext cx="777240" cy="6858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2715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566160" y="29718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606040" y="35204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diversión en grupo. Va por la experiencia social, no por la película.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1024128"/>
            <a:ext cx="2011680" cy="374904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1024128"/>
            <a:ext cx="201168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Shape 29"/>
          <p:cNvSpPr/>
          <p:nvPr/>
        </p:nvSpPr>
        <p:spPr>
          <a:xfrm>
            <a:off x="5166360" y="1207008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12070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🎭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617720" y="22677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2697480"/>
            <a:ext cx="777240" cy="68580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715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54880" y="29718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715000" y="2697480"/>
            <a:ext cx="777240" cy="6858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8" name="Text 36"/>
          <p:cNvSpPr/>
          <p:nvPr/>
        </p:nvSpPr>
        <p:spPr>
          <a:xfrm>
            <a:off x="5715000" y="2715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715000" y="29718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754880" y="35204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cine como escapatoria. Valora el confort y la experiencia sin fricciones.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0" y="1024128"/>
            <a:ext cx="2011680" cy="3749040"/>
          </a:xfrm>
          <a:prstGeom prst="rect">
            <a:avLst/>
          </a:prstGeom>
          <a:solidFill>
            <a:srgbClr val="1B25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66560" y="1024128"/>
            <a:ext cx="2011680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3" name="Shape 41"/>
          <p:cNvSpPr/>
          <p:nvPr/>
        </p:nvSpPr>
        <p:spPr>
          <a:xfrm>
            <a:off x="7315200" y="1207008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0" y="120700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6766560" y="22677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STARK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03720" y="2697480"/>
            <a:ext cx="777240" cy="68580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47" name="Text 45"/>
          <p:cNvSpPr/>
          <p:nvPr/>
        </p:nvSpPr>
        <p:spPr>
          <a:xfrm>
            <a:off x="6903720" y="2715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903720" y="29718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7863840" y="2697480"/>
            <a:ext cx="777240" cy="6858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0" name="Text 48"/>
          <p:cNvSpPr/>
          <p:nvPr/>
        </p:nvSpPr>
        <p:spPr>
          <a:xfrm>
            <a:off x="7863840" y="27157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7863840" y="29718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903720" y="35204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Fanático del cine. Quiere ser el primero, es líder de opinión y vive el Club al 100%.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Tony Stark = 16% de visitantes → pero 48% del Club Cinépolis. El dato orienta directamente la inversión en beneficios premium.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91440" cy="514350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7132320" y="548640"/>
            <a:ext cx="457200" cy="4572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7863840" y="548640"/>
            <a:ext cx="457200" cy="4572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7132320" y="1371600"/>
            <a:ext cx="457200" cy="4572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7863840" y="1371600"/>
            <a:ext cx="457200" cy="45720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132320" y="2194560"/>
            <a:ext cx="457200" cy="4572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57200" y="5486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457200" y="100584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Cinépolis no solo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 datos.</a:t>
            </a:r>
            <a:endParaRPr lang="en-US" sz="3800" dirty="0"/>
          </a:p>
        </p:txBody>
      </p:sp>
      <p:sp>
        <p:nvSpPr>
          <p:cNvPr id="12" name="Text 5"/>
          <p:cNvSpPr/>
          <p:nvPr/>
        </p:nvSpPr>
        <p:spPr>
          <a:xfrm>
            <a:off x="457200" y="23042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convierte en ventaja competitiva.</a:t>
            </a:r>
            <a:endParaRPr lang="en-US" sz="2200" dirty="0"/>
          </a:p>
        </p:txBody>
      </p:sp>
      <p:sp>
        <p:nvSpPr>
          <p:cNvPr id="13" name="Shape 6"/>
          <p:cNvSpPr/>
          <p:nvPr/>
        </p:nvSpPr>
        <p:spPr>
          <a:xfrm>
            <a:off x="457200" y="2926080"/>
            <a:ext cx="5029200" cy="36576"/>
          </a:xfrm>
          <a:prstGeom prst="rect">
            <a:avLst/>
          </a:prstGeom>
          <a:solidFill>
            <a:srgbClr val="8B9CBB"/>
          </a:solidFill>
          <a:ln/>
        </p:spPr>
      </p:sp>
      <p:sp>
        <p:nvSpPr>
          <p:cNvPr id="14" name="Text 7"/>
          <p:cNvSpPr/>
          <p:nvPr/>
        </p:nvSpPr>
        <p:spPr>
          <a:xfrm>
            <a:off x="457200" y="30632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qué película promover en cada región, hasta cuántos nachos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un viernes por la noche — cada decisión tiene un dato detrás.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57200" y="429768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E63946"/>
          </a:solidFill>
          <a:ln/>
        </p:spPr>
      </p:sp>
      <p:sp>
        <p:nvSpPr>
          <p:cNvPr id="16" name="Text 9"/>
          <p:cNvSpPr/>
          <p:nvPr/>
        </p:nvSpPr>
        <p:spPr>
          <a:xfrm>
            <a:off x="457200" y="4297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+ Data Lake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2331720" y="429768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2A9D8F"/>
          </a:solidFill>
          <a:ln/>
        </p:spPr>
      </p:sp>
      <p:sp>
        <p:nvSpPr>
          <p:cNvPr id="18" name="Text 11"/>
          <p:cNvSpPr/>
          <p:nvPr/>
        </p:nvSpPr>
        <p:spPr>
          <a:xfrm>
            <a:off x="2331720" y="4297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Cinépolis</a:t>
            </a:r>
            <a:endParaRPr lang="en-US" sz="950" dirty="0"/>
          </a:p>
        </p:txBody>
      </p:sp>
      <p:sp>
        <p:nvSpPr>
          <p:cNvPr id="19" name="Shape 12"/>
          <p:cNvSpPr/>
          <p:nvPr/>
        </p:nvSpPr>
        <p:spPr>
          <a:xfrm>
            <a:off x="4206240" y="429768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F4A261"/>
          </a:solidFill>
          <a:ln/>
        </p:spPr>
      </p:sp>
      <p:sp>
        <p:nvSpPr>
          <p:cNvPr id="20" name="Text 13"/>
          <p:cNvSpPr/>
          <p:nvPr/>
        </p:nvSpPr>
        <p:spPr>
          <a:xfrm>
            <a:off x="4206240" y="4297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Predictivo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6080760" y="429768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FFD166"/>
          </a:solidFill>
          <a:ln/>
        </p:spPr>
      </p:sp>
      <p:sp>
        <p:nvSpPr>
          <p:cNvPr id="22" name="Text 15"/>
          <p:cNvSpPr/>
          <p:nvPr/>
        </p:nvSpPr>
        <p:spPr>
          <a:xfrm>
            <a:off x="6080760" y="4297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Arquetipos de cliente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Cinépolis Data-Driven</dc:title>
  <dc:subject>PptxGenJS Presentation</dc:subject>
  <dc:creator>PptxGenJS</dc:creator>
  <cp:lastModifiedBy>PptxGenJS</cp:lastModifiedBy>
  <cp:revision>1</cp:revision>
  <dcterms:created xsi:type="dcterms:W3CDTF">2026-03-20T20:30:30Z</dcterms:created>
  <dcterms:modified xsi:type="dcterms:W3CDTF">2026-03-20T20:30:30Z</dcterms:modified>
</cp:coreProperties>
</file>