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image/svg+xml" Extension="svg"/>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slide+xml" PartName="/ppt/slides/slide11.xml"/>
  <Override ContentType="application/vnd.openxmlformats-officedocument.presentationml.slide+xml" PartName="/ppt/slides/slide12.xml"/>
  <Override ContentType="application/vnd.openxmlformats-officedocument.presentationml.slide+xml" PartName="/ppt/slides/slide13.xml"/>
  <Override ContentType="application/vnd.openxmlformats-officedocument.presentationml.slide+xml" PartName="/ppt/slides/slide14.xml"/>
  <Override ContentType="application/vnd.openxmlformats-officedocument.presentationml.slide+xml" PartName="/ppt/slides/slide15.xml"/>
  <Override ContentType="application/vnd.openxmlformats-officedocument.presentationml.slide+xml" PartName="/ppt/slides/slide16.xml"/>
  <Override ContentType="application/vnd.openxmlformats-officedocument.presentationml.slide+xml" PartName="/ppt/slides/slide17.xml"/>
  <Override ContentType="application/vnd.openxmlformats-officedocument.presentationml.slide+xml" PartName="/ppt/slides/slide18.xml"/>
  <Override ContentType="application/vnd.openxmlformats-officedocument.presentationml.slide+xml" PartName="/ppt/slides/slide19.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22.xml"/>
  <Override ContentType="application/vnd.openxmlformats-officedocument.presentationml.slide+xml" PartName="/ppt/slides/slide23.xml"/>
  <Override ContentType="application/vnd.openxmlformats-officedocument.presentationml.slide+xml" PartName="/ppt/slides/slide24.xml"/>
  <Override ContentType="application/vnd.openxmlformats-officedocument.presentationml.slide+xml" PartName="/ppt/slides/slide25.xml"/>
  <Override ContentType="application/vnd.openxmlformats-officedocument.presentationml.slide+xml" PartName="/ppt/slides/slide26.xml"/>
  <Override ContentType="application/vnd.openxmlformats-officedocument.presentationml.slide+xml" PartName="/ppt/slides/slide27.xml"/>
  <Override ContentType="application/vnd.openxmlformats-officedocument.presentationml.slide+xml" PartName="/ppt/slides/slide28.xml"/>
  <Override ContentType="application/vnd.openxmlformats-officedocument.presentationml.slide+xml" PartName="/ppt/slides/slide29.xml"/>
  <Override ContentType="application/vnd.openxmlformats-officedocument.presentationml.slide+xml" PartName="/ppt/slides/slide30.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 id="282" r:id="rId32"/>
    <p:sldId id="283" r:id="rId33"/>
    <p:sldId id="284" r:id="rId34"/>
    <p:sldId id="285" r:id="rId35"/>
  </p:sldIdLst>
  <p:sldSz cx="18288000" cy="10287000"/>
  <p:notesSz cx="6858000" cy="9144000"/>
  <p:embeddedFontLst>
    <p:embeddedFont>
      <p:font typeface="Glacial Indifference" charset="1" panose="00000000000000000000"/>
      <p:regular r:id="rId36"/>
    </p:embeddedFont>
    <p:embeddedFont>
      <p:font typeface="Glacial Indifference Bold" charset="1" panose="00000800000000000000"/>
      <p:regular r:id="rId37"/>
    </p:embeddedFont>
    <p:embeddedFont>
      <p:font typeface="Glacial Indifference Italics" charset="1" panose="00000000000000000000"/>
      <p:regular r:id="rId38"/>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slides/slide10.xml" Type="http://schemas.openxmlformats.org/officeDocument/2006/relationships/slide"/><Relationship Id="rId16" Target="slides/slide11.xml" Type="http://schemas.openxmlformats.org/officeDocument/2006/relationships/slide"/><Relationship Id="rId17" Target="slides/slide12.xml" Type="http://schemas.openxmlformats.org/officeDocument/2006/relationships/slide"/><Relationship Id="rId18" Target="slides/slide13.xml" Type="http://schemas.openxmlformats.org/officeDocument/2006/relationships/slide"/><Relationship Id="rId19" Target="slides/slide14.xml" Type="http://schemas.openxmlformats.org/officeDocument/2006/relationships/slide"/><Relationship Id="rId2" Target="presProps.xml" Type="http://schemas.openxmlformats.org/officeDocument/2006/relationships/presProps"/><Relationship Id="rId20" Target="slides/slide15.xml" Type="http://schemas.openxmlformats.org/officeDocument/2006/relationships/slide"/><Relationship Id="rId21" Target="slides/slide16.xml" Type="http://schemas.openxmlformats.org/officeDocument/2006/relationships/slide"/><Relationship Id="rId22" Target="slides/slide17.xml" Type="http://schemas.openxmlformats.org/officeDocument/2006/relationships/slide"/><Relationship Id="rId23" Target="slides/slide18.xml" Type="http://schemas.openxmlformats.org/officeDocument/2006/relationships/slide"/><Relationship Id="rId24" Target="slides/slide19.xml" Type="http://schemas.openxmlformats.org/officeDocument/2006/relationships/slide"/><Relationship Id="rId25" Target="slides/slide20.xml" Type="http://schemas.openxmlformats.org/officeDocument/2006/relationships/slide"/><Relationship Id="rId26" Target="slides/slide21.xml" Type="http://schemas.openxmlformats.org/officeDocument/2006/relationships/slide"/><Relationship Id="rId27" Target="slides/slide22.xml" Type="http://schemas.openxmlformats.org/officeDocument/2006/relationships/slide"/><Relationship Id="rId28" Target="slides/slide23.xml" Type="http://schemas.openxmlformats.org/officeDocument/2006/relationships/slide"/><Relationship Id="rId29" Target="slides/slide24.xml" Type="http://schemas.openxmlformats.org/officeDocument/2006/relationships/slide"/><Relationship Id="rId3" Target="viewProps.xml" Type="http://schemas.openxmlformats.org/officeDocument/2006/relationships/viewProps"/><Relationship Id="rId30" Target="slides/slide25.xml" Type="http://schemas.openxmlformats.org/officeDocument/2006/relationships/slide"/><Relationship Id="rId31" Target="slides/slide26.xml" Type="http://schemas.openxmlformats.org/officeDocument/2006/relationships/slide"/><Relationship Id="rId32" Target="slides/slide27.xml" Type="http://schemas.openxmlformats.org/officeDocument/2006/relationships/slide"/><Relationship Id="rId33" Target="slides/slide28.xml" Type="http://schemas.openxmlformats.org/officeDocument/2006/relationships/slide"/><Relationship Id="rId34" Target="slides/slide29.xml" Type="http://schemas.openxmlformats.org/officeDocument/2006/relationships/slide"/><Relationship Id="rId35" Target="slides/slide30.xml" Type="http://schemas.openxmlformats.org/officeDocument/2006/relationships/slide"/><Relationship Id="rId36" Target="fonts/font36.fntdata" Type="http://schemas.openxmlformats.org/officeDocument/2006/relationships/font"/><Relationship Id="rId37" Target="fonts/font37.fntdata" Type="http://schemas.openxmlformats.org/officeDocument/2006/relationships/font"/><Relationship Id="rId38" Target="fonts/font38.fntdata" Type="http://schemas.openxmlformats.org/officeDocument/2006/relationships/font"/><Relationship Id="rId4" Target="theme/theme1.xml" Type="http://schemas.openxmlformats.org/officeDocument/2006/relationships/them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9.png" Type="http://schemas.openxmlformats.org/officeDocument/2006/relationships/image"/><Relationship Id="rId11" Target="../media/image10.svg" Type="http://schemas.openxmlformats.org/officeDocument/2006/relationships/image"/><Relationship Id="rId2" Target="../media/image1.pn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 Id="rId6" Target="../media/image5.png" Type="http://schemas.openxmlformats.org/officeDocument/2006/relationships/image"/><Relationship Id="rId7" Target="../media/image6.svg" Type="http://schemas.openxmlformats.org/officeDocument/2006/relationships/image"/><Relationship Id="rId8" Target="../media/image7.png" Type="http://schemas.openxmlformats.org/officeDocument/2006/relationships/image"/><Relationship Id="rId9" Target="../media/image8.sv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1.png" Type="http://schemas.openxmlformats.org/officeDocument/2006/relationships/image"/><Relationship Id="rId3" Target="../media/image12.svg" Type="http://schemas.openxmlformats.org/officeDocument/2006/relationships/image"/><Relationship Id="rId4" Target="../media/image1.png" Type="http://schemas.openxmlformats.org/officeDocument/2006/relationships/image"/><Relationship Id="rId5" Target="../media/image2.svg" Type="http://schemas.openxmlformats.org/officeDocument/2006/relationships/image"/><Relationship Id="rId6" Target="../media/image5.png" Type="http://schemas.openxmlformats.org/officeDocument/2006/relationships/image"/><Relationship Id="rId7" Target="../media/image6.sv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3.png" Type="http://schemas.openxmlformats.org/officeDocument/2006/relationships/image"/><Relationship Id="rId3" Target="../media/image14.svg" Type="http://schemas.openxmlformats.org/officeDocument/2006/relationships/image"/><Relationship Id="rId4" Target="../media/image15.png" Type="http://schemas.openxmlformats.org/officeDocument/2006/relationships/image"/><Relationship Id="rId5" Target="../media/image16.svg" Type="http://schemas.openxmlformats.org/officeDocument/2006/relationships/image"/><Relationship Id="rId6" Target="../media/image17.png" Type="http://schemas.openxmlformats.org/officeDocument/2006/relationships/image"/><Relationship Id="rId7" Target="../media/image18.pn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3.png" Type="http://schemas.openxmlformats.org/officeDocument/2006/relationships/image"/><Relationship Id="rId3" Target="../media/image14.svg" Type="http://schemas.openxmlformats.org/officeDocument/2006/relationships/image"/><Relationship Id="rId4" Target="../media/image15.png" Type="http://schemas.openxmlformats.org/officeDocument/2006/relationships/image"/><Relationship Id="rId5" Target="../media/image16.svg" Type="http://schemas.openxmlformats.org/officeDocument/2006/relationships/image"/><Relationship Id="rId6" Target="../media/image19.pn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3.png" Type="http://schemas.openxmlformats.org/officeDocument/2006/relationships/image"/><Relationship Id="rId3" Target="../media/image14.svg" Type="http://schemas.openxmlformats.org/officeDocument/2006/relationships/image"/><Relationship Id="rId4" Target="../media/image15.png" Type="http://schemas.openxmlformats.org/officeDocument/2006/relationships/image"/><Relationship Id="rId5" Target="../media/image16.svg" Type="http://schemas.openxmlformats.org/officeDocument/2006/relationships/image"/></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3.png" Type="http://schemas.openxmlformats.org/officeDocument/2006/relationships/image"/><Relationship Id="rId3" Target="../media/image14.svg" Type="http://schemas.openxmlformats.org/officeDocument/2006/relationships/image"/><Relationship Id="rId4" Target="../media/image15.png" Type="http://schemas.openxmlformats.org/officeDocument/2006/relationships/image"/><Relationship Id="rId5" Target="../media/image16.svg" Type="http://schemas.openxmlformats.org/officeDocument/2006/relationships/image"/><Relationship Id="rId6" Target="../media/image20.png" Type="http://schemas.openxmlformats.org/officeDocument/2006/relationships/image"/></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3.png" Type="http://schemas.openxmlformats.org/officeDocument/2006/relationships/image"/><Relationship Id="rId3" Target="../media/image14.svg" Type="http://schemas.openxmlformats.org/officeDocument/2006/relationships/image"/><Relationship Id="rId4" Target="../media/image15.png" Type="http://schemas.openxmlformats.org/officeDocument/2006/relationships/image"/><Relationship Id="rId5" Target="../media/image16.svg" Type="http://schemas.openxmlformats.org/officeDocument/2006/relationships/image"/></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3.png" Type="http://schemas.openxmlformats.org/officeDocument/2006/relationships/image"/><Relationship Id="rId3" Target="../media/image14.svg" Type="http://schemas.openxmlformats.org/officeDocument/2006/relationships/image"/><Relationship Id="rId4" Target="../media/image15.png" Type="http://schemas.openxmlformats.org/officeDocument/2006/relationships/image"/><Relationship Id="rId5" Target="../media/image16.svg" Type="http://schemas.openxmlformats.org/officeDocument/2006/relationships/image"/><Relationship Id="rId6" Target="../media/image21.png" Type="http://schemas.openxmlformats.org/officeDocument/2006/relationships/image"/><Relationship Id="rId7" Target="../media/image22.png" Type="http://schemas.openxmlformats.org/officeDocument/2006/relationships/image"/><Relationship Id="rId8" Target="../media/image23.png" Type="http://schemas.openxmlformats.org/officeDocument/2006/relationships/image"/></Relationships>
</file>

<file path=ppt/slides/_rels/slide1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3.png" Type="http://schemas.openxmlformats.org/officeDocument/2006/relationships/image"/><Relationship Id="rId3" Target="../media/image14.svg" Type="http://schemas.openxmlformats.org/officeDocument/2006/relationships/image"/><Relationship Id="rId4" Target="../media/image15.png" Type="http://schemas.openxmlformats.org/officeDocument/2006/relationships/image"/><Relationship Id="rId5" Target="../media/image16.svg" Type="http://schemas.openxmlformats.org/officeDocument/2006/relationships/image"/></Relationships>
</file>

<file path=ppt/slides/_rels/slide1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5.png" Type="http://schemas.openxmlformats.org/officeDocument/2006/relationships/image"/><Relationship Id="rId3" Target="../media/image16.svg" Type="http://schemas.openxmlformats.org/officeDocument/2006/relationships/image"/><Relationship Id="rId4" Target="../media/image24.png" Type="http://schemas.openxmlformats.org/officeDocument/2006/relationships/image"/><Relationship Id="rId5" Target="../media/image25.svg" Type="http://schemas.openxmlformats.org/officeDocument/2006/relationships/image"/></Relationships>
</file>

<file path=ppt/slides/_rels/slide1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5.png" Type="http://schemas.openxmlformats.org/officeDocument/2006/relationships/image"/><Relationship Id="rId3" Target="../media/image16.svg" Type="http://schemas.openxmlformats.org/officeDocument/2006/relationships/image"/><Relationship Id="rId4" Target="../media/image24.png" Type="http://schemas.openxmlformats.org/officeDocument/2006/relationships/image"/><Relationship Id="rId5" Target="../media/image25.svg" Type="http://schemas.openxmlformats.org/officeDocument/2006/relationships/image"/><Relationship Id="rId6" Target="../media/image26.png" Type="http://schemas.openxmlformats.org/officeDocument/2006/relationships/image"/></Relationships>
</file>

<file path=ppt/slides/_rels/slide1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5.png" Type="http://schemas.openxmlformats.org/officeDocument/2006/relationships/image"/><Relationship Id="rId3" Target="../media/image16.svg" Type="http://schemas.openxmlformats.org/officeDocument/2006/relationships/image"/><Relationship Id="rId4" Target="../media/image27.png" Type="http://schemas.openxmlformats.org/officeDocument/2006/relationships/image"/><Relationship Id="rId5" Target="../media/image24.png" Type="http://schemas.openxmlformats.org/officeDocument/2006/relationships/image"/><Relationship Id="rId6" Target="../media/image25.svg" Type="http://schemas.openxmlformats.org/officeDocument/2006/relationships/image"/></Relationships>
</file>

<file path=ppt/slides/_rels/slide1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5.png" Type="http://schemas.openxmlformats.org/officeDocument/2006/relationships/image"/><Relationship Id="rId3" Target="../media/image16.svg" Type="http://schemas.openxmlformats.org/officeDocument/2006/relationships/image"/><Relationship Id="rId4" Target="../media/image24.png" Type="http://schemas.openxmlformats.org/officeDocument/2006/relationships/image"/><Relationship Id="rId5" Target="../media/image25.svg" Type="http://schemas.openxmlformats.org/officeDocument/2006/relationships/image"/><Relationship Id="rId6" Target="../media/image28.png" Type="http://schemas.openxmlformats.org/officeDocument/2006/relationships/image"/></Relationships>
</file>

<file path=ppt/slides/_rels/slide1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5.png" Type="http://schemas.openxmlformats.org/officeDocument/2006/relationships/image"/><Relationship Id="rId3" Target="../media/image16.svg" Type="http://schemas.openxmlformats.org/officeDocument/2006/relationships/image"/><Relationship Id="rId4" Target="../media/image24.png" Type="http://schemas.openxmlformats.org/officeDocument/2006/relationships/image"/><Relationship Id="rId5" Target="../media/image25.svg" Type="http://schemas.openxmlformats.org/officeDocument/2006/relationships/image"/></Relationships>
</file>

<file path=ppt/slides/_rels/slide1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5.png" Type="http://schemas.openxmlformats.org/officeDocument/2006/relationships/image"/><Relationship Id="rId3" Target="../media/image16.svg" Type="http://schemas.openxmlformats.org/officeDocument/2006/relationships/image"/></Relationships>
</file>

<file path=ppt/slides/_rels/slide1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5.png" Type="http://schemas.openxmlformats.org/officeDocument/2006/relationships/image"/><Relationship Id="rId3" Target="../media/image16.svg" Type="http://schemas.openxmlformats.org/officeDocument/2006/relationships/image"/><Relationship Id="rId4" Target="../media/image24.png" Type="http://schemas.openxmlformats.org/officeDocument/2006/relationships/image"/><Relationship Id="rId5" Target="../media/image25.svg" Type="http://schemas.openxmlformats.org/officeDocument/2006/relationships/image"/></Relationships>
</file>

<file path=ppt/slides/_rels/slide1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5.png" Type="http://schemas.openxmlformats.org/officeDocument/2006/relationships/image"/><Relationship Id="rId3" Target="../media/image16.svg" Type="http://schemas.openxmlformats.org/officeDocument/2006/relationships/image"/></Relationships>
</file>

<file path=ppt/slides/_rels/slide1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5.png" Type="http://schemas.openxmlformats.org/officeDocument/2006/relationships/image"/><Relationship Id="rId3" Target="../media/image16.svg" Type="http://schemas.openxmlformats.org/officeDocument/2006/relationships/image"/><Relationship Id="rId4" Target="../media/image24.png" Type="http://schemas.openxmlformats.org/officeDocument/2006/relationships/image"/><Relationship Id="rId5" Target="../media/image25.svg" Type="http://schemas.openxmlformats.org/officeDocument/2006/relationships/image"/><Relationship Id="rId6" Target="../media/image29.png" Type="http://schemas.openxmlformats.org/officeDocument/2006/relationships/image"/></Relationships>
</file>

<file path=ppt/slides/_rels/slide2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5.png" Type="http://schemas.openxmlformats.org/officeDocument/2006/relationships/image"/><Relationship Id="rId3" Target="../media/image16.svg" Type="http://schemas.openxmlformats.org/officeDocument/2006/relationships/image"/><Relationship Id="rId4" Target="../media/image24.png" Type="http://schemas.openxmlformats.org/officeDocument/2006/relationships/image"/><Relationship Id="rId5" Target="../media/image25.svg" Type="http://schemas.openxmlformats.org/officeDocument/2006/relationships/image"/></Relationships>
</file>

<file path=ppt/slides/_rels/slide2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5.png" Type="http://schemas.openxmlformats.org/officeDocument/2006/relationships/image"/><Relationship Id="rId3" Target="../media/image16.svg" Type="http://schemas.openxmlformats.org/officeDocument/2006/relationships/image"/><Relationship Id="rId4" Target="../media/image24.png" Type="http://schemas.openxmlformats.org/officeDocument/2006/relationships/image"/><Relationship Id="rId5" Target="../media/image25.svg" Type="http://schemas.openxmlformats.org/officeDocument/2006/relationships/image"/></Relationships>
</file>

<file path=ppt/slides/_rels/slide2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5.png" Type="http://schemas.openxmlformats.org/officeDocument/2006/relationships/image"/><Relationship Id="rId3" Target="../media/image16.svg" Type="http://schemas.openxmlformats.org/officeDocument/2006/relationships/image"/><Relationship Id="rId4" Target="../media/image24.png" Type="http://schemas.openxmlformats.org/officeDocument/2006/relationships/image"/><Relationship Id="rId5" Target="../media/image25.svg" Type="http://schemas.openxmlformats.org/officeDocument/2006/relationships/image"/></Relationships>
</file>

<file path=ppt/slides/_rels/slide23.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36.png" Type="http://schemas.openxmlformats.org/officeDocument/2006/relationships/image"/><Relationship Id="rId11" Target="../media/image37.svg" Type="http://schemas.openxmlformats.org/officeDocument/2006/relationships/image"/><Relationship Id="rId12" Target="../media/image38.png" Type="http://schemas.openxmlformats.org/officeDocument/2006/relationships/image"/><Relationship Id="rId13" Target="../media/image39.svg" Type="http://schemas.openxmlformats.org/officeDocument/2006/relationships/image"/><Relationship Id="rId14" Target="../media/image40.png" Type="http://schemas.openxmlformats.org/officeDocument/2006/relationships/image"/><Relationship Id="rId15" Target="../media/image41.svg" Type="http://schemas.openxmlformats.org/officeDocument/2006/relationships/image"/><Relationship Id="rId2" Target="../media/image30.png" Type="http://schemas.openxmlformats.org/officeDocument/2006/relationships/image"/><Relationship Id="rId3" Target="../media/image31.svg" Type="http://schemas.openxmlformats.org/officeDocument/2006/relationships/image"/><Relationship Id="rId4" Target="../media/image15.png" Type="http://schemas.openxmlformats.org/officeDocument/2006/relationships/image"/><Relationship Id="rId5" Target="../media/image16.svg" Type="http://schemas.openxmlformats.org/officeDocument/2006/relationships/image"/><Relationship Id="rId6" Target="../media/image32.png" Type="http://schemas.openxmlformats.org/officeDocument/2006/relationships/image"/><Relationship Id="rId7" Target="../media/image33.svg" Type="http://schemas.openxmlformats.org/officeDocument/2006/relationships/image"/><Relationship Id="rId8" Target="../media/image34.png" Type="http://schemas.openxmlformats.org/officeDocument/2006/relationships/image"/><Relationship Id="rId9" Target="../media/image35.svg" Type="http://schemas.openxmlformats.org/officeDocument/2006/relationships/image"/></Relationships>
</file>

<file path=ppt/slides/_rels/slide2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42.jpeg" Type="http://schemas.openxmlformats.org/officeDocument/2006/relationships/image"/><Relationship Id="rId3" Target="../media/image1.png" Type="http://schemas.openxmlformats.org/officeDocument/2006/relationships/image"/><Relationship Id="rId4" Target="../media/image2.svg" Type="http://schemas.openxmlformats.org/officeDocument/2006/relationships/image"/><Relationship Id="rId5" Target="../media/image43.jpeg" Type="http://schemas.openxmlformats.org/officeDocument/2006/relationships/image"/><Relationship Id="rId6" Target="../media/image3.png" Type="http://schemas.openxmlformats.org/officeDocument/2006/relationships/image"/><Relationship Id="rId7" Target="../media/image4.svg" Type="http://schemas.openxmlformats.org/officeDocument/2006/relationships/image"/></Relationships>
</file>

<file path=ppt/slides/_rels/slide25.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52.png" Type="http://schemas.openxmlformats.org/officeDocument/2006/relationships/image"/><Relationship Id="rId11" Target="../media/image53.svg" Type="http://schemas.openxmlformats.org/officeDocument/2006/relationships/image"/><Relationship Id="rId2" Target="../media/image44.png" Type="http://schemas.openxmlformats.org/officeDocument/2006/relationships/image"/><Relationship Id="rId3" Target="../media/image45.svg" Type="http://schemas.openxmlformats.org/officeDocument/2006/relationships/image"/><Relationship Id="rId4" Target="../media/image46.jpeg" Type="http://schemas.openxmlformats.org/officeDocument/2006/relationships/image"/><Relationship Id="rId5" Target="../media/image47.jpeg" Type="http://schemas.openxmlformats.org/officeDocument/2006/relationships/image"/><Relationship Id="rId6" Target="../media/image48.jpeg" Type="http://schemas.openxmlformats.org/officeDocument/2006/relationships/image"/><Relationship Id="rId7" Target="../media/image49.jpeg" Type="http://schemas.openxmlformats.org/officeDocument/2006/relationships/image"/><Relationship Id="rId8" Target="../media/image50.png" Type="http://schemas.openxmlformats.org/officeDocument/2006/relationships/image"/><Relationship Id="rId9" Target="../media/image51.svg" Type="http://schemas.openxmlformats.org/officeDocument/2006/relationships/image"/></Relationships>
</file>

<file path=ppt/slides/_rels/slide2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54.png" Type="http://schemas.openxmlformats.org/officeDocument/2006/relationships/image"/><Relationship Id="rId3" Target="../media/image55.svg" Type="http://schemas.openxmlformats.org/officeDocument/2006/relationships/image"/><Relationship Id="rId4" Target="../media/image56.png" Type="http://schemas.openxmlformats.org/officeDocument/2006/relationships/image"/><Relationship Id="rId5" Target="../media/image57.svg" Type="http://schemas.openxmlformats.org/officeDocument/2006/relationships/image"/><Relationship Id="rId6" Target="../media/image58.png" Type="http://schemas.openxmlformats.org/officeDocument/2006/relationships/image"/><Relationship Id="rId7" Target="../media/image59.svg" Type="http://schemas.openxmlformats.org/officeDocument/2006/relationships/image"/><Relationship Id="rId8" Target="../media/image15.png" Type="http://schemas.openxmlformats.org/officeDocument/2006/relationships/image"/><Relationship Id="rId9" Target="../media/image16.svg" Type="http://schemas.openxmlformats.org/officeDocument/2006/relationships/image"/></Relationships>
</file>

<file path=ppt/slides/_rels/slide27.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68.png" Type="http://schemas.openxmlformats.org/officeDocument/2006/relationships/image"/><Relationship Id="rId11" Target="../media/image69.svg" Type="http://schemas.openxmlformats.org/officeDocument/2006/relationships/image"/><Relationship Id="rId12" Target="../media/image70.png" Type="http://schemas.openxmlformats.org/officeDocument/2006/relationships/image"/><Relationship Id="rId13" Target="../media/image71.svg" Type="http://schemas.openxmlformats.org/officeDocument/2006/relationships/image"/><Relationship Id="rId14" Target="../media/image72.png" Type="http://schemas.openxmlformats.org/officeDocument/2006/relationships/image"/><Relationship Id="rId15" Target="../media/image73.svg" Type="http://schemas.openxmlformats.org/officeDocument/2006/relationships/image"/><Relationship Id="rId16" Target="../media/image74.png" Type="http://schemas.openxmlformats.org/officeDocument/2006/relationships/image"/><Relationship Id="rId17" Target="../media/image75.svg" Type="http://schemas.openxmlformats.org/officeDocument/2006/relationships/image"/><Relationship Id="rId18" Target="../media/image76.png" Type="http://schemas.openxmlformats.org/officeDocument/2006/relationships/image"/><Relationship Id="rId19" Target="../media/image77.svg" Type="http://schemas.openxmlformats.org/officeDocument/2006/relationships/image"/><Relationship Id="rId2" Target="../media/image60.png" Type="http://schemas.openxmlformats.org/officeDocument/2006/relationships/image"/><Relationship Id="rId20" Target="../media/image78.png" Type="http://schemas.openxmlformats.org/officeDocument/2006/relationships/image"/><Relationship Id="rId21" Target="../media/image79.svg" Type="http://schemas.openxmlformats.org/officeDocument/2006/relationships/image"/><Relationship Id="rId22" Target="../media/image80.png" Type="http://schemas.openxmlformats.org/officeDocument/2006/relationships/image"/><Relationship Id="rId23" Target="../media/image81.svg" Type="http://schemas.openxmlformats.org/officeDocument/2006/relationships/image"/><Relationship Id="rId24" Target="../media/image82.png" Type="http://schemas.openxmlformats.org/officeDocument/2006/relationships/image"/><Relationship Id="rId25" Target="../media/image83.svg" Type="http://schemas.openxmlformats.org/officeDocument/2006/relationships/image"/><Relationship Id="rId26" Target="../media/image84.png" Type="http://schemas.openxmlformats.org/officeDocument/2006/relationships/image"/><Relationship Id="rId27" Target="../media/image85.svg" Type="http://schemas.openxmlformats.org/officeDocument/2006/relationships/image"/><Relationship Id="rId28" Target="../media/image86.png" Type="http://schemas.openxmlformats.org/officeDocument/2006/relationships/image"/><Relationship Id="rId29" Target="../media/image87.svg" Type="http://schemas.openxmlformats.org/officeDocument/2006/relationships/image"/><Relationship Id="rId3" Target="../media/image61.svg" Type="http://schemas.openxmlformats.org/officeDocument/2006/relationships/image"/><Relationship Id="rId30" Target="../media/image88.png" Type="http://schemas.openxmlformats.org/officeDocument/2006/relationships/image"/><Relationship Id="rId31" Target="../media/image89.svg" Type="http://schemas.openxmlformats.org/officeDocument/2006/relationships/image"/><Relationship Id="rId32" Target="../media/image90.png" Type="http://schemas.openxmlformats.org/officeDocument/2006/relationships/image"/><Relationship Id="rId33" Target="../media/image91.svg" Type="http://schemas.openxmlformats.org/officeDocument/2006/relationships/image"/><Relationship Id="rId34" Target="../media/image92.png" Type="http://schemas.openxmlformats.org/officeDocument/2006/relationships/image"/><Relationship Id="rId35" Target="../media/image93.svg" Type="http://schemas.openxmlformats.org/officeDocument/2006/relationships/image"/><Relationship Id="rId36" Target="../media/image94.png" Type="http://schemas.openxmlformats.org/officeDocument/2006/relationships/image"/><Relationship Id="rId37" Target="../media/image95.svg" Type="http://schemas.openxmlformats.org/officeDocument/2006/relationships/image"/><Relationship Id="rId38" Target="../media/image96.png" Type="http://schemas.openxmlformats.org/officeDocument/2006/relationships/image"/><Relationship Id="rId39" Target="../media/image97.svg" Type="http://schemas.openxmlformats.org/officeDocument/2006/relationships/image"/><Relationship Id="rId4" Target="../media/image62.png" Type="http://schemas.openxmlformats.org/officeDocument/2006/relationships/image"/><Relationship Id="rId40" Target="../media/image98.png" Type="http://schemas.openxmlformats.org/officeDocument/2006/relationships/image"/><Relationship Id="rId41" Target="../media/image99.svg" Type="http://schemas.openxmlformats.org/officeDocument/2006/relationships/image"/><Relationship Id="rId42" Target="../media/image100.png" Type="http://schemas.openxmlformats.org/officeDocument/2006/relationships/image"/><Relationship Id="rId43" Target="../media/image101.svg" Type="http://schemas.openxmlformats.org/officeDocument/2006/relationships/image"/><Relationship Id="rId44" Target="../media/image102.png" Type="http://schemas.openxmlformats.org/officeDocument/2006/relationships/image"/><Relationship Id="rId45" Target="../media/image103.svg" Type="http://schemas.openxmlformats.org/officeDocument/2006/relationships/image"/><Relationship Id="rId46" Target="../media/image104.png" Type="http://schemas.openxmlformats.org/officeDocument/2006/relationships/image"/><Relationship Id="rId47" Target="../media/image105.svg" Type="http://schemas.openxmlformats.org/officeDocument/2006/relationships/image"/><Relationship Id="rId48" Target="../media/image106.png" Type="http://schemas.openxmlformats.org/officeDocument/2006/relationships/image"/><Relationship Id="rId49" Target="../media/image107.svg" Type="http://schemas.openxmlformats.org/officeDocument/2006/relationships/image"/><Relationship Id="rId5" Target="../media/image63.svg" Type="http://schemas.openxmlformats.org/officeDocument/2006/relationships/image"/><Relationship Id="rId50" Target="../media/image108.png" Type="http://schemas.openxmlformats.org/officeDocument/2006/relationships/image"/><Relationship Id="rId51" Target="../media/image109.svg" Type="http://schemas.openxmlformats.org/officeDocument/2006/relationships/image"/><Relationship Id="rId52" Target="../media/image110.png" Type="http://schemas.openxmlformats.org/officeDocument/2006/relationships/image"/><Relationship Id="rId53" Target="../media/image111.svg" Type="http://schemas.openxmlformats.org/officeDocument/2006/relationships/image"/><Relationship Id="rId54" Target="../media/image112.png" Type="http://schemas.openxmlformats.org/officeDocument/2006/relationships/image"/><Relationship Id="rId55" Target="../media/image113.svg" Type="http://schemas.openxmlformats.org/officeDocument/2006/relationships/image"/><Relationship Id="rId56" Target="../media/image114.png" Type="http://schemas.openxmlformats.org/officeDocument/2006/relationships/image"/><Relationship Id="rId57" Target="../media/image115.svg" Type="http://schemas.openxmlformats.org/officeDocument/2006/relationships/image"/><Relationship Id="rId58" Target="../media/image116.png" Type="http://schemas.openxmlformats.org/officeDocument/2006/relationships/image"/><Relationship Id="rId59" Target="../media/image117.svg" Type="http://schemas.openxmlformats.org/officeDocument/2006/relationships/image"/><Relationship Id="rId6" Target="../media/image64.png" Type="http://schemas.openxmlformats.org/officeDocument/2006/relationships/image"/><Relationship Id="rId60" Target="../media/image118.png" Type="http://schemas.openxmlformats.org/officeDocument/2006/relationships/image"/><Relationship Id="rId61" Target="../media/image119.svg" Type="http://schemas.openxmlformats.org/officeDocument/2006/relationships/image"/><Relationship Id="rId62" Target="../media/image120.png" Type="http://schemas.openxmlformats.org/officeDocument/2006/relationships/image"/><Relationship Id="rId63" Target="../media/image121.svg" Type="http://schemas.openxmlformats.org/officeDocument/2006/relationships/image"/><Relationship Id="rId64" Target="../media/image122.png" Type="http://schemas.openxmlformats.org/officeDocument/2006/relationships/image"/><Relationship Id="rId65" Target="../media/image123.svg" Type="http://schemas.openxmlformats.org/officeDocument/2006/relationships/image"/><Relationship Id="rId66" Target="../media/image124.png" Type="http://schemas.openxmlformats.org/officeDocument/2006/relationships/image"/><Relationship Id="rId67" Target="../media/image125.svg" Type="http://schemas.openxmlformats.org/officeDocument/2006/relationships/image"/><Relationship Id="rId68" Target="../media/image126.png" Type="http://schemas.openxmlformats.org/officeDocument/2006/relationships/image"/><Relationship Id="rId69" Target="../media/image127.svg" Type="http://schemas.openxmlformats.org/officeDocument/2006/relationships/image"/><Relationship Id="rId7" Target="../media/image65.svg" Type="http://schemas.openxmlformats.org/officeDocument/2006/relationships/image"/><Relationship Id="rId8" Target="../media/image66.png" Type="http://schemas.openxmlformats.org/officeDocument/2006/relationships/image"/><Relationship Id="rId9" Target="../media/image67.svg" Type="http://schemas.openxmlformats.org/officeDocument/2006/relationships/image"/></Relationships>
</file>

<file path=ppt/slides/_rels/slide2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1.png" Type="http://schemas.openxmlformats.org/officeDocument/2006/relationships/image"/><Relationship Id="rId3" Target="../media/image12.svg" Type="http://schemas.openxmlformats.org/officeDocument/2006/relationships/image"/><Relationship Id="rId4" Target="../media/image1.png" Type="http://schemas.openxmlformats.org/officeDocument/2006/relationships/image"/><Relationship Id="rId5" Target="../media/image2.svg" Type="http://schemas.openxmlformats.org/officeDocument/2006/relationships/image"/><Relationship Id="rId6" Target="../media/image5.png" Type="http://schemas.openxmlformats.org/officeDocument/2006/relationships/image"/><Relationship Id="rId7" Target="../media/image6.svg" Type="http://schemas.openxmlformats.org/officeDocument/2006/relationships/image"/></Relationships>
</file>

<file path=ppt/slides/_rels/slide2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1.png" Type="http://schemas.openxmlformats.org/officeDocument/2006/relationships/image"/><Relationship Id="rId3" Target="../media/image12.svg" Type="http://schemas.openxmlformats.org/officeDocument/2006/relationships/image"/><Relationship Id="rId4" Target="../media/image1.png" Type="http://schemas.openxmlformats.org/officeDocument/2006/relationships/image"/><Relationship Id="rId5" Target="../media/image2.svg" Type="http://schemas.openxmlformats.org/officeDocument/2006/relationships/image"/><Relationship Id="rId6" Target="../media/image5.png" Type="http://schemas.openxmlformats.org/officeDocument/2006/relationships/image"/><Relationship Id="rId7" Target="../media/image6.svg" Type="http://schemas.openxmlformats.org/officeDocument/2006/relationships/image"/></Relationships>
</file>

<file path=ppt/slides/_rels/slide3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1.png" Type="http://schemas.openxmlformats.org/officeDocument/2006/relationships/image"/><Relationship Id="rId3" Target="../media/image12.svg" Type="http://schemas.openxmlformats.org/officeDocument/2006/relationships/image"/><Relationship Id="rId4" Target="../media/image1.png" Type="http://schemas.openxmlformats.org/officeDocument/2006/relationships/image"/><Relationship Id="rId5" Target="../media/image2.svg" Type="http://schemas.openxmlformats.org/officeDocument/2006/relationships/image"/><Relationship Id="rId6" Target="../media/image5.png" Type="http://schemas.openxmlformats.org/officeDocument/2006/relationships/image"/><Relationship Id="rId7" Target="../media/image6.svg" Type="http://schemas.openxmlformats.org/officeDocument/2006/relationships/image"/></Relationships>
</file>

<file path=ppt/slides/slide1.xml><?xml version="1.0" encoding="utf-8"?>
<p:sld xmlns:p="http://schemas.openxmlformats.org/presentationml/2006/main" xmlns:a="http://schemas.openxmlformats.org/drawingml/2006/main" xmlns:r="http://schemas.openxmlformats.org/officeDocument/2006/relationships">
  <p:cSld>
    <p:bg>
      <p:bgPr>
        <a:solidFill>
          <a:srgbClr val="EDE8E4"/>
        </a:solidFill>
      </p:bgPr>
    </p:bg>
    <p:spTree>
      <p:nvGrpSpPr>
        <p:cNvPr id="1" name=""/>
        <p:cNvGrpSpPr/>
        <p:nvPr/>
      </p:nvGrpSpPr>
      <p:grpSpPr>
        <a:xfrm>
          <a:off x="0" y="0"/>
          <a:ext cx="0" cy="0"/>
          <a:chOff x="0" y="0"/>
          <a:chExt cx="0" cy="0"/>
        </a:xfrm>
      </p:grpSpPr>
      <p:sp>
        <p:nvSpPr>
          <p:cNvPr name="Freeform 2" id="2"/>
          <p:cNvSpPr/>
          <p:nvPr/>
        </p:nvSpPr>
        <p:spPr>
          <a:xfrm flipH="false" flipV="false" rot="6982806">
            <a:off x="720300" y="6421716"/>
            <a:ext cx="8842272" cy="11861584"/>
          </a:xfrm>
          <a:custGeom>
            <a:avLst/>
            <a:gdLst/>
            <a:ahLst/>
            <a:cxnLst/>
            <a:rect r="r" b="b" t="t" l="l"/>
            <a:pathLst>
              <a:path h="11861584" w="8842272">
                <a:moveTo>
                  <a:pt x="0" y="0"/>
                </a:moveTo>
                <a:lnTo>
                  <a:pt x="8842272" y="0"/>
                </a:lnTo>
                <a:lnTo>
                  <a:pt x="8842272" y="11861584"/>
                </a:lnTo>
                <a:lnTo>
                  <a:pt x="0" y="11861584"/>
                </a:lnTo>
                <a:lnTo>
                  <a:pt x="0" y="0"/>
                </a:lnTo>
                <a:close/>
              </a:path>
            </a:pathLst>
          </a:custGeom>
          <a:blipFill>
            <a:blip r:embed="rId2">
              <a:alphaModFix amt="65999"/>
              <a:extLst>
                <a:ext uri="{96DAC541-7B7A-43D3-8B79-37D633B846F1}">
                  <asvg:svgBlip xmlns:asvg="http://schemas.microsoft.com/office/drawing/2016/SVG/main" r:embed="rId3"/>
                </a:ext>
              </a:extLst>
            </a:blip>
            <a:stretch>
              <a:fillRect l="0" t="0" r="0" b="0"/>
            </a:stretch>
          </a:blipFill>
          <a:ln cap="sq">
            <a:noFill/>
            <a:prstDash val="solid"/>
            <a:miter/>
          </a:ln>
        </p:spPr>
      </p:sp>
      <p:sp>
        <p:nvSpPr>
          <p:cNvPr name="Freeform 3" id="3"/>
          <p:cNvSpPr/>
          <p:nvPr/>
        </p:nvSpPr>
        <p:spPr>
          <a:xfrm flipH="false" flipV="false" rot="-6501204">
            <a:off x="11046831" y="-5088864"/>
            <a:ext cx="8807178" cy="11814508"/>
          </a:xfrm>
          <a:custGeom>
            <a:avLst/>
            <a:gdLst/>
            <a:ahLst/>
            <a:cxnLst/>
            <a:rect r="r" b="b" t="t" l="l"/>
            <a:pathLst>
              <a:path h="11814508" w="8807178">
                <a:moveTo>
                  <a:pt x="0" y="0"/>
                </a:moveTo>
                <a:lnTo>
                  <a:pt x="8807178" y="0"/>
                </a:lnTo>
                <a:lnTo>
                  <a:pt x="8807178" y="11814507"/>
                </a:lnTo>
                <a:lnTo>
                  <a:pt x="0" y="11814507"/>
                </a:lnTo>
                <a:lnTo>
                  <a:pt x="0" y="0"/>
                </a:lnTo>
                <a:close/>
              </a:path>
            </a:pathLst>
          </a:custGeom>
          <a:blipFill>
            <a:blip r:embed="rId2">
              <a:alphaModFix amt="65999"/>
              <a:extLst>
                <a:ext uri="{96DAC541-7B7A-43D3-8B79-37D633B846F1}">
                  <asvg:svgBlip xmlns:asvg="http://schemas.microsoft.com/office/drawing/2016/SVG/main" r:embed="rId3"/>
                </a:ext>
              </a:extLst>
            </a:blip>
            <a:stretch>
              <a:fillRect l="0" t="0" r="0" b="0"/>
            </a:stretch>
          </a:blipFill>
          <a:ln cap="sq">
            <a:noFill/>
            <a:prstDash val="solid"/>
            <a:miter/>
          </a:ln>
        </p:spPr>
      </p:sp>
      <p:sp>
        <p:nvSpPr>
          <p:cNvPr name="Freeform 4" id="4"/>
          <p:cNvSpPr/>
          <p:nvPr/>
        </p:nvSpPr>
        <p:spPr>
          <a:xfrm flipH="false" flipV="false" rot="10571821">
            <a:off x="10628437" y="8363453"/>
            <a:ext cx="5947318" cy="7978109"/>
          </a:xfrm>
          <a:custGeom>
            <a:avLst/>
            <a:gdLst/>
            <a:ahLst/>
            <a:cxnLst/>
            <a:rect r="r" b="b" t="t" l="l"/>
            <a:pathLst>
              <a:path h="7978109" w="5947318">
                <a:moveTo>
                  <a:pt x="0" y="0"/>
                </a:moveTo>
                <a:lnTo>
                  <a:pt x="5947318" y="0"/>
                </a:lnTo>
                <a:lnTo>
                  <a:pt x="5947318" y="7978110"/>
                </a:lnTo>
                <a:lnTo>
                  <a:pt x="0" y="797811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a:ln cap="sq">
            <a:noFill/>
            <a:prstDash val="solid"/>
            <a:miter/>
          </a:ln>
        </p:spPr>
      </p:sp>
      <p:sp>
        <p:nvSpPr>
          <p:cNvPr name="Freeform 5" id="5"/>
          <p:cNvSpPr/>
          <p:nvPr/>
        </p:nvSpPr>
        <p:spPr>
          <a:xfrm flipH="false" flipV="false" rot="-5114765">
            <a:off x="11561828" y="5146485"/>
            <a:ext cx="8542938" cy="7393525"/>
          </a:xfrm>
          <a:custGeom>
            <a:avLst/>
            <a:gdLst/>
            <a:ahLst/>
            <a:cxnLst/>
            <a:rect r="r" b="b" t="t" l="l"/>
            <a:pathLst>
              <a:path h="7393525" w="8542938">
                <a:moveTo>
                  <a:pt x="0" y="0"/>
                </a:moveTo>
                <a:lnTo>
                  <a:pt x="8542938" y="0"/>
                </a:lnTo>
                <a:lnTo>
                  <a:pt x="8542938" y="7393525"/>
                </a:lnTo>
                <a:lnTo>
                  <a:pt x="0" y="7393525"/>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a:ln cap="sq">
            <a:noFill/>
            <a:prstDash val="solid"/>
            <a:miter/>
          </a:ln>
        </p:spPr>
      </p:sp>
      <p:sp>
        <p:nvSpPr>
          <p:cNvPr name="Freeform 6" id="6"/>
          <p:cNvSpPr/>
          <p:nvPr/>
        </p:nvSpPr>
        <p:spPr>
          <a:xfrm flipH="false" flipV="false" rot="-5058328">
            <a:off x="13255544" y="-4131370"/>
            <a:ext cx="7156478" cy="6935278"/>
          </a:xfrm>
          <a:custGeom>
            <a:avLst/>
            <a:gdLst/>
            <a:ahLst/>
            <a:cxnLst/>
            <a:rect r="r" b="b" t="t" l="l"/>
            <a:pathLst>
              <a:path h="6935278" w="7156478">
                <a:moveTo>
                  <a:pt x="0" y="0"/>
                </a:moveTo>
                <a:lnTo>
                  <a:pt x="7156479" y="0"/>
                </a:lnTo>
                <a:lnTo>
                  <a:pt x="7156479" y="6935279"/>
                </a:lnTo>
                <a:lnTo>
                  <a:pt x="0" y="6935279"/>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a:ln cap="sq">
            <a:noFill/>
            <a:prstDash val="solid"/>
            <a:miter/>
          </a:ln>
        </p:spPr>
      </p:sp>
      <p:sp>
        <p:nvSpPr>
          <p:cNvPr name="Freeform 7" id="7"/>
          <p:cNvSpPr/>
          <p:nvPr/>
        </p:nvSpPr>
        <p:spPr>
          <a:xfrm flipH="false" flipV="false" rot="3318101">
            <a:off x="-3880130" y="6803731"/>
            <a:ext cx="10117864" cy="10062676"/>
          </a:xfrm>
          <a:custGeom>
            <a:avLst/>
            <a:gdLst/>
            <a:ahLst/>
            <a:cxnLst/>
            <a:rect r="r" b="b" t="t" l="l"/>
            <a:pathLst>
              <a:path h="10062676" w="10117864">
                <a:moveTo>
                  <a:pt x="0" y="0"/>
                </a:moveTo>
                <a:lnTo>
                  <a:pt x="10117864" y="0"/>
                </a:lnTo>
                <a:lnTo>
                  <a:pt x="10117864" y="10062675"/>
                </a:lnTo>
                <a:lnTo>
                  <a:pt x="0" y="10062675"/>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a:ln cap="sq">
            <a:noFill/>
            <a:prstDash val="solid"/>
            <a:miter/>
          </a:ln>
        </p:spPr>
      </p:sp>
      <p:sp>
        <p:nvSpPr>
          <p:cNvPr name="Freeform 8" id="8"/>
          <p:cNvSpPr/>
          <p:nvPr/>
        </p:nvSpPr>
        <p:spPr>
          <a:xfrm flipH="false" flipV="false" rot="6800871">
            <a:off x="-1846725" y="-2878373"/>
            <a:ext cx="8542938" cy="7393525"/>
          </a:xfrm>
          <a:custGeom>
            <a:avLst/>
            <a:gdLst/>
            <a:ahLst/>
            <a:cxnLst/>
            <a:rect r="r" b="b" t="t" l="l"/>
            <a:pathLst>
              <a:path h="7393525" w="8542938">
                <a:moveTo>
                  <a:pt x="0" y="0"/>
                </a:moveTo>
                <a:lnTo>
                  <a:pt x="8542938" y="0"/>
                </a:lnTo>
                <a:lnTo>
                  <a:pt x="8542938" y="7393525"/>
                </a:lnTo>
                <a:lnTo>
                  <a:pt x="0" y="7393525"/>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a:ln cap="sq">
            <a:noFill/>
            <a:prstDash val="solid"/>
            <a:miter/>
          </a:ln>
        </p:spPr>
      </p:sp>
      <p:sp>
        <p:nvSpPr>
          <p:cNvPr name="Freeform 9" id="9"/>
          <p:cNvSpPr/>
          <p:nvPr/>
        </p:nvSpPr>
        <p:spPr>
          <a:xfrm flipH="false" flipV="false" rot="0">
            <a:off x="8109815" y="1776600"/>
            <a:ext cx="694498" cy="848831"/>
          </a:xfrm>
          <a:custGeom>
            <a:avLst/>
            <a:gdLst/>
            <a:ahLst/>
            <a:cxnLst/>
            <a:rect r="r" b="b" t="t" l="l"/>
            <a:pathLst>
              <a:path h="848831" w="694498">
                <a:moveTo>
                  <a:pt x="0" y="0"/>
                </a:moveTo>
                <a:lnTo>
                  <a:pt x="694498" y="0"/>
                </a:lnTo>
                <a:lnTo>
                  <a:pt x="694498" y="848831"/>
                </a:lnTo>
                <a:lnTo>
                  <a:pt x="0" y="848831"/>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a:ln cap="sq">
            <a:noFill/>
            <a:prstDash val="solid"/>
            <a:miter/>
          </a:ln>
        </p:spPr>
      </p:sp>
      <p:sp>
        <p:nvSpPr>
          <p:cNvPr name="TextBox 10" id="10"/>
          <p:cNvSpPr txBox="true"/>
          <p:nvPr/>
        </p:nvSpPr>
        <p:spPr>
          <a:xfrm rot="0">
            <a:off x="8985084" y="1776600"/>
            <a:ext cx="1385325" cy="920468"/>
          </a:xfrm>
          <a:prstGeom prst="rect">
            <a:avLst/>
          </a:prstGeom>
        </p:spPr>
        <p:txBody>
          <a:bodyPr anchor="t" rtlCol="false" tIns="0" lIns="0" bIns="0" rIns="0">
            <a:spAutoFit/>
          </a:bodyPr>
          <a:lstStyle/>
          <a:p>
            <a:pPr algn="l">
              <a:lnSpc>
                <a:spcPts val="3645"/>
              </a:lnSpc>
              <a:spcBef>
                <a:spcPct val="0"/>
              </a:spcBef>
            </a:pPr>
            <a:r>
              <a:rPr lang="en-US" sz="3063" spc="-61">
                <a:solidFill>
                  <a:srgbClr val="253754"/>
                </a:solidFill>
                <a:latin typeface="Glacial Indifference"/>
                <a:ea typeface="Glacial Indifference"/>
                <a:cs typeface="Glacial Indifference"/>
                <a:sym typeface="Glacial Indifference"/>
              </a:rPr>
              <a:t>Estudio Shonos</a:t>
            </a:r>
          </a:p>
        </p:txBody>
      </p:sp>
      <p:sp>
        <p:nvSpPr>
          <p:cNvPr name="TextBox 11" id="11"/>
          <p:cNvSpPr txBox="true"/>
          <p:nvPr/>
        </p:nvSpPr>
        <p:spPr>
          <a:xfrm rot="0">
            <a:off x="3340348" y="3523447"/>
            <a:ext cx="11607304" cy="3334592"/>
          </a:xfrm>
          <a:prstGeom prst="rect">
            <a:avLst/>
          </a:prstGeom>
        </p:spPr>
        <p:txBody>
          <a:bodyPr anchor="t" rtlCol="false" tIns="0" lIns="0" bIns="0" rIns="0">
            <a:spAutoFit/>
          </a:bodyPr>
          <a:lstStyle/>
          <a:p>
            <a:pPr algn="ctr">
              <a:lnSpc>
                <a:spcPts val="8884"/>
              </a:lnSpc>
            </a:pPr>
            <a:r>
              <a:rPr lang="en-US" sz="6345" spc="596">
                <a:solidFill>
                  <a:srgbClr val="152540"/>
                </a:solidFill>
                <a:latin typeface="Glacial Indifference"/>
                <a:ea typeface="Glacial Indifference"/>
                <a:cs typeface="Glacial Indifference"/>
                <a:sym typeface="Glacial Indifference"/>
              </a:rPr>
              <a:t>DATA-DRIVEN Y TRANSFORMACIÓN DIGITAL</a:t>
            </a:r>
          </a:p>
          <a:p>
            <a:pPr algn="ctr" marL="0" indent="0" lvl="0">
              <a:lnSpc>
                <a:spcPts val="8884"/>
              </a:lnSpc>
              <a:spcBef>
                <a:spcPct val="0"/>
              </a:spcBef>
            </a:pPr>
          </a:p>
        </p:txBody>
      </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bg>
      <p:bgPr>
        <a:solidFill>
          <a:srgbClr val="EDE8E4"/>
        </a:solidFill>
      </p:bgPr>
    </p:bg>
    <p:spTree>
      <p:nvGrpSpPr>
        <p:cNvPr id="1" name=""/>
        <p:cNvGrpSpPr/>
        <p:nvPr/>
      </p:nvGrpSpPr>
      <p:grpSpPr>
        <a:xfrm>
          <a:off x="0" y="0"/>
          <a:ext cx="0" cy="0"/>
          <a:chOff x="0" y="0"/>
          <a:chExt cx="0" cy="0"/>
        </a:xfrm>
      </p:grpSpPr>
      <p:sp>
        <p:nvSpPr>
          <p:cNvPr name="Freeform 2" id="2"/>
          <p:cNvSpPr/>
          <p:nvPr/>
        </p:nvSpPr>
        <p:spPr>
          <a:xfrm flipH="false" flipV="false" rot="-6501204">
            <a:off x="-4899086" y="-8147683"/>
            <a:ext cx="9798172" cy="13143890"/>
          </a:xfrm>
          <a:custGeom>
            <a:avLst/>
            <a:gdLst/>
            <a:ahLst/>
            <a:cxnLst/>
            <a:rect r="r" b="b" t="t" l="l"/>
            <a:pathLst>
              <a:path h="13143890" w="9798172">
                <a:moveTo>
                  <a:pt x="0" y="0"/>
                </a:moveTo>
                <a:lnTo>
                  <a:pt x="9798172" y="0"/>
                </a:lnTo>
                <a:lnTo>
                  <a:pt x="9798172" y="13143889"/>
                </a:lnTo>
                <a:lnTo>
                  <a:pt x="0" y="13143889"/>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a:ln cap="sq">
            <a:noFill/>
            <a:prstDash val="solid"/>
            <a:miter/>
          </a:ln>
        </p:spPr>
      </p:sp>
      <p:sp>
        <p:nvSpPr>
          <p:cNvPr name="Freeform 3" id="3"/>
          <p:cNvSpPr/>
          <p:nvPr/>
        </p:nvSpPr>
        <p:spPr>
          <a:xfrm flipH="false" flipV="false" rot="-8798399">
            <a:off x="11434890" y="2417332"/>
            <a:ext cx="9798172" cy="13143890"/>
          </a:xfrm>
          <a:custGeom>
            <a:avLst/>
            <a:gdLst/>
            <a:ahLst/>
            <a:cxnLst/>
            <a:rect r="r" b="b" t="t" l="l"/>
            <a:pathLst>
              <a:path h="13143890" w="9798172">
                <a:moveTo>
                  <a:pt x="0" y="0"/>
                </a:moveTo>
                <a:lnTo>
                  <a:pt x="9798172" y="0"/>
                </a:lnTo>
                <a:lnTo>
                  <a:pt x="9798172" y="13143890"/>
                </a:lnTo>
                <a:lnTo>
                  <a:pt x="0" y="1314389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a:ln cap="sq">
            <a:noFill/>
            <a:prstDash val="solid"/>
            <a:miter/>
          </a:ln>
        </p:spPr>
      </p:sp>
      <p:sp>
        <p:nvSpPr>
          <p:cNvPr name="Freeform 4" id="4"/>
          <p:cNvSpPr/>
          <p:nvPr/>
        </p:nvSpPr>
        <p:spPr>
          <a:xfrm flipH="false" flipV="false" rot="-10301337">
            <a:off x="9883234" y="-2150579"/>
            <a:ext cx="12901483" cy="11165647"/>
          </a:xfrm>
          <a:custGeom>
            <a:avLst/>
            <a:gdLst/>
            <a:ahLst/>
            <a:cxnLst/>
            <a:rect r="r" b="b" t="t" l="l"/>
            <a:pathLst>
              <a:path h="11165647" w="12901483">
                <a:moveTo>
                  <a:pt x="0" y="0"/>
                </a:moveTo>
                <a:lnTo>
                  <a:pt x="12901483" y="0"/>
                </a:lnTo>
                <a:lnTo>
                  <a:pt x="12901483" y="11165647"/>
                </a:lnTo>
                <a:lnTo>
                  <a:pt x="0" y="11165647"/>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a:ln cap="sq">
            <a:noFill/>
            <a:prstDash val="solid"/>
            <a:miter/>
          </a:ln>
        </p:spPr>
      </p:sp>
      <p:sp>
        <p:nvSpPr>
          <p:cNvPr name="Freeform 5" id="5"/>
          <p:cNvSpPr/>
          <p:nvPr/>
        </p:nvSpPr>
        <p:spPr>
          <a:xfrm flipH="false" flipV="false" rot="458160">
            <a:off x="-3775194" y="6616870"/>
            <a:ext cx="8481393" cy="7340260"/>
          </a:xfrm>
          <a:custGeom>
            <a:avLst/>
            <a:gdLst/>
            <a:ahLst/>
            <a:cxnLst/>
            <a:rect r="r" b="b" t="t" l="l"/>
            <a:pathLst>
              <a:path h="7340260" w="8481393">
                <a:moveTo>
                  <a:pt x="0" y="0"/>
                </a:moveTo>
                <a:lnTo>
                  <a:pt x="8481393" y="0"/>
                </a:lnTo>
                <a:lnTo>
                  <a:pt x="8481393" y="7340260"/>
                </a:lnTo>
                <a:lnTo>
                  <a:pt x="0" y="7340260"/>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a:ln cap="sq">
            <a:noFill/>
            <a:prstDash val="solid"/>
            <a:miter/>
          </a:ln>
        </p:spPr>
      </p:sp>
      <p:sp>
        <p:nvSpPr>
          <p:cNvPr name="TextBox 6" id="6"/>
          <p:cNvSpPr txBox="true"/>
          <p:nvPr/>
        </p:nvSpPr>
        <p:spPr>
          <a:xfrm rot="0">
            <a:off x="2344704" y="1943183"/>
            <a:ext cx="6411555" cy="1319860"/>
          </a:xfrm>
          <a:prstGeom prst="rect">
            <a:avLst/>
          </a:prstGeom>
        </p:spPr>
        <p:txBody>
          <a:bodyPr anchor="t" rtlCol="false" tIns="0" lIns="0" bIns="0" rIns="0">
            <a:spAutoFit/>
          </a:bodyPr>
          <a:lstStyle/>
          <a:p>
            <a:pPr algn="l">
              <a:lnSpc>
                <a:spcPts val="10726"/>
              </a:lnSpc>
            </a:pPr>
            <a:r>
              <a:rPr lang="en-US" b="true" sz="7662" spc="720">
                <a:solidFill>
                  <a:srgbClr val="152540"/>
                </a:solidFill>
                <a:latin typeface="Glacial Indifference Bold"/>
                <a:ea typeface="Glacial Indifference Bold"/>
                <a:cs typeface="Glacial Indifference Bold"/>
                <a:sym typeface="Glacial Indifference Bold"/>
              </a:rPr>
              <a:t>CONTENIDO</a:t>
            </a:r>
          </a:p>
        </p:txBody>
      </p:sp>
      <p:sp>
        <p:nvSpPr>
          <p:cNvPr name="TextBox 7" id="7"/>
          <p:cNvSpPr txBox="true"/>
          <p:nvPr/>
        </p:nvSpPr>
        <p:spPr>
          <a:xfrm rot="0">
            <a:off x="2344704" y="1115260"/>
            <a:ext cx="4756100" cy="980324"/>
          </a:xfrm>
          <a:prstGeom prst="rect">
            <a:avLst/>
          </a:prstGeom>
        </p:spPr>
        <p:txBody>
          <a:bodyPr anchor="t" rtlCol="false" tIns="0" lIns="0" bIns="0" rIns="0">
            <a:spAutoFit/>
          </a:bodyPr>
          <a:lstStyle/>
          <a:p>
            <a:pPr algn="l">
              <a:lnSpc>
                <a:spcPts val="7957"/>
              </a:lnSpc>
            </a:pPr>
            <a:r>
              <a:rPr lang="en-US" sz="5683" spc="534">
                <a:solidFill>
                  <a:srgbClr val="152540"/>
                </a:solidFill>
                <a:latin typeface="Glacial Indifference"/>
                <a:ea typeface="Glacial Indifference"/>
                <a:cs typeface="Glacial Indifference"/>
                <a:sym typeface="Glacial Indifference"/>
              </a:rPr>
              <a:t>TABLA DE</a:t>
            </a:r>
          </a:p>
        </p:txBody>
      </p:sp>
      <p:sp>
        <p:nvSpPr>
          <p:cNvPr name="TextBox 8" id="8"/>
          <p:cNvSpPr txBox="true"/>
          <p:nvPr/>
        </p:nvSpPr>
        <p:spPr>
          <a:xfrm rot="0">
            <a:off x="2344704" y="3590866"/>
            <a:ext cx="8319543" cy="5474770"/>
          </a:xfrm>
          <a:prstGeom prst="rect">
            <a:avLst/>
          </a:prstGeom>
        </p:spPr>
        <p:txBody>
          <a:bodyPr anchor="t" rtlCol="false" tIns="0" lIns="0" bIns="0" rIns="0">
            <a:spAutoFit/>
          </a:bodyPr>
          <a:lstStyle/>
          <a:p>
            <a:pPr algn="l" marL="741495" indent="-370748" lvl="1">
              <a:lnSpc>
                <a:spcPts val="4808"/>
              </a:lnSpc>
              <a:buFont typeface="Arial"/>
              <a:buChar char="•"/>
            </a:pPr>
            <a:r>
              <a:rPr lang="en-US" sz="3434" spc="75" strike="noStrike" u="none">
                <a:solidFill>
                  <a:srgbClr val="152540"/>
                </a:solidFill>
                <a:latin typeface="Glacial Indifference"/>
                <a:ea typeface="Glacial Indifference"/>
                <a:cs typeface="Glacial Indifference"/>
                <a:sym typeface="Glacial Indifference"/>
              </a:rPr>
              <a:t>Introducción</a:t>
            </a:r>
          </a:p>
          <a:p>
            <a:pPr algn="l" marL="741495" indent="-370748" lvl="1">
              <a:lnSpc>
                <a:spcPts val="4808"/>
              </a:lnSpc>
              <a:buFont typeface="Arial"/>
              <a:buChar char="•"/>
            </a:pPr>
            <a:r>
              <a:rPr lang="en-US" sz="3434" spc="75" strike="noStrike" u="none">
                <a:solidFill>
                  <a:srgbClr val="152540"/>
                </a:solidFill>
                <a:latin typeface="Glacial Indifference"/>
                <a:ea typeface="Glacial Indifference"/>
                <a:cs typeface="Glacial Indifference"/>
                <a:sym typeface="Glacial Indifference"/>
              </a:rPr>
              <a:t>cinepolis como una organizacion Data-Driven</a:t>
            </a:r>
          </a:p>
          <a:p>
            <a:pPr algn="l" marL="741495" indent="-370748" lvl="1">
              <a:lnSpc>
                <a:spcPts val="4808"/>
              </a:lnSpc>
              <a:buFont typeface="Arial"/>
              <a:buChar char="•"/>
            </a:pPr>
            <a:r>
              <a:rPr lang="en-US" sz="3434" spc="75" strike="noStrike" u="none">
                <a:solidFill>
                  <a:srgbClr val="152540"/>
                </a:solidFill>
                <a:latin typeface="Glacial Indifference"/>
                <a:ea typeface="Glacial Indifference"/>
                <a:cs typeface="Glacial Indifference"/>
                <a:sym typeface="Glacial Indifference"/>
              </a:rPr>
              <a:t>Análisis del proyecto</a:t>
            </a:r>
          </a:p>
          <a:p>
            <a:pPr algn="l" marL="741495" indent="-370748" lvl="1">
              <a:lnSpc>
                <a:spcPts val="4808"/>
              </a:lnSpc>
              <a:buFont typeface="Arial"/>
              <a:buChar char="•"/>
            </a:pPr>
            <a:r>
              <a:rPr lang="en-US" sz="3434" spc="75" strike="noStrike" u="none">
                <a:solidFill>
                  <a:srgbClr val="152540"/>
                </a:solidFill>
                <a:latin typeface="Glacial Indifference"/>
                <a:ea typeface="Glacial Indifference"/>
                <a:cs typeface="Glacial Indifference"/>
                <a:sym typeface="Glacial Indifference"/>
              </a:rPr>
              <a:t>Objetivos y misión</a:t>
            </a:r>
          </a:p>
          <a:p>
            <a:pPr algn="l" marL="741495" indent="-370748" lvl="1">
              <a:lnSpc>
                <a:spcPts val="4808"/>
              </a:lnSpc>
              <a:buFont typeface="Arial"/>
              <a:buChar char="•"/>
            </a:pPr>
            <a:r>
              <a:rPr lang="en-US" sz="3434" spc="75" strike="noStrike" u="none">
                <a:solidFill>
                  <a:srgbClr val="152540"/>
                </a:solidFill>
                <a:latin typeface="Glacial Indifference"/>
                <a:ea typeface="Glacial Indifference"/>
                <a:cs typeface="Glacial Indifference"/>
                <a:sym typeface="Glacial Indifference"/>
              </a:rPr>
              <a:t>Plan de acción</a:t>
            </a:r>
          </a:p>
          <a:p>
            <a:pPr algn="l" marL="741495" indent="-370748" lvl="1">
              <a:lnSpc>
                <a:spcPts val="4808"/>
              </a:lnSpc>
              <a:buFont typeface="Arial"/>
              <a:buChar char="•"/>
            </a:pPr>
            <a:r>
              <a:rPr lang="en-US" sz="3434" spc="75" strike="noStrike" u="none">
                <a:solidFill>
                  <a:srgbClr val="152540"/>
                </a:solidFill>
                <a:latin typeface="Glacial Indifference"/>
                <a:ea typeface="Glacial Indifference"/>
                <a:cs typeface="Glacial Indifference"/>
                <a:sym typeface="Glacial Indifference"/>
              </a:rPr>
              <a:t>El equipo de trabajo</a:t>
            </a:r>
          </a:p>
          <a:p>
            <a:pPr algn="l" marL="741495" indent="-370748" lvl="1">
              <a:lnSpc>
                <a:spcPts val="4808"/>
              </a:lnSpc>
              <a:buFont typeface="Arial"/>
              <a:buChar char="•"/>
            </a:pPr>
            <a:r>
              <a:rPr lang="en-US" sz="3434" spc="75" strike="noStrike" u="none">
                <a:solidFill>
                  <a:srgbClr val="152540"/>
                </a:solidFill>
                <a:latin typeface="Glacial Indifference"/>
                <a:ea typeface="Glacial Indifference"/>
                <a:cs typeface="Glacial Indifference"/>
                <a:sym typeface="Glacial Indifference"/>
              </a:rPr>
              <a:t>Conclusiones</a:t>
            </a:r>
          </a:p>
          <a:p>
            <a:pPr algn="l" marL="741495" indent="-370748" lvl="1">
              <a:lnSpc>
                <a:spcPts val="4808"/>
              </a:lnSpc>
              <a:buFont typeface="Arial"/>
              <a:buChar char="•"/>
            </a:pPr>
            <a:r>
              <a:rPr lang="en-US" sz="3434" spc="75" strike="noStrike" u="none">
                <a:solidFill>
                  <a:srgbClr val="152540"/>
                </a:solidFill>
                <a:latin typeface="Glacial Indifference"/>
                <a:ea typeface="Glacial Indifference"/>
                <a:cs typeface="Glacial Indifference"/>
                <a:sym typeface="Glacial Indifference"/>
              </a:rPr>
              <a:t>Contacto</a:t>
            </a:r>
          </a:p>
        </p:txBody>
      </p:sp>
      <p:sp>
        <p:nvSpPr>
          <p:cNvPr name="TextBox 9" id="9"/>
          <p:cNvSpPr txBox="true"/>
          <p:nvPr/>
        </p:nvSpPr>
        <p:spPr>
          <a:xfrm rot="0">
            <a:off x="10826668" y="3590866"/>
            <a:ext cx="813952" cy="4865765"/>
          </a:xfrm>
          <a:prstGeom prst="rect">
            <a:avLst/>
          </a:prstGeom>
        </p:spPr>
        <p:txBody>
          <a:bodyPr anchor="t" rtlCol="false" tIns="0" lIns="0" bIns="0" rIns="0">
            <a:spAutoFit/>
          </a:bodyPr>
          <a:lstStyle/>
          <a:p>
            <a:pPr algn="ctr">
              <a:lnSpc>
                <a:spcPts val="4808"/>
              </a:lnSpc>
            </a:pPr>
            <a:r>
              <a:rPr lang="en-US" b="true" sz="3434" spc="75">
                <a:solidFill>
                  <a:srgbClr val="152540"/>
                </a:solidFill>
                <a:latin typeface="Glacial Indifference Bold"/>
                <a:ea typeface="Glacial Indifference Bold"/>
                <a:cs typeface="Glacial Indifference Bold"/>
                <a:sym typeface="Glacial Indifference Bold"/>
              </a:rPr>
              <a:t>01</a:t>
            </a:r>
          </a:p>
          <a:p>
            <a:pPr algn="ctr">
              <a:lnSpc>
                <a:spcPts val="4808"/>
              </a:lnSpc>
            </a:pPr>
            <a:r>
              <a:rPr lang="en-US" b="true" sz="3434" spc="75">
                <a:solidFill>
                  <a:srgbClr val="152540"/>
                </a:solidFill>
                <a:latin typeface="Glacial Indifference Bold"/>
                <a:ea typeface="Glacial Indifference Bold"/>
                <a:cs typeface="Glacial Indifference Bold"/>
                <a:sym typeface="Glacial Indifference Bold"/>
              </a:rPr>
              <a:t>02</a:t>
            </a:r>
          </a:p>
          <a:p>
            <a:pPr algn="ctr">
              <a:lnSpc>
                <a:spcPts val="4808"/>
              </a:lnSpc>
            </a:pPr>
            <a:r>
              <a:rPr lang="en-US" b="true" sz="3434" spc="75">
                <a:solidFill>
                  <a:srgbClr val="152540"/>
                </a:solidFill>
                <a:latin typeface="Glacial Indifference Bold"/>
                <a:ea typeface="Glacial Indifference Bold"/>
                <a:cs typeface="Glacial Indifference Bold"/>
                <a:sym typeface="Glacial Indifference Bold"/>
              </a:rPr>
              <a:t>03</a:t>
            </a:r>
          </a:p>
          <a:p>
            <a:pPr algn="ctr">
              <a:lnSpc>
                <a:spcPts val="4808"/>
              </a:lnSpc>
            </a:pPr>
            <a:r>
              <a:rPr lang="en-US" b="true" sz="3434" spc="75">
                <a:solidFill>
                  <a:srgbClr val="152540"/>
                </a:solidFill>
                <a:latin typeface="Glacial Indifference Bold"/>
                <a:ea typeface="Glacial Indifference Bold"/>
                <a:cs typeface="Glacial Indifference Bold"/>
                <a:sym typeface="Glacial Indifference Bold"/>
              </a:rPr>
              <a:t>04</a:t>
            </a:r>
          </a:p>
          <a:p>
            <a:pPr algn="ctr">
              <a:lnSpc>
                <a:spcPts val="4808"/>
              </a:lnSpc>
            </a:pPr>
            <a:r>
              <a:rPr lang="en-US" b="true" sz="3434" spc="75">
                <a:solidFill>
                  <a:srgbClr val="152540"/>
                </a:solidFill>
                <a:latin typeface="Glacial Indifference Bold"/>
                <a:ea typeface="Glacial Indifference Bold"/>
                <a:cs typeface="Glacial Indifference Bold"/>
                <a:sym typeface="Glacial Indifference Bold"/>
              </a:rPr>
              <a:t>05</a:t>
            </a:r>
          </a:p>
          <a:p>
            <a:pPr algn="ctr">
              <a:lnSpc>
                <a:spcPts val="4808"/>
              </a:lnSpc>
            </a:pPr>
            <a:r>
              <a:rPr lang="en-US" b="true" sz="3434" spc="75">
                <a:solidFill>
                  <a:srgbClr val="152540"/>
                </a:solidFill>
                <a:latin typeface="Glacial Indifference Bold"/>
                <a:ea typeface="Glacial Indifference Bold"/>
                <a:cs typeface="Glacial Indifference Bold"/>
                <a:sym typeface="Glacial Indifference Bold"/>
              </a:rPr>
              <a:t>06</a:t>
            </a:r>
          </a:p>
          <a:p>
            <a:pPr algn="ctr">
              <a:lnSpc>
                <a:spcPts val="4808"/>
              </a:lnSpc>
            </a:pPr>
            <a:r>
              <a:rPr lang="en-US" b="true" sz="3434" spc="75">
                <a:solidFill>
                  <a:srgbClr val="152540"/>
                </a:solidFill>
                <a:latin typeface="Glacial Indifference Bold"/>
                <a:ea typeface="Glacial Indifference Bold"/>
                <a:cs typeface="Glacial Indifference Bold"/>
                <a:sym typeface="Glacial Indifference Bold"/>
              </a:rPr>
              <a:t>07</a:t>
            </a:r>
          </a:p>
          <a:p>
            <a:pPr algn="ctr" marL="0" indent="0" lvl="0">
              <a:lnSpc>
                <a:spcPts val="4808"/>
              </a:lnSpc>
              <a:spcBef>
                <a:spcPct val="0"/>
              </a:spcBef>
            </a:pPr>
            <a:r>
              <a:rPr lang="en-US" b="true" sz="3434" spc="75">
                <a:solidFill>
                  <a:srgbClr val="152540"/>
                </a:solidFill>
                <a:latin typeface="Glacial Indifference Bold"/>
                <a:ea typeface="Glacial Indifference Bold"/>
                <a:cs typeface="Glacial Indifference Bold"/>
                <a:sym typeface="Glacial Indifference Bold"/>
              </a:rPr>
              <a:t>08</a:t>
            </a:r>
          </a:p>
        </p:txBody>
      </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bg>
      <p:bgPr>
        <a:solidFill>
          <a:srgbClr val="EDE8E4"/>
        </a:solidFill>
      </p:bgPr>
    </p:bg>
    <p:spTree>
      <p:nvGrpSpPr>
        <p:cNvPr id="1" name=""/>
        <p:cNvGrpSpPr/>
        <p:nvPr/>
      </p:nvGrpSpPr>
      <p:grpSpPr>
        <a:xfrm>
          <a:off x="0" y="0"/>
          <a:ext cx="0" cy="0"/>
          <a:chOff x="0" y="0"/>
          <a:chExt cx="0" cy="0"/>
        </a:xfrm>
      </p:grpSpPr>
      <p:sp>
        <p:nvSpPr>
          <p:cNvPr name="Freeform 2" id="2"/>
          <p:cNvSpPr/>
          <p:nvPr/>
        </p:nvSpPr>
        <p:spPr>
          <a:xfrm flipH="false" flipV="false" rot="-445925">
            <a:off x="3142738" y="-769394"/>
            <a:ext cx="9798172" cy="13143890"/>
          </a:xfrm>
          <a:custGeom>
            <a:avLst/>
            <a:gdLst/>
            <a:ahLst/>
            <a:cxnLst/>
            <a:rect r="r" b="b" t="t" l="l"/>
            <a:pathLst>
              <a:path h="13143890" w="9798172">
                <a:moveTo>
                  <a:pt x="0" y="0"/>
                </a:moveTo>
                <a:lnTo>
                  <a:pt x="9798173" y="0"/>
                </a:lnTo>
                <a:lnTo>
                  <a:pt x="9798173" y="13143890"/>
                </a:lnTo>
                <a:lnTo>
                  <a:pt x="0" y="1314389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a:ln cap="sq">
            <a:noFill/>
            <a:prstDash val="solid"/>
            <a:miter/>
          </a:ln>
        </p:spPr>
      </p:sp>
      <p:sp>
        <p:nvSpPr>
          <p:cNvPr name="Freeform 3" id="3"/>
          <p:cNvSpPr/>
          <p:nvPr/>
        </p:nvSpPr>
        <p:spPr>
          <a:xfrm flipH="false" flipV="false" rot="-8798399">
            <a:off x="8466276" y="-9590538"/>
            <a:ext cx="9798172" cy="13143890"/>
          </a:xfrm>
          <a:custGeom>
            <a:avLst/>
            <a:gdLst/>
            <a:ahLst/>
            <a:cxnLst/>
            <a:rect r="r" b="b" t="t" l="l"/>
            <a:pathLst>
              <a:path h="13143890" w="9798172">
                <a:moveTo>
                  <a:pt x="0" y="0"/>
                </a:moveTo>
                <a:lnTo>
                  <a:pt x="9798173" y="0"/>
                </a:lnTo>
                <a:lnTo>
                  <a:pt x="9798173" y="13143890"/>
                </a:lnTo>
                <a:lnTo>
                  <a:pt x="0" y="13143890"/>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a:ln cap="sq">
            <a:noFill/>
            <a:prstDash val="solid"/>
            <a:miter/>
          </a:ln>
        </p:spPr>
      </p:sp>
      <p:sp>
        <p:nvSpPr>
          <p:cNvPr name="Freeform 4" id="4"/>
          <p:cNvSpPr/>
          <p:nvPr/>
        </p:nvSpPr>
        <p:spPr>
          <a:xfrm flipH="false" flipV="false" rot="3283157">
            <a:off x="-1501206" y="7329841"/>
            <a:ext cx="5624862" cy="7545546"/>
          </a:xfrm>
          <a:custGeom>
            <a:avLst/>
            <a:gdLst/>
            <a:ahLst/>
            <a:cxnLst/>
            <a:rect r="r" b="b" t="t" l="l"/>
            <a:pathLst>
              <a:path h="7545546" w="5624862">
                <a:moveTo>
                  <a:pt x="0" y="0"/>
                </a:moveTo>
                <a:lnTo>
                  <a:pt x="5624862" y="0"/>
                </a:lnTo>
                <a:lnTo>
                  <a:pt x="5624862" y="7545546"/>
                </a:lnTo>
                <a:lnTo>
                  <a:pt x="0" y="7545546"/>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a:ln cap="sq">
            <a:noFill/>
            <a:prstDash val="solid"/>
            <a:miter/>
          </a:ln>
        </p:spPr>
      </p:sp>
      <p:sp>
        <p:nvSpPr>
          <p:cNvPr name="Freeform 5" id="5"/>
          <p:cNvSpPr/>
          <p:nvPr/>
        </p:nvSpPr>
        <p:spPr>
          <a:xfrm flipH="false" flipV="false" rot="2770156">
            <a:off x="-2577184" y="-2165857"/>
            <a:ext cx="5154368" cy="4995052"/>
          </a:xfrm>
          <a:custGeom>
            <a:avLst/>
            <a:gdLst/>
            <a:ahLst/>
            <a:cxnLst/>
            <a:rect r="r" b="b" t="t" l="l"/>
            <a:pathLst>
              <a:path h="4995052" w="5154368">
                <a:moveTo>
                  <a:pt x="0" y="0"/>
                </a:moveTo>
                <a:lnTo>
                  <a:pt x="5154368" y="0"/>
                </a:lnTo>
                <a:lnTo>
                  <a:pt x="5154368" y="4995051"/>
                </a:lnTo>
                <a:lnTo>
                  <a:pt x="0" y="4995051"/>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a:ln cap="sq">
            <a:noFill/>
            <a:prstDash val="solid"/>
            <a:miter/>
          </a:ln>
        </p:spPr>
      </p:sp>
      <p:sp>
        <p:nvSpPr>
          <p:cNvPr name="Freeform 6" id="6"/>
          <p:cNvSpPr/>
          <p:nvPr/>
        </p:nvSpPr>
        <p:spPr>
          <a:xfrm flipH="false" flipV="false" rot="2770156">
            <a:off x="15710816" y="8522875"/>
            <a:ext cx="5154368" cy="4995052"/>
          </a:xfrm>
          <a:custGeom>
            <a:avLst/>
            <a:gdLst/>
            <a:ahLst/>
            <a:cxnLst/>
            <a:rect r="r" b="b" t="t" l="l"/>
            <a:pathLst>
              <a:path h="4995052" w="5154368">
                <a:moveTo>
                  <a:pt x="0" y="0"/>
                </a:moveTo>
                <a:lnTo>
                  <a:pt x="5154368" y="0"/>
                </a:lnTo>
                <a:lnTo>
                  <a:pt x="5154368" y="4995052"/>
                </a:lnTo>
                <a:lnTo>
                  <a:pt x="0" y="4995052"/>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a:ln cap="sq">
            <a:noFill/>
            <a:prstDash val="solid"/>
            <a:miter/>
          </a:ln>
        </p:spPr>
      </p:sp>
      <p:sp>
        <p:nvSpPr>
          <p:cNvPr name="TextBox 7" id="7"/>
          <p:cNvSpPr txBox="true"/>
          <p:nvPr/>
        </p:nvSpPr>
        <p:spPr>
          <a:xfrm rot="0">
            <a:off x="1904222" y="3425561"/>
            <a:ext cx="14273375" cy="4181260"/>
          </a:xfrm>
          <a:prstGeom prst="rect">
            <a:avLst/>
          </a:prstGeom>
        </p:spPr>
        <p:txBody>
          <a:bodyPr anchor="t" rtlCol="false" tIns="0" lIns="0" bIns="0" rIns="0">
            <a:spAutoFit/>
          </a:bodyPr>
          <a:lstStyle/>
          <a:p>
            <a:pPr algn="l">
              <a:lnSpc>
                <a:spcPts val="4749"/>
              </a:lnSpc>
            </a:pPr>
            <a:r>
              <a:rPr lang="en-US" sz="3392" spc="74">
                <a:solidFill>
                  <a:srgbClr val="152540"/>
                </a:solidFill>
                <a:latin typeface="Glacial Indifference"/>
                <a:ea typeface="Glacial Indifference"/>
                <a:cs typeface="Glacial Indifference"/>
                <a:sym typeface="Glacial Indifference"/>
              </a:rPr>
              <a:t>Cinépolis como la empresa dedicada al cine más grande de México y de América latina, fundada en 1971, la compañía ha escalado hasta operar en casi 20 países, enfrentándose a gigantes internacionales y revolucionando la industria con conceptos como las salas VIP. analizaremos la verdadera ventaja de competitiva de Cinépolis en el siglo XXI, su evolución hacia una organización "data-driven" y como utiliza la inteligencia de negocios para optimizar cada peso invertido. </a:t>
            </a:r>
          </a:p>
        </p:txBody>
      </p:sp>
      <p:sp>
        <p:nvSpPr>
          <p:cNvPr name="TextBox 8" id="8"/>
          <p:cNvSpPr txBox="true"/>
          <p:nvPr/>
        </p:nvSpPr>
        <p:spPr>
          <a:xfrm rot="0">
            <a:off x="1904222" y="1820715"/>
            <a:ext cx="8324690" cy="1259355"/>
          </a:xfrm>
          <a:prstGeom prst="rect">
            <a:avLst/>
          </a:prstGeom>
        </p:spPr>
        <p:txBody>
          <a:bodyPr anchor="t" rtlCol="false" tIns="0" lIns="0" bIns="0" rIns="0">
            <a:spAutoFit/>
          </a:bodyPr>
          <a:lstStyle/>
          <a:p>
            <a:pPr algn="l">
              <a:lnSpc>
                <a:spcPts val="10258"/>
              </a:lnSpc>
            </a:pPr>
            <a:r>
              <a:rPr lang="en-US" b="true" sz="7327" spc="688">
                <a:solidFill>
                  <a:srgbClr val="152540"/>
                </a:solidFill>
                <a:latin typeface="Glacial Indifference Bold"/>
                <a:ea typeface="Glacial Indifference Bold"/>
                <a:cs typeface="Glacial Indifference Bold"/>
                <a:sym typeface="Glacial Indifference Bold"/>
              </a:rPr>
              <a:t>INTRODUCCION </a:t>
            </a:r>
          </a:p>
        </p:txBody>
      </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bg>
      <p:bgPr>
        <a:solidFill>
          <a:srgbClr val="253754"/>
        </a:solidFill>
      </p:bgPr>
    </p:bg>
    <p:spTree>
      <p:nvGrpSpPr>
        <p:cNvPr id="1" name=""/>
        <p:cNvGrpSpPr/>
        <p:nvPr/>
      </p:nvGrpSpPr>
      <p:grpSpPr>
        <a:xfrm>
          <a:off x="0" y="0"/>
          <a:ext cx="0" cy="0"/>
          <a:chOff x="0" y="0"/>
          <a:chExt cx="0" cy="0"/>
        </a:xfrm>
      </p:grpSpPr>
      <p:grpSp>
        <p:nvGrpSpPr>
          <p:cNvPr name="Group 2" id="2"/>
          <p:cNvGrpSpPr/>
          <p:nvPr/>
        </p:nvGrpSpPr>
        <p:grpSpPr>
          <a:xfrm rot="0">
            <a:off x="1028700" y="3097329"/>
            <a:ext cx="8563804" cy="3188797"/>
            <a:chOff x="0" y="0"/>
            <a:chExt cx="1353937" cy="504149"/>
          </a:xfrm>
        </p:grpSpPr>
        <p:sp>
          <p:nvSpPr>
            <p:cNvPr name="Freeform 3" id="3"/>
            <p:cNvSpPr/>
            <p:nvPr/>
          </p:nvSpPr>
          <p:spPr>
            <a:xfrm flipH="false" flipV="false" rot="0">
              <a:off x="0" y="0"/>
              <a:ext cx="1353937" cy="504149"/>
            </a:xfrm>
            <a:custGeom>
              <a:avLst/>
              <a:gdLst/>
              <a:ahLst/>
              <a:cxnLst/>
              <a:rect r="r" b="b" t="t" l="l"/>
              <a:pathLst>
                <a:path h="504149" w="1353937">
                  <a:moveTo>
                    <a:pt x="23505" y="0"/>
                  </a:moveTo>
                  <a:lnTo>
                    <a:pt x="1330433" y="0"/>
                  </a:lnTo>
                  <a:cubicBezTo>
                    <a:pt x="1343414" y="0"/>
                    <a:pt x="1353937" y="10523"/>
                    <a:pt x="1353937" y="23505"/>
                  </a:cubicBezTo>
                  <a:lnTo>
                    <a:pt x="1353937" y="480644"/>
                  </a:lnTo>
                  <a:cubicBezTo>
                    <a:pt x="1353937" y="493625"/>
                    <a:pt x="1343414" y="504149"/>
                    <a:pt x="1330433" y="504149"/>
                  </a:cubicBezTo>
                  <a:lnTo>
                    <a:pt x="23505" y="504149"/>
                  </a:lnTo>
                  <a:cubicBezTo>
                    <a:pt x="10523" y="504149"/>
                    <a:pt x="0" y="493625"/>
                    <a:pt x="0" y="480644"/>
                  </a:cubicBezTo>
                  <a:lnTo>
                    <a:pt x="0" y="23505"/>
                  </a:lnTo>
                  <a:cubicBezTo>
                    <a:pt x="0" y="10523"/>
                    <a:pt x="10523" y="0"/>
                    <a:pt x="23505" y="0"/>
                  </a:cubicBezTo>
                  <a:close/>
                </a:path>
              </a:pathLst>
            </a:custGeom>
            <a:solidFill>
              <a:srgbClr val="EDE8E4"/>
            </a:solidFill>
          </p:spPr>
        </p:sp>
        <p:sp>
          <p:nvSpPr>
            <p:cNvPr name="TextBox 4" id="4"/>
            <p:cNvSpPr txBox="true"/>
            <p:nvPr/>
          </p:nvSpPr>
          <p:spPr>
            <a:xfrm>
              <a:off x="0" y="9525"/>
              <a:ext cx="1353937" cy="494624"/>
            </a:xfrm>
            <a:prstGeom prst="rect">
              <a:avLst/>
            </a:prstGeom>
          </p:spPr>
          <p:txBody>
            <a:bodyPr anchor="ctr" rtlCol="false" tIns="50800" lIns="50800" bIns="50800" rIns="50800"/>
            <a:lstStyle/>
            <a:p>
              <a:pPr algn="ctr">
                <a:lnSpc>
                  <a:spcPts val="2121"/>
                </a:lnSpc>
              </a:pPr>
            </a:p>
          </p:txBody>
        </p:sp>
      </p:grpSp>
      <p:sp>
        <p:nvSpPr>
          <p:cNvPr name="TextBox 5" id="5"/>
          <p:cNvSpPr txBox="true"/>
          <p:nvPr/>
        </p:nvSpPr>
        <p:spPr>
          <a:xfrm rot="0">
            <a:off x="1808737" y="551796"/>
            <a:ext cx="15168050" cy="1890973"/>
          </a:xfrm>
          <a:prstGeom prst="rect">
            <a:avLst/>
          </a:prstGeom>
        </p:spPr>
        <p:txBody>
          <a:bodyPr anchor="t" rtlCol="false" tIns="0" lIns="0" bIns="0" rIns="0">
            <a:spAutoFit/>
          </a:bodyPr>
          <a:lstStyle/>
          <a:p>
            <a:pPr algn="ctr">
              <a:lnSpc>
                <a:spcPts val="7598"/>
              </a:lnSpc>
            </a:pPr>
            <a:r>
              <a:rPr lang="en-US" b="true" sz="5427" spc="510">
                <a:solidFill>
                  <a:srgbClr val="EDE8E4"/>
                </a:solidFill>
                <a:latin typeface="Glacial Indifference Bold"/>
                <a:ea typeface="Glacial Indifference Bold"/>
                <a:cs typeface="Glacial Indifference Bold"/>
                <a:sym typeface="Glacial Indifference Bold"/>
              </a:rPr>
              <a:t>CARACTERISITICAS QUE CONVIERTEN A CINEPOLIS COMO DATA-DRIVER</a:t>
            </a:r>
          </a:p>
        </p:txBody>
      </p:sp>
      <p:sp>
        <p:nvSpPr>
          <p:cNvPr name="TextBox 6" id="6"/>
          <p:cNvSpPr txBox="true"/>
          <p:nvPr/>
        </p:nvSpPr>
        <p:spPr>
          <a:xfrm rot="0">
            <a:off x="1356896" y="3320063"/>
            <a:ext cx="4384724" cy="673498"/>
          </a:xfrm>
          <a:prstGeom prst="rect">
            <a:avLst/>
          </a:prstGeom>
        </p:spPr>
        <p:txBody>
          <a:bodyPr anchor="t" rtlCol="false" tIns="0" lIns="0" bIns="0" rIns="0">
            <a:spAutoFit/>
          </a:bodyPr>
          <a:lstStyle/>
          <a:p>
            <a:pPr algn="ctr">
              <a:lnSpc>
                <a:spcPts val="5403"/>
              </a:lnSpc>
            </a:pPr>
            <a:r>
              <a:rPr lang="en-US" b="true" sz="3859" spc="38">
                <a:solidFill>
                  <a:srgbClr val="253754"/>
                </a:solidFill>
                <a:latin typeface="Glacial Indifference Bold"/>
                <a:ea typeface="Glacial Indifference Bold"/>
                <a:cs typeface="Glacial Indifference Bold"/>
                <a:sym typeface="Glacial Indifference Bold"/>
              </a:rPr>
              <a:t>migracion a AWS</a:t>
            </a:r>
          </a:p>
        </p:txBody>
      </p:sp>
      <p:sp>
        <p:nvSpPr>
          <p:cNvPr name="Freeform 7" id="7"/>
          <p:cNvSpPr/>
          <p:nvPr/>
        </p:nvSpPr>
        <p:spPr>
          <a:xfrm flipH="false" flipV="false" rot="0">
            <a:off x="16686130" y="-334562"/>
            <a:ext cx="1966466" cy="1884231"/>
          </a:xfrm>
          <a:custGeom>
            <a:avLst/>
            <a:gdLst/>
            <a:ahLst/>
            <a:cxnLst/>
            <a:rect r="r" b="b" t="t" l="l"/>
            <a:pathLst>
              <a:path h="1884231" w="1966466">
                <a:moveTo>
                  <a:pt x="0" y="0"/>
                </a:moveTo>
                <a:lnTo>
                  <a:pt x="1966465" y="0"/>
                </a:lnTo>
                <a:lnTo>
                  <a:pt x="1966465" y="1884232"/>
                </a:lnTo>
                <a:lnTo>
                  <a:pt x="0" y="1884232"/>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a:ln cap="sq">
            <a:noFill/>
            <a:prstDash val="solid"/>
            <a:miter/>
          </a:ln>
        </p:spPr>
      </p:sp>
      <p:sp>
        <p:nvSpPr>
          <p:cNvPr name="Freeform 8" id="8"/>
          <p:cNvSpPr/>
          <p:nvPr/>
        </p:nvSpPr>
        <p:spPr>
          <a:xfrm flipH="false" flipV="false" rot="0">
            <a:off x="17304767" y="854768"/>
            <a:ext cx="1966466" cy="1884231"/>
          </a:xfrm>
          <a:custGeom>
            <a:avLst/>
            <a:gdLst/>
            <a:ahLst/>
            <a:cxnLst/>
            <a:rect r="r" b="b" t="t" l="l"/>
            <a:pathLst>
              <a:path h="1884231" w="1966466">
                <a:moveTo>
                  <a:pt x="0" y="0"/>
                </a:moveTo>
                <a:lnTo>
                  <a:pt x="1966466" y="0"/>
                </a:lnTo>
                <a:lnTo>
                  <a:pt x="1966466" y="1884232"/>
                </a:lnTo>
                <a:lnTo>
                  <a:pt x="0" y="1884232"/>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a:ln cap="sq">
            <a:noFill/>
            <a:prstDash val="solid"/>
            <a:miter/>
          </a:ln>
        </p:spPr>
      </p:sp>
      <p:sp>
        <p:nvSpPr>
          <p:cNvPr name="Freeform 9" id="9"/>
          <p:cNvSpPr/>
          <p:nvPr/>
        </p:nvSpPr>
        <p:spPr>
          <a:xfrm flipH="false" flipV="false" rot="0">
            <a:off x="0" y="9258300"/>
            <a:ext cx="1966466" cy="1884231"/>
          </a:xfrm>
          <a:custGeom>
            <a:avLst/>
            <a:gdLst/>
            <a:ahLst/>
            <a:cxnLst/>
            <a:rect r="r" b="b" t="t" l="l"/>
            <a:pathLst>
              <a:path h="1884231" w="1966466">
                <a:moveTo>
                  <a:pt x="0" y="0"/>
                </a:moveTo>
                <a:lnTo>
                  <a:pt x="1966466" y="0"/>
                </a:lnTo>
                <a:lnTo>
                  <a:pt x="1966466" y="1884231"/>
                </a:lnTo>
                <a:lnTo>
                  <a:pt x="0" y="1884231"/>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a:ln cap="sq">
            <a:noFill/>
            <a:prstDash val="solid"/>
            <a:miter/>
          </a:ln>
        </p:spPr>
      </p:sp>
      <p:sp>
        <p:nvSpPr>
          <p:cNvPr name="Freeform 10" id="10"/>
          <p:cNvSpPr/>
          <p:nvPr/>
        </p:nvSpPr>
        <p:spPr>
          <a:xfrm flipH="false" flipV="false" rot="0">
            <a:off x="-937766" y="8402769"/>
            <a:ext cx="1966466" cy="1884231"/>
          </a:xfrm>
          <a:custGeom>
            <a:avLst/>
            <a:gdLst/>
            <a:ahLst/>
            <a:cxnLst/>
            <a:rect r="r" b="b" t="t" l="l"/>
            <a:pathLst>
              <a:path h="1884231" w="1966466">
                <a:moveTo>
                  <a:pt x="0" y="0"/>
                </a:moveTo>
                <a:lnTo>
                  <a:pt x="1966466" y="0"/>
                </a:lnTo>
                <a:lnTo>
                  <a:pt x="1966466" y="1884231"/>
                </a:lnTo>
                <a:lnTo>
                  <a:pt x="0" y="1884231"/>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a:ln cap="sq">
            <a:noFill/>
            <a:prstDash val="solid"/>
            <a:miter/>
          </a:ln>
        </p:spPr>
      </p:sp>
      <p:sp>
        <p:nvSpPr>
          <p:cNvPr name="Freeform 11" id="11"/>
          <p:cNvSpPr/>
          <p:nvPr/>
        </p:nvSpPr>
        <p:spPr>
          <a:xfrm flipH="false" flipV="false" rot="672866">
            <a:off x="-2719489" y="-1266610"/>
            <a:ext cx="6556116" cy="6126988"/>
          </a:xfrm>
          <a:custGeom>
            <a:avLst/>
            <a:gdLst/>
            <a:ahLst/>
            <a:cxnLst/>
            <a:rect r="r" b="b" t="t" l="l"/>
            <a:pathLst>
              <a:path h="6126988" w="6556116">
                <a:moveTo>
                  <a:pt x="0" y="0"/>
                </a:moveTo>
                <a:lnTo>
                  <a:pt x="6556115" y="0"/>
                </a:lnTo>
                <a:lnTo>
                  <a:pt x="6556115" y="6126988"/>
                </a:lnTo>
                <a:lnTo>
                  <a:pt x="0" y="6126988"/>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a:ln cap="sq">
            <a:noFill/>
            <a:prstDash val="solid"/>
            <a:miter/>
          </a:ln>
        </p:spPr>
      </p:sp>
      <p:sp>
        <p:nvSpPr>
          <p:cNvPr name="Freeform 12" id="12"/>
          <p:cNvSpPr/>
          <p:nvPr/>
        </p:nvSpPr>
        <p:spPr>
          <a:xfrm flipH="false" flipV="false" rot="0">
            <a:off x="6690072" y="2439370"/>
            <a:ext cx="2453928" cy="1315919"/>
          </a:xfrm>
          <a:custGeom>
            <a:avLst/>
            <a:gdLst/>
            <a:ahLst/>
            <a:cxnLst/>
            <a:rect r="r" b="b" t="t" l="l"/>
            <a:pathLst>
              <a:path h="1315919" w="2453928">
                <a:moveTo>
                  <a:pt x="0" y="0"/>
                </a:moveTo>
                <a:lnTo>
                  <a:pt x="2453928" y="0"/>
                </a:lnTo>
                <a:lnTo>
                  <a:pt x="2453928" y="1315919"/>
                </a:lnTo>
                <a:lnTo>
                  <a:pt x="0" y="1315919"/>
                </a:lnTo>
                <a:lnTo>
                  <a:pt x="0" y="0"/>
                </a:lnTo>
                <a:close/>
              </a:path>
            </a:pathLst>
          </a:custGeom>
          <a:blipFill>
            <a:blip r:embed="rId6"/>
            <a:stretch>
              <a:fillRect l="0" t="0" r="0" b="0"/>
            </a:stretch>
          </a:blipFill>
        </p:spPr>
      </p:sp>
      <p:grpSp>
        <p:nvGrpSpPr>
          <p:cNvPr name="Group 13" id="13"/>
          <p:cNvGrpSpPr/>
          <p:nvPr/>
        </p:nvGrpSpPr>
        <p:grpSpPr>
          <a:xfrm rot="0">
            <a:off x="10040336" y="3097329"/>
            <a:ext cx="7916231" cy="3084314"/>
            <a:chOff x="0" y="0"/>
            <a:chExt cx="1251556" cy="487630"/>
          </a:xfrm>
        </p:grpSpPr>
        <p:sp>
          <p:nvSpPr>
            <p:cNvPr name="Freeform 14" id="14"/>
            <p:cNvSpPr/>
            <p:nvPr/>
          </p:nvSpPr>
          <p:spPr>
            <a:xfrm flipH="false" flipV="false" rot="0">
              <a:off x="0" y="0"/>
              <a:ext cx="1251556" cy="487630"/>
            </a:xfrm>
            <a:custGeom>
              <a:avLst/>
              <a:gdLst/>
              <a:ahLst/>
              <a:cxnLst/>
              <a:rect r="r" b="b" t="t" l="l"/>
              <a:pathLst>
                <a:path h="487630" w="1251556">
                  <a:moveTo>
                    <a:pt x="25427" y="0"/>
                  </a:moveTo>
                  <a:lnTo>
                    <a:pt x="1226129" y="0"/>
                  </a:lnTo>
                  <a:cubicBezTo>
                    <a:pt x="1240172" y="0"/>
                    <a:pt x="1251556" y="11384"/>
                    <a:pt x="1251556" y="25427"/>
                  </a:cubicBezTo>
                  <a:lnTo>
                    <a:pt x="1251556" y="462203"/>
                  </a:lnTo>
                  <a:cubicBezTo>
                    <a:pt x="1251556" y="468946"/>
                    <a:pt x="1248877" y="475414"/>
                    <a:pt x="1244109" y="480183"/>
                  </a:cubicBezTo>
                  <a:cubicBezTo>
                    <a:pt x="1239340" y="484951"/>
                    <a:pt x="1232872" y="487630"/>
                    <a:pt x="1226129" y="487630"/>
                  </a:cubicBezTo>
                  <a:lnTo>
                    <a:pt x="25427" y="487630"/>
                  </a:lnTo>
                  <a:cubicBezTo>
                    <a:pt x="18684" y="487630"/>
                    <a:pt x="12216" y="484951"/>
                    <a:pt x="7448" y="480183"/>
                  </a:cubicBezTo>
                  <a:cubicBezTo>
                    <a:pt x="2679" y="475414"/>
                    <a:pt x="0" y="468946"/>
                    <a:pt x="0" y="462203"/>
                  </a:cubicBezTo>
                  <a:lnTo>
                    <a:pt x="0" y="25427"/>
                  </a:lnTo>
                  <a:cubicBezTo>
                    <a:pt x="0" y="18684"/>
                    <a:pt x="2679" y="12216"/>
                    <a:pt x="7448" y="7448"/>
                  </a:cubicBezTo>
                  <a:cubicBezTo>
                    <a:pt x="12216" y="2679"/>
                    <a:pt x="18684" y="0"/>
                    <a:pt x="25427" y="0"/>
                  </a:cubicBezTo>
                  <a:close/>
                </a:path>
              </a:pathLst>
            </a:custGeom>
            <a:solidFill>
              <a:srgbClr val="EDE8E4"/>
            </a:solidFill>
          </p:spPr>
        </p:sp>
        <p:sp>
          <p:nvSpPr>
            <p:cNvPr name="TextBox 15" id="15"/>
            <p:cNvSpPr txBox="true"/>
            <p:nvPr/>
          </p:nvSpPr>
          <p:spPr>
            <a:xfrm>
              <a:off x="0" y="9525"/>
              <a:ext cx="1251556" cy="478105"/>
            </a:xfrm>
            <a:prstGeom prst="rect">
              <a:avLst/>
            </a:prstGeom>
          </p:spPr>
          <p:txBody>
            <a:bodyPr anchor="ctr" rtlCol="false" tIns="50800" lIns="50800" bIns="50800" rIns="50800"/>
            <a:lstStyle/>
            <a:p>
              <a:pPr algn="ctr">
                <a:lnSpc>
                  <a:spcPts val="2121"/>
                </a:lnSpc>
              </a:pPr>
            </a:p>
          </p:txBody>
        </p:sp>
      </p:grpSp>
      <p:grpSp>
        <p:nvGrpSpPr>
          <p:cNvPr name="Group 16" id="16"/>
          <p:cNvGrpSpPr/>
          <p:nvPr/>
        </p:nvGrpSpPr>
        <p:grpSpPr>
          <a:xfrm rot="0">
            <a:off x="1203585" y="6629026"/>
            <a:ext cx="16276067" cy="3188797"/>
            <a:chOff x="0" y="0"/>
            <a:chExt cx="2573246" cy="504149"/>
          </a:xfrm>
        </p:grpSpPr>
        <p:sp>
          <p:nvSpPr>
            <p:cNvPr name="Freeform 17" id="17"/>
            <p:cNvSpPr/>
            <p:nvPr/>
          </p:nvSpPr>
          <p:spPr>
            <a:xfrm flipH="false" flipV="false" rot="0">
              <a:off x="0" y="0"/>
              <a:ext cx="2573246" cy="504149"/>
            </a:xfrm>
            <a:custGeom>
              <a:avLst/>
              <a:gdLst/>
              <a:ahLst/>
              <a:cxnLst/>
              <a:rect r="r" b="b" t="t" l="l"/>
              <a:pathLst>
                <a:path h="504149" w="2573246">
                  <a:moveTo>
                    <a:pt x="12367" y="0"/>
                  </a:moveTo>
                  <a:lnTo>
                    <a:pt x="2560879" y="0"/>
                  </a:lnTo>
                  <a:cubicBezTo>
                    <a:pt x="2564159" y="0"/>
                    <a:pt x="2567305" y="1303"/>
                    <a:pt x="2569624" y="3622"/>
                  </a:cubicBezTo>
                  <a:cubicBezTo>
                    <a:pt x="2571943" y="5942"/>
                    <a:pt x="2573246" y="9087"/>
                    <a:pt x="2573246" y="12367"/>
                  </a:cubicBezTo>
                  <a:lnTo>
                    <a:pt x="2573246" y="491782"/>
                  </a:lnTo>
                  <a:cubicBezTo>
                    <a:pt x="2573246" y="495061"/>
                    <a:pt x="2571943" y="498207"/>
                    <a:pt x="2569624" y="500526"/>
                  </a:cubicBezTo>
                  <a:cubicBezTo>
                    <a:pt x="2567305" y="502846"/>
                    <a:pt x="2564159" y="504149"/>
                    <a:pt x="2560879" y="504149"/>
                  </a:cubicBezTo>
                  <a:lnTo>
                    <a:pt x="12367" y="504149"/>
                  </a:lnTo>
                  <a:cubicBezTo>
                    <a:pt x="9087" y="504149"/>
                    <a:pt x="5942" y="502846"/>
                    <a:pt x="3622" y="500526"/>
                  </a:cubicBezTo>
                  <a:cubicBezTo>
                    <a:pt x="1303" y="498207"/>
                    <a:pt x="0" y="495061"/>
                    <a:pt x="0" y="491782"/>
                  </a:cubicBezTo>
                  <a:lnTo>
                    <a:pt x="0" y="12367"/>
                  </a:lnTo>
                  <a:cubicBezTo>
                    <a:pt x="0" y="9087"/>
                    <a:pt x="1303" y="5942"/>
                    <a:pt x="3622" y="3622"/>
                  </a:cubicBezTo>
                  <a:cubicBezTo>
                    <a:pt x="5942" y="1303"/>
                    <a:pt x="9087" y="0"/>
                    <a:pt x="12367" y="0"/>
                  </a:cubicBezTo>
                  <a:close/>
                </a:path>
              </a:pathLst>
            </a:custGeom>
            <a:solidFill>
              <a:srgbClr val="EDE8E4"/>
            </a:solidFill>
          </p:spPr>
        </p:sp>
        <p:sp>
          <p:nvSpPr>
            <p:cNvPr name="TextBox 18" id="18"/>
            <p:cNvSpPr txBox="true"/>
            <p:nvPr/>
          </p:nvSpPr>
          <p:spPr>
            <a:xfrm>
              <a:off x="0" y="9525"/>
              <a:ext cx="2573246" cy="494624"/>
            </a:xfrm>
            <a:prstGeom prst="rect">
              <a:avLst/>
            </a:prstGeom>
          </p:spPr>
          <p:txBody>
            <a:bodyPr anchor="ctr" rtlCol="false" tIns="50800" lIns="50800" bIns="50800" rIns="50800"/>
            <a:lstStyle/>
            <a:p>
              <a:pPr algn="ctr">
                <a:lnSpc>
                  <a:spcPts val="2121"/>
                </a:lnSpc>
              </a:pPr>
            </a:p>
          </p:txBody>
        </p:sp>
      </p:grpSp>
      <p:sp>
        <p:nvSpPr>
          <p:cNvPr name="Freeform 19" id="19"/>
          <p:cNvSpPr/>
          <p:nvPr/>
        </p:nvSpPr>
        <p:spPr>
          <a:xfrm flipH="false" flipV="false" rot="0">
            <a:off x="12563727" y="5743071"/>
            <a:ext cx="4122403" cy="1771910"/>
          </a:xfrm>
          <a:custGeom>
            <a:avLst/>
            <a:gdLst/>
            <a:ahLst/>
            <a:cxnLst/>
            <a:rect r="r" b="b" t="t" l="l"/>
            <a:pathLst>
              <a:path h="1771910" w="4122403">
                <a:moveTo>
                  <a:pt x="0" y="0"/>
                </a:moveTo>
                <a:lnTo>
                  <a:pt x="4122403" y="0"/>
                </a:lnTo>
                <a:lnTo>
                  <a:pt x="4122403" y="1771910"/>
                </a:lnTo>
                <a:lnTo>
                  <a:pt x="0" y="1771910"/>
                </a:lnTo>
                <a:lnTo>
                  <a:pt x="0" y="0"/>
                </a:lnTo>
                <a:close/>
              </a:path>
            </a:pathLst>
          </a:custGeom>
          <a:blipFill>
            <a:blip r:embed="rId7"/>
            <a:stretch>
              <a:fillRect l="0" t="0" r="0" b="0"/>
            </a:stretch>
          </a:blipFill>
        </p:spPr>
      </p:sp>
      <p:sp>
        <p:nvSpPr>
          <p:cNvPr name="TextBox 20" id="20"/>
          <p:cNvSpPr txBox="true"/>
          <p:nvPr/>
        </p:nvSpPr>
        <p:spPr>
          <a:xfrm rot="0">
            <a:off x="1203585" y="4048799"/>
            <a:ext cx="8388919" cy="1699771"/>
          </a:xfrm>
          <a:prstGeom prst="rect">
            <a:avLst/>
          </a:prstGeom>
        </p:spPr>
        <p:txBody>
          <a:bodyPr anchor="t" rtlCol="false" tIns="0" lIns="0" bIns="0" rIns="0">
            <a:spAutoFit/>
          </a:bodyPr>
          <a:lstStyle/>
          <a:p>
            <a:pPr algn="l">
              <a:lnSpc>
                <a:spcPts val="3436"/>
              </a:lnSpc>
            </a:pPr>
            <a:r>
              <a:rPr lang="en-US" sz="2454" spc="54">
                <a:solidFill>
                  <a:srgbClr val="152540"/>
                </a:solidFill>
                <a:latin typeface="Glacial Indifference"/>
                <a:ea typeface="Glacial Indifference"/>
                <a:cs typeface="Glacial Indifference"/>
                <a:sym typeface="Glacial Indifference"/>
              </a:rPr>
              <a:t>migro sus operaciones desde servidores tradicionales en morelia hacia Amazon web services (AWS). esta migración se dio obligada dado a la pandemia para poder mantenerse a la vanguardia</a:t>
            </a:r>
          </a:p>
        </p:txBody>
      </p:sp>
      <p:sp>
        <p:nvSpPr>
          <p:cNvPr name="TextBox 21" id="21"/>
          <p:cNvSpPr txBox="true"/>
          <p:nvPr/>
        </p:nvSpPr>
        <p:spPr>
          <a:xfrm rot="0">
            <a:off x="10240204" y="3320063"/>
            <a:ext cx="4384724" cy="673498"/>
          </a:xfrm>
          <a:prstGeom prst="rect">
            <a:avLst/>
          </a:prstGeom>
        </p:spPr>
        <p:txBody>
          <a:bodyPr anchor="t" rtlCol="false" tIns="0" lIns="0" bIns="0" rIns="0">
            <a:spAutoFit/>
          </a:bodyPr>
          <a:lstStyle/>
          <a:p>
            <a:pPr algn="ctr">
              <a:lnSpc>
                <a:spcPts val="5403"/>
              </a:lnSpc>
            </a:pPr>
            <a:r>
              <a:rPr lang="en-US" b="true" sz="3859" spc="38">
                <a:solidFill>
                  <a:srgbClr val="253754"/>
                </a:solidFill>
                <a:latin typeface="Glacial Indifference Bold"/>
                <a:ea typeface="Glacial Indifference Bold"/>
                <a:cs typeface="Glacial Indifference Bold"/>
                <a:sym typeface="Glacial Indifference Bold"/>
              </a:rPr>
              <a:t>Cinepolis Klic</a:t>
            </a:r>
          </a:p>
        </p:txBody>
      </p:sp>
      <p:sp>
        <p:nvSpPr>
          <p:cNvPr name="TextBox 22" id="22"/>
          <p:cNvSpPr txBox="true"/>
          <p:nvPr/>
        </p:nvSpPr>
        <p:spPr>
          <a:xfrm rot="0">
            <a:off x="10240204" y="4048799"/>
            <a:ext cx="7716362" cy="1699771"/>
          </a:xfrm>
          <a:prstGeom prst="rect">
            <a:avLst/>
          </a:prstGeom>
        </p:spPr>
        <p:txBody>
          <a:bodyPr anchor="t" rtlCol="false" tIns="0" lIns="0" bIns="0" rIns="0">
            <a:spAutoFit/>
          </a:bodyPr>
          <a:lstStyle/>
          <a:p>
            <a:pPr algn="l">
              <a:lnSpc>
                <a:spcPts val="3436"/>
              </a:lnSpc>
            </a:pPr>
            <a:r>
              <a:rPr lang="en-US" sz="2454" spc="54">
                <a:solidFill>
                  <a:srgbClr val="152540"/>
                </a:solidFill>
                <a:latin typeface="Glacial Indifference"/>
                <a:ea typeface="Glacial Indifference"/>
                <a:cs typeface="Glacial Indifference"/>
                <a:sym typeface="Glacial Indifference"/>
              </a:rPr>
              <a:t>Plataforma de streaming creada a partir de la transformación digital. Escaló 6-8x su demanda sin perder estabilidad.</a:t>
            </a:r>
          </a:p>
          <a:p>
            <a:pPr algn="l">
              <a:lnSpc>
                <a:spcPts val="3436"/>
              </a:lnSpc>
            </a:pPr>
          </a:p>
        </p:txBody>
      </p:sp>
      <p:sp>
        <p:nvSpPr>
          <p:cNvPr name="TextBox 23" id="23"/>
          <p:cNvSpPr txBox="true"/>
          <p:nvPr/>
        </p:nvSpPr>
        <p:spPr>
          <a:xfrm rot="0">
            <a:off x="1356896" y="6857626"/>
            <a:ext cx="11075670" cy="673498"/>
          </a:xfrm>
          <a:prstGeom prst="rect">
            <a:avLst/>
          </a:prstGeom>
        </p:spPr>
        <p:txBody>
          <a:bodyPr anchor="t" rtlCol="false" tIns="0" lIns="0" bIns="0" rIns="0">
            <a:spAutoFit/>
          </a:bodyPr>
          <a:lstStyle/>
          <a:p>
            <a:pPr algn="l">
              <a:lnSpc>
                <a:spcPts val="5403"/>
              </a:lnSpc>
            </a:pPr>
            <a:r>
              <a:rPr lang="en-US" sz="3859" spc="38" b="true">
                <a:solidFill>
                  <a:srgbClr val="253754"/>
                </a:solidFill>
                <a:latin typeface="Glacial Indifference Bold"/>
                <a:ea typeface="Glacial Indifference Bold"/>
                <a:cs typeface="Glacial Indifference Bold"/>
                <a:sym typeface="Glacial Indifference Bold"/>
              </a:rPr>
              <a:t>implementacionde machine learning</a:t>
            </a:r>
          </a:p>
        </p:txBody>
      </p:sp>
      <p:sp>
        <p:nvSpPr>
          <p:cNvPr name="TextBox 24" id="24"/>
          <p:cNvSpPr txBox="true"/>
          <p:nvPr/>
        </p:nvSpPr>
        <p:spPr>
          <a:xfrm rot="0">
            <a:off x="1547160" y="7588274"/>
            <a:ext cx="15429627" cy="2128396"/>
          </a:xfrm>
          <a:prstGeom prst="rect">
            <a:avLst/>
          </a:prstGeom>
        </p:spPr>
        <p:txBody>
          <a:bodyPr anchor="t" rtlCol="false" tIns="0" lIns="0" bIns="0" rIns="0">
            <a:spAutoFit/>
          </a:bodyPr>
          <a:lstStyle/>
          <a:p>
            <a:pPr algn="l">
              <a:lnSpc>
                <a:spcPts val="3436"/>
              </a:lnSpc>
            </a:pPr>
            <a:r>
              <a:rPr lang="en-US" sz="2454" spc="54">
                <a:solidFill>
                  <a:srgbClr val="152540"/>
                </a:solidFill>
                <a:latin typeface="Glacial Indifference"/>
                <a:ea typeface="Glacial Indifference"/>
                <a:cs typeface="Glacial Indifference"/>
                <a:sym typeface="Glacial Indifference"/>
              </a:rPr>
              <a:t>Se utilizan las capacidades de Machine Learning de AWS para enriquecer el servicio de streaming con el análisis del tráfico a las salas físicas mediante un lago de datos, para entender qué películas fueron las más populares en su lanzamiento; también se utiliza para ofrecer promociones, modelos de lealtad y la venta de alimentos y boletos en kioscos.</a:t>
            </a:r>
          </a:p>
          <a:p>
            <a:pPr algn="l">
              <a:lnSpc>
                <a:spcPts val="3436"/>
              </a:lnSpc>
            </a:pPr>
          </a:p>
        </p:txBody>
      </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bg>
      <p:bgPr>
        <a:solidFill>
          <a:srgbClr val="253754"/>
        </a:solidFill>
      </p:bgPr>
    </p:bg>
    <p:spTree>
      <p:nvGrpSpPr>
        <p:cNvPr id="1" name=""/>
        <p:cNvGrpSpPr/>
        <p:nvPr/>
      </p:nvGrpSpPr>
      <p:grpSpPr>
        <a:xfrm>
          <a:off x="0" y="0"/>
          <a:ext cx="0" cy="0"/>
          <a:chOff x="0" y="0"/>
          <a:chExt cx="0" cy="0"/>
        </a:xfrm>
      </p:grpSpPr>
      <p:grpSp>
        <p:nvGrpSpPr>
          <p:cNvPr name="Group 2" id="2"/>
          <p:cNvGrpSpPr/>
          <p:nvPr/>
        </p:nvGrpSpPr>
        <p:grpSpPr>
          <a:xfrm rot="0">
            <a:off x="1028700" y="3097329"/>
            <a:ext cx="16230600" cy="6160971"/>
            <a:chOff x="0" y="0"/>
            <a:chExt cx="2566058" cy="974049"/>
          </a:xfrm>
        </p:grpSpPr>
        <p:sp>
          <p:nvSpPr>
            <p:cNvPr name="Freeform 3" id="3"/>
            <p:cNvSpPr/>
            <p:nvPr/>
          </p:nvSpPr>
          <p:spPr>
            <a:xfrm flipH="false" flipV="false" rot="0">
              <a:off x="0" y="0"/>
              <a:ext cx="2566058" cy="974049"/>
            </a:xfrm>
            <a:custGeom>
              <a:avLst/>
              <a:gdLst/>
              <a:ahLst/>
              <a:cxnLst/>
              <a:rect r="r" b="b" t="t" l="l"/>
              <a:pathLst>
                <a:path h="974049" w="2566058">
                  <a:moveTo>
                    <a:pt x="12402" y="0"/>
                  </a:moveTo>
                  <a:lnTo>
                    <a:pt x="2553656" y="0"/>
                  </a:lnTo>
                  <a:cubicBezTo>
                    <a:pt x="2556945" y="0"/>
                    <a:pt x="2560100" y="1307"/>
                    <a:pt x="2562425" y="3632"/>
                  </a:cubicBezTo>
                  <a:cubicBezTo>
                    <a:pt x="2564751" y="5958"/>
                    <a:pt x="2566058" y="9113"/>
                    <a:pt x="2566058" y="12402"/>
                  </a:cubicBezTo>
                  <a:lnTo>
                    <a:pt x="2566058" y="961648"/>
                  </a:lnTo>
                  <a:cubicBezTo>
                    <a:pt x="2566058" y="964937"/>
                    <a:pt x="2564751" y="968091"/>
                    <a:pt x="2562425" y="970417"/>
                  </a:cubicBezTo>
                  <a:cubicBezTo>
                    <a:pt x="2560100" y="972743"/>
                    <a:pt x="2556945" y="974049"/>
                    <a:pt x="2553656" y="974049"/>
                  </a:cubicBezTo>
                  <a:lnTo>
                    <a:pt x="12402" y="974049"/>
                  </a:lnTo>
                  <a:cubicBezTo>
                    <a:pt x="9113" y="974049"/>
                    <a:pt x="5958" y="972743"/>
                    <a:pt x="3632" y="970417"/>
                  </a:cubicBezTo>
                  <a:cubicBezTo>
                    <a:pt x="1307" y="968091"/>
                    <a:pt x="0" y="964937"/>
                    <a:pt x="0" y="961648"/>
                  </a:cubicBezTo>
                  <a:lnTo>
                    <a:pt x="0" y="12402"/>
                  </a:lnTo>
                  <a:cubicBezTo>
                    <a:pt x="0" y="9113"/>
                    <a:pt x="1307" y="5958"/>
                    <a:pt x="3632" y="3632"/>
                  </a:cubicBezTo>
                  <a:cubicBezTo>
                    <a:pt x="5958" y="1307"/>
                    <a:pt x="9113" y="0"/>
                    <a:pt x="12402" y="0"/>
                  </a:cubicBezTo>
                  <a:close/>
                </a:path>
              </a:pathLst>
            </a:custGeom>
            <a:solidFill>
              <a:srgbClr val="EDE8E4"/>
            </a:solidFill>
          </p:spPr>
        </p:sp>
        <p:sp>
          <p:nvSpPr>
            <p:cNvPr name="TextBox 4" id="4"/>
            <p:cNvSpPr txBox="true"/>
            <p:nvPr/>
          </p:nvSpPr>
          <p:spPr>
            <a:xfrm>
              <a:off x="0" y="9525"/>
              <a:ext cx="2566058" cy="964524"/>
            </a:xfrm>
            <a:prstGeom prst="rect">
              <a:avLst/>
            </a:prstGeom>
          </p:spPr>
          <p:txBody>
            <a:bodyPr anchor="ctr" rtlCol="false" tIns="50800" lIns="50800" bIns="50800" rIns="50800"/>
            <a:lstStyle/>
            <a:p>
              <a:pPr algn="ctr">
                <a:lnSpc>
                  <a:spcPts val="2121"/>
                </a:lnSpc>
              </a:pPr>
            </a:p>
          </p:txBody>
        </p:sp>
      </p:grpSp>
      <p:sp>
        <p:nvSpPr>
          <p:cNvPr name="TextBox 5" id="5"/>
          <p:cNvSpPr txBox="true"/>
          <p:nvPr/>
        </p:nvSpPr>
        <p:spPr>
          <a:xfrm rot="0">
            <a:off x="1808737" y="551796"/>
            <a:ext cx="15168050" cy="1890973"/>
          </a:xfrm>
          <a:prstGeom prst="rect">
            <a:avLst/>
          </a:prstGeom>
        </p:spPr>
        <p:txBody>
          <a:bodyPr anchor="t" rtlCol="false" tIns="0" lIns="0" bIns="0" rIns="0">
            <a:spAutoFit/>
          </a:bodyPr>
          <a:lstStyle/>
          <a:p>
            <a:pPr algn="ctr">
              <a:lnSpc>
                <a:spcPts val="7598"/>
              </a:lnSpc>
            </a:pPr>
            <a:r>
              <a:rPr lang="en-US" b="true" sz="5427" spc="510">
                <a:solidFill>
                  <a:srgbClr val="EDE8E4"/>
                </a:solidFill>
                <a:latin typeface="Glacial Indifference Bold"/>
                <a:ea typeface="Glacial Indifference Bold"/>
                <a:cs typeface="Glacial Indifference Bold"/>
                <a:sym typeface="Glacial Indifference Bold"/>
              </a:rPr>
              <a:t>TOMA DE DECISIONES BASA EN ANALISITCA</a:t>
            </a:r>
          </a:p>
        </p:txBody>
      </p:sp>
      <p:sp>
        <p:nvSpPr>
          <p:cNvPr name="Freeform 6" id="6"/>
          <p:cNvSpPr/>
          <p:nvPr/>
        </p:nvSpPr>
        <p:spPr>
          <a:xfrm flipH="false" flipV="false" rot="0">
            <a:off x="16686130" y="-334562"/>
            <a:ext cx="1966466" cy="1884231"/>
          </a:xfrm>
          <a:custGeom>
            <a:avLst/>
            <a:gdLst/>
            <a:ahLst/>
            <a:cxnLst/>
            <a:rect r="r" b="b" t="t" l="l"/>
            <a:pathLst>
              <a:path h="1884231" w="1966466">
                <a:moveTo>
                  <a:pt x="0" y="0"/>
                </a:moveTo>
                <a:lnTo>
                  <a:pt x="1966465" y="0"/>
                </a:lnTo>
                <a:lnTo>
                  <a:pt x="1966465" y="1884232"/>
                </a:lnTo>
                <a:lnTo>
                  <a:pt x="0" y="1884232"/>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a:ln cap="sq">
            <a:noFill/>
            <a:prstDash val="solid"/>
            <a:miter/>
          </a:ln>
        </p:spPr>
      </p:sp>
      <p:sp>
        <p:nvSpPr>
          <p:cNvPr name="Freeform 7" id="7"/>
          <p:cNvSpPr/>
          <p:nvPr/>
        </p:nvSpPr>
        <p:spPr>
          <a:xfrm flipH="false" flipV="false" rot="0">
            <a:off x="17304767" y="854768"/>
            <a:ext cx="1966466" cy="1884231"/>
          </a:xfrm>
          <a:custGeom>
            <a:avLst/>
            <a:gdLst/>
            <a:ahLst/>
            <a:cxnLst/>
            <a:rect r="r" b="b" t="t" l="l"/>
            <a:pathLst>
              <a:path h="1884231" w="1966466">
                <a:moveTo>
                  <a:pt x="0" y="0"/>
                </a:moveTo>
                <a:lnTo>
                  <a:pt x="1966466" y="0"/>
                </a:lnTo>
                <a:lnTo>
                  <a:pt x="1966466" y="1884232"/>
                </a:lnTo>
                <a:lnTo>
                  <a:pt x="0" y="1884232"/>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a:ln cap="sq">
            <a:noFill/>
            <a:prstDash val="solid"/>
            <a:miter/>
          </a:ln>
        </p:spPr>
      </p:sp>
      <p:sp>
        <p:nvSpPr>
          <p:cNvPr name="Freeform 8" id="8"/>
          <p:cNvSpPr/>
          <p:nvPr/>
        </p:nvSpPr>
        <p:spPr>
          <a:xfrm flipH="false" flipV="false" rot="0">
            <a:off x="0" y="9258300"/>
            <a:ext cx="1966466" cy="1884231"/>
          </a:xfrm>
          <a:custGeom>
            <a:avLst/>
            <a:gdLst/>
            <a:ahLst/>
            <a:cxnLst/>
            <a:rect r="r" b="b" t="t" l="l"/>
            <a:pathLst>
              <a:path h="1884231" w="1966466">
                <a:moveTo>
                  <a:pt x="0" y="0"/>
                </a:moveTo>
                <a:lnTo>
                  <a:pt x="1966466" y="0"/>
                </a:lnTo>
                <a:lnTo>
                  <a:pt x="1966466" y="1884231"/>
                </a:lnTo>
                <a:lnTo>
                  <a:pt x="0" y="1884231"/>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a:ln cap="sq">
            <a:noFill/>
            <a:prstDash val="solid"/>
            <a:miter/>
          </a:ln>
        </p:spPr>
      </p:sp>
      <p:sp>
        <p:nvSpPr>
          <p:cNvPr name="Freeform 9" id="9"/>
          <p:cNvSpPr/>
          <p:nvPr/>
        </p:nvSpPr>
        <p:spPr>
          <a:xfrm flipH="false" flipV="false" rot="0">
            <a:off x="-937766" y="8402769"/>
            <a:ext cx="1966466" cy="1884231"/>
          </a:xfrm>
          <a:custGeom>
            <a:avLst/>
            <a:gdLst/>
            <a:ahLst/>
            <a:cxnLst/>
            <a:rect r="r" b="b" t="t" l="l"/>
            <a:pathLst>
              <a:path h="1884231" w="1966466">
                <a:moveTo>
                  <a:pt x="0" y="0"/>
                </a:moveTo>
                <a:lnTo>
                  <a:pt x="1966466" y="0"/>
                </a:lnTo>
                <a:lnTo>
                  <a:pt x="1966466" y="1884231"/>
                </a:lnTo>
                <a:lnTo>
                  <a:pt x="0" y="1884231"/>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a:ln cap="sq">
            <a:noFill/>
            <a:prstDash val="solid"/>
            <a:miter/>
          </a:ln>
        </p:spPr>
      </p:sp>
      <p:sp>
        <p:nvSpPr>
          <p:cNvPr name="Freeform 10" id="10"/>
          <p:cNvSpPr/>
          <p:nvPr/>
        </p:nvSpPr>
        <p:spPr>
          <a:xfrm flipH="false" flipV="false" rot="672866">
            <a:off x="-2719489" y="-1266610"/>
            <a:ext cx="6556116" cy="6126988"/>
          </a:xfrm>
          <a:custGeom>
            <a:avLst/>
            <a:gdLst/>
            <a:ahLst/>
            <a:cxnLst/>
            <a:rect r="r" b="b" t="t" l="l"/>
            <a:pathLst>
              <a:path h="6126988" w="6556116">
                <a:moveTo>
                  <a:pt x="0" y="0"/>
                </a:moveTo>
                <a:lnTo>
                  <a:pt x="6556115" y="0"/>
                </a:lnTo>
                <a:lnTo>
                  <a:pt x="6556115" y="6126988"/>
                </a:lnTo>
                <a:lnTo>
                  <a:pt x="0" y="6126988"/>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a:ln cap="sq">
            <a:noFill/>
            <a:prstDash val="solid"/>
            <a:miter/>
          </a:ln>
        </p:spPr>
      </p:sp>
      <p:sp>
        <p:nvSpPr>
          <p:cNvPr name="Freeform 11" id="11"/>
          <p:cNvSpPr/>
          <p:nvPr/>
        </p:nvSpPr>
        <p:spPr>
          <a:xfrm flipH="false" flipV="false" rot="0">
            <a:off x="12022944" y="6177815"/>
            <a:ext cx="4390939" cy="2925463"/>
          </a:xfrm>
          <a:custGeom>
            <a:avLst/>
            <a:gdLst/>
            <a:ahLst/>
            <a:cxnLst/>
            <a:rect r="r" b="b" t="t" l="l"/>
            <a:pathLst>
              <a:path h="2925463" w="4390939">
                <a:moveTo>
                  <a:pt x="0" y="0"/>
                </a:moveTo>
                <a:lnTo>
                  <a:pt x="4390939" y="0"/>
                </a:lnTo>
                <a:lnTo>
                  <a:pt x="4390939" y="2925462"/>
                </a:lnTo>
                <a:lnTo>
                  <a:pt x="0" y="2925462"/>
                </a:lnTo>
                <a:lnTo>
                  <a:pt x="0" y="0"/>
                </a:lnTo>
                <a:close/>
              </a:path>
            </a:pathLst>
          </a:custGeom>
          <a:blipFill>
            <a:blip r:embed="rId6"/>
            <a:stretch>
              <a:fillRect l="0" t="0" r="0" b="0"/>
            </a:stretch>
          </a:blipFill>
        </p:spPr>
      </p:sp>
      <p:sp>
        <p:nvSpPr>
          <p:cNvPr name="TextBox 12" id="12"/>
          <p:cNvSpPr txBox="true"/>
          <p:nvPr/>
        </p:nvSpPr>
        <p:spPr>
          <a:xfrm rot="0">
            <a:off x="1203585" y="4048799"/>
            <a:ext cx="14135149" cy="2499236"/>
          </a:xfrm>
          <a:prstGeom prst="rect">
            <a:avLst/>
          </a:prstGeom>
        </p:spPr>
        <p:txBody>
          <a:bodyPr anchor="t" rtlCol="false" tIns="0" lIns="0" bIns="0" rIns="0">
            <a:spAutoFit/>
          </a:bodyPr>
          <a:lstStyle/>
          <a:p>
            <a:pPr algn="l" marL="616369" indent="-308185" lvl="1">
              <a:lnSpc>
                <a:spcPts val="3996"/>
              </a:lnSpc>
              <a:buFont typeface="Arial"/>
              <a:buChar char="•"/>
            </a:pPr>
            <a:r>
              <a:rPr lang="en-US" sz="2854" spc="62">
                <a:solidFill>
                  <a:srgbClr val="152540"/>
                </a:solidFill>
                <a:latin typeface="Glacial Indifference"/>
                <a:ea typeface="Glacial Indifference"/>
                <a:cs typeface="Glacial Indifference"/>
                <a:sym typeface="Glacial Indifference"/>
              </a:rPr>
              <a:t>la toma de decisiones con la ayuda de herramientas de analista ha sido clave para la mejora continua en Cinépolis</a:t>
            </a:r>
          </a:p>
          <a:p>
            <a:pPr algn="l" marL="616369" indent="-308185" lvl="1">
              <a:lnSpc>
                <a:spcPts val="3996"/>
              </a:lnSpc>
              <a:buFont typeface="Arial"/>
              <a:buChar char="•"/>
            </a:pPr>
            <a:r>
              <a:rPr lang="en-US" sz="2854" spc="62">
                <a:solidFill>
                  <a:srgbClr val="152540"/>
                </a:solidFill>
                <a:latin typeface="Glacial Indifference"/>
                <a:ea typeface="Glacial Indifference"/>
                <a:cs typeface="Glacial Indifference"/>
                <a:sym typeface="Glacial Indifference"/>
              </a:rPr>
              <a:t>analiza los hábitos de compra de los usuarios por medios digitales </a:t>
            </a:r>
          </a:p>
          <a:p>
            <a:pPr algn="l" marL="616369" indent="-308185" lvl="1">
              <a:lnSpc>
                <a:spcPts val="3996"/>
              </a:lnSpc>
              <a:buFont typeface="Arial"/>
              <a:buChar char="•"/>
            </a:pPr>
            <a:r>
              <a:rPr lang="en-US" sz="2854" spc="62">
                <a:solidFill>
                  <a:srgbClr val="152540"/>
                </a:solidFill>
                <a:latin typeface="Glacial Indifference"/>
                <a:ea typeface="Glacial Indifference"/>
                <a:cs typeface="Glacial Indifference"/>
                <a:sym typeface="Glacial Indifference"/>
              </a:rPr>
              <a:t>utiliza el mercado como un laboratorio para predecir resultados en otros territorios</a:t>
            </a:r>
          </a:p>
        </p:txBody>
      </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bg>
      <p:bgPr>
        <a:solidFill>
          <a:srgbClr val="253754"/>
        </a:solidFill>
      </p:bgPr>
    </p:bg>
    <p:spTree>
      <p:nvGrpSpPr>
        <p:cNvPr id="1" name=""/>
        <p:cNvGrpSpPr/>
        <p:nvPr/>
      </p:nvGrpSpPr>
      <p:grpSpPr>
        <a:xfrm>
          <a:off x="0" y="0"/>
          <a:ext cx="0" cy="0"/>
          <a:chOff x="0" y="0"/>
          <a:chExt cx="0" cy="0"/>
        </a:xfrm>
      </p:grpSpPr>
      <p:grpSp>
        <p:nvGrpSpPr>
          <p:cNvPr name="Group 2" id="2"/>
          <p:cNvGrpSpPr/>
          <p:nvPr/>
        </p:nvGrpSpPr>
        <p:grpSpPr>
          <a:xfrm rot="0">
            <a:off x="1028700" y="3097329"/>
            <a:ext cx="4794299" cy="2342077"/>
            <a:chOff x="0" y="0"/>
            <a:chExt cx="757979" cy="370282"/>
          </a:xfrm>
        </p:grpSpPr>
        <p:sp>
          <p:nvSpPr>
            <p:cNvPr name="Freeform 3" id="3"/>
            <p:cNvSpPr/>
            <p:nvPr/>
          </p:nvSpPr>
          <p:spPr>
            <a:xfrm flipH="false" flipV="false" rot="0">
              <a:off x="0" y="0"/>
              <a:ext cx="757979" cy="370282"/>
            </a:xfrm>
            <a:custGeom>
              <a:avLst/>
              <a:gdLst/>
              <a:ahLst/>
              <a:cxnLst/>
              <a:rect r="r" b="b" t="t" l="l"/>
              <a:pathLst>
                <a:path h="370282" w="757979">
                  <a:moveTo>
                    <a:pt x="41985" y="0"/>
                  </a:moveTo>
                  <a:lnTo>
                    <a:pt x="715993" y="0"/>
                  </a:lnTo>
                  <a:cubicBezTo>
                    <a:pt x="727128" y="0"/>
                    <a:pt x="737808" y="4423"/>
                    <a:pt x="745681" y="12297"/>
                  </a:cubicBezTo>
                  <a:cubicBezTo>
                    <a:pt x="753555" y="20171"/>
                    <a:pt x="757979" y="30850"/>
                    <a:pt x="757979" y="41985"/>
                  </a:cubicBezTo>
                  <a:lnTo>
                    <a:pt x="757979" y="328297"/>
                  </a:lnTo>
                  <a:cubicBezTo>
                    <a:pt x="757979" y="339432"/>
                    <a:pt x="753555" y="350111"/>
                    <a:pt x="745681" y="357985"/>
                  </a:cubicBezTo>
                  <a:cubicBezTo>
                    <a:pt x="737808" y="365859"/>
                    <a:pt x="727128" y="370282"/>
                    <a:pt x="715993" y="370282"/>
                  </a:cubicBezTo>
                  <a:lnTo>
                    <a:pt x="41985" y="370282"/>
                  </a:lnTo>
                  <a:cubicBezTo>
                    <a:pt x="30850" y="370282"/>
                    <a:pt x="20171" y="365859"/>
                    <a:pt x="12297" y="357985"/>
                  </a:cubicBezTo>
                  <a:cubicBezTo>
                    <a:pt x="4423" y="350111"/>
                    <a:pt x="0" y="339432"/>
                    <a:pt x="0" y="328297"/>
                  </a:cubicBezTo>
                  <a:lnTo>
                    <a:pt x="0" y="41985"/>
                  </a:lnTo>
                  <a:cubicBezTo>
                    <a:pt x="0" y="30850"/>
                    <a:pt x="4423" y="20171"/>
                    <a:pt x="12297" y="12297"/>
                  </a:cubicBezTo>
                  <a:cubicBezTo>
                    <a:pt x="20171" y="4423"/>
                    <a:pt x="30850" y="0"/>
                    <a:pt x="41985" y="0"/>
                  </a:cubicBezTo>
                  <a:close/>
                </a:path>
              </a:pathLst>
            </a:custGeom>
            <a:solidFill>
              <a:srgbClr val="EDE8E4"/>
            </a:solidFill>
          </p:spPr>
        </p:sp>
        <p:sp>
          <p:nvSpPr>
            <p:cNvPr name="TextBox 4" id="4"/>
            <p:cNvSpPr txBox="true"/>
            <p:nvPr/>
          </p:nvSpPr>
          <p:spPr>
            <a:xfrm>
              <a:off x="0" y="9525"/>
              <a:ext cx="757979" cy="360757"/>
            </a:xfrm>
            <a:prstGeom prst="rect">
              <a:avLst/>
            </a:prstGeom>
          </p:spPr>
          <p:txBody>
            <a:bodyPr anchor="ctr" rtlCol="false" tIns="50800" lIns="50800" bIns="50800" rIns="50800"/>
            <a:lstStyle/>
            <a:p>
              <a:pPr algn="ctr">
                <a:lnSpc>
                  <a:spcPts val="2121"/>
                </a:lnSpc>
              </a:pPr>
            </a:p>
          </p:txBody>
        </p:sp>
      </p:grpSp>
      <p:sp>
        <p:nvSpPr>
          <p:cNvPr name="TextBox 5" id="5"/>
          <p:cNvSpPr txBox="true"/>
          <p:nvPr/>
        </p:nvSpPr>
        <p:spPr>
          <a:xfrm rot="0">
            <a:off x="1808737" y="551796"/>
            <a:ext cx="15168050" cy="1890973"/>
          </a:xfrm>
          <a:prstGeom prst="rect">
            <a:avLst/>
          </a:prstGeom>
        </p:spPr>
        <p:txBody>
          <a:bodyPr anchor="t" rtlCol="false" tIns="0" lIns="0" bIns="0" rIns="0">
            <a:spAutoFit/>
          </a:bodyPr>
          <a:lstStyle/>
          <a:p>
            <a:pPr algn="ctr">
              <a:lnSpc>
                <a:spcPts val="7598"/>
              </a:lnSpc>
            </a:pPr>
            <a:r>
              <a:rPr lang="en-US" b="true" sz="5427" spc="510">
                <a:solidFill>
                  <a:srgbClr val="EDE8E4"/>
                </a:solidFill>
                <a:latin typeface="Glacial Indifference Bold"/>
                <a:ea typeface="Glacial Indifference Bold"/>
                <a:cs typeface="Glacial Indifference Bold"/>
                <a:sym typeface="Glacial Indifference Bold"/>
              </a:rPr>
              <a:t>CLUB CINEPOLIS: MOTOR DE CAPTURA Y USO DE DATOS</a:t>
            </a:r>
          </a:p>
        </p:txBody>
      </p:sp>
      <p:sp>
        <p:nvSpPr>
          <p:cNvPr name="Freeform 6" id="6"/>
          <p:cNvSpPr/>
          <p:nvPr/>
        </p:nvSpPr>
        <p:spPr>
          <a:xfrm flipH="false" flipV="false" rot="0">
            <a:off x="16686130" y="-334562"/>
            <a:ext cx="1966466" cy="1884231"/>
          </a:xfrm>
          <a:custGeom>
            <a:avLst/>
            <a:gdLst/>
            <a:ahLst/>
            <a:cxnLst/>
            <a:rect r="r" b="b" t="t" l="l"/>
            <a:pathLst>
              <a:path h="1884231" w="1966466">
                <a:moveTo>
                  <a:pt x="0" y="0"/>
                </a:moveTo>
                <a:lnTo>
                  <a:pt x="1966465" y="0"/>
                </a:lnTo>
                <a:lnTo>
                  <a:pt x="1966465" y="1884232"/>
                </a:lnTo>
                <a:lnTo>
                  <a:pt x="0" y="1884232"/>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a:ln cap="sq">
            <a:noFill/>
            <a:prstDash val="solid"/>
            <a:miter/>
          </a:ln>
        </p:spPr>
      </p:sp>
      <p:sp>
        <p:nvSpPr>
          <p:cNvPr name="Freeform 7" id="7"/>
          <p:cNvSpPr/>
          <p:nvPr/>
        </p:nvSpPr>
        <p:spPr>
          <a:xfrm flipH="false" flipV="false" rot="0">
            <a:off x="17304767" y="854768"/>
            <a:ext cx="1966466" cy="1884231"/>
          </a:xfrm>
          <a:custGeom>
            <a:avLst/>
            <a:gdLst/>
            <a:ahLst/>
            <a:cxnLst/>
            <a:rect r="r" b="b" t="t" l="l"/>
            <a:pathLst>
              <a:path h="1884231" w="1966466">
                <a:moveTo>
                  <a:pt x="0" y="0"/>
                </a:moveTo>
                <a:lnTo>
                  <a:pt x="1966466" y="0"/>
                </a:lnTo>
                <a:lnTo>
                  <a:pt x="1966466" y="1884232"/>
                </a:lnTo>
                <a:lnTo>
                  <a:pt x="0" y="1884232"/>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a:ln cap="sq">
            <a:noFill/>
            <a:prstDash val="solid"/>
            <a:miter/>
          </a:ln>
        </p:spPr>
      </p:sp>
      <p:sp>
        <p:nvSpPr>
          <p:cNvPr name="Freeform 8" id="8"/>
          <p:cNvSpPr/>
          <p:nvPr/>
        </p:nvSpPr>
        <p:spPr>
          <a:xfrm flipH="false" flipV="false" rot="0">
            <a:off x="0" y="9258300"/>
            <a:ext cx="1966466" cy="1884231"/>
          </a:xfrm>
          <a:custGeom>
            <a:avLst/>
            <a:gdLst/>
            <a:ahLst/>
            <a:cxnLst/>
            <a:rect r="r" b="b" t="t" l="l"/>
            <a:pathLst>
              <a:path h="1884231" w="1966466">
                <a:moveTo>
                  <a:pt x="0" y="0"/>
                </a:moveTo>
                <a:lnTo>
                  <a:pt x="1966466" y="0"/>
                </a:lnTo>
                <a:lnTo>
                  <a:pt x="1966466" y="1884231"/>
                </a:lnTo>
                <a:lnTo>
                  <a:pt x="0" y="1884231"/>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a:ln cap="sq">
            <a:noFill/>
            <a:prstDash val="solid"/>
            <a:miter/>
          </a:ln>
        </p:spPr>
      </p:sp>
      <p:sp>
        <p:nvSpPr>
          <p:cNvPr name="Freeform 9" id="9"/>
          <p:cNvSpPr/>
          <p:nvPr/>
        </p:nvSpPr>
        <p:spPr>
          <a:xfrm flipH="false" flipV="false" rot="0">
            <a:off x="-937766" y="8402769"/>
            <a:ext cx="1966466" cy="1884231"/>
          </a:xfrm>
          <a:custGeom>
            <a:avLst/>
            <a:gdLst/>
            <a:ahLst/>
            <a:cxnLst/>
            <a:rect r="r" b="b" t="t" l="l"/>
            <a:pathLst>
              <a:path h="1884231" w="1966466">
                <a:moveTo>
                  <a:pt x="0" y="0"/>
                </a:moveTo>
                <a:lnTo>
                  <a:pt x="1966466" y="0"/>
                </a:lnTo>
                <a:lnTo>
                  <a:pt x="1966466" y="1884231"/>
                </a:lnTo>
                <a:lnTo>
                  <a:pt x="0" y="1884231"/>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a:ln cap="sq">
            <a:noFill/>
            <a:prstDash val="solid"/>
            <a:miter/>
          </a:ln>
        </p:spPr>
      </p:sp>
      <p:sp>
        <p:nvSpPr>
          <p:cNvPr name="Freeform 10" id="10"/>
          <p:cNvSpPr/>
          <p:nvPr/>
        </p:nvSpPr>
        <p:spPr>
          <a:xfrm flipH="false" flipV="false" rot="672866">
            <a:off x="-2719489" y="-1266610"/>
            <a:ext cx="6556116" cy="6126988"/>
          </a:xfrm>
          <a:custGeom>
            <a:avLst/>
            <a:gdLst/>
            <a:ahLst/>
            <a:cxnLst/>
            <a:rect r="r" b="b" t="t" l="l"/>
            <a:pathLst>
              <a:path h="6126988" w="6556116">
                <a:moveTo>
                  <a:pt x="0" y="0"/>
                </a:moveTo>
                <a:lnTo>
                  <a:pt x="6556115" y="0"/>
                </a:lnTo>
                <a:lnTo>
                  <a:pt x="6556115" y="6126988"/>
                </a:lnTo>
                <a:lnTo>
                  <a:pt x="0" y="6126988"/>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a:ln cap="sq">
            <a:noFill/>
            <a:prstDash val="solid"/>
            <a:miter/>
          </a:ln>
        </p:spPr>
      </p:sp>
      <p:sp>
        <p:nvSpPr>
          <p:cNvPr name="TextBox 11" id="11"/>
          <p:cNvSpPr txBox="true"/>
          <p:nvPr/>
        </p:nvSpPr>
        <p:spPr>
          <a:xfrm rot="0">
            <a:off x="1317521" y="3360505"/>
            <a:ext cx="4384724" cy="756048"/>
          </a:xfrm>
          <a:prstGeom prst="rect">
            <a:avLst/>
          </a:prstGeom>
        </p:spPr>
        <p:txBody>
          <a:bodyPr anchor="t" rtlCol="false" tIns="0" lIns="0" bIns="0" rIns="0">
            <a:spAutoFit/>
          </a:bodyPr>
          <a:lstStyle/>
          <a:p>
            <a:pPr algn="ctr">
              <a:lnSpc>
                <a:spcPts val="6103"/>
              </a:lnSpc>
            </a:pPr>
            <a:r>
              <a:rPr lang="en-US" b="true" sz="4359" spc="43">
                <a:solidFill>
                  <a:srgbClr val="253754"/>
                </a:solidFill>
                <a:latin typeface="Glacial Indifference Bold"/>
                <a:ea typeface="Glacial Indifference Bold"/>
                <a:cs typeface="Glacial Indifference Bold"/>
                <a:sym typeface="Glacial Indifference Bold"/>
              </a:rPr>
              <a:t>+1.3M</a:t>
            </a:r>
          </a:p>
        </p:txBody>
      </p:sp>
      <p:sp>
        <p:nvSpPr>
          <p:cNvPr name="TextBox 12" id="12"/>
          <p:cNvSpPr txBox="true"/>
          <p:nvPr/>
        </p:nvSpPr>
        <p:spPr>
          <a:xfrm rot="0">
            <a:off x="1317521" y="4488979"/>
            <a:ext cx="4216657" cy="456441"/>
          </a:xfrm>
          <a:prstGeom prst="rect">
            <a:avLst/>
          </a:prstGeom>
        </p:spPr>
        <p:txBody>
          <a:bodyPr anchor="t" rtlCol="false" tIns="0" lIns="0" bIns="0" rIns="0">
            <a:spAutoFit/>
          </a:bodyPr>
          <a:lstStyle/>
          <a:p>
            <a:pPr algn="ctr">
              <a:lnSpc>
                <a:spcPts val="3716"/>
              </a:lnSpc>
            </a:pPr>
            <a:r>
              <a:rPr lang="en-US" sz="2654" spc="58">
                <a:solidFill>
                  <a:srgbClr val="152540"/>
                </a:solidFill>
                <a:latin typeface="Glacial Indifference"/>
                <a:ea typeface="Glacial Indifference"/>
                <a:cs typeface="Glacial Indifference"/>
                <a:sym typeface="Glacial Indifference"/>
              </a:rPr>
              <a:t>nuevos socios en 3 meses</a:t>
            </a:r>
          </a:p>
        </p:txBody>
      </p:sp>
      <p:grpSp>
        <p:nvGrpSpPr>
          <p:cNvPr name="Group 13" id="13"/>
          <p:cNvGrpSpPr/>
          <p:nvPr/>
        </p:nvGrpSpPr>
        <p:grpSpPr>
          <a:xfrm rot="0">
            <a:off x="6402674" y="3097329"/>
            <a:ext cx="4794299" cy="2342077"/>
            <a:chOff x="0" y="0"/>
            <a:chExt cx="757979" cy="370282"/>
          </a:xfrm>
        </p:grpSpPr>
        <p:sp>
          <p:nvSpPr>
            <p:cNvPr name="Freeform 14" id="14"/>
            <p:cNvSpPr/>
            <p:nvPr/>
          </p:nvSpPr>
          <p:spPr>
            <a:xfrm flipH="false" flipV="false" rot="0">
              <a:off x="0" y="0"/>
              <a:ext cx="757979" cy="370282"/>
            </a:xfrm>
            <a:custGeom>
              <a:avLst/>
              <a:gdLst/>
              <a:ahLst/>
              <a:cxnLst/>
              <a:rect r="r" b="b" t="t" l="l"/>
              <a:pathLst>
                <a:path h="370282" w="757979">
                  <a:moveTo>
                    <a:pt x="41985" y="0"/>
                  </a:moveTo>
                  <a:lnTo>
                    <a:pt x="715993" y="0"/>
                  </a:lnTo>
                  <a:cubicBezTo>
                    <a:pt x="727128" y="0"/>
                    <a:pt x="737808" y="4423"/>
                    <a:pt x="745681" y="12297"/>
                  </a:cubicBezTo>
                  <a:cubicBezTo>
                    <a:pt x="753555" y="20171"/>
                    <a:pt x="757979" y="30850"/>
                    <a:pt x="757979" y="41985"/>
                  </a:cubicBezTo>
                  <a:lnTo>
                    <a:pt x="757979" y="328297"/>
                  </a:lnTo>
                  <a:cubicBezTo>
                    <a:pt x="757979" y="339432"/>
                    <a:pt x="753555" y="350111"/>
                    <a:pt x="745681" y="357985"/>
                  </a:cubicBezTo>
                  <a:cubicBezTo>
                    <a:pt x="737808" y="365859"/>
                    <a:pt x="727128" y="370282"/>
                    <a:pt x="715993" y="370282"/>
                  </a:cubicBezTo>
                  <a:lnTo>
                    <a:pt x="41985" y="370282"/>
                  </a:lnTo>
                  <a:cubicBezTo>
                    <a:pt x="30850" y="370282"/>
                    <a:pt x="20171" y="365859"/>
                    <a:pt x="12297" y="357985"/>
                  </a:cubicBezTo>
                  <a:cubicBezTo>
                    <a:pt x="4423" y="350111"/>
                    <a:pt x="0" y="339432"/>
                    <a:pt x="0" y="328297"/>
                  </a:cubicBezTo>
                  <a:lnTo>
                    <a:pt x="0" y="41985"/>
                  </a:lnTo>
                  <a:cubicBezTo>
                    <a:pt x="0" y="30850"/>
                    <a:pt x="4423" y="20171"/>
                    <a:pt x="12297" y="12297"/>
                  </a:cubicBezTo>
                  <a:cubicBezTo>
                    <a:pt x="20171" y="4423"/>
                    <a:pt x="30850" y="0"/>
                    <a:pt x="41985" y="0"/>
                  </a:cubicBezTo>
                  <a:close/>
                </a:path>
              </a:pathLst>
            </a:custGeom>
            <a:solidFill>
              <a:srgbClr val="EDE8E4"/>
            </a:solidFill>
          </p:spPr>
        </p:sp>
        <p:sp>
          <p:nvSpPr>
            <p:cNvPr name="TextBox 15" id="15"/>
            <p:cNvSpPr txBox="true"/>
            <p:nvPr/>
          </p:nvSpPr>
          <p:spPr>
            <a:xfrm>
              <a:off x="0" y="9525"/>
              <a:ext cx="757979" cy="360757"/>
            </a:xfrm>
            <a:prstGeom prst="rect">
              <a:avLst/>
            </a:prstGeom>
          </p:spPr>
          <p:txBody>
            <a:bodyPr anchor="ctr" rtlCol="false" tIns="50800" lIns="50800" bIns="50800" rIns="50800"/>
            <a:lstStyle/>
            <a:p>
              <a:pPr algn="ctr">
                <a:lnSpc>
                  <a:spcPts val="2121"/>
                </a:lnSpc>
              </a:pPr>
            </a:p>
          </p:txBody>
        </p:sp>
      </p:grpSp>
      <p:sp>
        <p:nvSpPr>
          <p:cNvPr name="TextBox 16" id="16"/>
          <p:cNvSpPr txBox="true"/>
          <p:nvPr/>
        </p:nvSpPr>
        <p:spPr>
          <a:xfrm rot="0">
            <a:off x="6691495" y="3360505"/>
            <a:ext cx="4384724" cy="756048"/>
          </a:xfrm>
          <a:prstGeom prst="rect">
            <a:avLst/>
          </a:prstGeom>
        </p:spPr>
        <p:txBody>
          <a:bodyPr anchor="t" rtlCol="false" tIns="0" lIns="0" bIns="0" rIns="0">
            <a:spAutoFit/>
          </a:bodyPr>
          <a:lstStyle/>
          <a:p>
            <a:pPr algn="ctr">
              <a:lnSpc>
                <a:spcPts val="6103"/>
              </a:lnSpc>
            </a:pPr>
            <a:r>
              <a:rPr lang="en-US" b="true" sz="4359" spc="43">
                <a:solidFill>
                  <a:srgbClr val="253754"/>
                </a:solidFill>
                <a:latin typeface="Glacial Indifference Bold"/>
                <a:ea typeface="Glacial Indifference Bold"/>
                <a:cs typeface="Glacial Indifference Bold"/>
                <a:sym typeface="Glacial Indifference Bold"/>
              </a:rPr>
              <a:t>+300%</a:t>
            </a:r>
          </a:p>
        </p:txBody>
      </p:sp>
      <p:sp>
        <p:nvSpPr>
          <p:cNvPr name="TextBox 17" id="17"/>
          <p:cNvSpPr txBox="true"/>
          <p:nvPr/>
        </p:nvSpPr>
        <p:spPr>
          <a:xfrm rot="0">
            <a:off x="6691495" y="4488979"/>
            <a:ext cx="4216657" cy="456441"/>
          </a:xfrm>
          <a:prstGeom prst="rect">
            <a:avLst/>
          </a:prstGeom>
        </p:spPr>
        <p:txBody>
          <a:bodyPr anchor="t" rtlCol="false" tIns="0" lIns="0" bIns="0" rIns="0">
            <a:spAutoFit/>
          </a:bodyPr>
          <a:lstStyle/>
          <a:p>
            <a:pPr algn="ctr">
              <a:lnSpc>
                <a:spcPts val="3716"/>
              </a:lnSpc>
            </a:pPr>
            <a:r>
              <a:rPr lang="en-US" sz="2654" spc="58">
                <a:solidFill>
                  <a:srgbClr val="152540"/>
                </a:solidFill>
                <a:latin typeface="Glacial Indifference"/>
                <a:ea typeface="Glacial Indifference"/>
                <a:cs typeface="Glacial Indifference"/>
                <a:sym typeface="Glacial Indifference"/>
              </a:rPr>
              <a:t>vs proceso fisico</a:t>
            </a:r>
          </a:p>
        </p:txBody>
      </p:sp>
      <p:grpSp>
        <p:nvGrpSpPr>
          <p:cNvPr name="Group 18" id="18"/>
          <p:cNvGrpSpPr/>
          <p:nvPr/>
        </p:nvGrpSpPr>
        <p:grpSpPr>
          <a:xfrm rot="0">
            <a:off x="11777997" y="3097329"/>
            <a:ext cx="4794299" cy="2342077"/>
            <a:chOff x="0" y="0"/>
            <a:chExt cx="757979" cy="370282"/>
          </a:xfrm>
        </p:grpSpPr>
        <p:sp>
          <p:nvSpPr>
            <p:cNvPr name="Freeform 19" id="19"/>
            <p:cNvSpPr/>
            <p:nvPr/>
          </p:nvSpPr>
          <p:spPr>
            <a:xfrm flipH="false" flipV="false" rot="0">
              <a:off x="0" y="0"/>
              <a:ext cx="757979" cy="370282"/>
            </a:xfrm>
            <a:custGeom>
              <a:avLst/>
              <a:gdLst/>
              <a:ahLst/>
              <a:cxnLst/>
              <a:rect r="r" b="b" t="t" l="l"/>
              <a:pathLst>
                <a:path h="370282" w="757979">
                  <a:moveTo>
                    <a:pt x="41985" y="0"/>
                  </a:moveTo>
                  <a:lnTo>
                    <a:pt x="715993" y="0"/>
                  </a:lnTo>
                  <a:cubicBezTo>
                    <a:pt x="727128" y="0"/>
                    <a:pt x="737808" y="4423"/>
                    <a:pt x="745681" y="12297"/>
                  </a:cubicBezTo>
                  <a:cubicBezTo>
                    <a:pt x="753555" y="20171"/>
                    <a:pt x="757979" y="30850"/>
                    <a:pt x="757979" y="41985"/>
                  </a:cubicBezTo>
                  <a:lnTo>
                    <a:pt x="757979" y="328297"/>
                  </a:lnTo>
                  <a:cubicBezTo>
                    <a:pt x="757979" y="339432"/>
                    <a:pt x="753555" y="350111"/>
                    <a:pt x="745681" y="357985"/>
                  </a:cubicBezTo>
                  <a:cubicBezTo>
                    <a:pt x="737808" y="365859"/>
                    <a:pt x="727128" y="370282"/>
                    <a:pt x="715993" y="370282"/>
                  </a:cubicBezTo>
                  <a:lnTo>
                    <a:pt x="41985" y="370282"/>
                  </a:lnTo>
                  <a:cubicBezTo>
                    <a:pt x="30850" y="370282"/>
                    <a:pt x="20171" y="365859"/>
                    <a:pt x="12297" y="357985"/>
                  </a:cubicBezTo>
                  <a:cubicBezTo>
                    <a:pt x="4423" y="350111"/>
                    <a:pt x="0" y="339432"/>
                    <a:pt x="0" y="328297"/>
                  </a:cubicBezTo>
                  <a:lnTo>
                    <a:pt x="0" y="41985"/>
                  </a:lnTo>
                  <a:cubicBezTo>
                    <a:pt x="0" y="30850"/>
                    <a:pt x="4423" y="20171"/>
                    <a:pt x="12297" y="12297"/>
                  </a:cubicBezTo>
                  <a:cubicBezTo>
                    <a:pt x="20171" y="4423"/>
                    <a:pt x="30850" y="0"/>
                    <a:pt x="41985" y="0"/>
                  </a:cubicBezTo>
                  <a:close/>
                </a:path>
              </a:pathLst>
            </a:custGeom>
            <a:solidFill>
              <a:srgbClr val="EDE8E4"/>
            </a:solidFill>
          </p:spPr>
        </p:sp>
        <p:sp>
          <p:nvSpPr>
            <p:cNvPr name="TextBox 20" id="20"/>
            <p:cNvSpPr txBox="true"/>
            <p:nvPr/>
          </p:nvSpPr>
          <p:spPr>
            <a:xfrm>
              <a:off x="0" y="9525"/>
              <a:ext cx="757979" cy="360757"/>
            </a:xfrm>
            <a:prstGeom prst="rect">
              <a:avLst/>
            </a:prstGeom>
          </p:spPr>
          <p:txBody>
            <a:bodyPr anchor="ctr" rtlCol="false" tIns="50800" lIns="50800" bIns="50800" rIns="50800"/>
            <a:lstStyle/>
            <a:p>
              <a:pPr algn="ctr">
                <a:lnSpc>
                  <a:spcPts val="2121"/>
                </a:lnSpc>
              </a:pPr>
            </a:p>
          </p:txBody>
        </p:sp>
      </p:grpSp>
      <p:sp>
        <p:nvSpPr>
          <p:cNvPr name="TextBox 21" id="21"/>
          <p:cNvSpPr txBox="true"/>
          <p:nvPr/>
        </p:nvSpPr>
        <p:spPr>
          <a:xfrm rot="0">
            <a:off x="12066818" y="3360505"/>
            <a:ext cx="4384724" cy="756048"/>
          </a:xfrm>
          <a:prstGeom prst="rect">
            <a:avLst/>
          </a:prstGeom>
        </p:spPr>
        <p:txBody>
          <a:bodyPr anchor="t" rtlCol="false" tIns="0" lIns="0" bIns="0" rIns="0">
            <a:spAutoFit/>
          </a:bodyPr>
          <a:lstStyle/>
          <a:p>
            <a:pPr algn="ctr">
              <a:lnSpc>
                <a:spcPts val="6103"/>
              </a:lnSpc>
            </a:pPr>
            <a:r>
              <a:rPr lang="en-US" b="true" sz="4359" spc="43">
                <a:solidFill>
                  <a:srgbClr val="253754"/>
                </a:solidFill>
                <a:latin typeface="Glacial Indifference Bold"/>
                <a:ea typeface="Glacial Indifference Bold"/>
                <a:cs typeface="Glacial Indifference Bold"/>
                <a:sym typeface="Glacial Indifference Bold"/>
              </a:rPr>
              <a:t>20%</a:t>
            </a:r>
          </a:p>
        </p:txBody>
      </p:sp>
      <p:sp>
        <p:nvSpPr>
          <p:cNvPr name="TextBox 22" id="22"/>
          <p:cNvSpPr txBox="true"/>
          <p:nvPr/>
        </p:nvSpPr>
        <p:spPr>
          <a:xfrm rot="0">
            <a:off x="12066818" y="4255617"/>
            <a:ext cx="4216657" cy="923166"/>
          </a:xfrm>
          <a:prstGeom prst="rect">
            <a:avLst/>
          </a:prstGeom>
        </p:spPr>
        <p:txBody>
          <a:bodyPr anchor="t" rtlCol="false" tIns="0" lIns="0" bIns="0" rIns="0">
            <a:spAutoFit/>
          </a:bodyPr>
          <a:lstStyle/>
          <a:p>
            <a:pPr algn="ctr">
              <a:lnSpc>
                <a:spcPts val="3716"/>
              </a:lnSpc>
            </a:pPr>
            <a:r>
              <a:rPr lang="en-US" sz="2654" spc="58">
                <a:solidFill>
                  <a:srgbClr val="152540"/>
                </a:solidFill>
                <a:latin typeface="Glacial Indifference"/>
                <a:ea typeface="Glacial Indifference"/>
                <a:cs typeface="Glacial Indifference"/>
                <a:sym typeface="Glacial Indifference"/>
              </a:rPr>
              <a:t>valor extra socio activo vs no socio</a:t>
            </a:r>
          </a:p>
        </p:txBody>
      </p:sp>
      <p:sp>
        <p:nvSpPr>
          <p:cNvPr name="Freeform 23" id="23"/>
          <p:cNvSpPr/>
          <p:nvPr/>
        </p:nvSpPr>
        <p:spPr>
          <a:xfrm flipH="false" flipV="false" rot="0">
            <a:off x="-937766" y="8402769"/>
            <a:ext cx="1966466" cy="1884231"/>
          </a:xfrm>
          <a:custGeom>
            <a:avLst/>
            <a:gdLst/>
            <a:ahLst/>
            <a:cxnLst/>
            <a:rect r="r" b="b" t="t" l="l"/>
            <a:pathLst>
              <a:path h="1884231" w="1966466">
                <a:moveTo>
                  <a:pt x="0" y="0"/>
                </a:moveTo>
                <a:lnTo>
                  <a:pt x="1966466" y="0"/>
                </a:lnTo>
                <a:lnTo>
                  <a:pt x="1966466" y="1884231"/>
                </a:lnTo>
                <a:lnTo>
                  <a:pt x="0" y="1884231"/>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a:ln cap="sq">
            <a:noFill/>
            <a:prstDash val="solid"/>
            <a:miter/>
          </a:ln>
        </p:spPr>
      </p:sp>
      <p:grpSp>
        <p:nvGrpSpPr>
          <p:cNvPr name="Group 24" id="24"/>
          <p:cNvGrpSpPr/>
          <p:nvPr/>
        </p:nvGrpSpPr>
        <p:grpSpPr>
          <a:xfrm rot="0">
            <a:off x="983233" y="5754455"/>
            <a:ext cx="16276067" cy="4238108"/>
            <a:chOff x="0" y="0"/>
            <a:chExt cx="2573246" cy="670045"/>
          </a:xfrm>
        </p:grpSpPr>
        <p:sp>
          <p:nvSpPr>
            <p:cNvPr name="Freeform 25" id="25"/>
            <p:cNvSpPr/>
            <p:nvPr/>
          </p:nvSpPr>
          <p:spPr>
            <a:xfrm flipH="false" flipV="false" rot="0">
              <a:off x="0" y="0"/>
              <a:ext cx="2573246" cy="670045"/>
            </a:xfrm>
            <a:custGeom>
              <a:avLst/>
              <a:gdLst/>
              <a:ahLst/>
              <a:cxnLst/>
              <a:rect r="r" b="b" t="t" l="l"/>
              <a:pathLst>
                <a:path h="670045" w="2573246">
                  <a:moveTo>
                    <a:pt x="12367" y="0"/>
                  </a:moveTo>
                  <a:lnTo>
                    <a:pt x="2560879" y="0"/>
                  </a:lnTo>
                  <a:cubicBezTo>
                    <a:pt x="2564159" y="0"/>
                    <a:pt x="2567305" y="1303"/>
                    <a:pt x="2569624" y="3622"/>
                  </a:cubicBezTo>
                  <a:cubicBezTo>
                    <a:pt x="2571943" y="5942"/>
                    <a:pt x="2573246" y="9087"/>
                    <a:pt x="2573246" y="12367"/>
                  </a:cubicBezTo>
                  <a:lnTo>
                    <a:pt x="2573246" y="657678"/>
                  </a:lnTo>
                  <a:cubicBezTo>
                    <a:pt x="2573246" y="660958"/>
                    <a:pt x="2571943" y="664103"/>
                    <a:pt x="2569624" y="666423"/>
                  </a:cubicBezTo>
                  <a:cubicBezTo>
                    <a:pt x="2567305" y="668742"/>
                    <a:pt x="2564159" y="670045"/>
                    <a:pt x="2560879" y="670045"/>
                  </a:cubicBezTo>
                  <a:lnTo>
                    <a:pt x="12367" y="670045"/>
                  </a:lnTo>
                  <a:cubicBezTo>
                    <a:pt x="9087" y="670045"/>
                    <a:pt x="5942" y="668742"/>
                    <a:pt x="3622" y="666423"/>
                  </a:cubicBezTo>
                  <a:cubicBezTo>
                    <a:pt x="1303" y="664103"/>
                    <a:pt x="0" y="660958"/>
                    <a:pt x="0" y="657678"/>
                  </a:cubicBezTo>
                  <a:lnTo>
                    <a:pt x="0" y="12367"/>
                  </a:lnTo>
                  <a:cubicBezTo>
                    <a:pt x="0" y="9087"/>
                    <a:pt x="1303" y="5942"/>
                    <a:pt x="3622" y="3622"/>
                  </a:cubicBezTo>
                  <a:cubicBezTo>
                    <a:pt x="5942" y="1303"/>
                    <a:pt x="9087" y="0"/>
                    <a:pt x="12367" y="0"/>
                  </a:cubicBezTo>
                  <a:close/>
                </a:path>
              </a:pathLst>
            </a:custGeom>
            <a:solidFill>
              <a:srgbClr val="EDE8E4"/>
            </a:solidFill>
          </p:spPr>
        </p:sp>
        <p:sp>
          <p:nvSpPr>
            <p:cNvPr name="TextBox 26" id="26"/>
            <p:cNvSpPr txBox="true"/>
            <p:nvPr/>
          </p:nvSpPr>
          <p:spPr>
            <a:xfrm>
              <a:off x="0" y="9525"/>
              <a:ext cx="2573246" cy="660520"/>
            </a:xfrm>
            <a:prstGeom prst="rect">
              <a:avLst/>
            </a:prstGeom>
          </p:spPr>
          <p:txBody>
            <a:bodyPr anchor="ctr" rtlCol="false" tIns="50800" lIns="50800" bIns="50800" rIns="50800"/>
            <a:lstStyle/>
            <a:p>
              <a:pPr algn="ctr">
                <a:lnSpc>
                  <a:spcPts val="2121"/>
                </a:lnSpc>
              </a:pPr>
            </a:p>
          </p:txBody>
        </p:sp>
      </p:grpSp>
      <p:sp>
        <p:nvSpPr>
          <p:cNvPr name="TextBox 27" id="27"/>
          <p:cNvSpPr txBox="true"/>
          <p:nvPr/>
        </p:nvSpPr>
        <p:spPr>
          <a:xfrm rot="0">
            <a:off x="1317521" y="6591931"/>
            <a:ext cx="15429627" cy="1444501"/>
          </a:xfrm>
          <a:prstGeom prst="rect">
            <a:avLst/>
          </a:prstGeom>
        </p:spPr>
        <p:txBody>
          <a:bodyPr anchor="t" rtlCol="false" tIns="0" lIns="0" bIns="0" rIns="0">
            <a:spAutoFit/>
          </a:bodyPr>
          <a:lstStyle/>
          <a:p>
            <a:pPr algn="l">
              <a:lnSpc>
                <a:spcPts val="3856"/>
              </a:lnSpc>
            </a:pPr>
            <a:r>
              <a:rPr lang="en-US" sz="2754" spc="60">
                <a:solidFill>
                  <a:srgbClr val="152540"/>
                </a:solidFill>
                <a:latin typeface="Glacial Indifference"/>
                <a:ea typeface="Glacial Indifference"/>
                <a:cs typeface="Glacial Indifference"/>
                <a:sym typeface="Glacial Indifference"/>
              </a:rPr>
              <a:t>el conocer mas sobre sus clientes permite personalizar las expericneicas, a traves del "Progressive Profiling" capturan datos para obtener insights que permitan enviar la oferta adecuada a la persona adecuada en el momento adecuado.</a:t>
            </a:r>
          </a:p>
        </p:txBody>
      </p:sp>
      <p:sp>
        <p:nvSpPr>
          <p:cNvPr name="TextBox 28" id="28"/>
          <p:cNvSpPr txBox="true"/>
          <p:nvPr/>
        </p:nvSpPr>
        <p:spPr>
          <a:xfrm rot="0">
            <a:off x="1317521" y="5893669"/>
            <a:ext cx="6033642" cy="555387"/>
          </a:xfrm>
          <a:prstGeom prst="rect">
            <a:avLst/>
          </a:prstGeom>
        </p:spPr>
        <p:txBody>
          <a:bodyPr anchor="t" rtlCol="false" tIns="0" lIns="0" bIns="0" rIns="0">
            <a:spAutoFit/>
          </a:bodyPr>
          <a:lstStyle/>
          <a:p>
            <a:pPr algn="l">
              <a:lnSpc>
                <a:spcPts val="4563"/>
              </a:lnSpc>
            </a:pPr>
            <a:r>
              <a:rPr lang="en-US" sz="3259" spc="32" b="true">
                <a:solidFill>
                  <a:srgbClr val="253754"/>
                </a:solidFill>
                <a:latin typeface="Glacial Indifference Bold"/>
                <a:ea typeface="Glacial Indifference Bold"/>
                <a:cs typeface="Glacial Indifference Bold"/>
                <a:sym typeface="Glacial Indifference Bold"/>
              </a:rPr>
              <a:t>Progressive Profiling</a:t>
            </a:r>
          </a:p>
        </p:txBody>
      </p:sp>
      <p:sp>
        <p:nvSpPr>
          <p:cNvPr name="TextBox 29" id="29"/>
          <p:cNvSpPr txBox="true"/>
          <p:nvPr/>
        </p:nvSpPr>
        <p:spPr>
          <a:xfrm rot="0">
            <a:off x="1317521" y="7969757"/>
            <a:ext cx="7566336" cy="555387"/>
          </a:xfrm>
          <a:prstGeom prst="rect">
            <a:avLst/>
          </a:prstGeom>
        </p:spPr>
        <p:txBody>
          <a:bodyPr anchor="t" rtlCol="false" tIns="0" lIns="0" bIns="0" rIns="0">
            <a:spAutoFit/>
          </a:bodyPr>
          <a:lstStyle/>
          <a:p>
            <a:pPr algn="l">
              <a:lnSpc>
                <a:spcPts val="4563"/>
              </a:lnSpc>
            </a:pPr>
            <a:r>
              <a:rPr lang="en-US" sz="3259" spc="32" b="true">
                <a:solidFill>
                  <a:srgbClr val="253754"/>
                </a:solidFill>
                <a:latin typeface="Glacial Indifference Bold"/>
                <a:ea typeface="Glacial Indifference Bold"/>
                <a:cs typeface="Glacial Indifference Bold"/>
                <a:sym typeface="Glacial Indifference Bold"/>
              </a:rPr>
              <a:t>beneficios de la digitacizacion</a:t>
            </a:r>
          </a:p>
        </p:txBody>
      </p:sp>
      <p:sp>
        <p:nvSpPr>
          <p:cNvPr name="TextBox 30" id="30"/>
          <p:cNvSpPr txBox="true"/>
          <p:nvPr/>
        </p:nvSpPr>
        <p:spPr>
          <a:xfrm rot="0">
            <a:off x="1317521" y="8467995"/>
            <a:ext cx="15429627" cy="1444501"/>
          </a:xfrm>
          <a:prstGeom prst="rect">
            <a:avLst/>
          </a:prstGeom>
        </p:spPr>
        <p:txBody>
          <a:bodyPr anchor="t" rtlCol="false" tIns="0" lIns="0" bIns="0" rIns="0">
            <a:spAutoFit/>
          </a:bodyPr>
          <a:lstStyle/>
          <a:p>
            <a:pPr algn="l">
              <a:lnSpc>
                <a:spcPts val="3856"/>
              </a:lnSpc>
            </a:pPr>
            <a:r>
              <a:rPr lang="en-US" sz="2754" spc="60">
                <a:solidFill>
                  <a:srgbClr val="152540"/>
                </a:solidFill>
                <a:latin typeface="Glacial Indifference"/>
                <a:ea typeface="Glacial Indifference"/>
                <a:cs typeface="Glacial Indifference"/>
                <a:sym typeface="Glacial Indifference"/>
              </a:rPr>
              <a:t>cinvierte la identidad en un elemnto central de la expericneica del usuario. se puede digitalizar desde cualquier dispositivo inteligente, una validez completa, integracion de una comunicacion via app, email y whatsapp.</a:t>
            </a:r>
          </a:p>
        </p:txBody>
      </p:sp>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bg>
      <p:bgPr>
        <a:solidFill>
          <a:srgbClr val="253754"/>
        </a:solidFill>
      </p:bgPr>
    </p:bg>
    <p:spTree>
      <p:nvGrpSpPr>
        <p:cNvPr id="1" name=""/>
        <p:cNvGrpSpPr/>
        <p:nvPr/>
      </p:nvGrpSpPr>
      <p:grpSpPr>
        <a:xfrm>
          <a:off x="0" y="0"/>
          <a:ext cx="0" cy="0"/>
          <a:chOff x="0" y="0"/>
          <a:chExt cx="0" cy="0"/>
        </a:xfrm>
      </p:grpSpPr>
      <p:grpSp>
        <p:nvGrpSpPr>
          <p:cNvPr name="Group 2" id="2"/>
          <p:cNvGrpSpPr/>
          <p:nvPr/>
        </p:nvGrpSpPr>
        <p:grpSpPr>
          <a:xfrm rot="0">
            <a:off x="1028700" y="2204052"/>
            <a:ext cx="8115300" cy="7708443"/>
            <a:chOff x="0" y="0"/>
            <a:chExt cx="1283029" cy="1218705"/>
          </a:xfrm>
        </p:grpSpPr>
        <p:sp>
          <p:nvSpPr>
            <p:cNvPr name="Freeform 3" id="3"/>
            <p:cNvSpPr/>
            <p:nvPr/>
          </p:nvSpPr>
          <p:spPr>
            <a:xfrm flipH="false" flipV="false" rot="0">
              <a:off x="0" y="0"/>
              <a:ext cx="1283029" cy="1218705"/>
            </a:xfrm>
            <a:custGeom>
              <a:avLst/>
              <a:gdLst/>
              <a:ahLst/>
              <a:cxnLst/>
              <a:rect r="r" b="b" t="t" l="l"/>
              <a:pathLst>
                <a:path h="1218705" w="1283029">
                  <a:moveTo>
                    <a:pt x="24804" y="0"/>
                  </a:moveTo>
                  <a:lnTo>
                    <a:pt x="1258225" y="0"/>
                  </a:lnTo>
                  <a:cubicBezTo>
                    <a:pt x="1264803" y="0"/>
                    <a:pt x="1271112" y="2613"/>
                    <a:pt x="1275764" y="7265"/>
                  </a:cubicBezTo>
                  <a:cubicBezTo>
                    <a:pt x="1280416" y="11916"/>
                    <a:pt x="1283029" y="18225"/>
                    <a:pt x="1283029" y="24804"/>
                  </a:cubicBezTo>
                  <a:lnTo>
                    <a:pt x="1283029" y="1193901"/>
                  </a:lnTo>
                  <a:cubicBezTo>
                    <a:pt x="1283029" y="1200479"/>
                    <a:pt x="1280416" y="1206788"/>
                    <a:pt x="1275764" y="1211440"/>
                  </a:cubicBezTo>
                  <a:cubicBezTo>
                    <a:pt x="1271112" y="1216092"/>
                    <a:pt x="1264803" y="1218705"/>
                    <a:pt x="1258225" y="1218705"/>
                  </a:cubicBezTo>
                  <a:lnTo>
                    <a:pt x="24804" y="1218705"/>
                  </a:lnTo>
                  <a:cubicBezTo>
                    <a:pt x="18225" y="1218705"/>
                    <a:pt x="11916" y="1216092"/>
                    <a:pt x="7265" y="1211440"/>
                  </a:cubicBezTo>
                  <a:cubicBezTo>
                    <a:pt x="2613" y="1206788"/>
                    <a:pt x="0" y="1200479"/>
                    <a:pt x="0" y="1193901"/>
                  </a:cubicBezTo>
                  <a:lnTo>
                    <a:pt x="0" y="24804"/>
                  </a:lnTo>
                  <a:cubicBezTo>
                    <a:pt x="0" y="18225"/>
                    <a:pt x="2613" y="11916"/>
                    <a:pt x="7265" y="7265"/>
                  </a:cubicBezTo>
                  <a:cubicBezTo>
                    <a:pt x="11916" y="2613"/>
                    <a:pt x="18225" y="0"/>
                    <a:pt x="24804" y="0"/>
                  </a:cubicBezTo>
                  <a:close/>
                </a:path>
              </a:pathLst>
            </a:custGeom>
            <a:solidFill>
              <a:srgbClr val="EDE8E4"/>
            </a:solidFill>
          </p:spPr>
        </p:sp>
        <p:sp>
          <p:nvSpPr>
            <p:cNvPr name="TextBox 4" id="4"/>
            <p:cNvSpPr txBox="true"/>
            <p:nvPr/>
          </p:nvSpPr>
          <p:spPr>
            <a:xfrm>
              <a:off x="0" y="9525"/>
              <a:ext cx="1283029" cy="1209180"/>
            </a:xfrm>
            <a:prstGeom prst="rect">
              <a:avLst/>
            </a:prstGeom>
          </p:spPr>
          <p:txBody>
            <a:bodyPr anchor="ctr" rtlCol="false" tIns="50800" lIns="50800" bIns="50800" rIns="50800"/>
            <a:lstStyle/>
            <a:p>
              <a:pPr algn="ctr">
                <a:lnSpc>
                  <a:spcPts val="2121"/>
                </a:lnSpc>
              </a:pPr>
            </a:p>
          </p:txBody>
        </p:sp>
      </p:grpSp>
      <p:sp>
        <p:nvSpPr>
          <p:cNvPr name="TextBox 5" id="5"/>
          <p:cNvSpPr txBox="true"/>
          <p:nvPr/>
        </p:nvSpPr>
        <p:spPr>
          <a:xfrm rot="0">
            <a:off x="1808737" y="551796"/>
            <a:ext cx="15168050" cy="928948"/>
          </a:xfrm>
          <a:prstGeom prst="rect">
            <a:avLst/>
          </a:prstGeom>
        </p:spPr>
        <p:txBody>
          <a:bodyPr anchor="t" rtlCol="false" tIns="0" lIns="0" bIns="0" rIns="0">
            <a:spAutoFit/>
          </a:bodyPr>
          <a:lstStyle/>
          <a:p>
            <a:pPr algn="ctr">
              <a:lnSpc>
                <a:spcPts val="7598"/>
              </a:lnSpc>
            </a:pPr>
            <a:r>
              <a:rPr lang="en-US" b="true" sz="5427" spc="510">
                <a:solidFill>
                  <a:srgbClr val="EDE8E4"/>
                </a:solidFill>
                <a:latin typeface="Glacial Indifference Bold"/>
                <a:ea typeface="Glacial Indifference Bold"/>
                <a:cs typeface="Glacial Indifference Bold"/>
                <a:sym typeface="Glacial Indifference Bold"/>
              </a:rPr>
              <a:t>PRECIOS DINAMICOS Y ML PREDICTUVO</a:t>
            </a:r>
          </a:p>
        </p:txBody>
      </p:sp>
      <p:sp>
        <p:nvSpPr>
          <p:cNvPr name="Freeform 6" id="6"/>
          <p:cNvSpPr/>
          <p:nvPr/>
        </p:nvSpPr>
        <p:spPr>
          <a:xfrm flipH="false" flipV="false" rot="0">
            <a:off x="16686130" y="-334562"/>
            <a:ext cx="1966466" cy="1884231"/>
          </a:xfrm>
          <a:custGeom>
            <a:avLst/>
            <a:gdLst/>
            <a:ahLst/>
            <a:cxnLst/>
            <a:rect r="r" b="b" t="t" l="l"/>
            <a:pathLst>
              <a:path h="1884231" w="1966466">
                <a:moveTo>
                  <a:pt x="0" y="0"/>
                </a:moveTo>
                <a:lnTo>
                  <a:pt x="1966465" y="0"/>
                </a:lnTo>
                <a:lnTo>
                  <a:pt x="1966465" y="1884232"/>
                </a:lnTo>
                <a:lnTo>
                  <a:pt x="0" y="1884232"/>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a:ln cap="sq">
            <a:noFill/>
            <a:prstDash val="solid"/>
            <a:miter/>
          </a:ln>
        </p:spPr>
      </p:sp>
      <p:sp>
        <p:nvSpPr>
          <p:cNvPr name="Freeform 7" id="7"/>
          <p:cNvSpPr/>
          <p:nvPr/>
        </p:nvSpPr>
        <p:spPr>
          <a:xfrm flipH="false" flipV="false" rot="0">
            <a:off x="17304767" y="854768"/>
            <a:ext cx="1966466" cy="1884231"/>
          </a:xfrm>
          <a:custGeom>
            <a:avLst/>
            <a:gdLst/>
            <a:ahLst/>
            <a:cxnLst/>
            <a:rect r="r" b="b" t="t" l="l"/>
            <a:pathLst>
              <a:path h="1884231" w="1966466">
                <a:moveTo>
                  <a:pt x="0" y="0"/>
                </a:moveTo>
                <a:lnTo>
                  <a:pt x="1966466" y="0"/>
                </a:lnTo>
                <a:lnTo>
                  <a:pt x="1966466" y="1884232"/>
                </a:lnTo>
                <a:lnTo>
                  <a:pt x="0" y="1884232"/>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a:ln cap="sq">
            <a:noFill/>
            <a:prstDash val="solid"/>
            <a:miter/>
          </a:ln>
        </p:spPr>
      </p:sp>
      <p:sp>
        <p:nvSpPr>
          <p:cNvPr name="Freeform 8" id="8"/>
          <p:cNvSpPr/>
          <p:nvPr/>
        </p:nvSpPr>
        <p:spPr>
          <a:xfrm flipH="false" flipV="false" rot="0">
            <a:off x="0" y="9258300"/>
            <a:ext cx="1966466" cy="1884231"/>
          </a:xfrm>
          <a:custGeom>
            <a:avLst/>
            <a:gdLst/>
            <a:ahLst/>
            <a:cxnLst/>
            <a:rect r="r" b="b" t="t" l="l"/>
            <a:pathLst>
              <a:path h="1884231" w="1966466">
                <a:moveTo>
                  <a:pt x="0" y="0"/>
                </a:moveTo>
                <a:lnTo>
                  <a:pt x="1966466" y="0"/>
                </a:lnTo>
                <a:lnTo>
                  <a:pt x="1966466" y="1884231"/>
                </a:lnTo>
                <a:lnTo>
                  <a:pt x="0" y="1884231"/>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a:ln cap="sq">
            <a:noFill/>
            <a:prstDash val="solid"/>
            <a:miter/>
          </a:ln>
        </p:spPr>
      </p:sp>
      <p:sp>
        <p:nvSpPr>
          <p:cNvPr name="Freeform 9" id="9"/>
          <p:cNvSpPr/>
          <p:nvPr/>
        </p:nvSpPr>
        <p:spPr>
          <a:xfrm flipH="false" flipV="false" rot="0">
            <a:off x="-937766" y="8402769"/>
            <a:ext cx="1966466" cy="1884231"/>
          </a:xfrm>
          <a:custGeom>
            <a:avLst/>
            <a:gdLst/>
            <a:ahLst/>
            <a:cxnLst/>
            <a:rect r="r" b="b" t="t" l="l"/>
            <a:pathLst>
              <a:path h="1884231" w="1966466">
                <a:moveTo>
                  <a:pt x="0" y="0"/>
                </a:moveTo>
                <a:lnTo>
                  <a:pt x="1966466" y="0"/>
                </a:lnTo>
                <a:lnTo>
                  <a:pt x="1966466" y="1884231"/>
                </a:lnTo>
                <a:lnTo>
                  <a:pt x="0" y="1884231"/>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a:ln cap="sq">
            <a:noFill/>
            <a:prstDash val="solid"/>
            <a:miter/>
          </a:ln>
        </p:spPr>
      </p:sp>
      <p:sp>
        <p:nvSpPr>
          <p:cNvPr name="Freeform 10" id="10"/>
          <p:cNvSpPr/>
          <p:nvPr/>
        </p:nvSpPr>
        <p:spPr>
          <a:xfrm flipH="false" flipV="false" rot="672866">
            <a:off x="-2719489" y="-1266610"/>
            <a:ext cx="6556116" cy="6126988"/>
          </a:xfrm>
          <a:custGeom>
            <a:avLst/>
            <a:gdLst/>
            <a:ahLst/>
            <a:cxnLst/>
            <a:rect r="r" b="b" t="t" l="l"/>
            <a:pathLst>
              <a:path h="6126988" w="6556116">
                <a:moveTo>
                  <a:pt x="0" y="0"/>
                </a:moveTo>
                <a:lnTo>
                  <a:pt x="6556115" y="0"/>
                </a:lnTo>
                <a:lnTo>
                  <a:pt x="6556115" y="6126988"/>
                </a:lnTo>
                <a:lnTo>
                  <a:pt x="0" y="6126988"/>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a:ln cap="sq">
            <a:noFill/>
            <a:prstDash val="solid"/>
            <a:miter/>
          </a:ln>
        </p:spPr>
      </p:sp>
      <p:sp>
        <p:nvSpPr>
          <p:cNvPr name="Freeform 11" id="11"/>
          <p:cNvSpPr/>
          <p:nvPr/>
        </p:nvSpPr>
        <p:spPr>
          <a:xfrm flipH="false" flipV="false" rot="0">
            <a:off x="-937766" y="8402769"/>
            <a:ext cx="1966466" cy="1884231"/>
          </a:xfrm>
          <a:custGeom>
            <a:avLst/>
            <a:gdLst/>
            <a:ahLst/>
            <a:cxnLst/>
            <a:rect r="r" b="b" t="t" l="l"/>
            <a:pathLst>
              <a:path h="1884231" w="1966466">
                <a:moveTo>
                  <a:pt x="0" y="0"/>
                </a:moveTo>
                <a:lnTo>
                  <a:pt x="1966466" y="0"/>
                </a:lnTo>
                <a:lnTo>
                  <a:pt x="1966466" y="1884231"/>
                </a:lnTo>
                <a:lnTo>
                  <a:pt x="0" y="1884231"/>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a:ln cap="sq">
            <a:noFill/>
            <a:prstDash val="solid"/>
            <a:miter/>
          </a:ln>
        </p:spPr>
      </p:sp>
      <p:grpSp>
        <p:nvGrpSpPr>
          <p:cNvPr name="Group 12" id="12"/>
          <p:cNvGrpSpPr/>
          <p:nvPr/>
        </p:nvGrpSpPr>
        <p:grpSpPr>
          <a:xfrm rot="0">
            <a:off x="9554063" y="2204052"/>
            <a:ext cx="8115300" cy="7708443"/>
            <a:chOff x="0" y="0"/>
            <a:chExt cx="1283029" cy="1218705"/>
          </a:xfrm>
        </p:grpSpPr>
        <p:sp>
          <p:nvSpPr>
            <p:cNvPr name="Freeform 13" id="13"/>
            <p:cNvSpPr/>
            <p:nvPr/>
          </p:nvSpPr>
          <p:spPr>
            <a:xfrm flipH="false" flipV="false" rot="0">
              <a:off x="0" y="0"/>
              <a:ext cx="1283029" cy="1218705"/>
            </a:xfrm>
            <a:custGeom>
              <a:avLst/>
              <a:gdLst/>
              <a:ahLst/>
              <a:cxnLst/>
              <a:rect r="r" b="b" t="t" l="l"/>
              <a:pathLst>
                <a:path h="1218705" w="1283029">
                  <a:moveTo>
                    <a:pt x="24804" y="0"/>
                  </a:moveTo>
                  <a:lnTo>
                    <a:pt x="1258225" y="0"/>
                  </a:lnTo>
                  <a:cubicBezTo>
                    <a:pt x="1264803" y="0"/>
                    <a:pt x="1271112" y="2613"/>
                    <a:pt x="1275764" y="7265"/>
                  </a:cubicBezTo>
                  <a:cubicBezTo>
                    <a:pt x="1280416" y="11916"/>
                    <a:pt x="1283029" y="18225"/>
                    <a:pt x="1283029" y="24804"/>
                  </a:cubicBezTo>
                  <a:lnTo>
                    <a:pt x="1283029" y="1193901"/>
                  </a:lnTo>
                  <a:cubicBezTo>
                    <a:pt x="1283029" y="1200479"/>
                    <a:pt x="1280416" y="1206788"/>
                    <a:pt x="1275764" y="1211440"/>
                  </a:cubicBezTo>
                  <a:cubicBezTo>
                    <a:pt x="1271112" y="1216092"/>
                    <a:pt x="1264803" y="1218705"/>
                    <a:pt x="1258225" y="1218705"/>
                  </a:cubicBezTo>
                  <a:lnTo>
                    <a:pt x="24804" y="1218705"/>
                  </a:lnTo>
                  <a:cubicBezTo>
                    <a:pt x="18225" y="1218705"/>
                    <a:pt x="11916" y="1216092"/>
                    <a:pt x="7265" y="1211440"/>
                  </a:cubicBezTo>
                  <a:cubicBezTo>
                    <a:pt x="2613" y="1206788"/>
                    <a:pt x="0" y="1200479"/>
                    <a:pt x="0" y="1193901"/>
                  </a:cubicBezTo>
                  <a:lnTo>
                    <a:pt x="0" y="24804"/>
                  </a:lnTo>
                  <a:cubicBezTo>
                    <a:pt x="0" y="18225"/>
                    <a:pt x="2613" y="11916"/>
                    <a:pt x="7265" y="7265"/>
                  </a:cubicBezTo>
                  <a:cubicBezTo>
                    <a:pt x="11916" y="2613"/>
                    <a:pt x="18225" y="0"/>
                    <a:pt x="24804" y="0"/>
                  </a:cubicBezTo>
                  <a:close/>
                </a:path>
              </a:pathLst>
            </a:custGeom>
            <a:solidFill>
              <a:srgbClr val="EDE8E4"/>
            </a:solidFill>
          </p:spPr>
        </p:sp>
        <p:sp>
          <p:nvSpPr>
            <p:cNvPr name="TextBox 14" id="14"/>
            <p:cNvSpPr txBox="true"/>
            <p:nvPr/>
          </p:nvSpPr>
          <p:spPr>
            <a:xfrm>
              <a:off x="0" y="9525"/>
              <a:ext cx="1283029" cy="1209180"/>
            </a:xfrm>
            <a:prstGeom prst="rect">
              <a:avLst/>
            </a:prstGeom>
          </p:spPr>
          <p:txBody>
            <a:bodyPr anchor="ctr" rtlCol="false" tIns="50800" lIns="50800" bIns="50800" rIns="50800"/>
            <a:lstStyle/>
            <a:p>
              <a:pPr algn="ctr">
                <a:lnSpc>
                  <a:spcPts val="2121"/>
                </a:lnSpc>
              </a:pPr>
            </a:p>
          </p:txBody>
        </p:sp>
      </p:grpSp>
      <p:sp>
        <p:nvSpPr>
          <p:cNvPr name="TextBox 15" id="15"/>
          <p:cNvSpPr txBox="true"/>
          <p:nvPr/>
        </p:nvSpPr>
        <p:spPr>
          <a:xfrm rot="0">
            <a:off x="1592341" y="2313351"/>
            <a:ext cx="6558298" cy="756048"/>
          </a:xfrm>
          <a:prstGeom prst="rect">
            <a:avLst/>
          </a:prstGeom>
        </p:spPr>
        <p:txBody>
          <a:bodyPr anchor="t" rtlCol="false" tIns="0" lIns="0" bIns="0" rIns="0">
            <a:spAutoFit/>
          </a:bodyPr>
          <a:lstStyle/>
          <a:p>
            <a:pPr algn="ctr">
              <a:lnSpc>
                <a:spcPts val="6103"/>
              </a:lnSpc>
            </a:pPr>
            <a:r>
              <a:rPr lang="en-US" b="true" sz="4359" spc="43">
                <a:solidFill>
                  <a:srgbClr val="253754"/>
                </a:solidFill>
                <a:latin typeface="Glacial Indifference Bold"/>
                <a:ea typeface="Glacial Indifference Bold"/>
                <a:cs typeface="Glacial Indifference Bold"/>
                <a:sym typeface="Glacial Indifference Bold"/>
              </a:rPr>
              <a:t>precios dinamicos</a:t>
            </a:r>
          </a:p>
        </p:txBody>
      </p:sp>
      <p:sp>
        <p:nvSpPr>
          <p:cNvPr name="Freeform 16" id="16"/>
          <p:cNvSpPr/>
          <p:nvPr/>
        </p:nvSpPr>
        <p:spPr>
          <a:xfrm flipH="false" flipV="false" rot="0">
            <a:off x="6094159" y="7085562"/>
            <a:ext cx="2601978" cy="1951483"/>
          </a:xfrm>
          <a:custGeom>
            <a:avLst/>
            <a:gdLst/>
            <a:ahLst/>
            <a:cxnLst/>
            <a:rect r="r" b="b" t="t" l="l"/>
            <a:pathLst>
              <a:path h="1951483" w="2601978">
                <a:moveTo>
                  <a:pt x="0" y="0"/>
                </a:moveTo>
                <a:lnTo>
                  <a:pt x="2601977" y="0"/>
                </a:lnTo>
                <a:lnTo>
                  <a:pt x="2601977" y="1951484"/>
                </a:lnTo>
                <a:lnTo>
                  <a:pt x="0" y="1951484"/>
                </a:lnTo>
                <a:lnTo>
                  <a:pt x="0" y="0"/>
                </a:lnTo>
                <a:close/>
              </a:path>
            </a:pathLst>
          </a:custGeom>
          <a:blipFill>
            <a:blip r:embed="rId6"/>
            <a:stretch>
              <a:fillRect l="0" t="0" r="0" b="0"/>
            </a:stretch>
          </a:blipFill>
        </p:spPr>
      </p:sp>
      <p:sp>
        <p:nvSpPr>
          <p:cNvPr name="TextBox 17" id="17"/>
          <p:cNvSpPr txBox="true"/>
          <p:nvPr/>
        </p:nvSpPr>
        <p:spPr>
          <a:xfrm rot="0">
            <a:off x="1342504" y="3231256"/>
            <a:ext cx="6260643" cy="3387601"/>
          </a:xfrm>
          <a:prstGeom prst="rect">
            <a:avLst/>
          </a:prstGeom>
        </p:spPr>
        <p:txBody>
          <a:bodyPr anchor="t" rtlCol="false" tIns="0" lIns="0" bIns="0" rIns="0">
            <a:spAutoFit/>
          </a:bodyPr>
          <a:lstStyle/>
          <a:p>
            <a:pPr algn="l">
              <a:lnSpc>
                <a:spcPts val="3856"/>
              </a:lnSpc>
            </a:pPr>
            <a:r>
              <a:rPr lang="en-US" sz="2754" spc="60">
                <a:solidFill>
                  <a:srgbClr val="152540"/>
                </a:solidFill>
                <a:latin typeface="Glacial Indifference"/>
                <a:ea typeface="Glacial Indifference"/>
                <a:cs typeface="Glacial Indifference"/>
                <a:sym typeface="Glacial Indifference"/>
              </a:rPr>
              <a:t>cinepolis implemento precios dinamicos en su dulceria donde los precios varian para cada miembro del club cinepolis, los presios se manjeran de manera distinta para cada miembro de club cinepolis, la personalizacion de la experiencia del cine.</a:t>
            </a:r>
          </a:p>
        </p:txBody>
      </p:sp>
      <p:sp>
        <p:nvSpPr>
          <p:cNvPr name="TextBox 18" id="18"/>
          <p:cNvSpPr txBox="true"/>
          <p:nvPr/>
        </p:nvSpPr>
        <p:spPr>
          <a:xfrm rot="0">
            <a:off x="10127832" y="2313351"/>
            <a:ext cx="6558298" cy="756048"/>
          </a:xfrm>
          <a:prstGeom prst="rect">
            <a:avLst/>
          </a:prstGeom>
        </p:spPr>
        <p:txBody>
          <a:bodyPr anchor="t" rtlCol="false" tIns="0" lIns="0" bIns="0" rIns="0">
            <a:spAutoFit/>
          </a:bodyPr>
          <a:lstStyle/>
          <a:p>
            <a:pPr algn="ctr">
              <a:lnSpc>
                <a:spcPts val="6103"/>
              </a:lnSpc>
            </a:pPr>
            <a:r>
              <a:rPr lang="en-US" b="true" sz="4359" spc="43">
                <a:solidFill>
                  <a:srgbClr val="253754"/>
                </a:solidFill>
                <a:latin typeface="Glacial Indifference Bold"/>
                <a:ea typeface="Glacial Indifference Bold"/>
                <a:cs typeface="Glacial Indifference Bold"/>
                <a:sym typeface="Glacial Indifference Bold"/>
              </a:rPr>
              <a:t>ML predictivo</a:t>
            </a:r>
          </a:p>
        </p:txBody>
      </p:sp>
      <p:sp>
        <p:nvSpPr>
          <p:cNvPr name="TextBox 19" id="19"/>
          <p:cNvSpPr txBox="true"/>
          <p:nvPr/>
        </p:nvSpPr>
        <p:spPr>
          <a:xfrm rot="0">
            <a:off x="9864413" y="3231256"/>
            <a:ext cx="7112374" cy="5330701"/>
          </a:xfrm>
          <a:prstGeom prst="rect">
            <a:avLst/>
          </a:prstGeom>
        </p:spPr>
        <p:txBody>
          <a:bodyPr anchor="t" rtlCol="false" tIns="0" lIns="0" bIns="0" rIns="0">
            <a:spAutoFit/>
          </a:bodyPr>
          <a:lstStyle/>
          <a:p>
            <a:pPr algn="l">
              <a:lnSpc>
                <a:spcPts val="3856"/>
              </a:lnSpc>
            </a:pPr>
            <a:r>
              <a:rPr lang="en-US" sz="2754" spc="60">
                <a:solidFill>
                  <a:srgbClr val="152540"/>
                </a:solidFill>
                <a:latin typeface="Glacial Indifference"/>
                <a:ea typeface="Glacial Indifference"/>
                <a:cs typeface="Glacial Indifference"/>
                <a:sym typeface="Glacial Indifference"/>
              </a:rPr>
              <a:t>Cinépolis utiliza modelos predicativos e inteligencia artificial para anticipar el futuro en múltiples frentes del negocio. utiliza las capacidades de Machine Learning de AWS para analizar el tráfico a las salas físicas mediante un lago de datos, para entender qué películas fueron las más populares en su lanzamiento, así como para ofrecer promociones, modelos de lealtad y la venta de alimentos y boletos en kioscos.</a:t>
            </a:r>
          </a:p>
          <a:p>
            <a:pPr algn="l">
              <a:lnSpc>
                <a:spcPts val="3856"/>
              </a:lnSpc>
            </a:pPr>
          </a:p>
        </p:txBody>
      </p:sp>
    </p:spTree>
  </p:cSld>
  <p:clrMapOvr>
    <a:masterClrMapping/>
  </p:clrMapOvr>
</p:sld>
</file>

<file path=ppt/slides/slide8.xml><?xml version="1.0" encoding="utf-8"?>
<p:sld xmlns:p="http://schemas.openxmlformats.org/presentationml/2006/main" xmlns:a="http://schemas.openxmlformats.org/drawingml/2006/main" xmlns:r="http://schemas.openxmlformats.org/officeDocument/2006/relationships">
  <p:cSld>
    <p:bg>
      <p:bgPr>
        <a:solidFill>
          <a:srgbClr val="253754"/>
        </a:solidFill>
      </p:bgPr>
    </p:bg>
    <p:spTree>
      <p:nvGrpSpPr>
        <p:cNvPr id="1" name=""/>
        <p:cNvGrpSpPr/>
        <p:nvPr/>
      </p:nvGrpSpPr>
      <p:grpSpPr>
        <a:xfrm>
          <a:off x="0" y="0"/>
          <a:ext cx="0" cy="0"/>
          <a:chOff x="0" y="0"/>
          <a:chExt cx="0" cy="0"/>
        </a:xfrm>
      </p:grpSpPr>
      <p:grpSp>
        <p:nvGrpSpPr>
          <p:cNvPr name="Group 2" id="2"/>
          <p:cNvGrpSpPr/>
          <p:nvPr/>
        </p:nvGrpSpPr>
        <p:grpSpPr>
          <a:xfrm rot="0">
            <a:off x="1277462" y="1838683"/>
            <a:ext cx="8115300" cy="3744261"/>
            <a:chOff x="0" y="0"/>
            <a:chExt cx="1283029" cy="591968"/>
          </a:xfrm>
        </p:grpSpPr>
        <p:sp>
          <p:nvSpPr>
            <p:cNvPr name="Freeform 3" id="3"/>
            <p:cNvSpPr/>
            <p:nvPr/>
          </p:nvSpPr>
          <p:spPr>
            <a:xfrm flipH="false" flipV="false" rot="0">
              <a:off x="0" y="0"/>
              <a:ext cx="1283029" cy="591968"/>
            </a:xfrm>
            <a:custGeom>
              <a:avLst/>
              <a:gdLst/>
              <a:ahLst/>
              <a:cxnLst/>
              <a:rect r="r" b="b" t="t" l="l"/>
              <a:pathLst>
                <a:path h="591968" w="1283029">
                  <a:moveTo>
                    <a:pt x="24804" y="0"/>
                  </a:moveTo>
                  <a:lnTo>
                    <a:pt x="1258225" y="0"/>
                  </a:lnTo>
                  <a:cubicBezTo>
                    <a:pt x="1264803" y="0"/>
                    <a:pt x="1271112" y="2613"/>
                    <a:pt x="1275764" y="7265"/>
                  </a:cubicBezTo>
                  <a:cubicBezTo>
                    <a:pt x="1280416" y="11916"/>
                    <a:pt x="1283029" y="18225"/>
                    <a:pt x="1283029" y="24804"/>
                  </a:cubicBezTo>
                  <a:lnTo>
                    <a:pt x="1283029" y="567164"/>
                  </a:lnTo>
                  <a:cubicBezTo>
                    <a:pt x="1283029" y="573742"/>
                    <a:pt x="1280416" y="580051"/>
                    <a:pt x="1275764" y="584703"/>
                  </a:cubicBezTo>
                  <a:cubicBezTo>
                    <a:pt x="1271112" y="589354"/>
                    <a:pt x="1264803" y="591968"/>
                    <a:pt x="1258225" y="591968"/>
                  </a:cubicBezTo>
                  <a:lnTo>
                    <a:pt x="24804" y="591968"/>
                  </a:lnTo>
                  <a:cubicBezTo>
                    <a:pt x="18225" y="591968"/>
                    <a:pt x="11916" y="589354"/>
                    <a:pt x="7265" y="584703"/>
                  </a:cubicBezTo>
                  <a:cubicBezTo>
                    <a:pt x="2613" y="580051"/>
                    <a:pt x="0" y="573742"/>
                    <a:pt x="0" y="567164"/>
                  </a:cubicBezTo>
                  <a:lnTo>
                    <a:pt x="0" y="24804"/>
                  </a:lnTo>
                  <a:cubicBezTo>
                    <a:pt x="0" y="18225"/>
                    <a:pt x="2613" y="11916"/>
                    <a:pt x="7265" y="7265"/>
                  </a:cubicBezTo>
                  <a:cubicBezTo>
                    <a:pt x="11916" y="2613"/>
                    <a:pt x="18225" y="0"/>
                    <a:pt x="24804" y="0"/>
                  </a:cubicBezTo>
                  <a:close/>
                </a:path>
              </a:pathLst>
            </a:custGeom>
            <a:solidFill>
              <a:srgbClr val="EDE8E4"/>
            </a:solidFill>
          </p:spPr>
        </p:sp>
        <p:sp>
          <p:nvSpPr>
            <p:cNvPr name="TextBox 4" id="4"/>
            <p:cNvSpPr txBox="true"/>
            <p:nvPr/>
          </p:nvSpPr>
          <p:spPr>
            <a:xfrm>
              <a:off x="0" y="9525"/>
              <a:ext cx="1283029" cy="582443"/>
            </a:xfrm>
            <a:prstGeom prst="rect">
              <a:avLst/>
            </a:prstGeom>
          </p:spPr>
          <p:txBody>
            <a:bodyPr anchor="ctr" rtlCol="false" tIns="50800" lIns="50800" bIns="50800" rIns="50800"/>
            <a:lstStyle/>
            <a:p>
              <a:pPr algn="ctr">
                <a:lnSpc>
                  <a:spcPts val="2121"/>
                </a:lnSpc>
              </a:pPr>
            </a:p>
          </p:txBody>
        </p:sp>
      </p:grpSp>
      <p:sp>
        <p:nvSpPr>
          <p:cNvPr name="TextBox 5" id="5"/>
          <p:cNvSpPr txBox="true"/>
          <p:nvPr/>
        </p:nvSpPr>
        <p:spPr>
          <a:xfrm rot="0">
            <a:off x="1808737" y="551796"/>
            <a:ext cx="15168050" cy="928948"/>
          </a:xfrm>
          <a:prstGeom prst="rect">
            <a:avLst/>
          </a:prstGeom>
        </p:spPr>
        <p:txBody>
          <a:bodyPr anchor="t" rtlCol="false" tIns="0" lIns="0" bIns="0" rIns="0">
            <a:spAutoFit/>
          </a:bodyPr>
          <a:lstStyle/>
          <a:p>
            <a:pPr algn="ctr">
              <a:lnSpc>
                <a:spcPts val="7598"/>
              </a:lnSpc>
            </a:pPr>
            <a:r>
              <a:rPr lang="en-US" b="true" sz="5427" spc="510">
                <a:solidFill>
                  <a:srgbClr val="EDE8E4"/>
                </a:solidFill>
                <a:latin typeface="Glacial Indifference Bold"/>
                <a:ea typeface="Glacial Indifference Bold"/>
                <a:cs typeface="Glacial Indifference Bold"/>
                <a:sym typeface="Glacial Indifference Bold"/>
              </a:rPr>
              <a:t>PRECIOS DINAMICOS Y ML PREDICTUVO</a:t>
            </a:r>
          </a:p>
        </p:txBody>
      </p:sp>
      <p:sp>
        <p:nvSpPr>
          <p:cNvPr name="Freeform 6" id="6"/>
          <p:cNvSpPr/>
          <p:nvPr/>
        </p:nvSpPr>
        <p:spPr>
          <a:xfrm flipH="false" flipV="false" rot="0">
            <a:off x="16686130" y="-334562"/>
            <a:ext cx="1966466" cy="1884231"/>
          </a:xfrm>
          <a:custGeom>
            <a:avLst/>
            <a:gdLst/>
            <a:ahLst/>
            <a:cxnLst/>
            <a:rect r="r" b="b" t="t" l="l"/>
            <a:pathLst>
              <a:path h="1884231" w="1966466">
                <a:moveTo>
                  <a:pt x="0" y="0"/>
                </a:moveTo>
                <a:lnTo>
                  <a:pt x="1966465" y="0"/>
                </a:lnTo>
                <a:lnTo>
                  <a:pt x="1966465" y="1884232"/>
                </a:lnTo>
                <a:lnTo>
                  <a:pt x="0" y="1884232"/>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a:ln cap="sq">
            <a:noFill/>
            <a:prstDash val="solid"/>
            <a:miter/>
          </a:ln>
        </p:spPr>
      </p:sp>
      <p:sp>
        <p:nvSpPr>
          <p:cNvPr name="Freeform 7" id="7"/>
          <p:cNvSpPr/>
          <p:nvPr/>
        </p:nvSpPr>
        <p:spPr>
          <a:xfrm flipH="false" flipV="false" rot="0">
            <a:off x="17304767" y="854768"/>
            <a:ext cx="1966466" cy="1884231"/>
          </a:xfrm>
          <a:custGeom>
            <a:avLst/>
            <a:gdLst/>
            <a:ahLst/>
            <a:cxnLst/>
            <a:rect r="r" b="b" t="t" l="l"/>
            <a:pathLst>
              <a:path h="1884231" w="1966466">
                <a:moveTo>
                  <a:pt x="0" y="0"/>
                </a:moveTo>
                <a:lnTo>
                  <a:pt x="1966466" y="0"/>
                </a:lnTo>
                <a:lnTo>
                  <a:pt x="1966466" y="1884232"/>
                </a:lnTo>
                <a:lnTo>
                  <a:pt x="0" y="1884232"/>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a:ln cap="sq">
            <a:noFill/>
            <a:prstDash val="solid"/>
            <a:miter/>
          </a:ln>
        </p:spPr>
      </p:sp>
      <p:sp>
        <p:nvSpPr>
          <p:cNvPr name="Freeform 8" id="8"/>
          <p:cNvSpPr/>
          <p:nvPr/>
        </p:nvSpPr>
        <p:spPr>
          <a:xfrm flipH="false" flipV="false" rot="0">
            <a:off x="0" y="9258300"/>
            <a:ext cx="1966466" cy="1884231"/>
          </a:xfrm>
          <a:custGeom>
            <a:avLst/>
            <a:gdLst/>
            <a:ahLst/>
            <a:cxnLst/>
            <a:rect r="r" b="b" t="t" l="l"/>
            <a:pathLst>
              <a:path h="1884231" w="1966466">
                <a:moveTo>
                  <a:pt x="0" y="0"/>
                </a:moveTo>
                <a:lnTo>
                  <a:pt x="1966466" y="0"/>
                </a:lnTo>
                <a:lnTo>
                  <a:pt x="1966466" y="1884231"/>
                </a:lnTo>
                <a:lnTo>
                  <a:pt x="0" y="1884231"/>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a:ln cap="sq">
            <a:noFill/>
            <a:prstDash val="solid"/>
            <a:miter/>
          </a:ln>
        </p:spPr>
      </p:sp>
      <p:sp>
        <p:nvSpPr>
          <p:cNvPr name="Freeform 9" id="9"/>
          <p:cNvSpPr/>
          <p:nvPr/>
        </p:nvSpPr>
        <p:spPr>
          <a:xfrm flipH="false" flipV="false" rot="0">
            <a:off x="-937766" y="8402769"/>
            <a:ext cx="1966466" cy="1884231"/>
          </a:xfrm>
          <a:custGeom>
            <a:avLst/>
            <a:gdLst/>
            <a:ahLst/>
            <a:cxnLst/>
            <a:rect r="r" b="b" t="t" l="l"/>
            <a:pathLst>
              <a:path h="1884231" w="1966466">
                <a:moveTo>
                  <a:pt x="0" y="0"/>
                </a:moveTo>
                <a:lnTo>
                  <a:pt x="1966466" y="0"/>
                </a:lnTo>
                <a:lnTo>
                  <a:pt x="1966466" y="1884231"/>
                </a:lnTo>
                <a:lnTo>
                  <a:pt x="0" y="1884231"/>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a:ln cap="sq">
            <a:noFill/>
            <a:prstDash val="solid"/>
            <a:miter/>
          </a:ln>
        </p:spPr>
      </p:sp>
      <p:sp>
        <p:nvSpPr>
          <p:cNvPr name="Freeform 10" id="10"/>
          <p:cNvSpPr/>
          <p:nvPr/>
        </p:nvSpPr>
        <p:spPr>
          <a:xfrm flipH="false" flipV="false" rot="672866">
            <a:off x="-2719489" y="-1266610"/>
            <a:ext cx="6556116" cy="6126988"/>
          </a:xfrm>
          <a:custGeom>
            <a:avLst/>
            <a:gdLst/>
            <a:ahLst/>
            <a:cxnLst/>
            <a:rect r="r" b="b" t="t" l="l"/>
            <a:pathLst>
              <a:path h="6126988" w="6556116">
                <a:moveTo>
                  <a:pt x="0" y="0"/>
                </a:moveTo>
                <a:lnTo>
                  <a:pt x="6556115" y="0"/>
                </a:lnTo>
                <a:lnTo>
                  <a:pt x="6556115" y="6126988"/>
                </a:lnTo>
                <a:lnTo>
                  <a:pt x="0" y="6126988"/>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a:ln cap="sq">
            <a:noFill/>
            <a:prstDash val="solid"/>
            <a:miter/>
          </a:ln>
        </p:spPr>
      </p:sp>
      <p:sp>
        <p:nvSpPr>
          <p:cNvPr name="Freeform 11" id="11"/>
          <p:cNvSpPr/>
          <p:nvPr/>
        </p:nvSpPr>
        <p:spPr>
          <a:xfrm flipH="false" flipV="false" rot="0">
            <a:off x="-937766" y="8402769"/>
            <a:ext cx="1966466" cy="1884231"/>
          </a:xfrm>
          <a:custGeom>
            <a:avLst/>
            <a:gdLst/>
            <a:ahLst/>
            <a:cxnLst/>
            <a:rect r="r" b="b" t="t" l="l"/>
            <a:pathLst>
              <a:path h="1884231" w="1966466">
                <a:moveTo>
                  <a:pt x="0" y="0"/>
                </a:moveTo>
                <a:lnTo>
                  <a:pt x="1966466" y="0"/>
                </a:lnTo>
                <a:lnTo>
                  <a:pt x="1966466" y="1884231"/>
                </a:lnTo>
                <a:lnTo>
                  <a:pt x="0" y="1884231"/>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a:ln cap="sq">
            <a:noFill/>
            <a:prstDash val="solid"/>
            <a:miter/>
          </a:ln>
        </p:spPr>
      </p:sp>
      <p:grpSp>
        <p:nvGrpSpPr>
          <p:cNvPr name="Group 12" id="12"/>
          <p:cNvGrpSpPr/>
          <p:nvPr/>
        </p:nvGrpSpPr>
        <p:grpSpPr>
          <a:xfrm rot="0">
            <a:off x="9749403" y="1796884"/>
            <a:ext cx="8115300" cy="3744261"/>
            <a:chOff x="0" y="0"/>
            <a:chExt cx="1283029" cy="591968"/>
          </a:xfrm>
        </p:grpSpPr>
        <p:sp>
          <p:nvSpPr>
            <p:cNvPr name="Freeform 13" id="13"/>
            <p:cNvSpPr/>
            <p:nvPr/>
          </p:nvSpPr>
          <p:spPr>
            <a:xfrm flipH="false" flipV="false" rot="0">
              <a:off x="0" y="0"/>
              <a:ext cx="1283029" cy="591968"/>
            </a:xfrm>
            <a:custGeom>
              <a:avLst/>
              <a:gdLst/>
              <a:ahLst/>
              <a:cxnLst/>
              <a:rect r="r" b="b" t="t" l="l"/>
              <a:pathLst>
                <a:path h="591968" w="1283029">
                  <a:moveTo>
                    <a:pt x="24804" y="0"/>
                  </a:moveTo>
                  <a:lnTo>
                    <a:pt x="1258225" y="0"/>
                  </a:lnTo>
                  <a:cubicBezTo>
                    <a:pt x="1264803" y="0"/>
                    <a:pt x="1271112" y="2613"/>
                    <a:pt x="1275764" y="7265"/>
                  </a:cubicBezTo>
                  <a:cubicBezTo>
                    <a:pt x="1280416" y="11916"/>
                    <a:pt x="1283029" y="18225"/>
                    <a:pt x="1283029" y="24804"/>
                  </a:cubicBezTo>
                  <a:lnTo>
                    <a:pt x="1283029" y="567164"/>
                  </a:lnTo>
                  <a:cubicBezTo>
                    <a:pt x="1283029" y="573742"/>
                    <a:pt x="1280416" y="580051"/>
                    <a:pt x="1275764" y="584703"/>
                  </a:cubicBezTo>
                  <a:cubicBezTo>
                    <a:pt x="1271112" y="589354"/>
                    <a:pt x="1264803" y="591968"/>
                    <a:pt x="1258225" y="591968"/>
                  </a:cubicBezTo>
                  <a:lnTo>
                    <a:pt x="24804" y="591968"/>
                  </a:lnTo>
                  <a:cubicBezTo>
                    <a:pt x="18225" y="591968"/>
                    <a:pt x="11916" y="589354"/>
                    <a:pt x="7265" y="584703"/>
                  </a:cubicBezTo>
                  <a:cubicBezTo>
                    <a:pt x="2613" y="580051"/>
                    <a:pt x="0" y="573742"/>
                    <a:pt x="0" y="567164"/>
                  </a:cubicBezTo>
                  <a:lnTo>
                    <a:pt x="0" y="24804"/>
                  </a:lnTo>
                  <a:cubicBezTo>
                    <a:pt x="0" y="18225"/>
                    <a:pt x="2613" y="11916"/>
                    <a:pt x="7265" y="7265"/>
                  </a:cubicBezTo>
                  <a:cubicBezTo>
                    <a:pt x="11916" y="2613"/>
                    <a:pt x="18225" y="0"/>
                    <a:pt x="24804" y="0"/>
                  </a:cubicBezTo>
                  <a:close/>
                </a:path>
              </a:pathLst>
            </a:custGeom>
            <a:solidFill>
              <a:srgbClr val="EDE8E4"/>
            </a:solidFill>
          </p:spPr>
        </p:sp>
        <p:sp>
          <p:nvSpPr>
            <p:cNvPr name="TextBox 14" id="14"/>
            <p:cNvSpPr txBox="true"/>
            <p:nvPr/>
          </p:nvSpPr>
          <p:spPr>
            <a:xfrm>
              <a:off x="0" y="9525"/>
              <a:ext cx="1283029" cy="582443"/>
            </a:xfrm>
            <a:prstGeom prst="rect">
              <a:avLst/>
            </a:prstGeom>
          </p:spPr>
          <p:txBody>
            <a:bodyPr anchor="ctr" rtlCol="false" tIns="50800" lIns="50800" bIns="50800" rIns="50800"/>
            <a:lstStyle/>
            <a:p>
              <a:pPr algn="ctr">
                <a:lnSpc>
                  <a:spcPts val="2121"/>
                </a:lnSpc>
              </a:pPr>
            </a:p>
          </p:txBody>
        </p:sp>
      </p:grpSp>
      <p:grpSp>
        <p:nvGrpSpPr>
          <p:cNvPr name="Group 15" id="15"/>
          <p:cNvGrpSpPr/>
          <p:nvPr/>
        </p:nvGrpSpPr>
        <p:grpSpPr>
          <a:xfrm rot="0">
            <a:off x="18221344" y="1796884"/>
            <a:ext cx="8115300" cy="2861624"/>
            <a:chOff x="0" y="0"/>
            <a:chExt cx="1283029" cy="452423"/>
          </a:xfrm>
        </p:grpSpPr>
        <p:sp>
          <p:nvSpPr>
            <p:cNvPr name="Freeform 16" id="16"/>
            <p:cNvSpPr/>
            <p:nvPr/>
          </p:nvSpPr>
          <p:spPr>
            <a:xfrm flipH="false" flipV="false" rot="0">
              <a:off x="0" y="0"/>
              <a:ext cx="1283029" cy="452423"/>
            </a:xfrm>
            <a:custGeom>
              <a:avLst/>
              <a:gdLst/>
              <a:ahLst/>
              <a:cxnLst/>
              <a:rect r="r" b="b" t="t" l="l"/>
              <a:pathLst>
                <a:path h="452423" w="1283029">
                  <a:moveTo>
                    <a:pt x="24804" y="0"/>
                  </a:moveTo>
                  <a:lnTo>
                    <a:pt x="1258225" y="0"/>
                  </a:lnTo>
                  <a:cubicBezTo>
                    <a:pt x="1264803" y="0"/>
                    <a:pt x="1271112" y="2613"/>
                    <a:pt x="1275764" y="7265"/>
                  </a:cubicBezTo>
                  <a:cubicBezTo>
                    <a:pt x="1280416" y="11916"/>
                    <a:pt x="1283029" y="18225"/>
                    <a:pt x="1283029" y="24804"/>
                  </a:cubicBezTo>
                  <a:lnTo>
                    <a:pt x="1283029" y="427619"/>
                  </a:lnTo>
                  <a:cubicBezTo>
                    <a:pt x="1283029" y="434197"/>
                    <a:pt x="1280416" y="440506"/>
                    <a:pt x="1275764" y="445158"/>
                  </a:cubicBezTo>
                  <a:cubicBezTo>
                    <a:pt x="1271112" y="449809"/>
                    <a:pt x="1264803" y="452423"/>
                    <a:pt x="1258225" y="452423"/>
                  </a:cubicBezTo>
                  <a:lnTo>
                    <a:pt x="24804" y="452423"/>
                  </a:lnTo>
                  <a:cubicBezTo>
                    <a:pt x="18225" y="452423"/>
                    <a:pt x="11916" y="449809"/>
                    <a:pt x="7265" y="445158"/>
                  </a:cubicBezTo>
                  <a:cubicBezTo>
                    <a:pt x="2613" y="440506"/>
                    <a:pt x="0" y="434197"/>
                    <a:pt x="0" y="427619"/>
                  </a:cubicBezTo>
                  <a:lnTo>
                    <a:pt x="0" y="24804"/>
                  </a:lnTo>
                  <a:cubicBezTo>
                    <a:pt x="0" y="18225"/>
                    <a:pt x="2613" y="11916"/>
                    <a:pt x="7265" y="7265"/>
                  </a:cubicBezTo>
                  <a:cubicBezTo>
                    <a:pt x="11916" y="2613"/>
                    <a:pt x="18225" y="0"/>
                    <a:pt x="24804" y="0"/>
                  </a:cubicBezTo>
                  <a:close/>
                </a:path>
              </a:pathLst>
            </a:custGeom>
            <a:solidFill>
              <a:srgbClr val="EDE8E4"/>
            </a:solidFill>
          </p:spPr>
        </p:sp>
        <p:sp>
          <p:nvSpPr>
            <p:cNvPr name="TextBox 17" id="17"/>
            <p:cNvSpPr txBox="true"/>
            <p:nvPr/>
          </p:nvSpPr>
          <p:spPr>
            <a:xfrm>
              <a:off x="0" y="9525"/>
              <a:ext cx="1283029" cy="442898"/>
            </a:xfrm>
            <a:prstGeom prst="rect">
              <a:avLst/>
            </a:prstGeom>
          </p:spPr>
          <p:txBody>
            <a:bodyPr anchor="ctr" rtlCol="false" tIns="50800" lIns="50800" bIns="50800" rIns="50800"/>
            <a:lstStyle/>
            <a:p>
              <a:pPr algn="ctr">
                <a:lnSpc>
                  <a:spcPts val="2121"/>
                </a:lnSpc>
              </a:pPr>
            </a:p>
          </p:txBody>
        </p:sp>
      </p:grpSp>
      <p:grpSp>
        <p:nvGrpSpPr>
          <p:cNvPr name="Group 18" id="18"/>
          <p:cNvGrpSpPr/>
          <p:nvPr/>
        </p:nvGrpSpPr>
        <p:grpSpPr>
          <a:xfrm rot="0">
            <a:off x="1277462" y="5940882"/>
            <a:ext cx="8115300" cy="3636116"/>
            <a:chOff x="0" y="0"/>
            <a:chExt cx="1283029" cy="574870"/>
          </a:xfrm>
        </p:grpSpPr>
        <p:sp>
          <p:nvSpPr>
            <p:cNvPr name="Freeform 19" id="19"/>
            <p:cNvSpPr/>
            <p:nvPr/>
          </p:nvSpPr>
          <p:spPr>
            <a:xfrm flipH="false" flipV="false" rot="0">
              <a:off x="0" y="0"/>
              <a:ext cx="1283029" cy="574870"/>
            </a:xfrm>
            <a:custGeom>
              <a:avLst/>
              <a:gdLst/>
              <a:ahLst/>
              <a:cxnLst/>
              <a:rect r="r" b="b" t="t" l="l"/>
              <a:pathLst>
                <a:path h="574870" w="1283029">
                  <a:moveTo>
                    <a:pt x="24804" y="0"/>
                  </a:moveTo>
                  <a:lnTo>
                    <a:pt x="1258225" y="0"/>
                  </a:lnTo>
                  <a:cubicBezTo>
                    <a:pt x="1264803" y="0"/>
                    <a:pt x="1271112" y="2613"/>
                    <a:pt x="1275764" y="7265"/>
                  </a:cubicBezTo>
                  <a:cubicBezTo>
                    <a:pt x="1280416" y="11916"/>
                    <a:pt x="1283029" y="18225"/>
                    <a:pt x="1283029" y="24804"/>
                  </a:cubicBezTo>
                  <a:lnTo>
                    <a:pt x="1283029" y="550066"/>
                  </a:lnTo>
                  <a:cubicBezTo>
                    <a:pt x="1283029" y="556644"/>
                    <a:pt x="1280416" y="562953"/>
                    <a:pt x="1275764" y="567605"/>
                  </a:cubicBezTo>
                  <a:cubicBezTo>
                    <a:pt x="1271112" y="572257"/>
                    <a:pt x="1264803" y="574870"/>
                    <a:pt x="1258225" y="574870"/>
                  </a:cubicBezTo>
                  <a:lnTo>
                    <a:pt x="24804" y="574870"/>
                  </a:lnTo>
                  <a:cubicBezTo>
                    <a:pt x="18225" y="574870"/>
                    <a:pt x="11916" y="572257"/>
                    <a:pt x="7265" y="567605"/>
                  </a:cubicBezTo>
                  <a:cubicBezTo>
                    <a:pt x="2613" y="562953"/>
                    <a:pt x="0" y="556644"/>
                    <a:pt x="0" y="550066"/>
                  </a:cubicBezTo>
                  <a:lnTo>
                    <a:pt x="0" y="24804"/>
                  </a:lnTo>
                  <a:cubicBezTo>
                    <a:pt x="0" y="18225"/>
                    <a:pt x="2613" y="11916"/>
                    <a:pt x="7265" y="7265"/>
                  </a:cubicBezTo>
                  <a:cubicBezTo>
                    <a:pt x="11916" y="2613"/>
                    <a:pt x="18225" y="0"/>
                    <a:pt x="24804" y="0"/>
                  </a:cubicBezTo>
                  <a:close/>
                </a:path>
              </a:pathLst>
            </a:custGeom>
            <a:solidFill>
              <a:srgbClr val="EDE8E4"/>
            </a:solidFill>
          </p:spPr>
        </p:sp>
        <p:sp>
          <p:nvSpPr>
            <p:cNvPr name="TextBox 20" id="20"/>
            <p:cNvSpPr txBox="true"/>
            <p:nvPr/>
          </p:nvSpPr>
          <p:spPr>
            <a:xfrm>
              <a:off x="0" y="9525"/>
              <a:ext cx="1283029" cy="565345"/>
            </a:xfrm>
            <a:prstGeom prst="rect">
              <a:avLst/>
            </a:prstGeom>
          </p:spPr>
          <p:txBody>
            <a:bodyPr anchor="ctr" rtlCol="false" tIns="50800" lIns="50800" bIns="50800" rIns="50800"/>
            <a:lstStyle/>
            <a:p>
              <a:pPr algn="ctr">
                <a:lnSpc>
                  <a:spcPts val="2121"/>
                </a:lnSpc>
              </a:pPr>
            </a:p>
          </p:txBody>
        </p:sp>
      </p:grpSp>
      <p:grpSp>
        <p:nvGrpSpPr>
          <p:cNvPr name="Group 21" id="21"/>
          <p:cNvGrpSpPr/>
          <p:nvPr/>
        </p:nvGrpSpPr>
        <p:grpSpPr>
          <a:xfrm rot="0">
            <a:off x="9749403" y="5940882"/>
            <a:ext cx="8115300" cy="3636116"/>
            <a:chOff x="0" y="0"/>
            <a:chExt cx="1283029" cy="574870"/>
          </a:xfrm>
        </p:grpSpPr>
        <p:sp>
          <p:nvSpPr>
            <p:cNvPr name="Freeform 22" id="22"/>
            <p:cNvSpPr/>
            <p:nvPr/>
          </p:nvSpPr>
          <p:spPr>
            <a:xfrm flipH="false" flipV="false" rot="0">
              <a:off x="0" y="0"/>
              <a:ext cx="1283029" cy="574870"/>
            </a:xfrm>
            <a:custGeom>
              <a:avLst/>
              <a:gdLst/>
              <a:ahLst/>
              <a:cxnLst/>
              <a:rect r="r" b="b" t="t" l="l"/>
              <a:pathLst>
                <a:path h="574870" w="1283029">
                  <a:moveTo>
                    <a:pt x="24804" y="0"/>
                  </a:moveTo>
                  <a:lnTo>
                    <a:pt x="1258225" y="0"/>
                  </a:lnTo>
                  <a:cubicBezTo>
                    <a:pt x="1264803" y="0"/>
                    <a:pt x="1271112" y="2613"/>
                    <a:pt x="1275764" y="7265"/>
                  </a:cubicBezTo>
                  <a:cubicBezTo>
                    <a:pt x="1280416" y="11916"/>
                    <a:pt x="1283029" y="18225"/>
                    <a:pt x="1283029" y="24804"/>
                  </a:cubicBezTo>
                  <a:lnTo>
                    <a:pt x="1283029" y="550066"/>
                  </a:lnTo>
                  <a:cubicBezTo>
                    <a:pt x="1283029" y="556644"/>
                    <a:pt x="1280416" y="562953"/>
                    <a:pt x="1275764" y="567605"/>
                  </a:cubicBezTo>
                  <a:cubicBezTo>
                    <a:pt x="1271112" y="572257"/>
                    <a:pt x="1264803" y="574870"/>
                    <a:pt x="1258225" y="574870"/>
                  </a:cubicBezTo>
                  <a:lnTo>
                    <a:pt x="24804" y="574870"/>
                  </a:lnTo>
                  <a:cubicBezTo>
                    <a:pt x="18225" y="574870"/>
                    <a:pt x="11916" y="572257"/>
                    <a:pt x="7265" y="567605"/>
                  </a:cubicBezTo>
                  <a:cubicBezTo>
                    <a:pt x="2613" y="562953"/>
                    <a:pt x="0" y="556644"/>
                    <a:pt x="0" y="550066"/>
                  </a:cubicBezTo>
                  <a:lnTo>
                    <a:pt x="0" y="24804"/>
                  </a:lnTo>
                  <a:cubicBezTo>
                    <a:pt x="0" y="18225"/>
                    <a:pt x="2613" y="11916"/>
                    <a:pt x="7265" y="7265"/>
                  </a:cubicBezTo>
                  <a:cubicBezTo>
                    <a:pt x="11916" y="2613"/>
                    <a:pt x="18225" y="0"/>
                    <a:pt x="24804" y="0"/>
                  </a:cubicBezTo>
                  <a:close/>
                </a:path>
              </a:pathLst>
            </a:custGeom>
            <a:solidFill>
              <a:srgbClr val="EDE8E4"/>
            </a:solidFill>
          </p:spPr>
        </p:sp>
        <p:sp>
          <p:nvSpPr>
            <p:cNvPr name="TextBox 23" id="23"/>
            <p:cNvSpPr txBox="true"/>
            <p:nvPr/>
          </p:nvSpPr>
          <p:spPr>
            <a:xfrm>
              <a:off x="0" y="9525"/>
              <a:ext cx="1283029" cy="565345"/>
            </a:xfrm>
            <a:prstGeom prst="rect">
              <a:avLst/>
            </a:prstGeom>
          </p:spPr>
          <p:txBody>
            <a:bodyPr anchor="ctr" rtlCol="false" tIns="50800" lIns="50800" bIns="50800" rIns="50800"/>
            <a:lstStyle/>
            <a:p>
              <a:pPr algn="ctr">
                <a:lnSpc>
                  <a:spcPts val="2121"/>
                </a:lnSpc>
              </a:pPr>
            </a:p>
          </p:txBody>
        </p:sp>
      </p:grpSp>
      <p:sp>
        <p:nvSpPr>
          <p:cNvPr name="TextBox 24" id="24"/>
          <p:cNvSpPr txBox="true"/>
          <p:nvPr/>
        </p:nvSpPr>
        <p:spPr>
          <a:xfrm rot="0">
            <a:off x="1432793" y="2091537"/>
            <a:ext cx="7804638" cy="647463"/>
          </a:xfrm>
          <a:prstGeom prst="rect">
            <a:avLst/>
          </a:prstGeom>
        </p:spPr>
        <p:txBody>
          <a:bodyPr anchor="t" rtlCol="false" tIns="0" lIns="0" bIns="0" rIns="0">
            <a:spAutoFit/>
          </a:bodyPr>
          <a:lstStyle/>
          <a:p>
            <a:pPr algn="ctr">
              <a:lnSpc>
                <a:spcPts val="5263"/>
              </a:lnSpc>
            </a:pPr>
            <a:r>
              <a:rPr lang="en-US" b="true" sz="3759" spc="37">
                <a:solidFill>
                  <a:srgbClr val="253754"/>
                </a:solidFill>
                <a:latin typeface="Glacial Indifference Bold"/>
                <a:ea typeface="Glacial Indifference Bold"/>
                <a:cs typeface="Glacial Indifference Bold"/>
                <a:sym typeface="Glacial Indifference Bold"/>
              </a:rPr>
              <a:t>1- infraestructrua centralizada</a:t>
            </a:r>
          </a:p>
        </p:txBody>
      </p:sp>
      <p:sp>
        <p:nvSpPr>
          <p:cNvPr name="TextBox 25" id="25"/>
          <p:cNvSpPr txBox="true"/>
          <p:nvPr/>
        </p:nvSpPr>
        <p:spPr>
          <a:xfrm rot="0">
            <a:off x="1808737" y="2681850"/>
            <a:ext cx="7335263" cy="2416051"/>
          </a:xfrm>
          <a:prstGeom prst="rect">
            <a:avLst/>
          </a:prstGeom>
        </p:spPr>
        <p:txBody>
          <a:bodyPr anchor="t" rtlCol="false" tIns="0" lIns="0" bIns="0" rIns="0">
            <a:spAutoFit/>
          </a:bodyPr>
          <a:lstStyle/>
          <a:p>
            <a:pPr algn="l">
              <a:lnSpc>
                <a:spcPts val="3856"/>
              </a:lnSpc>
            </a:pPr>
            <a:r>
              <a:rPr lang="en-US" sz="2754" spc="60">
                <a:solidFill>
                  <a:srgbClr val="152540"/>
                </a:solidFill>
                <a:latin typeface="Glacial Indifference"/>
                <a:ea typeface="Glacial Indifference"/>
                <a:cs typeface="Glacial Indifference"/>
                <a:sym typeface="Glacial Indifference"/>
              </a:rPr>
              <a:t>la centralizacion de datos permite que los datos acerca de la venta de boletos, consumo de dulceria, comportamiento en la app, kioscos y redes sociales estan en un solo repositorio.</a:t>
            </a:r>
          </a:p>
        </p:txBody>
      </p:sp>
      <p:sp>
        <p:nvSpPr>
          <p:cNvPr name="TextBox 26" id="26"/>
          <p:cNvSpPr txBox="true"/>
          <p:nvPr/>
        </p:nvSpPr>
        <p:spPr>
          <a:xfrm rot="0">
            <a:off x="9864725" y="2091537"/>
            <a:ext cx="7804638" cy="647463"/>
          </a:xfrm>
          <a:prstGeom prst="rect">
            <a:avLst/>
          </a:prstGeom>
        </p:spPr>
        <p:txBody>
          <a:bodyPr anchor="t" rtlCol="false" tIns="0" lIns="0" bIns="0" rIns="0">
            <a:spAutoFit/>
          </a:bodyPr>
          <a:lstStyle/>
          <a:p>
            <a:pPr algn="ctr">
              <a:lnSpc>
                <a:spcPts val="5263"/>
              </a:lnSpc>
            </a:pPr>
            <a:r>
              <a:rPr lang="en-US" b="true" sz="3759" spc="37">
                <a:solidFill>
                  <a:srgbClr val="253754"/>
                </a:solidFill>
                <a:latin typeface="Glacial Indifference Bold"/>
                <a:ea typeface="Glacial Indifference Bold"/>
                <a:cs typeface="Glacial Indifference Bold"/>
                <a:sym typeface="Glacial Indifference Bold"/>
              </a:rPr>
              <a:t>2- club cinepolis </a:t>
            </a:r>
          </a:p>
        </p:txBody>
      </p:sp>
      <p:sp>
        <p:nvSpPr>
          <p:cNvPr name="TextBox 27" id="27"/>
          <p:cNvSpPr txBox="true"/>
          <p:nvPr/>
        </p:nvSpPr>
        <p:spPr>
          <a:xfrm rot="0">
            <a:off x="9969504" y="2681850"/>
            <a:ext cx="7335263" cy="2416051"/>
          </a:xfrm>
          <a:prstGeom prst="rect">
            <a:avLst/>
          </a:prstGeom>
        </p:spPr>
        <p:txBody>
          <a:bodyPr anchor="t" rtlCol="false" tIns="0" lIns="0" bIns="0" rIns="0">
            <a:spAutoFit/>
          </a:bodyPr>
          <a:lstStyle/>
          <a:p>
            <a:pPr algn="l">
              <a:lnSpc>
                <a:spcPts val="3856"/>
              </a:lnSpc>
            </a:pPr>
            <a:r>
              <a:rPr lang="en-US" sz="2754" spc="60">
                <a:solidFill>
                  <a:srgbClr val="152540"/>
                </a:solidFill>
                <a:latin typeface="Glacial Indifference"/>
                <a:ea typeface="Glacial Indifference"/>
                <a:cs typeface="Glacial Indifference"/>
                <a:sym typeface="Glacial Indifference"/>
              </a:rPr>
              <a:t>cerca de un 40% de los socios con una tarjeta de membrecía habrían extraviado o dejado de usar su membrecía lo que significada una pérdida de datos para poder tomar decisiones</a:t>
            </a:r>
          </a:p>
        </p:txBody>
      </p:sp>
      <p:sp>
        <p:nvSpPr>
          <p:cNvPr name="TextBox 28" id="28"/>
          <p:cNvSpPr txBox="true"/>
          <p:nvPr/>
        </p:nvSpPr>
        <p:spPr>
          <a:xfrm rot="0">
            <a:off x="1277462" y="6192543"/>
            <a:ext cx="8115300" cy="1243093"/>
          </a:xfrm>
          <a:prstGeom prst="rect">
            <a:avLst/>
          </a:prstGeom>
        </p:spPr>
        <p:txBody>
          <a:bodyPr anchor="t" rtlCol="false" tIns="0" lIns="0" bIns="0" rIns="0">
            <a:spAutoFit/>
          </a:bodyPr>
          <a:lstStyle/>
          <a:p>
            <a:pPr algn="l">
              <a:lnSpc>
                <a:spcPts val="4983"/>
              </a:lnSpc>
            </a:pPr>
            <a:r>
              <a:rPr lang="en-US" sz="3559" spc="35" b="true">
                <a:solidFill>
                  <a:srgbClr val="253754"/>
                </a:solidFill>
                <a:latin typeface="Glacial Indifference Bold"/>
                <a:ea typeface="Glacial Indifference Bold"/>
                <a:cs typeface="Glacial Indifference Bold"/>
                <a:sym typeface="Glacial Indifference Bold"/>
              </a:rPr>
              <a:t>3- BI integrado en la operación diaria</a:t>
            </a:r>
          </a:p>
          <a:p>
            <a:pPr algn="l">
              <a:lnSpc>
                <a:spcPts val="4983"/>
              </a:lnSpc>
            </a:pPr>
          </a:p>
        </p:txBody>
      </p:sp>
      <p:sp>
        <p:nvSpPr>
          <p:cNvPr name="TextBox 29" id="29"/>
          <p:cNvSpPr txBox="true"/>
          <p:nvPr/>
        </p:nvSpPr>
        <p:spPr>
          <a:xfrm rot="0">
            <a:off x="1667481" y="6842249"/>
            <a:ext cx="7335263" cy="1930276"/>
          </a:xfrm>
          <a:prstGeom prst="rect">
            <a:avLst/>
          </a:prstGeom>
        </p:spPr>
        <p:txBody>
          <a:bodyPr anchor="t" rtlCol="false" tIns="0" lIns="0" bIns="0" rIns="0">
            <a:spAutoFit/>
          </a:bodyPr>
          <a:lstStyle/>
          <a:p>
            <a:pPr algn="l">
              <a:lnSpc>
                <a:spcPts val="3856"/>
              </a:lnSpc>
            </a:pPr>
            <a:r>
              <a:rPr lang="en-US" sz="2754" spc="60">
                <a:solidFill>
                  <a:srgbClr val="152540"/>
                </a:solidFill>
                <a:latin typeface="Glacial Indifference"/>
                <a:ea typeface="Glacial Indifference"/>
                <a:cs typeface="Glacial Indifference"/>
                <a:sym typeface="Glacial Indifference"/>
              </a:rPr>
              <a:t>cinepolis utiliza sus datos día a dia, la empresa tiene la capcidad de definir escenarios, BI ad hoc, planes de acción especificos. </a:t>
            </a:r>
          </a:p>
        </p:txBody>
      </p:sp>
      <p:sp>
        <p:nvSpPr>
          <p:cNvPr name="TextBox 30" id="30"/>
          <p:cNvSpPr txBox="true"/>
          <p:nvPr/>
        </p:nvSpPr>
        <p:spPr>
          <a:xfrm rot="0">
            <a:off x="9864725" y="6084070"/>
            <a:ext cx="8115300" cy="614443"/>
          </a:xfrm>
          <a:prstGeom prst="rect">
            <a:avLst/>
          </a:prstGeom>
        </p:spPr>
        <p:txBody>
          <a:bodyPr anchor="t" rtlCol="false" tIns="0" lIns="0" bIns="0" rIns="0">
            <a:spAutoFit/>
          </a:bodyPr>
          <a:lstStyle/>
          <a:p>
            <a:pPr algn="l">
              <a:lnSpc>
                <a:spcPts val="4983"/>
              </a:lnSpc>
            </a:pPr>
            <a:r>
              <a:rPr lang="en-US" sz="3559" spc="35" b="true">
                <a:solidFill>
                  <a:srgbClr val="253754"/>
                </a:solidFill>
                <a:latin typeface="Glacial Indifference Bold"/>
                <a:ea typeface="Glacial Indifference Bold"/>
                <a:cs typeface="Glacial Indifference Bold"/>
                <a:sym typeface="Glacial Indifference Bold"/>
              </a:rPr>
              <a:t>4- Experimentación sistemática</a:t>
            </a:r>
          </a:p>
        </p:txBody>
      </p:sp>
      <p:sp>
        <p:nvSpPr>
          <p:cNvPr name="TextBox 31" id="31"/>
          <p:cNvSpPr txBox="true"/>
          <p:nvPr/>
        </p:nvSpPr>
        <p:spPr>
          <a:xfrm rot="0">
            <a:off x="9969504" y="6955687"/>
            <a:ext cx="7335263" cy="2416051"/>
          </a:xfrm>
          <a:prstGeom prst="rect">
            <a:avLst/>
          </a:prstGeom>
        </p:spPr>
        <p:txBody>
          <a:bodyPr anchor="t" rtlCol="false" tIns="0" lIns="0" bIns="0" rIns="0">
            <a:spAutoFit/>
          </a:bodyPr>
          <a:lstStyle/>
          <a:p>
            <a:pPr algn="l">
              <a:lnSpc>
                <a:spcPts val="3856"/>
              </a:lnSpc>
            </a:pPr>
            <a:r>
              <a:rPr lang="en-US" sz="2754" spc="60">
                <a:solidFill>
                  <a:srgbClr val="152540"/>
                </a:solidFill>
                <a:latin typeface="Glacial Indifference"/>
                <a:ea typeface="Glacial Indifference"/>
                <a:cs typeface="Glacial Indifference"/>
                <a:sym typeface="Glacial Indifference"/>
              </a:rPr>
              <a:t>España (90% penetración digital) como laboratorio de pruebas.</a:t>
            </a:r>
          </a:p>
          <a:p>
            <a:pPr algn="l">
              <a:lnSpc>
                <a:spcPts val="3856"/>
              </a:lnSpc>
            </a:pPr>
            <a:r>
              <a:rPr lang="en-US" sz="2754" spc="60">
                <a:solidFill>
                  <a:srgbClr val="152540"/>
                </a:solidFill>
                <a:latin typeface="Glacial Indifference"/>
                <a:ea typeface="Glacial Indifference"/>
                <a:cs typeface="Glacial Indifference"/>
                <a:sym typeface="Glacial Indifference"/>
              </a:rPr>
              <a:t>Resultados validados con datos antes de escalar a otros mercados.</a:t>
            </a:r>
          </a:p>
          <a:p>
            <a:pPr algn="l">
              <a:lnSpc>
                <a:spcPts val="3856"/>
              </a:lnSpc>
            </a:pPr>
          </a:p>
        </p:txBody>
      </p:sp>
    </p:spTree>
  </p:cSld>
  <p:clrMapOvr>
    <a:masterClrMapping/>
  </p:clrMapOvr>
</p:sld>
</file>

<file path=ppt/slides/slide9.xml><?xml version="1.0" encoding="utf-8"?>
<p:sld xmlns:p="http://schemas.openxmlformats.org/presentationml/2006/main" xmlns:a="http://schemas.openxmlformats.org/drawingml/2006/main" xmlns:r="http://schemas.openxmlformats.org/officeDocument/2006/relationships">
  <p:cSld>
    <p:bg>
      <p:bgPr>
        <a:solidFill>
          <a:srgbClr val="253754"/>
        </a:solidFill>
      </p:bgPr>
    </p:bg>
    <p:spTree>
      <p:nvGrpSpPr>
        <p:cNvPr id="1" name=""/>
        <p:cNvGrpSpPr/>
        <p:nvPr/>
      </p:nvGrpSpPr>
      <p:grpSpPr>
        <a:xfrm>
          <a:off x="0" y="0"/>
          <a:ext cx="0" cy="0"/>
          <a:chOff x="0" y="0"/>
          <a:chExt cx="0" cy="0"/>
        </a:xfrm>
      </p:grpSpPr>
      <p:sp>
        <p:nvSpPr>
          <p:cNvPr name="TextBox 2" id="2"/>
          <p:cNvSpPr txBox="true"/>
          <p:nvPr/>
        </p:nvSpPr>
        <p:spPr>
          <a:xfrm rot="0">
            <a:off x="1808737" y="551796"/>
            <a:ext cx="15168050" cy="1890973"/>
          </a:xfrm>
          <a:prstGeom prst="rect">
            <a:avLst/>
          </a:prstGeom>
        </p:spPr>
        <p:txBody>
          <a:bodyPr anchor="t" rtlCol="false" tIns="0" lIns="0" bIns="0" rIns="0">
            <a:spAutoFit/>
          </a:bodyPr>
          <a:lstStyle/>
          <a:p>
            <a:pPr algn="ctr">
              <a:lnSpc>
                <a:spcPts val="7598"/>
              </a:lnSpc>
            </a:pPr>
            <a:r>
              <a:rPr lang="en-US" b="true" sz="5427" spc="510">
                <a:solidFill>
                  <a:srgbClr val="EDE8E4"/>
                </a:solidFill>
                <a:latin typeface="Glacial Indifference Bold"/>
                <a:ea typeface="Glacial Indifference Bold"/>
                <a:cs typeface="Glacial Indifference Bold"/>
                <a:sym typeface="Glacial Indifference Bold"/>
              </a:rPr>
              <a:t>QUE TIPO DE DATOS RECOLECTA CINEPILIS?</a:t>
            </a:r>
          </a:p>
        </p:txBody>
      </p:sp>
      <p:sp>
        <p:nvSpPr>
          <p:cNvPr name="Freeform 3" id="3"/>
          <p:cNvSpPr/>
          <p:nvPr/>
        </p:nvSpPr>
        <p:spPr>
          <a:xfrm flipH="false" flipV="false" rot="0">
            <a:off x="16686130" y="-334562"/>
            <a:ext cx="1966466" cy="1884231"/>
          </a:xfrm>
          <a:custGeom>
            <a:avLst/>
            <a:gdLst/>
            <a:ahLst/>
            <a:cxnLst/>
            <a:rect r="r" b="b" t="t" l="l"/>
            <a:pathLst>
              <a:path h="1884231" w="1966466">
                <a:moveTo>
                  <a:pt x="0" y="0"/>
                </a:moveTo>
                <a:lnTo>
                  <a:pt x="1966465" y="0"/>
                </a:lnTo>
                <a:lnTo>
                  <a:pt x="1966465" y="1884232"/>
                </a:lnTo>
                <a:lnTo>
                  <a:pt x="0" y="1884232"/>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a:ln cap="sq">
            <a:noFill/>
            <a:prstDash val="solid"/>
            <a:miter/>
          </a:ln>
        </p:spPr>
      </p:sp>
      <p:sp>
        <p:nvSpPr>
          <p:cNvPr name="Freeform 4" id="4"/>
          <p:cNvSpPr/>
          <p:nvPr/>
        </p:nvSpPr>
        <p:spPr>
          <a:xfrm flipH="false" flipV="false" rot="0">
            <a:off x="17304767" y="854768"/>
            <a:ext cx="1966466" cy="1884231"/>
          </a:xfrm>
          <a:custGeom>
            <a:avLst/>
            <a:gdLst/>
            <a:ahLst/>
            <a:cxnLst/>
            <a:rect r="r" b="b" t="t" l="l"/>
            <a:pathLst>
              <a:path h="1884231" w="1966466">
                <a:moveTo>
                  <a:pt x="0" y="0"/>
                </a:moveTo>
                <a:lnTo>
                  <a:pt x="1966466" y="0"/>
                </a:lnTo>
                <a:lnTo>
                  <a:pt x="1966466" y="1884232"/>
                </a:lnTo>
                <a:lnTo>
                  <a:pt x="0" y="1884232"/>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a:ln cap="sq">
            <a:noFill/>
            <a:prstDash val="solid"/>
            <a:miter/>
          </a:ln>
        </p:spPr>
      </p:sp>
      <p:sp>
        <p:nvSpPr>
          <p:cNvPr name="Freeform 5" id="5"/>
          <p:cNvSpPr/>
          <p:nvPr/>
        </p:nvSpPr>
        <p:spPr>
          <a:xfrm flipH="false" flipV="false" rot="0">
            <a:off x="0" y="9258300"/>
            <a:ext cx="1966466" cy="1884231"/>
          </a:xfrm>
          <a:custGeom>
            <a:avLst/>
            <a:gdLst/>
            <a:ahLst/>
            <a:cxnLst/>
            <a:rect r="r" b="b" t="t" l="l"/>
            <a:pathLst>
              <a:path h="1884231" w="1966466">
                <a:moveTo>
                  <a:pt x="0" y="0"/>
                </a:moveTo>
                <a:lnTo>
                  <a:pt x="1966466" y="0"/>
                </a:lnTo>
                <a:lnTo>
                  <a:pt x="1966466" y="1884231"/>
                </a:lnTo>
                <a:lnTo>
                  <a:pt x="0" y="1884231"/>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a:ln cap="sq">
            <a:noFill/>
            <a:prstDash val="solid"/>
            <a:miter/>
          </a:ln>
        </p:spPr>
      </p:sp>
      <p:sp>
        <p:nvSpPr>
          <p:cNvPr name="Freeform 6" id="6"/>
          <p:cNvSpPr/>
          <p:nvPr/>
        </p:nvSpPr>
        <p:spPr>
          <a:xfrm flipH="false" flipV="false" rot="0">
            <a:off x="-937766" y="8402769"/>
            <a:ext cx="1966466" cy="1884231"/>
          </a:xfrm>
          <a:custGeom>
            <a:avLst/>
            <a:gdLst/>
            <a:ahLst/>
            <a:cxnLst/>
            <a:rect r="r" b="b" t="t" l="l"/>
            <a:pathLst>
              <a:path h="1884231" w="1966466">
                <a:moveTo>
                  <a:pt x="0" y="0"/>
                </a:moveTo>
                <a:lnTo>
                  <a:pt x="1966466" y="0"/>
                </a:lnTo>
                <a:lnTo>
                  <a:pt x="1966466" y="1884231"/>
                </a:lnTo>
                <a:lnTo>
                  <a:pt x="0" y="1884231"/>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a:ln cap="sq">
            <a:noFill/>
            <a:prstDash val="solid"/>
            <a:miter/>
          </a:ln>
        </p:spPr>
      </p:sp>
      <p:sp>
        <p:nvSpPr>
          <p:cNvPr name="Freeform 7" id="7"/>
          <p:cNvSpPr/>
          <p:nvPr/>
        </p:nvSpPr>
        <p:spPr>
          <a:xfrm flipH="false" flipV="false" rot="672866">
            <a:off x="-2719489" y="-1266610"/>
            <a:ext cx="6556116" cy="6126988"/>
          </a:xfrm>
          <a:custGeom>
            <a:avLst/>
            <a:gdLst/>
            <a:ahLst/>
            <a:cxnLst/>
            <a:rect r="r" b="b" t="t" l="l"/>
            <a:pathLst>
              <a:path h="6126988" w="6556116">
                <a:moveTo>
                  <a:pt x="0" y="0"/>
                </a:moveTo>
                <a:lnTo>
                  <a:pt x="6556115" y="0"/>
                </a:lnTo>
                <a:lnTo>
                  <a:pt x="6556115" y="6126988"/>
                </a:lnTo>
                <a:lnTo>
                  <a:pt x="0" y="6126988"/>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a:ln cap="sq">
            <a:noFill/>
            <a:prstDash val="solid"/>
            <a:miter/>
          </a:ln>
        </p:spPr>
      </p:sp>
      <p:sp>
        <p:nvSpPr>
          <p:cNvPr name="Freeform 8" id="8"/>
          <p:cNvSpPr/>
          <p:nvPr/>
        </p:nvSpPr>
        <p:spPr>
          <a:xfrm flipH="false" flipV="false" rot="0">
            <a:off x="-937766" y="8402769"/>
            <a:ext cx="1966466" cy="1884231"/>
          </a:xfrm>
          <a:custGeom>
            <a:avLst/>
            <a:gdLst/>
            <a:ahLst/>
            <a:cxnLst/>
            <a:rect r="r" b="b" t="t" l="l"/>
            <a:pathLst>
              <a:path h="1884231" w="1966466">
                <a:moveTo>
                  <a:pt x="0" y="0"/>
                </a:moveTo>
                <a:lnTo>
                  <a:pt x="1966466" y="0"/>
                </a:lnTo>
                <a:lnTo>
                  <a:pt x="1966466" y="1884231"/>
                </a:lnTo>
                <a:lnTo>
                  <a:pt x="0" y="1884231"/>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a:ln cap="sq">
            <a:noFill/>
            <a:prstDash val="solid"/>
            <a:miter/>
          </a:ln>
        </p:spPr>
      </p:sp>
      <p:grpSp>
        <p:nvGrpSpPr>
          <p:cNvPr name="Group 9" id="9"/>
          <p:cNvGrpSpPr/>
          <p:nvPr/>
        </p:nvGrpSpPr>
        <p:grpSpPr>
          <a:xfrm rot="0">
            <a:off x="18221344" y="1796884"/>
            <a:ext cx="8115300" cy="2861624"/>
            <a:chOff x="0" y="0"/>
            <a:chExt cx="1283029" cy="452423"/>
          </a:xfrm>
        </p:grpSpPr>
        <p:sp>
          <p:nvSpPr>
            <p:cNvPr name="Freeform 10" id="10"/>
            <p:cNvSpPr/>
            <p:nvPr/>
          </p:nvSpPr>
          <p:spPr>
            <a:xfrm flipH="false" flipV="false" rot="0">
              <a:off x="0" y="0"/>
              <a:ext cx="1283029" cy="452423"/>
            </a:xfrm>
            <a:custGeom>
              <a:avLst/>
              <a:gdLst/>
              <a:ahLst/>
              <a:cxnLst/>
              <a:rect r="r" b="b" t="t" l="l"/>
              <a:pathLst>
                <a:path h="452423" w="1283029">
                  <a:moveTo>
                    <a:pt x="24804" y="0"/>
                  </a:moveTo>
                  <a:lnTo>
                    <a:pt x="1258225" y="0"/>
                  </a:lnTo>
                  <a:cubicBezTo>
                    <a:pt x="1264803" y="0"/>
                    <a:pt x="1271112" y="2613"/>
                    <a:pt x="1275764" y="7265"/>
                  </a:cubicBezTo>
                  <a:cubicBezTo>
                    <a:pt x="1280416" y="11916"/>
                    <a:pt x="1283029" y="18225"/>
                    <a:pt x="1283029" y="24804"/>
                  </a:cubicBezTo>
                  <a:lnTo>
                    <a:pt x="1283029" y="427619"/>
                  </a:lnTo>
                  <a:cubicBezTo>
                    <a:pt x="1283029" y="434197"/>
                    <a:pt x="1280416" y="440506"/>
                    <a:pt x="1275764" y="445158"/>
                  </a:cubicBezTo>
                  <a:cubicBezTo>
                    <a:pt x="1271112" y="449809"/>
                    <a:pt x="1264803" y="452423"/>
                    <a:pt x="1258225" y="452423"/>
                  </a:cubicBezTo>
                  <a:lnTo>
                    <a:pt x="24804" y="452423"/>
                  </a:lnTo>
                  <a:cubicBezTo>
                    <a:pt x="18225" y="452423"/>
                    <a:pt x="11916" y="449809"/>
                    <a:pt x="7265" y="445158"/>
                  </a:cubicBezTo>
                  <a:cubicBezTo>
                    <a:pt x="2613" y="440506"/>
                    <a:pt x="0" y="434197"/>
                    <a:pt x="0" y="427619"/>
                  </a:cubicBezTo>
                  <a:lnTo>
                    <a:pt x="0" y="24804"/>
                  </a:lnTo>
                  <a:cubicBezTo>
                    <a:pt x="0" y="18225"/>
                    <a:pt x="2613" y="11916"/>
                    <a:pt x="7265" y="7265"/>
                  </a:cubicBezTo>
                  <a:cubicBezTo>
                    <a:pt x="11916" y="2613"/>
                    <a:pt x="18225" y="0"/>
                    <a:pt x="24804" y="0"/>
                  </a:cubicBezTo>
                  <a:close/>
                </a:path>
              </a:pathLst>
            </a:custGeom>
            <a:solidFill>
              <a:srgbClr val="EDE8E4"/>
            </a:solidFill>
          </p:spPr>
        </p:sp>
        <p:sp>
          <p:nvSpPr>
            <p:cNvPr name="TextBox 11" id="11"/>
            <p:cNvSpPr txBox="true"/>
            <p:nvPr/>
          </p:nvSpPr>
          <p:spPr>
            <a:xfrm>
              <a:off x="0" y="9525"/>
              <a:ext cx="1283029" cy="442898"/>
            </a:xfrm>
            <a:prstGeom prst="rect">
              <a:avLst/>
            </a:prstGeom>
          </p:spPr>
          <p:txBody>
            <a:bodyPr anchor="ctr" rtlCol="false" tIns="50800" lIns="50800" bIns="50800" rIns="50800"/>
            <a:lstStyle/>
            <a:p>
              <a:pPr algn="ctr">
                <a:lnSpc>
                  <a:spcPts val="2121"/>
                </a:lnSpc>
              </a:pPr>
            </a:p>
          </p:txBody>
        </p:sp>
      </p:grpSp>
      <p:grpSp>
        <p:nvGrpSpPr>
          <p:cNvPr name="Group 12" id="12"/>
          <p:cNvGrpSpPr/>
          <p:nvPr/>
        </p:nvGrpSpPr>
        <p:grpSpPr>
          <a:xfrm rot="0">
            <a:off x="1028700" y="2442769"/>
            <a:ext cx="8115300" cy="3669310"/>
            <a:chOff x="0" y="0"/>
            <a:chExt cx="1283029" cy="580118"/>
          </a:xfrm>
        </p:grpSpPr>
        <p:sp>
          <p:nvSpPr>
            <p:cNvPr name="Freeform 13" id="13"/>
            <p:cNvSpPr/>
            <p:nvPr/>
          </p:nvSpPr>
          <p:spPr>
            <a:xfrm flipH="false" flipV="false" rot="0">
              <a:off x="0" y="0"/>
              <a:ext cx="1283029" cy="580118"/>
            </a:xfrm>
            <a:custGeom>
              <a:avLst/>
              <a:gdLst/>
              <a:ahLst/>
              <a:cxnLst/>
              <a:rect r="r" b="b" t="t" l="l"/>
              <a:pathLst>
                <a:path h="580118" w="1283029">
                  <a:moveTo>
                    <a:pt x="24804" y="0"/>
                  </a:moveTo>
                  <a:lnTo>
                    <a:pt x="1258225" y="0"/>
                  </a:lnTo>
                  <a:cubicBezTo>
                    <a:pt x="1264803" y="0"/>
                    <a:pt x="1271112" y="2613"/>
                    <a:pt x="1275764" y="7265"/>
                  </a:cubicBezTo>
                  <a:cubicBezTo>
                    <a:pt x="1280416" y="11916"/>
                    <a:pt x="1283029" y="18225"/>
                    <a:pt x="1283029" y="24804"/>
                  </a:cubicBezTo>
                  <a:lnTo>
                    <a:pt x="1283029" y="555314"/>
                  </a:lnTo>
                  <a:cubicBezTo>
                    <a:pt x="1283029" y="561892"/>
                    <a:pt x="1280416" y="568201"/>
                    <a:pt x="1275764" y="572853"/>
                  </a:cubicBezTo>
                  <a:cubicBezTo>
                    <a:pt x="1271112" y="577505"/>
                    <a:pt x="1264803" y="580118"/>
                    <a:pt x="1258225" y="580118"/>
                  </a:cubicBezTo>
                  <a:lnTo>
                    <a:pt x="24804" y="580118"/>
                  </a:lnTo>
                  <a:cubicBezTo>
                    <a:pt x="18225" y="580118"/>
                    <a:pt x="11916" y="577505"/>
                    <a:pt x="7265" y="572853"/>
                  </a:cubicBezTo>
                  <a:cubicBezTo>
                    <a:pt x="2613" y="568201"/>
                    <a:pt x="0" y="561892"/>
                    <a:pt x="0" y="555314"/>
                  </a:cubicBezTo>
                  <a:lnTo>
                    <a:pt x="0" y="24804"/>
                  </a:lnTo>
                  <a:cubicBezTo>
                    <a:pt x="0" y="18225"/>
                    <a:pt x="2613" y="11916"/>
                    <a:pt x="7265" y="7265"/>
                  </a:cubicBezTo>
                  <a:cubicBezTo>
                    <a:pt x="11916" y="2613"/>
                    <a:pt x="18225" y="0"/>
                    <a:pt x="24804" y="0"/>
                  </a:cubicBezTo>
                  <a:close/>
                </a:path>
              </a:pathLst>
            </a:custGeom>
            <a:solidFill>
              <a:srgbClr val="EDE8E4"/>
            </a:solidFill>
          </p:spPr>
        </p:sp>
        <p:sp>
          <p:nvSpPr>
            <p:cNvPr name="TextBox 14" id="14"/>
            <p:cNvSpPr txBox="true"/>
            <p:nvPr/>
          </p:nvSpPr>
          <p:spPr>
            <a:xfrm>
              <a:off x="0" y="9525"/>
              <a:ext cx="1283029" cy="570593"/>
            </a:xfrm>
            <a:prstGeom prst="rect">
              <a:avLst/>
            </a:prstGeom>
          </p:spPr>
          <p:txBody>
            <a:bodyPr anchor="ctr" rtlCol="false" tIns="50800" lIns="50800" bIns="50800" rIns="50800"/>
            <a:lstStyle/>
            <a:p>
              <a:pPr algn="ctr">
                <a:lnSpc>
                  <a:spcPts val="2121"/>
                </a:lnSpc>
              </a:pPr>
            </a:p>
          </p:txBody>
        </p:sp>
      </p:grpSp>
      <p:grpSp>
        <p:nvGrpSpPr>
          <p:cNvPr name="Group 15" id="15"/>
          <p:cNvGrpSpPr/>
          <p:nvPr/>
        </p:nvGrpSpPr>
        <p:grpSpPr>
          <a:xfrm rot="0">
            <a:off x="9625022" y="2442769"/>
            <a:ext cx="8115300" cy="3669310"/>
            <a:chOff x="0" y="0"/>
            <a:chExt cx="1283029" cy="580118"/>
          </a:xfrm>
        </p:grpSpPr>
        <p:sp>
          <p:nvSpPr>
            <p:cNvPr name="Freeform 16" id="16"/>
            <p:cNvSpPr/>
            <p:nvPr/>
          </p:nvSpPr>
          <p:spPr>
            <a:xfrm flipH="false" flipV="false" rot="0">
              <a:off x="0" y="0"/>
              <a:ext cx="1283029" cy="580118"/>
            </a:xfrm>
            <a:custGeom>
              <a:avLst/>
              <a:gdLst/>
              <a:ahLst/>
              <a:cxnLst/>
              <a:rect r="r" b="b" t="t" l="l"/>
              <a:pathLst>
                <a:path h="580118" w="1283029">
                  <a:moveTo>
                    <a:pt x="24804" y="0"/>
                  </a:moveTo>
                  <a:lnTo>
                    <a:pt x="1258225" y="0"/>
                  </a:lnTo>
                  <a:cubicBezTo>
                    <a:pt x="1264803" y="0"/>
                    <a:pt x="1271112" y="2613"/>
                    <a:pt x="1275764" y="7265"/>
                  </a:cubicBezTo>
                  <a:cubicBezTo>
                    <a:pt x="1280416" y="11916"/>
                    <a:pt x="1283029" y="18225"/>
                    <a:pt x="1283029" y="24804"/>
                  </a:cubicBezTo>
                  <a:lnTo>
                    <a:pt x="1283029" y="555314"/>
                  </a:lnTo>
                  <a:cubicBezTo>
                    <a:pt x="1283029" y="561892"/>
                    <a:pt x="1280416" y="568201"/>
                    <a:pt x="1275764" y="572853"/>
                  </a:cubicBezTo>
                  <a:cubicBezTo>
                    <a:pt x="1271112" y="577505"/>
                    <a:pt x="1264803" y="580118"/>
                    <a:pt x="1258225" y="580118"/>
                  </a:cubicBezTo>
                  <a:lnTo>
                    <a:pt x="24804" y="580118"/>
                  </a:lnTo>
                  <a:cubicBezTo>
                    <a:pt x="18225" y="580118"/>
                    <a:pt x="11916" y="577505"/>
                    <a:pt x="7265" y="572853"/>
                  </a:cubicBezTo>
                  <a:cubicBezTo>
                    <a:pt x="2613" y="568201"/>
                    <a:pt x="0" y="561892"/>
                    <a:pt x="0" y="555314"/>
                  </a:cubicBezTo>
                  <a:lnTo>
                    <a:pt x="0" y="24804"/>
                  </a:lnTo>
                  <a:cubicBezTo>
                    <a:pt x="0" y="18225"/>
                    <a:pt x="2613" y="11916"/>
                    <a:pt x="7265" y="7265"/>
                  </a:cubicBezTo>
                  <a:cubicBezTo>
                    <a:pt x="11916" y="2613"/>
                    <a:pt x="18225" y="0"/>
                    <a:pt x="24804" y="0"/>
                  </a:cubicBezTo>
                  <a:close/>
                </a:path>
              </a:pathLst>
            </a:custGeom>
            <a:solidFill>
              <a:srgbClr val="EDE8E4"/>
            </a:solidFill>
          </p:spPr>
        </p:sp>
        <p:sp>
          <p:nvSpPr>
            <p:cNvPr name="TextBox 17" id="17"/>
            <p:cNvSpPr txBox="true"/>
            <p:nvPr/>
          </p:nvSpPr>
          <p:spPr>
            <a:xfrm>
              <a:off x="0" y="9525"/>
              <a:ext cx="1283029" cy="570593"/>
            </a:xfrm>
            <a:prstGeom prst="rect">
              <a:avLst/>
            </a:prstGeom>
          </p:spPr>
          <p:txBody>
            <a:bodyPr anchor="ctr" rtlCol="false" tIns="50800" lIns="50800" bIns="50800" rIns="50800"/>
            <a:lstStyle/>
            <a:p>
              <a:pPr algn="ctr">
                <a:lnSpc>
                  <a:spcPts val="2121"/>
                </a:lnSpc>
              </a:pPr>
            </a:p>
          </p:txBody>
        </p:sp>
      </p:grpSp>
      <p:sp>
        <p:nvSpPr>
          <p:cNvPr name="Freeform 18" id="18"/>
          <p:cNvSpPr/>
          <p:nvPr/>
        </p:nvSpPr>
        <p:spPr>
          <a:xfrm flipH="false" flipV="false" rot="0">
            <a:off x="10809824" y="2442769"/>
            <a:ext cx="971525" cy="971525"/>
          </a:xfrm>
          <a:custGeom>
            <a:avLst/>
            <a:gdLst/>
            <a:ahLst/>
            <a:cxnLst/>
            <a:rect r="r" b="b" t="t" l="l"/>
            <a:pathLst>
              <a:path h="971525" w="971525">
                <a:moveTo>
                  <a:pt x="0" y="0"/>
                </a:moveTo>
                <a:lnTo>
                  <a:pt x="971525" y="0"/>
                </a:lnTo>
                <a:lnTo>
                  <a:pt x="971525" y="971524"/>
                </a:lnTo>
                <a:lnTo>
                  <a:pt x="0" y="971524"/>
                </a:lnTo>
                <a:lnTo>
                  <a:pt x="0" y="0"/>
                </a:lnTo>
                <a:close/>
              </a:path>
            </a:pathLst>
          </a:custGeom>
          <a:blipFill>
            <a:blip r:embed="rId6"/>
            <a:stretch>
              <a:fillRect l="0" t="0" r="0" b="0"/>
            </a:stretch>
          </a:blipFill>
        </p:spPr>
      </p:sp>
      <p:sp>
        <p:nvSpPr>
          <p:cNvPr name="Freeform 19" id="19"/>
          <p:cNvSpPr/>
          <p:nvPr/>
        </p:nvSpPr>
        <p:spPr>
          <a:xfrm flipH="false" flipV="false" rot="0">
            <a:off x="2153082" y="2589098"/>
            <a:ext cx="753988" cy="753988"/>
          </a:xfrm>
          <a:custGeom>
            <a:avLst/>
            <a:gdLst/>
            <a:ahLst/>
            <a:cxnLst/>
            <a:rect r="r" b="b" t="t" l="l"/>
            <a:pathLst>
              <a:path h="753988" w="753988">
                <a:moveTo>
                  <a:pt x="0" y="0"/>
                </a:moveTo>
                <a:lnTo>
                  <a:pt x="753987" y="0"/>
                </a:lnTo>
                <a:lnTo>
                  <a:pt x="753987" y="753988"/>
                </a:lnTo>
                <a:lnTo>
                  <a:pt x="0" y="753988"/>
                </a:lnTo>
                <a:lnTo>
                  <a:pt x="0" y="0"/>
                </a:lnTo>
                <a:close/>
              </a:path>
            </a:pathLst>
          </a:custGeom>
          <a:blipFill>
            <a:blip r:embed="rId7"/>
            <a:stretch>
              <a:fillRect l="0" t="0" r="0" b="0"/>
            </a:stretch>
          </a:blipFill>
        </p:spPr>
      </p:sp>
      <p:grpSp>
        <p:nvGrpSpPr>
          <p:cNvPr name="Group 20" id="20"/>
          <p:cNvGrpSpPr/>
          <p:nvPr/>
        </p:nvGrpSpPr>
        <p:grpSpPr>
          <a:xfrm rot="0">
            <a:off x="1277462" y="6254954"/>
            <a:ext cx="16027305" cy="3669310"/>
            <a:chOff x="0" y="0"/>
            <a:chExt cx="2533917" cy="580118"/>
          </a:xfrm>
        </p:grpSpPr>
        <p:sp>
          <p:nvSpPr>
            <p:cNvPr name="Freeform 21" id="21"/>
            <p:cNvSpPr/>
            <p:nvPr/>
          </p:nvSpPr>
          <p:spPr>
            <a:xfrm flipH="false" flipV="false" rot="0">
              <a:off x="0" y="0"/>
              <a:ext cx="2533917" cy="580118"/>
            </a:xfrm>
            <a:custGeom>
              <a:avLst/>
              <a:gdLst/>
              <a:ahLst/>
              <a:cxnLst/>
              <a:rect r="r" b="b" t="t" l="l"/>
              <a:pathLst>
                <a:path h="580118" w="2533917">
                  <a:moveTo>
                    <a:pt x="12559" y="0"/>
                  </a:moveTo>
                  <a:lnTo>
                    <a:pt x="2521358" y="0"/>
                  </a:lnTo>
                  <a:cubicBezTo>
                    <a:pt x="2524689" y="0"/>
                    <a:pt x="2527883" y="1323"/>
                    <a:pt x="2530238" y="3679"/>
                  </a:cubicBezTo>
                  <a:cubicBezTo>
                    <a:pt x="2532594" y="6034"/>
                    <a:pt x="2533917" y="9228"/>
                    <a:pt x="2533917" y="12559"/>
                  </a:cubicBezTo>
                  <a:lnTo>
                    <a:pt x="2533917" y="567559"/>
                  </a:lnTo>
                  <a:cubicBezTo>
                    <a:pt x="2533917" y="570890"/>
                    <a:pt x="2532594" y="574084"/>
                    <a:pt x="2530238" y="576439"/>
                  </a:cubicBezTo>
                  <a:cubicBezTo>
                    <a:pt x="2527883" y="578795"/>
                    <a:pt x="2524689" y="580118"/>
                    <a:pt x="2521358" y="580118"/>
                  </a:cubicBezTo>
                  <a:lnTo>
                    <a:pt x="12559" y="580118"/>
                  </a:lnTo>
                  <a:cubicBezTo>
                    <a:pt x="9228" y="580118"/>
                    <a:pt x="6034" y="578795"/>
                    <a:pt x="3679" y="576439"/>
                  </a:cubicBezTo>
                  <a:cubicBezTo>
                    <a:pt x="1323" y="574084"/>
                    <a:pt x="0" y="570890"/>
                    <a:pt x="0" y="567559"/>
                  </a:cubicBezTo>
                  <a:lnTo>
                    <a:pt x="0" y="12559"/>
                  </a:lnTo>
                  <a:cubicBezTo>
                    <a:pt x="0" y="9228"/>
                    <a:pt x="1323" y="6034"/>
                    <a:pt x="3679" y="3679"/>
                  </a:cubicBezTo>
                  <a:cubicBezTo>
                    <a:pt x="6034" y="1323"/>
                    <a:pt x="9228" y="0"/>
                    <a:pt x="12559" y="0"/>
                  </a:cubicBezTo>
                  <a:close/>
                </a:path>
              </a:pathLst>
            </a:custGeom>
            <a:solidFill>
              <a:srgbClr val="EDE8E4"/>
            </a:solidFill>
          </p:spPr>
        </p:sp>
        <p:sp>
          <p:nvSpPr>
            <p:cNvPr name="TextBox 22" id="22"/>
            <p:cNvSpPr txBox="true"/>
            <p:nvPr/>
          </p:nvSpPr>
          <p:spPr>
            <a:xfrm>
              <a:off x="0" y="9525"/>
              <a:ext cx="2533917" cy="570593"/>
            </a:xfrm>
            <a:prstGeom prst="rect">
              <a:avLst/>
            </a:prstGeom>
          </p:spPr>
          <p:txBody>
            <a:bodyPr anchor="ctr" rtlCol="false" tIns="50800" lIns="50800" bIns="50800" rIns="50800"/>
            <a:lstStyle/>
            <a:p>
              <a:pPr algn="ctr">
                <a:lnSpc>
                  <a:spcPts val="2121"/>
                </a:lnSpc>
              </a:pPr>
            </a:p>
          </p:txBody>
        </p:sp>
      </p:grpSp>
      <p:sp>
        <p:nvSpPr>
          <p:cNvPr name="Freeform 23" id="23"/>
          <p:cNvSpPr/>
          <p:nvPr/>
        </p:nvSpPr>
        <p:spPr>
          <a:xfrm flipH="false" flipV="false" rot="0">
            <a:off x="11983720" y="6836516"/>
            <a:ext cx="5014276" cy="2820530"/>
          </a:xfrm>
          <a:custGeom>
            <a:avLst/>
            <a:gdLst/>
            <a:ahLst/>
            <a:cxnLst/>
            <a:rect r="r" b="b" t="t" l="l"/>
            <a:pathLst>
              <a:path h="2820530" w="5014276">
                <a:moveTo>
                  <a:pt x="0" y="0"/>
                </a:moveTo>
                <a:lnTo>
                  <a:pt x="5014276" y="0"/>
                </a:lnTo>
                <a:lnTo>
                  <a:pt x="5014276" y="2820531"/>
                </a:lnTo>
                <a:lnTo>
                  <a:pt x="0" y="2820531"/>
                </a:lnTo>
                <a:lnTo>
                  <a:pt x="0" y="0"/>
                </a:lnTo>
                <a:close/>
              </a:path>
            </a:pathLst>
          </a:custGeom>
          <a:blipFill>
            <a:blip r:embed="rId8"/>
            <a:stretch>
              <a:fillRect l="0" t="0" r="0" b="0"/>
            </a:stretch>
          </a:blipFill>
        </p:spPr>
      </p:sp>
      <p:sp>
        <p:nvSpPr>
          <p:cNvPr name="TextBox 24" id="24"/>
          <p:cNvSpPr txBox="true"/>
          <p:nvPr/>
        </p:nvSpPr>
        <p:spPr>
          <a:xfrm rot="0">
            <a:off x="1184031" y="2695623"/>
            <a:ext cx="7804638" cy="647463"/>
          </a:xfrm>
          <a:prstGeom prst="rect">
            <a:avLst/>
          </a:prstGeom>
        </p:spPr>
        <p:txBody>
          <a:bodyPr anchor="t" rtlCol="false" tIns="0" lIns="0" bIns="0" rIns="0">
            <a:spAutoFit/>
          </a:bodyPr>
          <a:lstStyle/>
          <a:p>
            <a:pPr algn="ctr">
              <a:lnSpc>
                <a:spcPts val="5263"/>
              </a:lnSpc>
            </a:pPr>
            <a:r>
              <a:rPr lang="en-US" b="true" sz="3759" spc="37">
                <a:solidFill>
                  <a:srgbClr val="253754"/>
                </a:solidFill>
                <a:latin typeface="Glacial Indifference Bold"/>
                <a:ea typeface="Glacial Indifference Bold"/>
                <a:cs typeface="Glacial Indifference Bold"/>
                <a:sym typeface="Glacial Indifference Bold"/>
              </a:rPr>
              <a:t>transaccionales</a:t>
            </a:r>
          </a:p>
        </p:txBody>
      </p:sp>
      <p:sp>
        <p:nvSpPr>
          <p:cNvPr name="TextBox 25" id="25"/>
          <p:cNvSpPr txBox="true"/>
          <p:nvPr/>
        </p:nvSpPr>
        <p:spPr>
          <a:xfrm rot="0">
            <a:off x="1559975" y="3285936"/>
            <a:ext cx="7335263" cy="2416051"/>
          </a:xfrm>
          <a:prstGeom prst="rect">
            <a:avLst/>
          </a:prstGeom>
        </p:spPr>
        <p:txBody>
          <a:bodyPr anchor="t" rtlCol="false" tIns="0" lIns="0" bIns="0" rIns="0">
            <a:spAutoFit/>
          </a:bodyPr>
          <a:lstStyle/>
          <a:p>
            <a:pPr algn="l" marL="594780" indent="-297390" lvl="1">
              <a:lnSpc>
                <a:spcPts val="3856"/>
              </a:lnSpc>
              <a:buFont typeface="Arial"/>
              <a:buChar char="•"/>
            </a:pPr>
            <a:r>
              <a:rPr lang="en-US" sz="2754" spc="60">
                <a:solidFill>
                  <a:srgbClr val="152540"/>
                </a:solidFill>
                <a:latin typeface="Glacial Indifference"/>
                <a:ea typeface="Glacial Indifference"/>
                <a:cs typeface="Glacial Indifference"/>
                <a:sym typeface="Glacial Indifference"/>
              </a:rPr>
              <a:t>compra de boletos</a:t>
            </a:r>
          </a:p>
          <a:p>
            <a:pPr algn="l" marL="594780" indent="-297390" lvl="1">
              <a:lnSpc>
                <a:spcPts val="3856"/>
              </a:lnSpc>
              <a:buFont typeface="Arial"/>
              <a:buChar char="•"/>
            </a:pPr>
            <a:r>
              <a:rPr lang="en-US" sz="2754" spc="60">
                <a:solidFill>
                  <a:srgbClr val="152540"/>
                </a:solidFill>
                <a:latin typeface="Glacial Indifference"/>
                <a:ea typeface="Glacial Indifference"/>
                <a:cs typeface="Glacial Indifference"/>
                <a:sym typeface="Glacial Indifference"/>
              </a:rPr>
              <a:t>consumo en dulceeria por porducto </a:t>
            </a:r>
          </a:p>
          <a:p>
            <a:pPr algn="l" marL="594780" indent="-297390" lvl="1">
              <a:lnSpc>
                <a:spcPts val="3856"/>
              </a:lnSpc>
              <a:buFont typeface="Arial"/>
              <a:buChar char="•"/>
            </a:pPr>
            <a:r>
              <a:rPr lang="en-US" sz="2754" spc="60">
                <a:solidFill>
                  <a:srgbClr val="152540"/>
                </a:solidFill>
                <a:latin typeface="Glacial Indifference"/>
                <a:ea typeface="Glacial Indifference"/>
                <a:cs typeface="Glacial Indifference"/>
                <a:sym typeface="Glacial Indifference"/>
              </a:rPr>
              <a:t>tipos de sala: IMAX, 4DX, VIP, tradicional </a:t>
            </a:r>
          </a:p>
          <a:p>
            <a:pPr algn="l" marL="594780" indent="-297390" lvl="1">
              <a:lnSpc>
                <a:spcPts val="3856"/>
              </a:lnSpc>
              <a:buFont typeface="Arial"/>
              <a:buChar char="•"/>
            </a:pPr>
            <a:r>
              <a:rPr lang="en-US" sz="2754" spc="60">
                <a:solidFill>
                  <a:srgbClr val="152540"/>
                </a:solidFill>
                <a:latin typeface="Glacial Indifference"/>
                <a:ea typeface="Glacial Indifference"/>
                <a:cs typeface="Glacial Indifference"/>
                <a:sym typeface="Glacial Indifference"/>
              </a:rPr>
              <a:t>horarios elegicos y frecuecnia de visita</a:t>
            </a:r>
          </a:p>
          <a:p>
            <a:pPr algn="l" marL="594780" indent="-297390" lvl="1">
              <a:lnSpc>
                <a:spcPts val="3856"/>
              </a:lnSpc>
              <a:buFont typeface="Arial"/>
              <a:buChar char="•"/>
            </a:pPr>
            <a:r>
              <a:rPr lang="en-US" sz="2754" spc="60">
                <a:solidFill>
                  <a:srgbClr val="152540"/>
                </a:solidFill>
                <a:latin typeface="Glacial Indifference"/>
                <a:ea typeface="Glacial Indifference"/>
                <a:cs typeface="Glacial Indifference"/>
                <a:sym typeface="Glacial Indifference"/>
              </a:rPr>
              <a:t>patrones de sistencia por dia </a:t>
            </a:r>
          </a:p>
        </p:txBody>
      </p:sp>
      <p:sp>
        <p:nvSpPr>
          <p:cNvPr name="TextBox 26" id="26"/>
          <p:cNvSpPr txBox="true"/>
          <p:nvPr/>
        </p:nvSpPr>
        <p:spPr>
          <a:xfrm rot="0">
            <a:off x="9780353" y="2695623"/>
            <a:ext cx="7804638" cy="647463"/>
          </a:xfrm>
          <a:prstGeom prst="rect">
            <a:avLst/>
          </a:prstGeom>
        </p:spPr>
        <p:txBody>
          <a:bodyPr anchor="t" rtlCol="false" tIns="0" lIns="0" bIns="0" rIns="0">
            <a:spAutoFit/>
          </a:bodyPr>
          <a:lstStyle/>
          <a:p>
            <a:pPr algn="ctr">
              <a:lnSpc>
                <a:spcPts val="5263"/>
              </a:lnSpc>
            </a:pPr>
            <a:r>
              <a:rPr lang="en-US" b="true" sz="3759" spc="37">
                <a:solidFill>
                  <a:srgbClr val="253754"/>
                </a:solidFill>
                <a:latin typeface="Glacial Indifference Bold"/>
                <a:ea typeface="Glacial Indifference Bold"/>
                <a:cs typeface="Glacial Indifference Bold"/>
                <a:sym typeface="Glacial Indifference Bold"/>
              </a:rPr>
              <a:t>perfil del socio</a:t>
            </a:r>
          </a:p>
        </p:txBody>
      </p:sp>
      <p:sp>
        <p:nvSpPr>
          <p:cNvPr name="TextBox 27" id="27"/>
          <p:cNvSpPr txBox="true"/>
          <p:nvPr/>
        </p:nvSpPr>
        <p:spPr>
          <a:xfrm rot="0">
            <a:off x="10156297" y="3285936"/>
            <a:ext cx="7335263" cy="2416051"/>
          </a:xfrm>
          <a:prstGeom prst="rect">
            <a:avLst/>
          </a:prstGeom>
        </p:spPr>
        <p:txBody>
          <a:bodyPr anchor="t" rtlCol="false" tIns="0" lIns="0" bIns="0" rIns="0">
            <a:spAutoFit/>
          </a:bodyPr>
          <a:lstStyle/>
          <a:p>
            <a:pPr algn="l" marL="594780" indent="-297390" lvl="1">
              <a:lnSpc>
                <a:spcPts val="3856"/>
              </a:lnSpc>
              <a:buFont typeface="Arial"/>
              <a:buChar char="•"/>
            </a:pPr>
            <a:r>
              <a:rPr lang="en-US" sz="2754" spc="60">
                <a:solidFill>
                  <a:srgbClr val="152540"/>
                </a:solidFill>
                <a:latin typeface="Glacial Indifference"/>
                <a:ea typeface="Glacial Indifference"/>
                <a:cs typeface="Glacial Indifference"/>
                <a:sym typeface="Glacial Indifference"/>
              </a:rPr>
              <a:t>compra de boletos</a:t>
            </a:r>
          </a:p>
          <a:p>
            <a:pPr algn="l" marL="594780" indent="-297390" lvl="1">
              <a:lnSpc>
                <a:spcPts val="3856"/>
              </a:lnSpc>
              <a:buFont typeface="Arial"/>
              <a:buChar char="•"/>
            </a:pPr>
            <a:r>
              <a:rPr lang="en-US" sz="2754" spc="60">
                <a:solidFill>
                  <a:srgbClr val="152540"/>
                </a:solidFill>
                <a:latin typeface="Glacial Indifference"/>
                <a:ea typeface="Glacial Indifference"/>
                <a:cs typeface="Glacial Indifference"/>
                <a:sym typeface="Glacial Indifference"/>
              </a:rPr>
              <a:t>consumo en dulceeria por porducto </a:t>
            </a:r>
          </a:p>
          <a:p>
            <a:pPr algn="l" marL="594780" indent="-297390" lvl="1">
              <a:lnSpc>
                <a:spcPts val="3856"/>
              </a:lnSpc>
              <a:buFont typeface="Arial"/>
              <a:buChar char="•"/>
            </a:pPr>
            <a:r>
              <a:rPr lang="en-US" sz="2754" spc="60">
                <a:solidFill>
                  <a:srgbClr val="152540"/>
                </a:solidFill>
                <a:latin typeface="Glacial Indifference"/>
                <a:ea typeface="Glacial Indifference"/>
                <a:cs typeface="Glacial Indifference"/>
                <a:sym typeface="Glacial Indifference"/>
              </a:rPr>
              <a:t>tipos de sala: IMAX, 4DX, VIP, tradicional </a:t>
            </a:r>
          </a:p>
          <a:p>
            <a:pPr algn="l" marL="594780" indent="-297390" lvl="1">
              <a:lnSpc>
                <a:spcPts val="3856"/>
              </a:lnSpc>
              <a:buFont typeface="Arial"/>
              <a:buChar char="•"/>
            </a:pPr>
            <a:r>
              <a:rPr lang="en-US" sz="2754" spc="60">
                <a:solidFill>
                  <a:srgbClr val="152540"/>
                </a:solidFill>
                <a:latin typeface="Glacial Indifference"/>
                <a:ea typeface="Glacial Indifference"/>
                <a:cs typeface="Glacial Indifference"/>
                <a:sym typeface="Glacial Indifference"/>
              </a:rPr>
              <a:t>horarios elegicos y frecuecnia de visita</a:t>
            </a:r>
          </a:p>
          <a:p>
            <a:pPr algn="l" marL="594780" indent="-297390" lvl="1">
              <a:lnSpc>
                <a:spcPts val="3856"/>
              </a:lnSpc>
              <a:buFont typeface="Arial"/>
              <a:buChar char="•"/>
            </a:pPr>
            <a:r>
              <a:rPr lang="en-US" sz="2754" spc="60">
                <a:solidFill>
                  <a:srgbClr val="152540"/>
                </a:solidFill>
                <a:latin typeface="Glacial Indifference"/>
                <a:ea typeface="Glacial Indifference"/>
                <a:cs typeface="Glacial Indifference"/>
                <a:sym typeface="Glacial Indifference"/>
              </a:rPr>
              <a:t>patrones de sistencia por dia </a:t>
            </a:r>
          </a:p>
        </p:txBody>
      </p:sp>
      <p:sp>
        <p:nvSpPr>
          <p:cNvPr name="TextBox 28" id="28"/>
          <p:cNvSpPr txBox="true"/>
          <p:nvPr/>
        </p:nvSpPr>
        <p:spPr>
          <a:xfrm rot="0">
            <a:off x="1584233" y="6507808"/>
            <a:ext cx="15413763" cy="647463"/>
          </a:xfrm>
          <a:prstGeom prst="rect">
            <a:avLst/>
          </a:prstGeom>
        </p:spPr>
        <p:txBody>
          <a:bodyPr anchor="t" rtlCol="false" tIns="0" lIns="0" bIns="0" rIns="0">
            <a:spAutoFit/>
          </a:bodyPr>
          <a:lstStyle/>
          <a:p>
            <a:pPr algn="l">
              <a:lnSpc>
                <a:spcPts val="5263"/>
              </a:lnSpc>
            </a:pPr>
            <a:r>
              <a:rPr lang="en-US" sz="3759" spc="37" b="true">
                <a:solidFill>
                  <a:srgbClr val="253754"/>
                </a:solidFill>
                <a:latin typeface="Glacial Indifference Bold"/>
                <a:ea typeface="Glacial Indifference Bold"/>
                <a:cs typeface="Glacial Indifference Bold"/>
                <a:sym typeface="Glacial Indifference Bold"/>
              </a:rPr>
              <a:t>digitales y redes sociales</a:t>
            </a:r>
          </a:p>
        </p:txBody>
      </p:sp>
      <p:sp>
        <p:nvSpPr>
          <p:cNvPr name="TextBox 29" id="29"/>
          <p:cNvSpPr txBox="true"/>
          <p:nvPr/>
        </p:nvSpPr>
        <p:spPr>
          <a:xfrm rot="0">
            <a:off x="1559975" y="7240996"/>
            <a:ext cx="14486771" cy="2416051"/>
          </a:xfrm>
          <a:prstGeom prst="rect">
            <a:avLst/>
          </a:prstGeom>
        </p:spPr>
        <p:txBody>
          <a:bodyPr anchor="t" rtlCol="false" tIns="0" lIns="0" bIns="0" rIns="0">
            <a:spAutoFit/>
          </a:bodyPr>
          <a:lstStyle/>
          <a:p>
            <a:pPr algn="l" marL="594780" indent="-297390" lvl="1">
              <a:lnSpc>
                <a:spcPts val="3856"/>
              </a:lnSpc>
              <a:buFont typeface="Arial"/>
              <a:buChar char="•"/>
            </a:pPr>
            <a:r>
              <a:rPr lang="en-US" sz="2754" spc="60">
                <a:solidFill>
                  <a:srgbClr val="152540"/>
                </a:solidFill>
                <a:latin typeface="Glacial Indifference"/>
                <a:ea typeface="Glacial Indifference"/>
                <a:cs typeface="Glacial Indifference"/>
                <a:sym typeface="Glacial Indifference"/>
              </a:rPr>
              <a:t>82.3% de sus internautas accede desde dispositivo móvil, </a:t>
            </a:r>
          </a:p>
          <a:p>
            <a:pPr algn="l" marL="594780" indent="-297390" lvl="1">
              <a:lnSpc>
                <a:spcPts val="3856"/>
              </a:lnSpc>
              <a:buFont typeface="Arial"/>
              <a:buChar char="•"/>
            </a:pPr>
            <a:r>
              <a:rPr lang="en-US" sz="2754" spc="60">
                <a:solidFill>
                  <a:srgbClr val="152540"/>
                </a:solidFill>
                <a:latin typeface="Glacial Indifference"/>
                <a:ea typeface="Glacial Indifference"/>
                <a:cs typeface="Glacial Indifference"/>
                <a:sym typeface="Glacial Indifference"/>
              </a:rPr>
              <a:t>YouTube genera el 32.31% del tráfico desde redes sociales</a:t>
            </a:r>
          </a:p>
          <a:p>
            <a:pPr algn="l" marL="594780" indent="-297390" lvl="1">
              <a:lnSpc>
                <a:spcPts val="3856"/>
              </a:lnSpc>
              <a:buFont typeface="Arial"/>
              <a:buChar char="•"/>
            </a:pPr>
            <a:r>
              <a:rPr lang="en-US" sz="2754" spc="60">
                <a:solidFill>
                  <a:srgbClr val="152540"/>
                </a:solidFill>
                <a:latin typeface="Glacial Indifference"/>
                <a:ea typeface="Glacial Indifference"/>
                <a:cs typeface="Glacial Indifference"/>
                <a:sym typeface="Glacial Indifference"/>
              </a:rPr>
              <a:t>Facebook con 29.01% </a:t>
            </a:r>
          </a:p>
          <a:p>
            <a:pPr algn="l" marL="594780" indent="-297390" lvl="1">
              <a:lnSpc>
                <a:spcPts val="3856"/>
              </a:lnSpc>
              <a:buFont typeface="Arial"/>
              <a:buChar char="•"/>
            </a:pPr>
            <a:r>
              <a:rPr lang="en-US" sz="2754" spc="60">
                <a:solidFill>
                  <a:srgbClr val="152540"/>
                </a:solidFill>
                <a:latin typeface="Glacial Indifference"/>
                <a:ea typeface="Glacial Indifference"/>
                <a:cs typeface="Glacial Indifference"/>
                <a:sym typeface="Glacial Indifference"/>
              </a:rPr>
              <a:t>WhatsApp con 19.21%</a:t>
            </a:r>
          </a:p>
          <a:p>
            <a:pPr algn="l">
              <a:lnSpc>
                <a:spcPts val="3856"/>
              </a:lnSpc>
            </a:pPr>
          </a:p>
        </p:txBody>
      </p:sp>
    </p:spTree>
  </p:cSld>
  <p:clrMapOvr>
    <a:masterClrMapping/>
  </p:clrMapOvr>
</p:sld>
</file>

<file path=ppt/slides/slide10.xml><?xml version="1.0" encoding="utf-8"?>
<p:sld xmlns:p="http://schemas.openxmlformats.org/presentationml/2006/main" xmlns:a="http://schemas.openxmlformats.org/drawingml/2006/main" xmlns:r="http://schemas.openxmlformats.org/officeDocument/2006/relationships">
  <p:cSld>
    <p:bg>
      <p:bgPr>
        <a:solidFill>
          <a:srgbClr val="253754"/>
        </a:solidFill>
      </p:bgPr>
    </p:bg>
    <p:spTree>
      <p:nvGrpSpPr>
        <p:cNvPr id="1" name=""/>
        <p:cNvGrpSpPr/>
        <p:nvPr/>
      </p:nvGrpSpPr>
      <p:grpSpPr>
        <a:xfrm>
          <a:off x="0" y="0"/>
          <a:ext cx="0" cy="0"/>
          <a:chOff x="0" y="0"/>
          <a:chExt cx="0" cy="0"/>
        </a:xfrm>
      </p:grpSpPr>
      <p:sp>
        <p:nvSpPr>
          <p:cNvPr name="TextBox 2" id="2"/>
          <p:cNvSpPr txBox="true"/>
          <p:nvPr/>
        </p:nvSpPr>
        <p:spPr>
          <a:xfrm rot="0">
            <a:off x="1808737" y="551796"/>
            <a:ext cx="15168050" cy="1890973"/>
          </a:xfrm>
          <a:prstGeom prst="rect">
            <a:avLst/>
          </a:prstGeom>
        </p:spPr>
        <p:txBody>
          <a:bodyPr anchor="t" rtlCol="false" tIns="0" lIns="0" bIns="0" rIns="0">
            <a:spAutoFit/>
          </a:bodyPr>
          <a:lstStyle/>
          <a:p>
            <a:pPr algn="ctr">
              <a:lnSpc>
                <a:spcPts val="7598"/>
              </a:lnSpc>
            </a:pPr>
            <a:r>
              <a:rPr lang="en-US" b="true" sz="5427" spc="510">
                <a:solidFill>
                  <a:srgbClr val="EDE8E4"/>
                </a:solidFill>
                <a:latin typeface="Glacial Indifference Bold"/>
                <a:ea typeface="Glacial Indifference Bold"/>
                <a:cs typeface="Glacial Indifference Bold"/>
                <a:sym typeface="Glacial Indifference Bold"/>
              </a:rPr>
              <a:t>SEGMENTACION: 4 ARQUTIPOS DE CLEINTES</a:t>
            </a:r>
          </a:p>
        </p:txBody>
      </p:sp>
      <p:sp>
        <p:nvSpPr>
          <p:cNvPr name="Freeform 3" id="3"/>
          <p:cNvSpPr/>
          <p:nvPr/>
        </p:nvSpPr>
        <p:spPr>
          <a:xfrm flipH="false" flipV="false" rot="0">
            <a:off x="16686130" y="-334562"/>
            <a:ext cx="1966466" cy="1884231"/>
          </a:xfrm>
          <a:custGeom>
            <a:avLst/>
            <a:gdLst/>
            <a:ahLst/>
            <a:cxnLst/>
            <a:rect r="r" b="b" t="t" l="l"/>
            <a:pathLst>
              <a:path h="1884231" w="1966466">
                <a:moveTo>
                  <a:pt x="0" y="0"/>
                </a:moveTo>
                <a:lnTo>
                  <a:pt x="1966465" y="0"/>
                </a:lnTo>
                <a:lnTo>
                  <a:pt x="1966465" y="1884232"/>
                </a:lnTo>
                <a:lnTo>
                  <a:pt x="0" y="1884232"/>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a:ln cap="sq">
            <a:noFill/>
            <a:prstDash val="solid"/>
            <a:miter/>
          </a:ln>
        </p:spPr>
      </p:sp>
      <p:sp>
        <p:nvSpPr>
          <p:cNvPr name="Freeform 4" id="4"/>
          <p:cNvSpPr/>
          <p:nvPr/>
        </p:nvSpPr>
        <p:spPr>
          <a:xfrm flipH="false" flipV="false" rot="0">
            <a:off x="17304767" y="854768"/>
            <a:ext cx="1966466" cy="1884231"/>
          </a:xfrm>
          <a:custGeom>
            <a:avLst/>
            <a:gdLst/>
            <a:ahLst/>
            <a:cxnLst/>
            <a:rect r="r" b="b" t="t" l="l"/>
            <a:pathLst>
              <a:path h="1884231" w="1966466">
                <a:moveTo>
                  <a:pt x="0" y="0"/>
                </a:moveTo>
                <a:lnTo>
                  <a:pt x="1966466" y="0"/>
                </a:lnTo>
                <a:lnTo>
                  <a:pt x="1966466" y="1884232"/>
                </a:lnTo>
                <a:lnTo>
                  <a:pt x="0" y="1884232"/>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a:ln cap="sq">
            <a:noFill/>
            <a:prstDash val="solid"/>
            <a:miter/>
          </a:ln>
        </p:spPr>
      </p:sp>
      <p:sp>
        <p:nvSpPr>
          <p:cNvPr name="Freeform 5" id="5"/>
          <p:cNvSpPr/>
          <p:nvPr/>
        </p:nvSpPr>
        <p:spPr>
          <a:xfrm flipH="false" flipV="false" rot="0">
            <a:off x="0" y="9258300"/>
            <a:ext cx="1966466" cy="1884231"/>
          </a:xfrm>
          <a:custGeom>
            <a:avLst/>
            <a:gdLst/>
            <a:ahLst/>
            <a:cxnLst/>
            <a:rect r="r" b="b" t="t" l="l"/>
            <a:pathLst>
              <a:path h="1884231" w="1966466">
                <a:moveTo>
                  <a:pt x="0" y="0"/>
                </a:moveTo>
                <a:lnTo>
                  <a:pt x="1966466" y="0"/>
                </a:lnTo>
                <a:lnTo>
                  <a:pt x="1966466" y="1884231"/>
                </a:lnTo>
                <a:lnTo>
                  <a:pt x="0" y="1884231"/>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a:ln cap="sq">
            <a:noFill/>
            <a:prstDash val="solid"/>
            <a:miter/>
          </a:ln>
        </p:spPr>
      </p:sp>
      <p:sp>
        <p:nvSpPr>
          <p:cNvPr name="Freeform 6" id="6"/>
          <p:cNvSpPr/>
          <p:nvPr/>
        </p:nvSpPr>
        <p:spPr>
          <a:xfrm flipH="false" flipV="false" rot="0">
            <a:off x="-937766" y="8402769"/>
            <a:ext cx="1966466" cy="1884231"/>
          </a:xfrm>
          <a:custGeom>
            <a:avLst/>
            <a:gdLst/>
            <a:ahLst/>
            <a:cxnLst/>
            <a:rect r="r" b="b" t="t" l="l"/>
            <a:pathLst>
              <a:path h="1884231" w="1966466">
                <a:moveTo>
                  <a:pt x="0" y="0"/>
                </a:moveTo>
                <a:lnTo>
                  <a:pt x="1966466" y="0"/>
                </a:lnTo>
                <a:lnTo>
                  <a:pt x="1966466" y="1884231"/>
                </a:lnTo>
                <a:lnTo>
                  <a:pt x="0" y="1884231"/>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a:ln cap="sq">
            <a:noFill/>
            <a:prstDash val="solid"/>
            <a:miter/>
          </a:ln>
        </p:spPr>
      </p:sp>
      <p:sp>
        <p:nvSpPr>
          <p:cNvPr name="Freeform 7" id="7"/>
          <p:cNvSpPr/>
          <p:nvPr/>
        </p:nvSpPr>
        <p:spPr>
          <a:xfrm flipH="false" flipV="false" rot="672866">
            <a:off x="-2719489" y="-1266610"/>
            <a:ext cx="6556116" cy="6126988"/>
          </a:xfrm>
          <a:custGeom>
            <a:avLst/>
            <a:gdLst/>
            <a:ahLst/>
            <a:cxnLst/>
            <a:rect r="r" b="b" t="t" l="l"/>
            <a:pathLst>
              <a:path h="6126988" w="6556116">
                <a:moveTo>
                  <a:pt x="0" y="0"/>
                </a:moveTo>
                <a:lnTo>
                  <a:pt x="6556115" y="0"/>
                </a:lnTo>
                <a:lnTo>
                  <a:pt x="6556115" y="6126988"/>
                </a:lnTo>
                <a:lnTo>
                  <a:pt x="0" y="6126988"/>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a:ln cap="sq">
            <a:noFill/>
            <a:prstDash val="solid"/>
            <a:miter/>
          </a:ln>
        </p:spPr>
      </p:sp>
      <p:sp>
        <p:nvSpPr>
          <p:cNvPr name="Freeform 8" id="8"/>
          <p:cNvSpPr/>
          <p:nvPr/>
        </p:nvSpPr>
        <p:spPr>
          <a:xfrm flipH="false" flipV="false" rot="0">
            <a:off x="-937766" y="8402769"/>
            <a:ext cx="1966466" cy="1884231"/>
          </a:xfrm>
          <a:custGeom>
            <a:avLst/>
            <a:gdLst/>
            <a:ahLst/>
            <a:cxnLst/>
            <a:rect r="r" b="b" t="t" l="l"/>
            <a:pathLst>
              <a:path h="1884231" w="1966466">
                <a:moveTo>
                  <a:pt x="0" y="0"/>
                </a:moveTo>
                <a:lnTo>
                  <a:pt x="1966466" y="0"/>
                </a:lnTo>
                <a:lnTo>
                  <a:pt x="1966466" y="1884231"/>
                </a:lnTo>
                <a:lnTo>
                  <a:pt x="0" y="1884231"/>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a:ln cap="sq">
            <a:noFill/>
            <a:prstDash val="solid"/>
            <a:miter/>
          </a:ln>
        </p:spPr>
      </p:sp>
      <p:grpSp>
        <p:nvGrpSpPr>
          <p:cNvPr name="Group 9" id="9"/>
          <p:cNvGrpSpPr/>
          <p:nvPr/>
        </p:nvGrpSpPr>
        <p:grpSpPr>
          <a:xfrm rot="0">
            <a:off x="18221344" y="1796884"/>
            <a:ext cx="8115300" cy="2861624"/>
            <a:chOff x="0" y="0"/>
            <a:chExt cx="1283029" cy="452423"/>
          </a:xfrm>
        </p:grpSpPr>
        <p:sp>
          <p:nvSpPr>
            <p:cNvPr name="Freeform 10" id="10"/>
            <p:cNvSpPr/>
            <p:nvPr/>
          </p:nvSpPr>
          <p:spPr>
            <a:xfrm flipH="false" flipV="false" rot="0">
              <a:off x="0" y="0"/>
              <a:ext cx="1283029" cy="452423"/>
            </a:xfrm>
            <a:custGeom>
              <a:avLst/>
              <a:gdLst/>
              <a:ahLst/>
              <a:cxnLst/>
              <a:rect r="r" b="b" t="t" l="l"/>
              <a:pathLst>
                <a:path h="452423" w="1283029">
                  <a:moveTo>
                    <a:pt x="24804" y="0"/>
                  </a:moveTo>
                  <a:lnTo>
                    <a:pt x="1258225" y="0"/>
                  </a:lnTo>
                  <a:cubicBezTo>
                    <a:pt x="1264803" y="0"/>
                    <a:pt x="1271112" y="2613"/>
                    <a:pt x="1275764" y="7265"/>
                  </a:cubicBezTo>
                  <a:cubicBezTo>
                    <a:pt x="1280416" y="11916"/>
                    <a:pt x="1283029" y="18225"/>
                    <a:pt x="1283029" y="24804"/>
                  </a:cubicBezTo>
                  <a:lnTo>
                    <a:pt x="1283029" y="427619"/>
                  </a:lnTo>
                  <a:cubicBezTo>
                    <a:pt x="1283029" y="434197"/>
                    <a:pt x="1280416" y="440506"/>
                    <a:pt x="1275764" y="445158"/>
                  </a:cubicBezTo>
                  <a:cubicBezTo>
                    <a:pt x="1271112" y="449809"/>
                    <a:pt x="1264803" y="452423"/>
                    <a:pt x="1258225" y="452423"/>
                  </a:cubicBezTo>
                  <a:lnTo>
                    <a:pt x="24804" y="452423"/>
                  </a:lnTo>
                  <a:cubicBezTo>
                    <a:pt x="18225" y="452423"/>
                    <a:pt x="11916" y="449809"/>
                    <a:pt x="7265" y="445158"/>
                  </a:cubicBezTo>
                  <a:cubicBezTo>
                    <a:pt x="2613" y="440506"/>
                    <a:pt x="0" y="434197"/>
                    <a:pt x="0" y="427619"/>
                  </a:cubicBezTo>
                  <a:lnTo>
                    <a:pt x="0" y="24804"/>
                  </a:lnTo>
                  <a:cubicBezTo>
                    <a:pt x="0" y="18225"/>
                    <a:pt x="2613" y="11916"/>
                    <a:pt x="7265" y="7265"/>
                  </a:cubicBezTo>
                  <a:cubicBezTo>
                    <a:pt x="11916" y="2613"/>
                    <a:pt x="18225" y="0"/>
                    <a:pt x="24804" y="0"/>
                  </a:cubicBezTo>
                  <a:close/>
                </a:path>
              </a:pathLst>
            </a:custGeom>
            <a:solidFill>
              <a:srgbClr val="EDE8E4"/>
            </a:solidFill>
          </p:spPr>
        </p:sp>
        <p:sp>
          <p:nvSpPr>
            <p:cNvPr name="TextBox 11" id="11"/>
            <p:cNvSpPr txBox="true"/>
            <p:nvPr/>
          </p:nvSpPr>
          <p:spPr>
            <a:xfrm>
              <a:off x="0" y="9525"/>
              <a:ext cx="1283029" cy="442898"/>
            </a:xfrm>
            <a:prstGeom prst="rect">
              <a:avLst/>
            </a:prstGeom>
          </p:spPr>
          <p:txBody>
            <a:bodyPr anchor="ctr" rtlCol="false" tIns="50800" lIns="50800" bIns="50800" rIns="50800"/>
            <a:lstStyle/>
            <a:p>
              <a:pPr algn="ctr">
                <a:lnSpc>
                  <a:spcPts val="2121"/>
                </a:lnSpc>
              </a:pPr>
            </a:p>
          </p:txBody>
        </p:sp>
      </p:grpSp>
      <p:grpSp>
        <p:nvGrpSpPr>
          <p:cNvPr name="Group 12" id="12"/>
          <p:cNvGrpSpPr/>
          <p:nvPr/>
        </p:nvGrpSpPr>
        <p:grpSpPr>
          <a:xfrm rot="0">
            <a:off x="1028700" y="2442769"/>
            <a:ext cx="8115300" cy="3669310"/>
            <a:chOff x="0" y="0"/>
            <a:chExt cx="1283029" cy="580118"/>
          </a:xfrm>
        </p:grpSpPr>
        <p:sp>
          <p:nvSpPr>
            <p:cNvPr name="Freeform 13" id="13"/>
            <p:cNvSpPr/>
            <p:nvPr/>
          </p:nvSpPr>
          <p:spPr>
            <a:xfrm flipH="false" flipV="false" rot="0">
              <a:off x="0" y="0"/>
              <a:ext cx="1283029" cy="580118"/>
            </a:xfrm>
            <a:custGeom>
              <a:avLst/>
              <a:gdLst/>
              <a:ahLst/>
              <a:cxnLst/>
              <a:rect r="r" b="b" t="t" l="l"/>
              <a:pathLst>
                <a:path h="580118" w="1283029">
                  <a:moveTo>
                    <a:pt x="24804" y="0"/>
                  </a:moveTo>
                  <a:lnTo>
                    <a:pt x="1258225" y="0"/>
                  </a:lnTo>
                  <a:cubicBezTo>
                    <a:pt x="1264803" y="0"/>
                    <a:pt x="1271112" y="2613"/>
                    <a:pt x="1275764" y="7265"/>
                  </a:cubicBezTo>
                  <a:cubicBezTo>
                    <a:pt x="1280416" y="11916"/>
                    <a:pt x="1283029" y="18225"/>
                    <a:pt x="1283029" y="24804"/>
                  </a:cubicBezTo>
                  <a:lnTo>
                    <a:pt x="1283029" y="555314"/>
                  </a:lnTo>
                  <a:cubicBezTo>
                    <a:pt x="1283029" y="561892"/>
                    <a:pt x="1280416" y="568201"/>
                    <a:pt x="1275764" y="572853"/>
                  </a:cubicBezTo>
                  <a:cubicBezTo>
                    <a:pt x="1271112" y="577505"/>
                    <a:pt x="1264803" y="580118"/>
                    <a:pt x="1258225" y="580118"/>
                  </a:cubicBezTo>
                  <a:lnTo>
                    <a:pt x="24804" y="580118"/>
                  </a:lnTo>
                  <a:cubicBezTo>
                    <a:pt x="18225" y="580118"/>
                    <a:pt x="11916" y="577505"/>
                    <a:pt x="7265" y="572853"/>
                  </a:cubicBezTo>
                  <a:cubicBezTo>
                    <a:pt x="2613" y="568201"/>
                    <a:pt x="0" y="561892"/>
                    <a:pt x="0" y="555314"/>
                  </a:cubicBezTo>
                  <a:lnTo>
                    <a:pt x="0" y="24804"/>
                  </a:lnTo>
                  <a:cubicBezTo>
                    <a:pt x="0" y="18225"/>
                    <a:pt x="2613" y="11916"/>
                    <a:pt x="7265" y="7265"/>
                  </a:cubicBezTo>
                  <a:cubicBezTo>
                    <a:pt x="11916" y="2613"/>
                    <a:pt x="18225" y="0"/>
                    <a:pt x="24804" y="0"/>
                  </a:cubicBezTo>
                  <a:close/>
                </a:path>
              </a:pathLst>
            </a:custGeom>
            <a:solidFill>
              <a:srgbClr val="EDE8E4"/>
            </a:solidFill>
          </p:spPr>
        </p:sp>
        <p:sp>
          <p:nvSpPr>
            <p:cNvPr name="TextBox 14" id="14"/>
            <p:cNvSpPr txBox="true"/>
            <p:nvPr/>
          </p:nvSpPr>
          <p:spPr>
            <a:xfrm>
              <a:off x="0" y="9525"/>
              <a:ext cx="1283029" cy="570593"/>
            </a:xfrm>
            <a:prstGeom prst="rect">
              <a:avLst/>
            </a:prstGeom>
          </p:spPr>
          <p:txBody>
            <a:bodyPr anchor="ctr" rtlCol="false" tIns="50800" lIns="50800" bIns="50800" rIns="50800"/>
            <a:lstStyle/>
            <a:p>
              <a:pPr algn="ctr">
                <a:lnSpc>
                  <a:spcPts val="2121"/>
                </a:lnSpc>
              </a:pPr>
            </a:p>
          </p:txBody>
        </p:sp>
      </p:grpSp>
      <p:sp>
        <p:nvSpPr>
          <p:cNvPr name="TextBox 15" id="15"/>
          <p:cNvSpPr txBox="true"/>
          <p:nvPr/>
        </p:nvSpPr>
        <p:spPr>
          <a:xfrm rot="0">
            <a:off x="1184031" y="2695623"/>
            <a:ext cx="7804638" cy="647463"/>
          </a:xfrm>
          <a:prstGeom prst="rect">
            <a:avLst/>
          </a:prstGeom>
        </p:spPr>
        <p:txBody>
          <a:bodyPr anchor="t" rtlCol="false" tIns="0" lIns="0" bIns="0" rIns="0">
            <a:spAutoFit/>
          </a:bodyPr>
          <a:lstStyle/>
          <a:p>
            <a:pPr algn="ctr">
              <a:lnSpc>
                <a:spcPts val="5263"/>
              </a:lnSpc>
            </a:pPr>
            <a:r>
              <a:rPr lang="en-US" b="true" sz="3759" spc="37">
                <a:solidFill>
                  <a:srgbClr val="253754"/>
                </a:solidFill>
                <a:latin typeface="Glacial Indifference Bold"/>
                <a:ea typeface="Glacial Indifference Bold"/>
                <a:cs typeface="Glacial Indifference Bold"/>
                <a:sym typeface="Glacial Indifference Bold"/>
              </a:rPr>
              <a:t>Gru</a:t>
            </a:r>
          </a:p>
        </p:txBody>
      </p:sp>
      <p:sp>
        <p:nvSpPr>
          <p:cNvPr name="TextBox 16" id="16"/>
          <p:cNvSpPr txBox="true"/>
          <p:nvPr/>
        </p:nvSpPr>
        <p:spPr>
          <a:xfrm rot="0">
            <a:off x="1418719" y="4220274"/>
            <a:ext cx="7335263" cy="1444501"/>
          </a:xfrm>
          <a:prstGeom prst="rect">
            <a:avLst/>
          </a:prstGeom>
        </p:spPr>
        <p:txBody>
          <a:bodyPr anchor="t" rtlCol="false" tIns="0" lIns="0" bIns="0" rIns="0">
            <a:spAutoFit/>
          </a:bodyPr>
          <a:lstStyle/>
          <a:p>
            <a:pPr algn="l" marL="594780" indent="-297390" lvl="1">
              <a:lnSpc>
                <a:spcPts val="3856"/>
              </a:lnSpc>
              <a:buFont typeface="Arial"/>
              <a:buChar char="•"/>
            </a:pPr>
            <a:r>
              <a:rPr lang="en-US" sz="2754" spc="60">
                <a:solidFill>
                  <a:srgbClr val="152540"/>
                </a:solidFill>
                <a:latin typeface="Glacial Indifference"/>
                <a:ea typeface="Glacial Indifference"/>
                <a:cs typeface="Glacial Indifference"/>
                <a:sym typeface="Glacial Indifference"/>
              </a:rPr>
              <a:t>Busca complacer a sus acompañantes. Menos comprometido con el cine en sí mismo.</a:t>
            </a:r>
          </a:p>
        </p:txBody>
      </p:sp>
      <p:sp>
        <p:nvSpPr>
          <p:cNvPr name="TextBox 17" id="17"/>
          <p:cNvSpPr txBox="true"/>
          <p:nvPr/>
        </p:nvSpPr>
        <p:spPr>
          <a:xfrm rot="0">
            <a:off x="1808737" y="3285936"/>
            <a:ext cx="7335263" cy="522481"/>
          </a:xfrm>
          <a:prstGeom prst="rect">
            <a:avLst/>
          </a:prstGeom>
        </p:spPr>
        <p:txBody>
          <a:bodyPr anchor="t" rtlCol="false" tIns="0" lIns="0" bIns="0" rIns="0">
            <a:spAutoFit/>
          </a:bodyPr>
          <a:lstStyle/>
          <a:p>
            <a:pPr algn="l">
              <a:lnSpc>
                <a:spcPts val="4276"/>
              </a:lnSpc>
            </a:pPr>
            <a:r>
              <a:rPr lang="en-US" sz="3054" spc="67" b="true">
                <a:solidFill>
                  <a:srgbClr val="152540"/>
                </a:solidFill>
                <a:latin typeface="Glacial Indifference Bold"/>
                <a:ea typeface="Glacial Indifference Bold"/>
                <a:cs typeface="Glacial Indifference Bold"/>
                <a:sym typeface="Glacial Indifference Bold"/>
              </a:rPr>
              <a:t>32% visitantes   7% club</a:t>
            </a:r>
          </a:p>
        </p:txBody>
      </p:sp>
      <p:grpSp>
        <p:nvGrpSpPr>
          <p:cNvPr name="Group 18" id="18"/>
          <p:cNvGrpSpPr/>
          <p:nvPr/>
        </p:nvGrpSpPr>
        <p:grpSpPr>
          <a:xfrm rot="0">
            <a:off x="9554063" y="2442769"/>
            <a:ext cx="8115300" cy="3669310"/>
            <a:chOff x="0" y="0"/>
            <a:chExt cx="1283029" cy="580118"/>
          </a:xfrm>
        </p:grpSpPr>
        <p:sp>
          <p:nvSpPr>
            <p:cNvPr name="Freeform 19" id="19"/>
            <p:cNvSpPr/>
            <p:nvPr/>
          </p:nvSpPr>
          <p:spPr>
            <a:xfrm flipH="false" flipV="false" rot="0">
              <a:off x="0" y="0"/>
              <a:ext cx="1283029" cy="580118"/>
            </a:xfrm>
            <a:custGeom>
              <a:avLst/>
              <a:gdLst/>
              <a:ahLst/>
              <a:cxnLst/>
              <a:rect r="r" b="b" t="t" l="l"/>
              <a:pathLst>
                <a:path h="580118" w="1283029">
                  <a:moveTo>
                    <a:pt x="24804" y="0"/>
                  </a:moveTo>
                  <a:lnTo>
                    <a:pt x="1258225" y="0"/>
                  </a:lnTo>
                  <a:cubicBezTo>
                    <a:pt x="1264803" y="0"/>
                    <a:pt x="1271112" y="2613"/>
                    <a:pt x="1275764" y="7265"/>
                  </a:cubicBezTo>
                  <a:cubicBezTo>
                    <a:pt x="1280416" y="11916"/>
                    <a:pt x="1283029" y="18225"/>
                    <a:pt x="1283029" y="24804"/>
                  </a:cubicBezTo>
                  <a:lnTo>
                    <a:pt x="1283029" y="555314"/>
                  </a:lnTo>
                  <a:cubicBezTo>
                    <a:pt x="1283029" y="561892"/>
                    <a:pt x="1280416" y="568201"/>
                    <a:pt x="1275764" y="572853"/>
                  </a:cubicBezTo>
                  <a:cubicBezTo>
                    <a:pt x="1271112" y="577505"/>
                    <a:pt x="1264803" y="580118"/>
                    <a:pt x="1258225" y="580118"/>
                  </a:cubicBezTo>
                  <a:lnTo>
                    <a:pt x="24804" y="580118"/>
                  </a:lnTo>
                  <a:cubicBezTo>
                    <a:pt x="18225" y="580118"/>
                    <a:pt x="11916" y="577505"/>
                    <a:pt x="7265" y="572853"/>
                  </a:cubicBezTo>
                  <a:cubicBezTo>
                    <a:pt x="2613" y="568201"/>
                    <a:pt x="0" y="561892"/>
                    <a:pt x="0" y="555314"/>
                  </a:cubicBezTo>
                  <a:lnTo>
                    <a:pt x="0" y="24804"/>
                  </a:lnTo>
                  <a:cubicBezTo>
                    <a:pt x="0" y="18225"/>
                    <a:pt x="2613" y="11916"/>
                    <a:pt x="7265" y="7265"/>
                  </a:cubicBezTo>
                  <a:cubicBezTo>
                    <a:pt x="11916" y="2613"/>
                    <a:pt x="18225" y="0"/>
                    <a:pt x="24804" y="0"/>
                  </a:cubicBezTo>
                  <a:close/>
                </a:path>
              </a:pathLst>
            </a:custGeom>
            <a:solidFill>
              <a:srgbClr val="EDE8E4"/>
            </a:solidFill>
          </p:spPr>
        </p:sp>
        <p:sp>
          <p:nvSpPr>
            <p:cNvPr name="TextBox 20" id="20"/>
            <p:cNvSpPr txBox="true"/>
            <p:nvPr/>
          </p:nvSpPr>
          <p:spPr>
            <a:xfrm>
              <a:off x="0" y="9525"/>
              <a:ext cx="1283029" cy="570593"/>
            </a:xfrm>
            <a:prstGeom prst="rect">
              <a:avLst/>
            </a:prstGeom>
          </p:spPr>
          <p:txBody>
            <a:bodyPr anchor="ctr" rtlCol="false" tIns="50800" lIns="50800" bIns="50800" rIns="50800"/>
            <a:lstStyle/>
            <a:p>
              <a:pPr algn="ctr">
                <a:lnSpc>
                  <a:spcPts val="2121"/>
                </a:lnSpc>
              </a:pPr>
            </a:p>
          </p:txBody>
        </p:sp>
      </p:grpSp>
      <p:sp>
        <p:nvSpPr>
          <p:cNvPr name="TextBox 21" id="21"/>
          <p:cNvSpPr txBox="true"/>
          <p:nvPr/>
        </p:nvSpPr>
        <p:spPr>
          <a:xfrm rot="0">
            <a:off x="9709394" y="2695623"/>
            <a:ext cx="7804638" cy="647463"/>
          </a:xfrm>
          <a:prstGeom prst="rect">
            <a:avLst/>
          </a:prstGeom>
        </p:spPr>
        <p:txBody>
          <a:bodyPr anchor="t" rtlCol="false" tIns="0" lIns="0" bIns="0" rIns="0">
            <a:spAutoFit/>
          </a:bodyPr>
          <a:lstStyle/>
          <a:p>
            <a:pPr algn="ctr">
              <a:lnSpc>
                <a:spcPts val="5263"/>
              </a:lnSpc>
            </a:pPr>
            <a:r>
              <a:rPr lang="en-US" b="true" sz="3759" spc="37">
                <a:solidFill>
                  <a:srgbClr val="253754"/>
                </a:solidFill>
                <a:latin typeface="Glacial Indifference Bold"/>
                <a:ea typeface="Glacial Indifference Bold"/>
                <a:cs typeface="Glacial Indifference Bold"/>
                <a:sym typeface="Glacial Indifference Bold"/>
              </a:rPr>
              <a:t>DORY</a:t>
            </a:r>
          </a:p>
        </p:txBody>
      </p:sp>
      <p:sp>
        <p:nvSpPr>
          <p:cNvPr name="TextBox 22" id="22"/>
          <p:cNvSpPr txBox="true"/>
          <p:nvPr/>
        </p:nvSpPr>
        <p:spPr>
          <a:xfrm rot="0">
            <a:off x="9944081" y="4220274"/>
            <a:ext cx="7335263" cy="1444501"/>
          </a:xfrm>
          <a:prstGeom prst="rect">
            <a:avLst/>
          </a:prstGeom>
        </p:spPr>
        <p:txBody>
          <a:bodyPr anchor="t" rtlCol="false" tIns="0" lIns="0" bIns="0" rIns="0">
            <a:spAutoFit/>
          </a:bodyPr>
          <a:lstStyle/>
          <a:p>
            <a:pPr algn="l" marL="594780" indent="-297390" lvl="1">
              <a:lnSpc>
                <a:spcPts val="3856"/>
              </a:lnSpc>
              <a:buFont typeface="Arial"/>
              <a:buChar char="•"/>
            </a:pPr>
            <a:r>
              <a:rPr lang="en-US" sz="2754" spc="60">
                <a:solidFill>
                  <a:srgbClr val="152540"/>
                </a:solidFill>
                <a:latin typeface="Glacial Indifference"/>
                <a:ea typeface="Glacial Indifference"/>
                <a:cs typeface="Glacial Indifference"/>
                <a:sym typeface="Glacial Indifference"/>
              </a:rPr>
              <a:t>Busca diversión en grupo. Va por la experiencia social, no por la película.</a:t>
            </a:r>
          </a:p>
          <a:p>
            <a:pPr algn="l">
              <a:lnSpc>
                <a:spcPts val="3856"/>
              </a:lnSpc>
            </a:pPr>
          </a:p>
        </p:txBody>
      </p:sp>
      <p:sp>
        <p:nvSpPr>
          <p:cNvPr name="TextBox 23" id="23"/>
          <p:cNvSpPr txBox="true"/>
          <p:nvPr/>
        </p:nvSpPr>
        <p:spPr>
          <a:xfrm rot="0">
            <a:off x="10334100" y="3285936"/>
            <a:ext cx="7335263" cy="522481"/>
          </a:xfrm>
          <a:prstGeom prst="rect">
            <a:avLst/>
          </a:prstGeom>
        </p:spPr>
        <p:txBody>
          <a:bodyPr anchor="t" rtlCol="false" tIns="0" lIns="0" bIns="0" rIns="0">
            <a:spAutoFit/>
          </a:bodyPr>
          <a:lstStyle/>
          <a:p>
            <a:pPr algn="l">
              <a:lnSpc>
                <a:spcPts val="4276"/>
              </a:lnSpc>
            </a:pPr>
            <a:r>
              <a:rPr lang="en-US" sz="3054" spc="67" b="true">
                <a:solidFill>
                  <a:srgbClr val="152540"/>
                </a:solidFill>
                <a:latin typeface="Glacial Indifference Bold"/>
                <a:ea typeface="Glacial Indifference Bold"/>
                <a:cs typeface="Glacial Indifference Bold"/>
                <a:sym typeface="Glacial Indifference Bold"/>
              </a:rPr>
              <a:t>25% visitantes   25% club</a:t>
            </a:r>
          </a:p>
        </p:txBody>
      </p:sp>
      <p:grpSp>
        <p:nvGrpSpPr>
          <p:cNvPr name="Group 24" id="24"/>
          <p:cNvGrpSpPr/>
          <p:nvPr/>
        </p:nvGrpSpPr>
        <p:grpSpPr>
          <a:xfrm rot="0">
            <a:off x="1028700" y="6445454"/>
            <a:ext cx="8115300" cy="3669310"/>
            <a:chOff x="0" y="0"/>
            <a:chExt cx="1283029" cy="580118"/>
          </a:xfrm>
        </p:grpSpPr>
        <p:sp>
          <p:nvSpPr>
            <p:cNvPr name="Freeform 25" id="25"/>
            <p:cNvSpPr/>
            <p:nvPr/>
          </p:nvSpPr>
          <p:spPr>
            <a:xfrm flipH="false" flipV="false" rot="0">
              <a:off x="0" y="0"/>
              <a:ext cx="1283029" cy="580118"/>
            </a:xfrm>
            <a:custGeom>
              <a:avLst/>
              <a:gdLst/>
              <a:ahLst/>
              <a:cxnLst/>
              <a:rect r="r" b="b" t="t" l="l"/>
              <a:pathLst>
                <a:path h="580118" w="1283029">
                  <a:moveTo>
                    <a:pt x="24804" y="0"/>
                  </a:moveTo>
                  <a:lnTo>
                    <a:pt x="1258225" y="0"/>
                  </a:lnTo>
                  <a:cubicBezTo>
                    <a:pt x="1264803" y="0"/>
                    <a:pt x="1271112" y="2613"/>
                    <a:pt x="1275764" y="7265"/>
                  </a:cubicBezTo>
                  <a:cubicBezTo>
                    <a:pt x="1280416" y="11916"/>
                    <a:pt x="1283029" y="18225"/>
                    <a:pt x="1283029" y="24804"/>
                  </a:cubicBezTo>
                  <a:lnTo>
                    <a:pt x="1283029" y="555314"/>
                  </a:lnTo>
                  <a:cubicBezTo>
                    <a:pt x="1283029" y="561892"/>
                    <a:pt x="1280416" y="568201"/>
                    <a:pt x="1275764" y="572853"/>
                  </a:cubicBezTo>
                  <a:cubicBezTo>
                    <a:pt x="1271112" y="577505"/>
                    <a:pt x="1264803" y="580118"/>
                    <a:pt x="1258225" y="580118"/>
                  </a:cubicBezTo>
                  <a:lnTo>
                    <a:pt x="24804" y="580118"/>
                  </a:lnTo>
                  <a:cubicBezTo>
                    <a:pt x="18225" y="580118"/>
                    <a:pt x="11916" y="577505"/>
                    <a:pt x="7265" y="572853"/>
                  </a:cubicBezTo>
                  <a:cubicBezTo>
                    <a:pt x="2613" y="568201"/>
                    <a:pt x="0" y="561892"/>
                    <a:pt x="0" y="555314"/>
                  </a:cubicBezTo>
                  <a:lnTo>
                    <a:pt x="0" y="24804"/>
                  </a:lnTo>
                  <a:cubicBezTo>
                    <a:pt x="0" y="18225"/>
                    <a:pt x="2613" y="11916"/>
                    <a:pt x="7265" y="7265"/>
                  </a:cubicBezTo>
                  <a:cubicBezTo>
                    <a:pt x="11916" y="2613"/>
                    <a:pt x="18225" y="0"/>
                    <a:pt x="24804" y="0"/>
                  </a:cubicBezTo>
                  <a:close/>
                </a:path>
              </a:pathLst>
            </a:custGeom>
            <a:solidFill>
              <a:srgbClr val="EDE8E4"/>
            </a:solidFill>
          </p:spPr>
        </p:sp>
        <p:sp>
          <p:nvSpPr>
            <p:cNvPr name="TextBox 26" id="26"/>
            <p:cNvSpPr txBox="true"/>
            <p:nvPr/>
          </p:nvSpPr>
          <p:spPr>
            <a:xfrm>
              <a:off x="0" y="9525"/>
              <a:ext cx="1283029" cy="570593"/>
            </a:xfrm>
            <a:prstGeom prst="rect">
              <a:avLst/>
            </a:prstGeom>
          </p:spPr>
          <p:txBody>
            <a:bodyPr anchor="ctr" rtlCol="false" tIns="50800" lIns="50800" bIns="50800" rIns="50800"/>
            <a:lstStyle/>
            <a:p>
              <a:pPr algn="ctr">
                <a:lnSpc>
                  <a:spcPts val="2121"/>
                </a:lnSpc>
              </a:pPr>
            </a:p>
          </p:txBody>
        </p:sp>
      </p:grpSp>
      <p:sp>
        <p:nvSpPr>
          <p:cNvPr name="TextBox 27" id="27"/>
          <p:cNvSpPr txBox="true"/>
          <p:nvPr/>
        </p:nvSpPr>
        <p:spPr>
          <a:xfrm rot="0">
            <a:off x="1184031" y="6698308"/>
            <a:ext cx="7804638" cy="647463"/>
          </a:xfrm>
          <a:prstGeom prst="rect">
            <a:avLst/>
          </a:prstGeom>
        </p:spPr>
        <p:txBody>
          <a:bodyPr anchor="t" rtlCol="false" tIns="0" lIns="0" bIns="0" rIns="0">
            <a:spAutoFit/>
          </a:bodyPr>
          <a:lstStyle/>
          <a:p>
            <a:pPr algn="ctr">
              <a:lnSpc>
                <a:spcPts val="5263"/>
              </a:lnSpc>
            </a:pPr>
            <a:r>
              <a:rPr lang="en-US" b="true" sz="3759" spc="37">
                <a:solidFill>
                  <a:srgbClr val="253754"/>
                </a:solidFill>
                <a:latin typeface="Glacial Indifference Bold"/>
                <a:ea typeface="Glacial Indifference Bold"/>
                <a:cs typeface="Glacial Indifference Bold"/>
                <a:sym typeface="Glacial Indifference Bold"/>
              </a:rPr>
              <a:t>avatar</a:t>
            </a:r>
          </a:p>
        </p:txBody>
      </p:sp>
      <p:sp>
        <p:nvSpPr>
          <p:cNvPr name="TextBox 28" id="28"/>
          <p:cNvSpPr txBox="true"/>
          <p:nvPr/>
        </p:nvSpPr>
        <p:spPr>
          <a:xfrm rot="0">
            <a:off x="1418719" y="8222959"/>
            <a:ext cx="7335263" cy="1444501"/>
          </a:xfrm>
          <a:prstGeom prst="rect">
            <a:avLst/>
          </a:prstGeom>
        </p:spPr>
        <p:txBody>
          <a:bodyPr anchor="t" rtlCol="false" tIns="0" lIns="0" bIns="0" rIns="0">
            <a:spAutoFit/>
          </a:bodyPr>
          <a:lstStyle/>
          <a:p>
            <a:pPr algn="l" marL="594780" indent="-297390" lvl="1">
              <a:lnSpc>
                <a:spcPts val="3856"/>
              </a:lnSpc>
              <a:buFont typeface="Arial"/>
              <a:buChar char="•"/>
            </a:pPr>
            <a:r>
              <a:rPr lang="en-US" sz="2754" spc="60">
                <a:solidFill>
                  <a:srgbClr val="152540"/>
                </a:solidFill>
                <a:latin typeface="Glacial Indifference"/>
                <a:ea typeface="Glacial Indifference"/>
                <a:cs typeface="Glacial Indifference"/>
                <a:sym typeface="Glacial Indifference"/>
              </a:rPr>
              <a:t>Usa el cine como escapatoria. Valora el confort y la experiencia sin fricciones.</a:t>
            </a:r>
          </a:p>
          <a:p>
            <a:pPr algn="l">
              <a:lnSpc>
                <a:spcPts val="3856"/>
              </a:lnSpc>
            </a:pPr>
          </a:p>
        </p:txBody>
      </p:sp>
      <p:sp>
        <p:nvSpPr>
          <p:cNvPr name="TextBox 29" id="29"/>
          <p:cNvSpPr txBox="true"/>
          <p:nvPr/>
        </p:nvSpPr>
        <p:spPr>
          <a:xfrm rot="0">
            <a:off x="1808737" y="7288621"/>
            <a:ext cx="7335263" cy="522481"/>
          </a:xfrm>
          <a:prstGeom prst="rect">
            <a:avLst/>
          </a:prstGeom>
        </p:spPr>
        <p:txBody>
          <a:bodyPr anchor="t" rtlCol="false" tIns="0" lIns="0" bIns="0" rIns="0">
            <a:spAutoFit/>
          </a:bodyPr>
          <a:lstStyle/>
          <a:p>
            <a:pPr algn="l">
              <a:lnSpc>
                <a:spcPts val="4276"/>
              </a:lnSpc>
            </a:pPr>
            <a:r>
              <a:rPr lang="en-US" sz="3054" spc="67" b="true">
                <a:solidFill>
                  <a:srgbClr val="152540"/>
                </a:solidFill>
                <a:latin typeface="Glacial Indifference Bold"/>
                <a:ea typeface="Glacial Indifference Bold"/>
                <a:cs typeface="Glacial Indifference Bold"/>
                <a:sym typeface="Glacial Indifference Bold"/>
              </a:rPr>
              <a:t>27% visitantes   20% club</a:t>
            </a:r>
          </a:p>
        </p:txBody>
      </p:sp>
      <p:grpSp>
        <p:nvGrpSpPr>
          <p:cNvPr name="Group 30" id="30"/>
          <p:cNvGrpSpPr/>
          <p:nvPr/>
        </p:nvGrpSpPr>
        <p:grpSpPr>
          <a:xfrm rot="0">
            <a:off x="9534525" y="6445454"/>
            <a:ext cx="8115300" cy="3669310"/>
            <a:chOff x="0" y="0"/>
            <a:chExt cx="1283029" cy="580118"/>
          </a:xfrm>
        </p:grpSpPr>
        <p:sp>
          <p:nvSpPr>
            <p:cNvPr name="Freeform 31" id="31"/>
            <p:cNvSpPr/>
            <p:nvPr/>
          </p:nvSpPr>
          <p:spPr>
            <a:xfrm flipH="false" flipV="false" rot="0">
              <a:off x="0" y="0"/>
              <a:ext cx="1283029" cy="580118"/>
            </a:xfrm>
            <a:custGeom>
              <a:avLst/>
              <a:gdLst/>
              <a:ahLst/>
              <a:cxnLst/>
              <a:rect r="r" b="b" t="t" l="l"/>
              <a:pathLst>
                <a:path h="580118" w="1283029">
                  <a:moveTo>
                    <a:pt x="24804" y="0"/>
                  </a:moveTo>
                  <a:lnTo>
                    <a:pt x="1258225" y="0"/>
                  </a:lnTo>
                  <a:cubicBezTo>
                    <a:pt x="1264803" y="0"/>
                    <a:pt x="1271112" y="2613"/>
                    <a:pt x="1275764" y="7265"/>
                  </a:cubicBezTo>
                  <a:cubicBezTo>
                    <a:pt x="1280416" y="11916"/>
                    <a:pt x="1283029" y="18225"/>
                    <a:pt x="1283029" y="24804"/>
                  </a:cubicBezTo>
                  <a:lnTo>
                    <a:pt x="1283029" y="555314"/>
                  </a:lnTo>
                  <a:cubicBezTo>
                    <a:pt x="1283029" y="561892"/>
                    <a:pt x="1280416" y="568201"/>
                    <a:pt x="1275764" y="572853"/>
                  </a:cubicBezTo>
                  <a:cubicBezTo>
                    <a:pt x="1271112" y="577505"/>
                    <a:pt x="1264803" y="580118"/>
                    <a:pt x="1258225" y="580118"/>
                  </a:cubicBezTo>
                  <a:lnTo>
                    <a:pt x="24804" y="580118"/>
                  </a:lnTo>
                  <a:cubicBezTo>
                    <a:pt x="18225" y="580118"/>
                    <a:pt x="11916" y="577505"/>
                    <a:pt x="7265" y="572853"/>
                  </a:cubicBezTo>
                  <a:cubicBezTo>
                    <a:pt x="2613" y="568201"/>
                    <a:pt x="0" y="561892"/>
                    <a:pt x="0" y="555314"/>
                  </a:cubicBezTo>
                  <a:lnTo>
                    <a:pt x="0" y="24804"/>
                  </a:lnTo>
                  <a:cubicBezTo>
                    <a:pt x="0" y="18225"/>
                    <a:pt x="2613" y="11916"/>
                    <a:pt x="7265" y="7265"/>
                  </a:cubicBezTo>
                  <a:cubicBezTo>
                    <a:pt x="11916" y="2613"/>
                    <a:pt x="18225" y="0"/>
                    <a:pt x="24804" y="0"/>
                  </a:cubicBezTo>
                  <a:close/>
                </a:path>
              </a:pathLst>
            </a:custGeom>
            <a:solidFill>
              <a:srgbClr val="EDE8E4"/>
            </a:solidFill>
          </p:spPr>
        </p:sp>
        <p:sp>
          <p:nvSpPr>
            <p:cNvPr name="TextBox 32" id="32"/>
            <p:cNvSpPr txBox="true"/>
            <p:nvPr/>
          </p:nvSpPr>
          <p:spPr>
            <a:xfrm>
              <a:off x="0" y="9525"/>
              <a:ext cx="1283029" cy="570593"/>
            </a:xfrm>
            <a:prstGeom prst="rect">
              <a:avLst/>
            </a:prstGeom>
          </p:spPr>
          <p:txBody>
            <a:bodyPr anchor="ctr" rtlCol="false" tIns="50800" lIns="50800" bIns="50800" rIns="50800"/>
            <a:lstStyle/>
            <a:p>
              <a:pPr algn="ctr">
                <a:lnSpc>
                  <a:spcPts val="2121"/>
                </a:lnSpc>
              </a:pPr>
            </a:p>
          </p:txBody>
        </p:sp>
      </p:grpSp>
      <p:sp>
        <p:nvSpPr>
          <p:cNvPr name="TextBox 33" id="33"/>
          <p:cNvSpPr txBox="true"/>
          <p:nvPr/>
        </p:nvSpPr>
        <p:spPr>
          <a:xfrm rot="0">
            <a:off x="9689856" y="6698308"/>
            <a:ext cx="7804638" cy="647463"/>
          </a:xfrm>
          <a:prstGeom prst="rect">
            <a:avLst/>
          </a:prstGeom>
        </p:spPr>
        <p:txBody>
          <a:bodyPr anchor="t" rtlCol="false" tIns="0" lIns="0" bIns="0" rIns="0">
            <a:spAutoFit/>
          </a:bodyPr>
          <a:lstStyle/>
          <a:p>
            <a:pPr algn="ctr">
              <a:lnSpc>
                <a:spcPts val="5263"/>
              </a:lnSpc>
            </a:pPr>
            <a:r>
              <a:rPr lang="en-US" b="true" sz="3759" spc="37">
                <a:solidFill>
                  <a:srgbClr val="253754"/>
                </a:solidFill>
                <a:latin typeface="Glacial Indifference Bold"/>
                <a:ea typeface="Glacial Indifference Bold"/>
                <a:cs typeface="Glacial Indifference Bold"/>
                <a:sym typeface="Glacial Indifference Bold"/>
              </a:rPr>
              <a:t>tony stark</a:t>
            </a:r>
          </a:p>
        </p:txBody>
      </p:sp>
      <p:sp>
        <p:nvSpPr>
          <p:cNvPr name="TextBox 34" id="34"/>
          <p:cNvSpPr txBox="true"/>
          <p:nvPr/>
        </p:nvSpPr>
        <p:spPr>
          <a:xfrm rot="0">
            <a:off x="9924544" y="8222959"/>
            <a:ext cx="7335263" cy="1444501"/>
          </a:xfrm>
          <a:prstGeom prst="rect">
            <a:avLst/>
          </a:prstGeom>
        </p:spPr>
        <p:txBody>
          <a:bodyPr anchor="t" rtlCol="false" tIns="0" lIns="0" bIns="0" rIns="0">
            <a:spAutoFit/>
          </a:bodyPr>
          <a:lstStyle/>
          <a:p>
            <a:pPr algn="l" marL="594780" indent="-297390" lvl="1">
              <a:lnSpc>
                <a:spcPts val="3856"/>
              </a:lnSpc>
              <a:buFont typeface="Arial"/>
              <a:buChar char="•"/>
            </a:pPr>
            <a:r>
              <a:rPr lang="en-US" sz="2754" spc="60">
                <a:solidFill>
                  <a:srgbClr val="152540"/>
                </a:solidFill>
                <a:latin typeface="Glacial Indifference"/>
                <a:ea typeface="Glacial Indifference"/>
                <a:cs typeface="Glacial Indifference"/>
                <a:sym typeface="Glacial Indifference"/>
              </a:rPr>
              <a:t>Fanático del cine. Quiere ser el primero, es líder de opinión y vive el Club al 100%.</a:t>
            </a:r>
          </a:p>
          <a:p>
            <a:pPr algn="l">
              <a:lnSpc>
                <a:spcPts val="3856"/>
              </a:lnSpc>
            </a:pPr>
          </a:p>
        </p:txBody>
      </p:sp>
      <p:sp>
        <p:nvSpPr>
          <p:cNvPr name="TextBox 35" id="35"/>
          <p:cNvSpPr txBox="true"/>
          <p:nvPr/>
        </p:nvSpPr>
        <p:spPr>
          <a:xfrm rot="0">
            <a:off x="10314562" y="7288621"/>
            <a:ext cx="7335263" cy="522481"/>
          </a:xfrm>
          <a:prstGeom prst="rect">
            <a:avLst/>
          </a:prstGeom>
        </p:spPr>
        <p:txBody>
          <a:bodyPr anchor="t" rtlCol="false" tIns="0" lIns="0" bIns="0" rIns="0">
            <a:spAutoFit/>
          </a:bodyPr>
          <a:lstStyle/>
          <a:p>
            <a:pPr algn="l">
              <a:lnSpc>
                <a:spcPts val="4276"/>
              </a:lnSpc>
            </a:pPr>
            <a:r>
              <a:rPr lang="en-US" sz="3054" spc="67" b="true">
                <a:solidFill>
                  <a:srgbClr val="152540"/>
                </a:solidFill>
                <a:latin typeface="Glacial Indifference Bold"/>
                <a:ea typeface="Glacial Indifference Bold"/>
                <a:cs typeface="Glacial Indifference Bold"/>
                <a:sym typeface="Glacial Indifference Bold"/>
              </a:rPr>
              <a:t>16% visitantes   48% club</a:t>
            </a:r>
          </a:p>
        </p:txBody>
      </p:sp>
    </p:spTree>
  </p:cSld>
  <p:clrMapOvr>
    <a:masterClrMapping/>
  </p:clrMapOvr>
</p:sld>
</file>

<file path=ppt/slides/slide11.xml><?xml version="1.0" encoding="utf-8"?>
<p:sld xmlns:p="http://schemas.openxmlformats.org/presentationml/2006/main" xmlns:a="http://schemas.openxmlformats.org/drawingml/2006/main" xmlns:r="http://schemas.openxmlformats.org/officeDocument/2006/relationships">
  <p:cSld>
    <p:bg>
      <p:bgPr>
        <a:solidFill>
          <a:srgbClr val="253754"/>
        </a:solidFill>
      </p:bgPr>
    </p:bg>
    <p:spTree>
      <p:nvGrpSpPr>
        <p:cNvPr id="1" name=""/>
        <p:cNvGrpSpPr/>
        <p:nvPr/>
      </p:nvGrpSpPr>
      <p:grpSpPr>
        <a:xfrm>
          <a:off x="0" y="0"/>
          <a:ext cx="0" cy="0"/>
          <a:chOff x="0" y="0"/>
          <a:chExt cx="0" cy="0"/>
        </a:xfrm>
      </p:grpSpPr>
      <p:sp>
        <p:nvSpPr>
          <p:cNvPr name="Freeform 2" id="2"/>
          <p:cNvSpPr/>
          <p:nvPr/>
        </p:nvSpPr>
        <p:spPr>
          <a:xfrm flipH="false" flipV="false" rot="0">
            <a:off x="-1680157" y="-3300337"/>
            <a:ext cx="6212126" cy="7976908"/>
          </a:xfrm>
          <a:custGeom>
            <a:avLst/>
            <a:gdLst/>
            <a:ahLst/>
            <a:cxnLst/>
            <a:rect r="r" b="b" t="t" l="l"/>
            <a:pathLst>
              <a:path h="7976908" w="6212126">
                <a:moveTo>
                  <a:pt x="0" y="0"/>
                </a:moveTo>
                <a:lnTo>
                  <a:pt x="6212127" y="0"/>
                </a:lnTo>
                <a:lnTo>
                  <a:pt x="6212127" y="7976908"/>
                </a:lnTo>
                <a:lnTo>
                  <a:pt x="0" y="7976908"/>
                </a:lnTo>
                <a:lnTo>
                  <a:pt x="0" y="0"/>
                </a:lnTo>
                <a:close/>
              </a:path>
            </a:pathLst>
          </a:custGeom>
          <a:blipFill>
            <a:blip r:embed="rId2">
              <a:extLst>
                <a:ext uri="{96DAC541-7B7A-43D3-8B79-37D633B846F1}">
                  <asvg:svgBlip xmlns:asvg="http://schemas.microsoft.com/office/drawing/2016/SVG/main" r:embed="rId3"/>
                </a:ext>
              </a:extLst>
            </a:blip>
            <a:stretch>
              <a:fillRect l="0" t="0" r="-37402" b="0"/>
            </a:stretch>
          </a:blipFill>
          <a:ln cap="sq">
            <a:noFill/>
            <a:prstDash val="solid"/>
            <a:miter/>
          </a:ln>
        </p:spPr>
      </p:sp>
      <p:sp>
        <p:nvSpPr>
          <p:cNvPr name="Freeform 3" id="3"/>
          <p:cNvSpPr/>
          <p:nvPr/>
        </p:nvSpPr>
        <p:spPr>
          <a:xfrm flipH="false" flipV="false" rot="-10151301">
            <a:off x="11214641" y="6982437"/>
            <a:ext cx="8535602" cy="7976908"/>
          </a:xfrm>
          <a:custGeom>
            <a:avLst/>
            <a:gdLst/>
            <a:ahLst/>
            <a:cxnLst/>
            <a:rect r="r" b="b" t="t" l="l"/>
            <a:pathLst>
              <a:path h="7976908" w="8535602">
                <a:moveTo>
                  <a:pt x="0" y="0"/>
                </a:moveTo>
                <a:lnTo>
                  <a:pt x="8535602" y="0"/>
                </a:lnTo>
                <a:lnTo>
                  <a:pt x="8535602" y="7976908"/>
                </a:lnTo>
                <a:lnTo>
                  <a:pt x="0" y="7976908"/>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a:ln cap="sq">
            <a:noFill/>
            <a:prstDash val="solid"/>
            <a:miter/>
          </a:ln>
        </p:spPr>
      </p:sp>
      <p:grpSp>
        <p:nvGrpSpPr>
          <p:cNvPr name="Group 4" id="4"/>
          <p:cNvGrpSpPr/>
          <p:nvPr/>
        </p:nvGrpSpPr>
        <p:grpSpPr>
          <a:xfrm rot="0">
            <a:off x="1446400" y="2684294"/>
            <a:ext cx="5648944" cy="4186037"/>
            <a:chOff x="0" y="0"/>
            <a:chExt cx="1259035" cy="932983"/>
          </a:xfrm>
        </p:grpSpPr>
        <p:sp>
          <p:nvSpPr>
            <p:cNvPr name="Freeform 5" id="5"/>
            <p:cNvSpPr/>
            <p:nvPr/>
          </p:nvSpPr>
          <p:spPr>
            <a:xfrm flipH="false" flipV="false" rot="0">
              <a:off x="0" y="0"/>
              <a:ext cx="1259035" cy="932983"/>
            </a:xfrm>
            <a:custGeom>
              <a:avLst/>
              <a:gdLst/>
              <a:ahLst/>
              <a:cxnLst/>
              <a:rect r="r" b="b" t="t" l="l"/>
              <a:pathLst>
                <a:path h="932983" w="1259035">
                  <a:moveTo>
                    <a:pt x="80860" y="0"/>
                  </a:moveTo>
                  <a:lnTo>
                    <a:pt x="1178175" y="0"/>
                  </a:lnTo>
                  <a:cubicBezTo>
                    <a:pt x="1199621" y="0"/>
                    <a:pt x="1220188" y="8519"/>
                    <a:pt x="1235352" y="23683"/>
                  </a:cubicBezTo>
                  <a:cubicBezTo>
                    <a:pt x="1250516" y="38848"/>
                    <a:pt x="1259035" y="59415"/>
                    <a:pt x="1259035" y="80860"/>
                  </a:cubicBezTo>
                  <a:lnTo>
                    <a:pt x="1259035" y="852123"/>
                  </a:lnTo>
                  <a:cubicBezTo>
                    <a:pt x="1259035" y="896781"/>
                    <a:pt x="1222833" y="932983"/>
                    <a:pt x="1178175" y="932983"/>
                  </a:cubicBezTo>
                  <a:lnTo>
                    <a:pt x="80860" y="932983"/>
                  </a:lnTo>
                  <a:cubicBezTo>
                    <a:pt x="36202" y="932983"/>
                    <a:pt x="0" y="896781"/>
                    <a:pt x="0" y="852123"/>
                  </a:cubicBezTo>
                  <a:lnTo>
                    <a:pt x="0" y="80860"/>
                  </a:lnTo>
                  <a:cubicBezTo>
                    <a:pt x="0" y="36202"/>
                    <a:pt x="36202" y="0"/>
                    <a:pt x="80860" y="0"/>
                  </a:cubicBezTo>
                  <a:close/>
                </a:path>
              </a:pathLst>
            </a:custGeom>
            <a:ln w="38100" cap="rnd">
              <a:solidFill>
                <a:srgbClr val="E3D8D4"/>
              </a:solidFill>
              <a:prstDash val="solid"/>
              <a:round/>
            </a:ln>
          </p:spPr>
        </p:sp>
        <p:sp>
          <p:nvSpPr>
            <p:cNvPr name="TextBox 6" id="6"/>
            <p:cNvSpPr txBox="true"/>
            <p:nvPr/>
          </p:nvSpPr>
          <p:spPr>
            <a:xfrm>
              <a:off x="0" y="9525"/>
              <a:ext cx="1259035" cy="923458"/>
            </a:xfrm>
            <a:prstGeom prst="rect">
              <a:avLst/>
            </a:prstGeom>
          </p:spPr>
          <p:txBody>
            <a:bodyPr anchor="ctr" rtlCol="false" tIns="50800" lIns="50800" bIns="50800" rIns="50800"/>
            <a:lstStyle/>
            <a:p>
              <a:pPr algn="ctr">
                <a:lnSpc>
                  <a:spcPts val="2121"/>
                </a:lnSpc>
              </a:pPr>
            </a:p>
            <a:p>
              <a:pPr algn="ctr">
                <a:lnSpc>
                  <a:spcPts val="2121"/>
                </a:lnSpc>
              </a:pPr>
            </a:p>
          </p:txBody>
        </p:sp>
      </p:grpSp>
      <p:sp>
        <p:nvSpPr>
          <p:cNvPr name="TextBox 7" id="7"/>
          <p:cNvSpPr txBox="true"/>
          <p:nvPr/>
        </p:nvSpPr>
        <p:spPr>
          <a:xfrm rot="0">
            <a:off x="2772438" y="225491"/>
            <a:ext cx="14255381" cy="2458803"/>
          </a:xfrm>
          <a:prstGeom prst="rect">
            <a:avLst/>
          </a:prstGeom>
        </p:spPr>
        <p:txBody>
          <a:bodyPr anchor="t" rtlCol="false" tIns="0" lIns="0" bIns="0" rIns="0">
            <a:spAutoFit/>
          </a:bodyPr>
          <a:lstStyle/>
          <a:p>
            <a:pPr algn="r">
              <a:lnSpc>
                <a:spcPts val="9841"/>
              </a:lnSpc>
            </a:pPr>
            <a:r>
              <a:rPr lang="en-US" sz="7029" spc="660">
                <a:solidFill>
                  <a:srgbClr val="EDE8E4"/>
                </a:solidFill>
                <a:latin typeface="Glacial Indifference"/>
                <a:ea typeface="Glacial Indifference"/>
                <a:cs typeface="Glacial Indifference"/>
                <a:sym typeface="Glacial Indifference"/>
              </a:rPr>
              <a:t>OBJETIVOS ESTRATEGICOS Y COMERCIALES</a:t>
            </a:r>
          </a:p>
        </p:txBody>
      </p:sp>
      <p:sp>
        <p:nvSpPr>
          <p:cNvPr name="Freeform 8" id="8"/>
          <p:cNvSpPr/>
          <p:nvPr/>
        </p:nvSpPr>
        <p:spPr>
          <a:xfrm flipH="false" flipV="false" rot="-10800000">
            <a:off x="1446400" y="2684294"/>
            <a:ext cx="5648944" cy="1033825"/>
          </a:xfrm>
          <a:custGeom>
            <a:avLst/>
            <a:gdLst/>
            <a:ahLst/>
            <a:cxnLst/>
            <a:rect r="r" b="b" t="t" l="l"/>
            <a:pathLst>
              <a:path h="1033825" w="5648944">
                <a:moveTo>
                  <a:pt x="0" y="0"/>
                </a:moveTo>
                <a:lnTo>
                  <a:pt x="5648944" y="0"/>
                </a:lnTo>
                <a:lnTo>
                  <a:pt x="5648944" y="1033825"/>
                </a:lnTo>
                <a:lnTo>
                  <a:pt x="0" y="1033825"/>
                </a:lnTo>
                <a:lnTo>
                  <a:pt x="0" y="0"/>
                </a:lnTo>
                <a:close/>
              </a:path>
            </a:pathLst>
          </a:custGeom>
          <a:blipFill>
            <a:blip r:embed="rId4">
              <a:extLst>
                <a:ext uri="{96DAC541-7B7A-43D3-8B79-37D633B846F1}">
                  <asvg:svgBlip xmlns:asvg="http://schemas.microsoft.com/office/drawing/2016/SVG/main" r:embed="rId5"/>
                </a:ext>
              </a:extLst>
            </a:blip>
            <a:stretch>
              <a:fillRect l="0" t="-611026" r="0" b="-13120"/>
            </a:stretch>
          </a:blipFill>
        </p:spPr>
      </p:sp>
      <p:sp>
        <p:nvSpPr>
          <p:cNvPr name="TextBox 9" id="9"/>
          <p:cNvSpPr txBox="true"/>
          <p:nvPr/>
        </p:nvSpPr>
        <p:spPr>
          <a:xfrm rot="0">
            <a:off x="1768537" y="2904377"/>
            <a:ext cx="5023004" cy="624865"/>
          </a:xfrm>
          <a:prstGeom prst="rect">
            <a:avLst/>
          </a:prstGeom>
        </p:spPr>
        <p:txBody>
          <a:bodyPr anchor="t" rtlCol="false" tIns="0" lIns="0" bIns="0" rIns="0">
            <a:spAutoFit/>
          </a:bodyPr>
          <a:lstStyle/>
          <a:p>
            <a:pPr algn="ctr">
              <a:lnSpc>
                <a:spcPts val="5120"/>
              </a:lnSpc>
            </a:pPr>
            <a:r>
              <a:rPr lang="en-US" b="true" sz="3657" spc="153">
                <a:solidFill>
                  <a:srgbClr val="253754"/>
                </a:solidFill>
                <a:latin typeface="Glacial Indifference Bold"/>
                <a:ea typeface="Glacial Indifference Bold"/>
                <a:cs typeface="Glacial Indifference Bold"/>
                <a:sym typeface="Glacial Indifference Bold"/>
              </a:rPr>
              <a:t>Mision de Cinepolis</a:t>
            </a:r>
          </a:p>
        </p:txBody>
      </p:sp>
      <p:sp>
        <p:nvSpPr>
          <p:cNvPr name="TextBox 10" id="10"/>
          <p:cNvSpPr txBox="true"/>
          <p:nvPr/>
        </p:nvSpPr>
        <p:spPr>
          <a:xfrm rot="0">
            <a:off x="1699348" y="4001112"/>
            <a:ext cx="5092194" cy="2613447"/>
          </a:xfrm>
          <a:prstGeom prst="rect">
            <a:avLst/>
          </a:prstGeom>
        </p:spPr>
        <p:txBody>
          <a:bodyPr anchor="t" rtlCol="false" tIns="0" lIns="0" bIns="0" rIns="0">
            <a:spAutoFit/>
          </a:bodyPr>
          <a:lstStyle/>
          <a:p>
            <a:pPr algn="ctr">
              <a:lnSpc>
                <a:spcPts val="3476"/>
              </a:lnSpc>
            </a:pPr>
            <a:r>
              <a:rPr lang="en-US" sz="2483" i="true" spc="54">
                <a:solidFill>
                  <a:srgbClr val="EDE8E4"/>
                </a:solidFill>
                <a:latin typeface="Glacial Indifference Italics"/>
                <a:ea typeface="Glacial Indifference Italics"/>
                <a:cs typeface="Glacial Indifference Italics"/>
                <a:sym typeface="Glacial Indifference Italics"/>
              </a:rPr>
              <a:t>“Se</a:t>
            </a:r>
            <a:r>
              <a:rPr lang="en-US" sz="2483" i="true" spc="54" strike="noStrike" u="none">
                <a:solidFill>
                  <a:srgbClr val="EDE8E4"/>
                </a:solidFill>
                <a:latin typeface="Glacial Indifference Italics"/>
                <a:ea typeface="Glacial Indifference Italics"/>
                <a:cs typeface="Glacial Indifference Italics"/>
                <a:sym typeface="Glacial Indifference Italics"/>
              </a:rPr>
              <a:t>r la mejor opción de entretenimiento, fortaleciendo nuestro liderazgo en la industria cinematográfica a nivel internacional, ofreciendo diversión, innovación y servicio estelar</a:t>
            </a:r>
            <a:r>
              <a:rPr lang="en-US" sz="2483" spc="54" strike="noStrike" u="none">
                <a:solidFill>
                  <a:srgbClr val="EDE8E4"/>
                </a:solidFill>
                <a:latin typeface="Glacial Indifference"/>
                <a:ea typeface="Glacial Indifference"/>
                <a:cs typeface="Glacial Indifference"/>
                <a:sym typeface="Glacial Indifference"/>
              </a:rPr>
              <a:t>”</a:t>
            </a:r>
          </a:p>
        </p:txBody>
      </p:sp>
      <p:grpSp>
        <p:nvGrpSpPr>
          <p:cNvPr name="Group 11" id="11"/>
          <p:cNvGrpSpPr/>
          <p:nvPr/>
        </p:nvGrpSpPr>
        <p:grpSpPr>
          <a:xfrm rot="0">
            <a:off x="1455567" y="7203705"/>
            <a:ext cx="10195961" cy="4186037"/>
            <a:chOff x="0" y="0"/>
            <a:chExt cx="2272473" cy="932983"/>
          </a:xfrm>
        </p:grpSpPr>
        <p:sp>
          <p:nvSpPr>
            <p:cNvPr name="Freeform 12" id="12"/>
            <p:cNvSpPr/>
            <p:nvPr/>
          </p:nvSpPr>
          <p:spPr>
            <a:xfrm flipH="false" flipV="false" rot="0">
              <a:off x="0" y="0"/>
              <a:ext cx="2272473" cy="932983"/>
            </a:xfrm>
            <a:custGeom>
              <a:avLst/>
              <a:gdLst/>
              <a:ahLst/>
              <a:cxnLst/>
              <a:rect r="r" b="b" t="t" l="l"/>
              <a:pathLst>
                <a:path h="932983" w="2272473">
                  <a:moveTo>
                    <a:pt x="44799" y="0"/>
                  </a:moveTo>
                  <a:lnTo>
                    <a:pt x="2227674" y="0"/>
                  </a:lnTo>
                  <a:cubicBezTo>
                    <a:pt x="2239555" y="0"/>
                    <a:pt x="2250950" y="4720"/>
                    <a:pt x="2259352" y="13121"/>
                  </a:cubicBezTo>
                  <a:cubicBezTo>
                    <a:pt x="2267753" y="21523"/>
                    <a:pt x="2272473" y="32918"/>
                    <a:pt x="2272473" y="44799"/>
                  </a:cubicBezTo>
                  <a:lnTo>
                    <a:pt x="2272473" y="888183"/>
                  </a:lnTo>
                  <a:cubicBezTo>
                    <a:pt x="2272473" y="912925"/>
                    <a:pt x="2252416" y="932983"/>
                    <a:pt x="2227674" y="932983"/>
                  </a:cubicBezTo>
                  <a:lnTo>
                    <a:pt x="44799" y="932983"/>
                  </a:lnTo>
                  <a:cubicBezTo>
                    <a:pt x="20057" y="932983"/>
                    <a:pt x="0" y="912925"/>
                    <a:pt x="0" y="888183"/>
                  </a:cubicBezTo>
                  <a:lnTo>
                    <a:pt x="0" y="44799"/>
                  </a:lnTo>
                  <a:cubicBezTo>
                    <a:pt x="0" y="20057"/>
                    <a:pt x="20057" y="0"/>
                    <a:pt x="44799" y="0"/>
                  </a:cubicBezTo>
                  <a:close/>
                </a:path>
              </a:pathLst>
            </a:custGeom>
            <a:ln w="38100" cap="rnd">
              <a:solidFill>
                <a:srgbClr val="E3D8D4"/>
              </a:solidFill>
              <a:prstDash val="solid"/>
              <a:round/>
            </a:ln>
          </p:spPr>
        </p:sp>
        <p:sp>
          <p:nvSpPr>
            <p:cNvPr name="TextBox 13" id="13"/>
            <p:cNvSpPr txBox="true"/>
            <p:nvPr/>
          </p:nvSpPr>
          <p:spPr>
            <a:xfrm>
              <a:off x="0" y="9525"/>
              <a:ext cx="2272473" cy="923458"/>
            </a:xfrm>
            <a:prstGeom prst="rect">
              <a:avLst/>
            </a:prstGeom>
          </p:spPr>
          <p:txBody>
            <a:bodyPr anchor="ctr" rtlCol="false" tIns="50800" lIns="50800" bIns="50800" rIns="50800"/>
            <a:lstStyle/>
            <a:p>
              <a:pPr algn="ctr">
                <a:lnSpc>
                  <a:spcPts val="2121"/>
                </a:lnSpc>
              </a:pPr>
            </a:p>
            <a:p>
              <a:pPr algn="ctr">
                <a:lnSpc>
                  <a:spcPts val="2121"/>
                </a:lnSpc>
              </a:pPr>
            </a:p>
          </p:txBody>
        </p:sp>
      </p:grpSp>
      <p:sp>
        <p:nvSpPr>
          <p:cNvPr name="Freeform 14" id="14"/>
          <p:cNvSpPr/>
          <p:nvPr/>
        </p:nvSpPr>
        <p:spPr>
          <a:xfrm flipH="false" flipV="false" rot="-10800000">
            <a:off x="1455567" y="7203705"/>
            <a:ext cx="10195961" cy="1033825"/>
          </a:xfrm>
          <a:custGeom>
            <a:avLst/>
            <a:gdLst/>
            <a:ahLst/>
            <a:cxnLst/>
            <a:rect r="r" b="b" t="t" l="l"/>
            <a:pathLst>
              <a:path h="1033825" w="10195961">
                <a:moveTo>
                  <a:pt x="0" y="0"/>
                </a:moveTo>
                <a:lnTo>
                  <a:pt x="10195961" y="0"/>
                </a:lnTo>
                <a:lnTo>
                  <a:pt x="10195961" y="1033825"/>
                </a:lnTo>
                <a:lnTo>
                  <a:pt x="0" y="1033825"/>
                </a:lnTo>
                <a:lnTo>
                  <a:pt x="0" y="0"/>
                </a:lnTo>
                <a:close/>
              </a:path>
            </a:pathLst>
          </a:custGeom>
          <a:blipFill>
            <a:blip r:embed="rId4">
              <a:extLst>
                <a:ext uri="{96DAC541-7B7A-43D3-8B79-37D633B846F1}">
                  <asvg:svgBlip xmlns:asvg="http://schemas.microsoft.com/office/drawing/2016/SVG/main" r:embed="rId5"/>
                </a:ext>
              </a:extLst>
            </a:blip>
            <a:stretch>
              <a:fillRect l="0" t="-1143108" r="0" b="-63928"/>
            </a:stretch>
          </a:blipFill>
        </p:spPr>
      </p:sp>
      <p:sp>
        <p:nvSpPr>
          <p:cNvPr name="TextBox 15" id="15"/>
          <p:cNvSpPr txBox="true"/>
          <p:nvPr/>
        </p:nvSpPr>
        <p:spPr>
          <a:xfrm rot="0">
            <a:off x="2037003" y="7423788"/>
            <a:ext cx="9066181" cy="624865"/>
          </a:xfrm>
          <a:prstGeom prst="rect">
            <a:avLst/>
          </a:prstGeom>
        </p:spPr>
        <p:txBody>
          <a:bodyPr anchor="t" rtlCol="false" tIns="0" lIns="0" bIns="0" rIns="0">
            <a:spAutoFit/>
          </a:bodyPr>
          <a:lstStyle/>
          <a:p>
            <a:pPr algn="ctr">
              <a:lnSpc>
                <a:spcPts val="5120"/>
              </a:lnSpc>
            </a:pPr>
            <a:r>
              <a:rPr lang="en-US" b="true" sz="3657" spc="153">
                <a:solidFill>
                  <a:srgbClr val="253754"/>
                </a:solidFill>
                <a:latin typeface="Glacial Indifference Bold"/>
                <a:ea typeface="Glacial Indifference Bold"/>
                <a:cs typeface="Glacial Indifference Bold"/>
                <a:sym typeface="Glacial Indifference Bold"/>
              </a:rPr>
              <a:t>componentes de la declaracion</a:t>
            </a:r>
          </a:p>
        </p:txBody>
      </p:sp>
      <p:sp>
        <p:nvSpPr>
          <p:cNvPr name="TextBox 16" id="16"/>
          <p:cNvSpPr txBox="true"/>
          <p:nvPr/>
        </p:nvSpPr>
        <p:spPr>
          <a:xfrm rot="0">
            <a:off x="1912121" y="8510998"/>
            <a:ext cx="4269293" cy="465242"/>
          </a:xfrm>
          <a:prstGeom prst="rect">
            <a:avLst/>
          </a:prstGeom>
        </p:spPr>
        <p:txBody>
          <a:bodyPr anchor="t" rtlCol="false" tIns="0" lIns="0" bIns="0" rIns="0">
            <a:spAutoFit/>
          </a:bodyPr>
          <a:lstStyle/>
          <a:p>
            <a:pPr algn="l">
              <a:lnSpc>
                <a:spcPts val="3756"/>
              </a:lnSpc>
            </a:pPr>
            <a:r>
              <a:rPr lang="en-US" b="true" sz="2683" spc="59">
                <a:solidFill>
                  <a:srgbClr val="EDE8E4"/>
                </a:solidFill>
                <a:latin typeface="Glacial Indifference Bold"/>
                <a:ea typeface="Glacial Indifference Bold"/>
                <a:cs typeface="Glacial Indifference Bold"/>
                <a:sym typeface="Glacial Indifference Bold"/>
              </a:rPr>
              <a:t>sector:</a:t>
            </a:r>
            <a:r>
              <a:rPr lang="en-US" sz="2683" spc="59">
                <a:solidFill>
                  <a:srgbClr val="EDE8E4"/>
                </a:solidFill>
                <a:latin typeface="Glacial Indifference"/>
                <a:ea typeface="Glacial Indifference"/>
                <a:cs typeface="Glacial Indifference"/>
                <a:sym typeface="Glacial Indifference"/>
              </a:rPr>
              <a:t> industria del cine</a:t>
            </a:r>
          </a:p>
        </p:txBody>
      </p:sp>
      <p:sp>
        <p:nvSpPr>
          <p:cNvPr name="TextBox 17" id="17"/>
          <p:cNvSpPr txBox="true"/>
          <p:nvPr/>
        </p:nvSpPr>
        <p:spPr>
          <a:xfrm rot="0">
            <a:off x="6382891" y="8475655"/>
            <a:ext cx="5268637" cy="465242"/>
          </a:xfrm>
          <a:prstGeom prst="rect">
            <a:avLst/>
          </a:prstGeom>
        </p:spPr>
        <p:txBody>
          <a:bodyPr anchor="t" rtlCol="false" tIns="0" lIns="0" bIns="0" rIns="0">
            <a:spAutoFit/>
          </a:bodyPr>
          <a:lstStyle/>
          <a:p>
            <a:pPr algn="l">
              <a:lnSpc>
                <a:spcPts val="3756"/>
              </a:lnSpc>
            </a:pPr>
            <a:r>
              <a:rPr lang="en-US" b="true" sz="2683" spc="59">
                <a:solidFill>
                  <a:srgbClr val="EDE8E4"/>
                </a:solidFill>
                <a:latin typeface="Glacial Indifference Bold"/>
                <a:ea typeface="Glacial Indifference Bold"/>
                <a:cs typeface="Glacial Indifference Bold"/>
                <a:sym typeface="Glacial Indifference Bold"/>
              </a:rPr>
              <a:t>ambicion:</a:t>
            </a:r>
            <a:r>
              <a:rPr lang="en-US" sz="2683" spc="59">
                <a:solidFill>
                  <a:srgbClr val="EDE8E4"/>
                </a:solidFill>
                <a:latin typeface="Glacial Indifference"/>
                <a:ea typeface="Glacial Indifference"/>
                <a:cs typeface="Glacial Indifference"/>
                <a:sym typeface="Glacial Indifference"/>
              </a:rPr>
              <a:t> liderazgo y excelencia</a:t>
            </a:r>
          </a:p>
        </p:txBody>
      </p:sp>
      <p:sp>
        <p:nvSpPr>
          <p:cNvPr name="TextBox 18" id="18"/>
          <p:cNvSpPr txBox="true"/>
          <p:nvPr/>
        </p:nvSpPr>
        <p:spPr>
          <a:xfrm rot="0">
            <a:off x="1768537" y="9252466"/>
            <a:ext cx="5268637" cy="465242"/>
          </a:xfrm>
          <a:prstGeom prst="rect">
            <a:avLst/>
          </a:prstGeom>
        </p:spPr>
        <p:txBody>
          <a:bodyPr anchor="t" rtlCol="false" tIns="0" lIns="0" bIns="0" rIns="0">
            <a:spAutoFit/>
          </a:bodyPr>
          <a:lstStyle/>
          <a:p>
            <a:pPr algn="l">
              <a:lnSpc>
                <a:spcPts val="3756"/>
              </a:lnSpc>
            </a:pPr>
            <a:r>
              <a:rPr lang="en-US" b="true" sz="2683" spc="59">
                <a:solidFill>
                  <a:srgbClr val="EDE8E4"/>
                </a:solidFill>
                <a:latin typeface="Glacial Indifference Bold"/>
                <a:ea typeface="Glacial Indifference Bold"/>
                <a:cs typeface="Glacial Indifference Bold"/>
                <a:sym typeface="Glacial Indifference Bold"/>
              </a:rPr>
              <a:t>alcance: </a:t>
            </a:r>
            <a:r>
              <a:rPr lang="en-US" sz="2683" spc="59">
                <a:solidFill>
                  <a:srgbClr val="EDE8E4"/>
                </a:solidFill>
                <a:latin typeface="Glacial Indifference"/>
                <a:ea typeface="Glacial Indifference"/>
                <a:cs typeface="Glacial Indifference"/>
                <a:sym typeface="Glacial Indifference"/>
              </a:rPr>
              <a:t>nivel internacional</a:t>
            </a:r>
          </a:p>
        </p:txBody>
      </p:sp>
      <p:sp>
        <p:nvSpPr>
          <p:cNvPr name="TextBox 19" id="19"/>
          <p:cNvSpPr txBox="true"/>
          <p:nvPr/>
        </p:nvSpPr>
        <p:spPr>
          <a:xfrm rot="0">
            <a:off x="6509681" y="9179022"/>
            <a:ext cx="5268637" cy="941492"/>
          </a:xfrm>
          <a:prstGeom prst="rect">
            <a:avLst/>
          </a:prstGeom>
        </p:spPr>
        <p:txBody>
          <a:bodyPr anchor="t" rtlCol="false" tIns="0" lIns="0" bIns="0" rIns="0">
            <a:spAutoFit/>
          </a:bodyPr>
          <a:lstStyle/>
          <a:p>
            <a:pPr algn="l">
              <a:lnSpc>
                <a:spcPts val="3756"/>
              </a:lnSpc>
            </a:pPr>
            <a:r>
              <a:rPr lang="en-US" sz="2683" spc="59">
                <a:solidFill>
                  <a:srgbClr val="EDE8E4"/>
                </a:solidFill>
                <a:latin typeface="Glacial Indifference"/>
                <a:ea typeface="Glacial Indifference"/>
                <a:cs typeface="Glacial Indifference"/>
                <a:sym typeface="Glacial Indifference"/>
              </a:rPr>
              <a:t>diferenciadores: diversion, innovacion, servicio</a:t>
            </a:r>
          </a:p>
        </p:txBody>
      </p:sp>
      <p:grpSp>
        <p:nvGrpSpPr>
          <p:cNvPr name="Group 20" id="20"/>
          <p:cNvGrpSpPr/>
          <p:nvPr/>
        </p:nvGrpSpPr>
        <p:grpSpPr>
          <a:xfrm rot="0">
            <a:off x="7717768" y="2684294"/>
            <a:ext cx="9971108" cy="4186037"/>
            <a:chOff x="0" y="0"/>
            <a:chExt cx="2222358" cy="932983"/>
          </a:xfrm>
        </p:grpSpPr>
        <p:sp>
          <p:nvSpPr>
            <p:cNvPr name="Freeform 21" id="21"/>
            <p:cNvSpPr/>
            <p:nvPr/>
          </p:nvSpPr>
          <p:spPr>
            <a:xfrm flipH="false" flipV="false" rot="0">
              <a:off x="0" y="0"/>
              <a:ext cx="2222358" cy="932983"/>
            </a:xfrm>
            <a:custGeom>
              <a:avLst/>
              <a:gdLst/>
              <a:ahLst/>
              <a:cxnLst/>
              <a:rect r="r" b="b" t="t" l="l"/>
              <a:pathLst>
                <a:path h="932983" w="2222358">
                  <a:moveTo>
                    <a:pt x="45810" y="0"/>
                  </a:moveTo>
                  <a:lnTo>
                    <a:pt x="2176549" y="0"/>
                  </a:lnTo>
                  <a:cubicBezTo>
                    <a:pt x="2188698" y="0"/>
                    <a:pt x="2200350" y="4826"/>
                    <a:pt x="2208941" y="13417"/>
                  </a:cubicBezTo>
                  <a:cubicBezTo>
                    <a:pt x="2217532" y="22008"/>
                    <a:pt x="2222358" y="33660"/>
                    <a:pt x="2222358" y="45810"/>
                  </a:cubicBezTo>
                  <a:lnTo>
                    <a:pt x="2222358" y="887173"/>
                  </a:lnTo>
                  <a:cubicBezTo>
                    <a:pt x="2222358" y="912473"/>
                    <a:pt x="2201849" y="932983"/>
                    <a:pt x="2176549" y="932983"/>
                  </a:cubicBezTo>
                  <a:lnTo>
                    <a:pt x="45810" y="932983"/>
                  </a:lnTo>
                  <a:cubicBezTo>
                    <a:pt x="20510" y="932983"/>
                    <a:pt x="0" y="912473"/>
                    <a:pt x="0" y="887173"/>
                  </a:cubicBezTo>
                  <a:lnTo>
                    <a:pt x="0" y="45810"/>
                  </a:lnTo>
                  <a:cubicBezTo>
                    <a:pt x="0" y="20510"/>
                    <a:pt x="20510" y="0"/>
                    <a:pt x="45810" y="0"/>
                  </a:cubicBezTo>
                  <a:close/>
                </a:path>
              </a:pathLst>
            </a:custGeom>
            <a:ln w="38100" cap="rnd">
              <a:solidFill>
                <a:srgbClr val="E3D8D4"/>
              </a:solidFill>
              <a:prstDash val="solid"/>
              <a:round/>
            </a:ln>
          </p:spPr>
        </p:sp>
        <p:sp>
          <p:nvSpPr>
            <p:cNvPr name="TextBox 22" id="22"/>
            <p:cNvSpPr txBox="true"/>
            <p:nvPr/>
          </p:nvSpPr>
          <p:spPr>
            <a:xfrm>
              <a:off x="0" y="9525"/>
              <a:ext cx="2222358" cy="923458"/>
            </a:xfrm>
            <a:prstGeom prst="rect">
              <a:avLst/>
            </a:prstGeom>
          </p:spPr>
          <p:txBody>
            <a:bodyPr anchor="ctr" rtlCol="false" tIns="50800" lIns="50800" bIns="50800" rIns="50800"/>
            <a:lstStyle/>
            <a:p>
              <a:pPr algn="ctr">
                <a:lnSpc>
                  <a:spcPts val="2121"/>
                </a:lnSpc>
              </a:pPr>
            </a:p>
            <a:p>
              <a:pPr algn="ctr">
                <a:lnSpc>
                  <a:spcPts val="2121"/>
                </a:lnSpc>
              </a:pPr>
            </a:p>
          </p:txBody>
        </p:sp>
      </p:grpSp>
      <p:sp>
        <p:nvSpPr>
          <p:cNvPr name="Freeform 23" id="23"/>
          <p:cNvSpPr/>
          <p:nvPr/>
        </p:nvSpPr>
        <p:spPr>
          <a:xfrm flipH="false" flipV="false" rot="-10800000">
            <a:off x="7717768" y="2684294"/>
            <a:ext cx="9971108" cy="1033825"/>
          </a:xfrm>
          <a:custGeom>
            <a:avLst/>
            <a:gdLst/>
            <a:ahLst/>
            <a:cxnLst/>
            <a:rect r="r" b="b" t="t" l="l"/>
            <a:pathLst>
              <a:path h="1033825" w="9971108">
                <a:moveTo>
                  <a:pt x="0" y="0"/>
                </a:moveTo>
                <a:lnTo>
                  <a:pt x="9971108" y="0"/>
                </a:lnTo>
                <a:lnTo>
                  <a:pt x="9971108" y="1033825"/>
                </a:lnTo>
                <a:lnTo>
                  <a:pt x="0" y="1033825"/>
                </a:lnTo>
                <a:lnTo>
                  <a:pt x="0" y="0"/>
                </a:lnTo>
                <a:close/>
              </a:path>
            </a:pathLst>
          </a:custGeom>
          <a:blipFill>
            <a:blip r:embed="rId4">
              <a:extLst>
                <a:ext uri="{96DAC541-7B7A-43D3-8B79-37D633B846F1}">
                  <asvg:svgBlip xmlns:asvg="http://schemas.microsoft.com/office/drawing/2016/SVG/main" r:embed="rId5"/>
                </a:ext>
              </a:extLst>
            </a:blip>
            <a:stretch>
              <a:fillRect l="0" t="-1116796" r="0" b="-61416"/>
            </a:stretch>
          </a:blipFill>
        </p:spPr>
      </p:sp>
      <p:sp>
        <p:nvSpPr>
          <p:cNvPr name="TextBox 24" id="24"/>
          <p:cNvSpPr txBox="true"/>
          <p:nvPr/>
        </p:nvSpPr>
        <p:spPr>
          <a:xfrm rot="0">
            <a:off x="8286382" y="2904377"/>
            <a:ext cx="8866244" cy="624865"/>
          </a:xfrm>
          <a:prstGeom prst="rect">
            <a:avLst/>
          </a:prstGeom>
        </p:spPr>
        <p:txBody>
          <a:bodyPr anchor="t" rtlCol="false" tIns="0" lIns="0" bIns="0" rIns="0">
            <a:spAutoFit/>
          </a:bodyPr>
          <a:lstStyle/>
          <a:p>
            <a:pPr algn="ctr">
              <a:lnSpc>
                <a:spcPts val="5120"/>
              </a:lnSpc>
            </a:pPr>
            <a:r>
              <a:rPr lang="en-US" b="true" sz="3657" spc="153">
                <a:solidFill>
                  <a:srgbClr val="253754"/>
                </a:solidFill>
                <a:latin typeface="Glacial Indifference Bold"/>
                <a:ea typeface="Glacial Indifference Bold"/>
                <a:cs typeface="Glacial Indifference Bold"/>
                <a:sym typeface="Glacial Indifference Bold"/>
              </a:rPr>
              <a:t>base para la estrategia</a:t>
            </a:r>
          </a:p>
        </p:txBody>
      </p:sp>
      <p:sp>
        <p:nvSpPr>
          <p:cNvPr name="TextBox 25" id="25"/>
          <p:cNvSpPr txBox="true"/>
          <p:nvPr/>
        </p:nvSpPr>
        <p:spPr>
          <a:xfrm rot="0">
            <a:off x="8039447" y="3780368"/>
            <a:ext cx="8988372" cy="1363132"/>
          </a:xfrm>
          <a:prstGeom prst="rect">
            <a:avLst/>
          </a:prstGeom>
        </p:spPr>
        <p:txBody>
          <a:bodyPr anchor="t" rtlCol="false" tIns="0" lIns="0" bIns="0" rIns="0">
            <a:spAutoFit/>
          </a:bodyPr>
          <a:lstStyle/>
          <a:p>
            <a:pPr algn="ctr">
              <a:lnSpc>
                <a:spcPts val="3616"/>
              </a:lnSpc>
            </a:pPr>
            <a:r>
              <a:rPr lang="en-US" sz="2583" spc="56">
                <a:solidFill>
                  <a:srgbClr val="EDE8E4"/>
                </a:solidFill>
                <a:latin typeface="Glacial Indifference"/>
                <a:ea typeface="Glacial Indifference"/>
                <a:cs typeface="Glacial Indifference"/>
                <a:sym typeface="Glacial Indifference"/>
              </a:rPr>
              <a:t>L</a:t>
            </a:r>
            <a:r>
              <a:rPr lang="en-US" sz="2583" spc="56" strike="noStrike" u="none">
                <a:solidFill>
                  <a:srgbClr val="EDE8E4"/>
                </a:solidFill>
                <a:latin typeface="Glacial Indifference"/>
                <a:ea typeface="Glacial Indifference"/>
                <a:cs typeface="Glacial Indifference"/>
                <a:sym typeface="Glacial Indifference"/>
              </a:rPr>
              <a:t>a misión corporativa es el fundamento sobre el cual se construyen todas las estrategias comerciales de Cinépolis.</a:t>
            </a:r>
          </a:p>
          <a:p>
            <a:pPr algn="ctr">
              <a:lnSpc>
                <a:spcPts val="3616"/>
              </a:lnSpc>
            </a:pPr>
          </a:p>
        </p:txBody>
      </p:sp>
      <p:sp>
        <p:nvSpPr>
          <p:cNvPr name="TextBox 26" id="26"/>
          <p:cNvSpPr txBox="true"/>
          <p:nvPr/>
        </p:nvSpPr>
        <p:spPr>
          <a:xfrm rot="0">
            <a:off x="8039447" y="4720162"/>
            <a:ext cx="8988372" cy="2277532"/>
          </a:xfrm>
          <a:prstGeom prst="rect">
            <a:avLst/>
          </a:prstGeom>
        </p:spPr>
        <p:txBody>
          <a:bodyPr anchor="t" rtlCol="false" tIns="0" lIns="0" bIns="0" rIns="0">
            <a:spAutoFit/>
          </a:bodyPr>
          <a:lstStyle/>
          <a:p>
            <a:pPr algn="l" marL="557751" indent="-278875" lvl="1">
              <a:lnSpc>
                <a:spcPts val="3616"/>
              </a:lnSpc>
              <a:buFont typeface="Arial"/>
              <a:buChar char="•"/>
            </a:pPr>
            <a:r>
              <a:rPr lang="en-US" sz="2583" spc="56">
                <a:solidFill>
                  <a:srgbClr val="EDE8E4"/>
                </a:solidFill>
                <a:latin typeface="Glacial Indifference"/>
                <a:ea typeface="Glacial Indifference"/>
                <a:cs typeface="Glacial Indifference"/>
                <a:sym typeface="Glacial Indifference"/>
              </a:rPr>
              <a:t>define proposito claro y ambicioso</a:t>
            </a:r>
          </a:p>
          <a:p>
            <a:pPr algn="l" marL="557751" indent="-278875" lvl="1">
              <a:lnSpc>
                <a:spcPts val="3616"/>
              </a:lnSpc>
              <a:buFont typeface="Arial"/>
              <a:buChar char="•"/>
            </a:pPr>
            <a:r>
              <a:rPr lang="en-US" sz="2583" spc="56">
                <a:solidFill>
                  <a:srgbClr val="EDE8E4"/>
                </a:solidFill>
                <a:latin typeface="Glacial Indifference"/>
                <a:ea typeface="Glacial Indifference"/>
                <a:cs typeface="Glacial Indifference"/>
                <a:sym typeface="Glacial Indifference"/>
              </a:rPr>
              <a:t>establece diferenciadores competitivos</a:t>
            </a:r>
          </a:p>
          <a:p>
            <a:pPr algn="l" marL="557751" indent="-278875" lvl="1">
              <a:lnSpc>
                <a:spcPts val="3616"/>
              </a:lnSpc>
              <a:buFont typeface="Arial"/>
              <a:buChar char="•"/>
            </a:pPr>
            <a:r>
              <a:rPr lang="en-US" sz="2583" spc="56">
                <a:solidFill>
                  <a:srgbClr val="EDE8E4"/>
                </a:solidFill>
                <a:latin typeface="Glacial Indifference"/>
                <a:ea typeface="Glacial Indifference"/>
                <a:cs typeface="Glacial Indifference"/>
                <a:sym typeface="Glacial Indifference"/>
              </a:rPr>
              <a:t>guia decisiones estrategicas</a:t>
            </a:r>
          </a:p>
          <a:p>
            <a:pPr algn="l" marL="557751" indent="-278875" lvl="1">
              <a:lnSpc>
                <a:spcPts val="3616"/>
              </a:lnSpc>
              <a:buFont typeface="Arial"/>
              <a:buChar char="•"/>
            </a:pPr>
            <a:r>
              <a:rPr lang="en-US" sz="2583" spc="56">
                <a:solidFill>
                  <a:srgbClr val="EDE8E4"/>
                </a:solidFill>
                <a:latin typeface="Glacial Indifference"/>
                <a:ea typeface="Glacial Indifference"/>
                <a:cs typeface="Glacial Indifference"/>
                <a:sym typeface="Glacial Indifference"/>
              </a:rPr>
              <a:t>comunica valores a stakeholders</a:t>
            </a:r>
          </a:p>
          <a:p>
            <a:pPr algn="l">
              <a:lnSpc>
                <a:spcPts val="3616"/>
              </a:lnSpc>
            </a:pPr>
          </a:p>
        </p:txBody>
      </p:sp>
    </p:spTree>
  </p:cSld>
  <p:clrMapOvr>
    <a:masterClrMapping/>
  </p:clrMapOvr>
</p:sld>
</file>

<file path=ppt/slides/slide12.xml><?xml version="1.0" encoding="utf-8"?>
<p:sld xmlns:p="http://schemas.openxmlformats.org/presentationml/2006/main" xmlns:a="http://schemas.openxmlformats.org/drawingml/2006/main" xmlns:r="http://schemas.openxmlformats.org/officeDocument/2006/relationships">
  <p:cSld>
    <p:bg>
      <p:bgPr>
        <a:solidFill>
          <a:srgbClr val="253754"/>
        </a:solidFill>
      </p:bgPr>
    </p:bg>
    <p:spTree>
      <p:nvGrpSpPr>
        <p:cNvPr id="1" name=""/>
        <p:cNvGrpSpPr/>
        <p:nvPr/>
      </p:nvGrpSpPr>
      <p:grpSpPr>
        <a:xfrm>
          <a:off x="0" y="0"/>
          <a:ext cx="0" cy="0"/>
          <a:chOff x="0" y="0"/>
          <a:chExt cx="0" cy="0"/>
        </a:xfrm>
      </p:grpSpPr>
      <p:sp>
        <p:nvSpPr>
          <p:cNvPr name="Freeform 2" id="2"/>
          <p:cNvSpPr/>
          <p:nvPr/>
        </p:nvSpPr>
        <p:spPr>
          <a:xfrm flipH="false" flipV="false" rot="0">
            <a:off x="-1680157" y="-3300337"/>
            <a:ext cx="6212126" cy="7976908"/>
          </a:xfrm>
          <a:custGeom>
            <a:avLst/>
            <a:gdLst/>
            <a:ahLst/>
            <a:cxnLst/>
            <a:rect r="r" b="b" t="t" l="l"/>
            <a:pathLst>
              <a:path h="7976908" w="6212126">
                <a:moveTo>
                  <a:pt x="0" y="0"/>
                </a:moveTo>
                <a:lnTo>
                  <a:pt x="6212127" y="0"/>
                </a:lnTo>
                <a:lnTo>
                  <a:pt x="6212127" y="7976908"/>
                </a:lnTo>
                <a:lnTo>
                  <a:pt x="0" y="7976908"/>
                </a:lnTo>
                <a:lnTo>
                  <a:pt x="0" y="0"/>
                </a:lnTo>
                <a:close/>
              </a:path>
            </a:pathLst>
          </a:custGeom>
          <a:blipFill>
            <a:blip r:embed="rId2">
              <a:extLst>
                <a:ext uri="{96DAC541-7B7A-43D3-8B79-37D633B846F1}">
                  <asvg:svgBlip xmlns:asvg="http://schemas.microsoft.com/office/drawing/2016/SVG/main" r:embed="rId3"/>
                </a:ext>
              </a:extLst>
            </a:blip>
            <a:stretch>
              <a:fillRect l="0" t="0" r="-37402" b="0"/>
            </a:stretch>
          </a:blipFill>
          <a:ln cap="sq">
            <a:noFill/>
            <a:prstDash val="solid"/>
            <a:miter/>
          </a:ln>
        </p:spPr>
      </p:sp>
      <p:sp>
        <p:nvSpPr>
          <p:cNvPr name="TextBox 3" id="3"/>
          <p:cNvSpPr txBox="true"/>
          <p:nvPr/>
        </p:nvSpPr>
        <p:spPr>
          <a:xfrm rot="0">
            <a:off x="2772438" y="225491"/>
            <a:ext cx="14255381" cy="2458803"/>
          </a:xfrm>
          <a:prstGeom prst="rect">
            <a:avLst/>
          </a:prstGeom>
        </p:spPr>
        <p:txBody>
          <a:bodyPr anchor="t" rtlCol="false" tIns="0" lIns="0" bIns="0" rIns="0">
            <a:spAutoFit/>
          </a:bodyPr>
          <a:lstStyle/>
          <a:p>
            <a:pPr algn="r">
              <a:lnSpc>
                <a:spcPts val="9841"/>
              </a:lnSpc>
            </a:pPr>
            <a:r>
              <a:rPr lang="en-US" sz="7029" spc="660">
                <a:solidFill>
                  <a:srgbClr val="EDE8E4"/>
                </a:solidFill>
                <a:latin typeface="Glacial Indifference"/>
                <a:ea typeface="Glacial Indifference"/>
                <a:cs typeface="Glacial Indifference"/>
                <a:sym typeface="Glacial Indifference"/>
              </a:rPr>
              <a:t>OBJETIVO A: ESPANSION GEOGRAFICA INTERNACIONAL</a:t>
            </a:r>
          </a:p>
        </p:txBody>
      </p:sp>
      <p:sp>
        <p:nvSpPr>
          <p:cNvPr name="TextBox 4" id="4"/>
          <p:cNvSpPr txBox="true"/>
          <p:nvPr/>
        </p:nvSpPr>
        <p:spPr>
          <a:xfrm rot="0">
            <a:off x="1768537" y="2904377"/>
            <a:ext cx="5023004" cy="624865"/>
          </a:xfrm>
          <a:prstGeom prst="rect">
            <a:avLst/>
          </a:prstGeom>
        </p:spPr>
        <p:txBody>
          <a:bodyPr anchor="t" rtlCol="false" tIns="0" lIns="0" bIns="0" rIns="0">
            <a:spAutoFit/>
          </a:bodyPr>
          <a:lstStyle/>
          <a:p>
            <a:pPr algn="ctr">
              <a:lnSpc>
                <a:spcPts val="5120"/>
              </a:lnSpc>
            </a:pPr>
            <a:r>
              <a:rPr lang="en-US" b="true" sz="3657" spc="153">
                <a:solidFill>
                  <a:srgbClr val="253754"/>
                </a:solidFill>
                <a:latin typeface="Glacial Indifference Bold"/>
                <a:ea typeface="Glacial Indifference Bold"/>
                <a:cs typeface="Glacial Indifference Bold"/>
                <a:sym typeface="Glacial Indifference Bold"/>
              </a:rPr>
              <a:t>Mision de Cinepolis</a:t>
            </a:r>
          </a:p>
        </p:txBody>
      </p:sp>
      <p:grpSp>
        <p:nvGrpSpPr>
          <p:cNvPr name="Group 5" id="5"/>
          <p:cNvGrpSpPr/>
          <p:nvPr/>
        </p:nvGrpSpPr>
        <p:grpSpPr>
          <a:xfrm rot="0">
            <a:off x="2037003" y="2684294"/>
            <a:ext cx="10104188" cy="3111741"/>
            <a:chOff x="0" y="0"/>
            <a:chExt cx="2252019" cy="693544"/>
          </a:xfrm>
        </p:grpSpPr>
        <p:sp>
          <p:nvSpPr>
            <p:cNvPr name="Freeform 6" id="6"/>
            <p:cNvSpPr/>
            <p:nvPr/>
          </p:nvSpPr>
          <p:spPr>
            <a:xfrm flipH="false" flipV="false" rot="0">
              <a:off x="0" y="0"/>
              <a:ext cx="2252019" cy="693544"/>
            </a:xfrm>
            <a:custGeom>
              <a:avLst/>
              <a:gdLst/>
              <a:ahLst/>
              <a:cxnLst/>
              <a:rect r="r" b="b" t="t" l="l"/>
              <a:pathLst>
                <a:path h="693544" w="2252019">
                  <a:moveTo>
                    <a:pt x="45206" y="0"/>
                  </a:moveTo>
                  <a:lnTo>
                    <a:pt x="2206813" y="0"/>
                  </a:lnTo>
                  <a:cubicBezTo>
                    <a:pt x="2231779" y="0"/>
                    <a:pt x="2252019" y="20240"/>
                    <a:pt x="2252019" y="45206"/>
                  </a:cubicBezTo>
                  <a:lnTo>
                    <a:pt x="2252019" y="648338"/>
                  </a:lnTo>
                  <a:cubicBezTo>
                    <a:pt x="2252019" y="673305"/>
                    <a:pt x="2231779" y="693544"/>
                    <a:pt x="2206813" y="693544"/>
                  </a:cubicBezTo>
                  <a:lnTo>
                    <a:pt x="45206" y="693544"/>
                  </a:lnTo>
                  <a:cubicBezTo>
                    <a:pt x="20240" y="693544"/>
                    <a:pt x="0" y="673305"/>
                    <a:pt x="0" y="648338"/>
                  </a:cubicBezTo>
                  <a:lnTo>
                    <a:pt x="0" y="45206"/>
                  </a:lnTo>
                  <a:cubicBezTo>
                    <a:pt x="0" y="20240"/>
                    <a:pt x="20240" y="0"/>
                    <a:pt x="45206" y="0"/>
                  </a:cubicBezTo>
                  <a:close/>
                </a:path>
              </a:pathLst>
            </a:custGeom>
            <a:ln w="38100" cap="rnd">
              <a:solidFill>
                <a:srgbClr val="E3D8D4"/>
              </a:solidFill>
              <a:prstDash val="solid"/>
              <a:round/>
            </a:ln>
          </p:spPr>
        </p:sp>
        <p:sp>
          <p:nvSpPr>
            <p:cNvPr name="TextBox 7" id="7"/>
            <p:cNvSpPr txBox="true"/>
            <p:nvPr/>
          </p:nvSpPr>
          <p:spPr>
            <a:xfrm>
              <a:off x="0" y="9525"/>
              <a:ext cx="2252019" cy="684019"/>
            </a:xfrm>
            <a:prstGeom prst="rect">
              <a:avLst/>
            </a:prstGeom>
          </p:spPr>
          <p:txBody>
            <a:bodyPr anchor="ctr" rtlCol="false" tIns="50800" lIns="50800" bIns="50800" rIns="50800"/>
            <a:lstStyle/>
            <a:p>
              <a:pPr algn="ctr">
                <a:lnSpc>
                  <a:spcPts val="2121"/>
                </a:lnSpc>
              </a:pPr>
            </a:p>
            <a:p>
              <a:pPr algn="ctr">
                <a:lnSpc>
                  <a:spcPts val="2121"/>
                </a:lnSpc>
              </a:pPr>
            </a:p>
          </p:txBody>
        </p:sp>
      </p:grpSp>
      <p:sp>
        <p:nvSpPr>
          <p:cNvPr name="Freeform 8" id="8"/>
          <p:cNvSpPr/>
          <p:nvPr/>
        </p:nvSpPr>
        <p:spPr>
          <a:xfrm flipH="false" flipV="false" rot="-10800000">
            <a:off x="2037003" y="2684294"/>
            <a:ext cx="10104188" cy="1033825"/>
          </a:xfrm>
          <a:custGeom>
            <a:avLst/>
            <a:gdLst/>
            <a:ahLst/>
            <a:cxnLst/>
            <a:rect r="r" b="b" t="t" l="l"/>
            <a:pathLst>
              <a:path h="1033825" w="10104188">
                <a:moveTo>
                  <a:pt x="0" y="0"/>
                </a:moveTo>
                <a:lnTo>
                  <a:pt x="10104188" y="0"/>
                </a:lnTo>
                <a:lnTo>
                  <a:pt x="10104188" y="1033825"/>
                </a:lnTo>
                <a:lnTo>
                  <a:pt x="0" y="1033825"/>
                </a:lnTo>
                <a:lnTo>
                  <a:pt x="0" y="0"/>
                </a:lnTo>
                <a:close/>
              </a:path>
            </a:pathLst>
          </a:custGeom>
          <a:blipFill>
            <a:blip r:embed="rId4">
              <a:extLst>
                <a:ext uri="{96DAC541-7B7A-43D3-8B79-37D633B846F1}">
                  <asvg:svgBlip xmlns:asvg="http://schemas.microsoft.com/office/drawing/2016/SVG/main" r:embed="rId5"/>
                </a:ext>
              </a:extLst>
            </a:blip>
            <a:stretch>
              <a:fillRect l="0" t="-1132368" r="0" b="-62903"/>
            </a:stretch>
          </a:blipFill>
        </p:spPr>
      </p:sp>
      <p:sp>
        <p:nvSpPr>
          <p:cNvPr name="Freeform 9" id="9"/>
          <p:cNvSpPr/>
          <p:nvPr/>
        </p:nvSpPr>
        <p:spPr>
          <a:xfrm flipH="false" flipV="false" rot="0">
            <a:off x="12571713" y="2874398"/>
            <a:ext cx="5024605" cy="2592825"/>
          </a:xfrm>
          <a:custGeom>
            <a:avLst/>
            <a:gdLst/>
            <a:ahLst/>
            <a:cxnLst/>
            <a:rect r="r" b="b" t="t" l="l"/>
            <a:pathLst>
              <a:path h="2592825" w="5024605">
                <a:moveTo>
                  <a:pt x="0" y="0"/>
                </a:moveTo>
                <a:lnTo>
                  <a:pt x="5024605" y="0"/>
                </a:lnTo>
                <a:lnTo>
                  <a:pt x="5024605" y="2592825"/>
                </a:lnTo>
                <a:lnTo>
                  <a:pt x="0" y="2592825"/>
                </a:lnTo>
                <a:lnTo>
                  <a:pt x="0" y="0"/>
                </a:lnTo>
                <a:close/>
              </a:path>
            </a:pathLst>
          </a:custGeom>
          <a:blipFill>
            <a:blip r:embed="rId6"/>
            <a:stretch>
              <a:fillRect l="0" t="0" r="0" b="0"/>
            </a:stretch>
          </a:blipFill>
        </p:spPr>
      </p:sp>
      <p:sp>
        <p:nvSpPr>
          <p:cNvPr name="TextBox 10" id="10"/>
          <p:cNvSpPr txBox="true"/>
          <p:nvPr/>
        </p:nvSpPr>
        <p:spPr>
          <a:xfrm rot="0">
            <a:off x="2613206" y="2904377"/>
            <a:ext cx="8984577" cy="1266434"/>
          </a:xfrm>
          <a:prstGeom prst="rect">
            <a:avLst/>
          </a:prstGeom>
        </p:spPr>
        <p:txBody>
          <a:bodyPr anchor="t" rtlCol="false" tIns="0" lIns="0" bIns="0" rIns="0">
            <a:spAutoFit/>
          </a:bodyPr>
          <a:lstStyle/>
          <a:p>
            <a:pPr algn="ctr">
              <a:lnSpc>
                <a:spcPts val="5120"/>
              </a:lnSpc>
            </a:pPr>
            <a:r>
              <a:rPr lang="en-US" b="true" sz="3657" spc="153">
                <a:solidFill>
                  <a:srgbClr val="253754"/>
                </a:solidFill>
                <a:latin typeface="Glacial Indifference Bold"/>
                <a:ea typeface="Glacial Indifference Bold"/>
                <a:cs typeface="Glacial Indifference Bold"/>
                <a:sym typeface="Glacial Indifference Bold"/>
              </a:rPr>
              <a:t>Transformación Global</a:t>
            </a:r>
          </a:p>
          <a:p>
            <a:pPr algn="ctr">
              <a:lnSpc>
                <a:spcPts val="5120"/>
              </a:lnSpc>
            </a:pPr>
          </a:p>
        </p:txBody>
      </p:sp>
      <p:sp>
        <p:nvSpPr>
          <p:cNvPr name="TextBox 11" id="11"/>
          <p:cNvSpPr txBox="true"/>
          <p:nvPr/>
        </p:nvSpPr>
        <p:spPr>
          <a:xfrm rot="0">
            <a:off x="2362975" y="3780368"/>
            <a:ext cx="9108336" cy="1820332"/>
          </a:xfrm>
          <a:prstGeom prst="rect">
            <a:avLst/>
          </a:prstGeom>
        </p:spPr>
        <p:txBody>
          <a:bodyPr anchor="t" rtlCol="false" tIns="0" lIns="0" bIns="0" rIns="0">
            <a:spAutoFit/>
          </a:bodyPr>
          <a:lstStyle/>
          <a:p>
            <a:pPr algn="l">
              <a:lnSpc>
                <a:spcPts val="3616"/>
              </a:lnSpc>
            </a:pPr>
            <a:r>
              <a:rPr lang="en-US" sz="2583" spc="56">
                <a:solidFill>
                  <a:srgbClr val="EDE8E4"/>
                </a:solidFill>
                <a:latin typeface="Glacial Indifference"/>
                <a:ea typeface="Glacial Indifference"/>
                <a:cs typeface="Glacial Indifference"/>
                <a:sym typeface="Glacial Indifference"/>
              </a:rPr>
              <a:t>C</a:t>
            </a:r>
            <a:r>
              <a:rPr lang="en-US" sz="2583" strike="noStrike" spc="56" u="none">
                <a:solidFill>
                  <a:srgbClr val="EDE8E4"/>
                </a:solidFill>
                <a:latin typeface="Glacial Indifference"/>
                <a:ea typeface="Glacial Indifference"/>
                <a:cs typeface="Glacial Indifference"/>
                <a:sym typeface="Glacial Indifference"/>
              </a:rPr>
              <a:t>inépolis pasó de ser una pequeña cadena en </a:t>
            </a:r>
            <a:r>
              <a:rPr lang="en-US" b="true" sz="2583" spc="56" strike="noStrike" u="none">
                <a:solidFill>
                  <a:srgbClr val="EDE8E4"/>
                </a:solidFill>
                <a:latin typeface="Glacial Indifference Bold"/>
                <a:ea typeface="Glacial Indifference Bold"/>
                <a:cs typeface="Glacial Indifference Bold"/>
                <a:sym typeface="Glacial Indifference Bold"/>
              </a:rPr>
              <a:t>México</a:t>
            </a:r>
            <a:r>
              <a:rPr lang="en-US" sz="2583" strike="noStrike" spc="56" u="none">
                <a:solidFill>
                  <a:srgbClr val="EDE8E4"/>
                </a:solidFill>
                <a:latin typeface="Glacial Indifference"/>
                <a:ea typeface="Glacial Indifference"/>
                <a:cs typeface="Glacial Indifference"/>
                <a:sym typeface="Glacial Indifference"/>
              </a:rPr>
              <a:t> a convertirse en la</a:t>
            </a:r>
            <a:r>
              <a:rPr lang="en-US" b="true" sz="2583" spc="56" strike="noStrike" u="none">
                <a:solidFill>
                  <a:srgbClr val="EDE8E4"/>
                </a:solidFill>
                <a:latin typeface="Glacial Indifference Bold"/>
                <a:ea typeface="Glacial Indifference Bold"/>
                <a:cs typeface="Glacial Indifference Bold"/>
                <a:sym typeface="Glacial Indifference Bold"/>
              </a:rPr>
              <a:t> compañía cinematográfica más grande de América Latina y la tercera a nivel mundial.</a:t>
            </a:r>
          </a:p>
          <a:p>
            <a:pPr algn="l">
              <a:lnSpc>
                <a:spcPts val="3616"/>
              </a:lnSpc>
            </a:pPr>
          </a:p>
        </p:txBody>
      </p:sp>
      <p:grpSp>
        <p:nvGrpSpPr>
          <p:cNvPr name="Group 12" id="12"/>
          <p:cNvGrpSpPr/>
          <p:nvPr/>
        </p:nvGrpSpPr>
        <p:grpSpPr>
          <a:xfrm rot="0">
            <a:off x="683059" y="6146559"/>
            <a:ext cx="10104188" cy="3111741"/>
            <a:chOff x="0" y="0"/>
            <a:chExt cx="2252019" cy="693544"/>
          </a:xfrm>
        </p:grpSpPr>
        <p:sp>
          <p:nvSpPr>
            <p:cNvPr name="Freeform 13" id="13"/>
            <p:cNvSpPr/>
            <p:nvPr/>
          </p:nvSpPr>
          <p:spPr>
            <a:xfrm flipH="false" flipV="false" rot="0">
              <a:off x="0" y="0"/>
              <a:ext cx="2252019" cy="693544"/>
            </a:xfrm>
            <a:custGeom>
              <a:avLst/>
              <a:gdLst/>
              <a:ahLst/>
              <a:cxnLst/>
              <a:rect r="r" b="b" t="t" l="l"/>
              <a:pathLst>
                <a:path h="693544" w="2252019">
                  <a:moveTo>
                    <a:pt x="45206" y="0"/>
                  </a:moveTo>
                  <a:lnTo>
                    <a:pt x="2206813" y="0"/>
                  </a:lnTo>
                  <a:cubicBezTo>
                    <a:pt x="2231779" y="0"/>
                    <a:pt x="2252019" y="20240"/>
                    <a:pt x="2252019" y="45206"/>
                  </a:cubicBezTo>
                  <a:lnTo>
                    <a:pt x="2252019" y="648338"/>
                  </a:lnTo>
                  <a:cubicBezTo>
                    <a:pt x="2252019" y="673305"/>
                    <a:pt x="2231779" y="693544"/>
                    <a:pt x="2206813" y="693544"/>
                  </a:cubicBezTo>
                  <a:lnTo>
                    <a:pt x="45206" y="693544"/>
                  </a:lnTo>
                  <a:cubicBezTo>
                    <a:pt x="20240" y="693544"/>
                    <a:pt x="0" y="673305"/>
                    <a:pt x="0" y="648338"/>
                  </a:cubicBezTo>
                  <a:lnTo>
                    <a:pt x="0" y="45206"/>
                  </a:lnTo>
                  <a:cubicBezTo>
                    <a:pt x="0" y="20240"/>
                    <a:pt x="20240" y="0"/>
                    <a:pt x="45206" y="0"/>
                  </a:cubicBezTo>
                  <a:close/>
                </a:path>
              </a:pathLst>
            </a:custGeom>
            <a:ln w="38100" cap="rnd">
              <a:solidFill>
                <a:srgbClr val="E3D8D4"/>
              </a:solidFill>
              <a:prstDash val="solid"/>
              <a:round/>
            </a:ln>
          </p:spPr>
        </p:sp>
        <p:sp>
          <p:nvSpPr>
            <p:cNvPr name="TextBox 14" id="14"/>
            <p:cNvSpPr txBox="true"/>
            <p:nvPr/>
          </p:nvSpPr>
          <p:spPr>
            <a:xfrm>
              <a:off x="0" y="9525"/>
              <a:ext cx="2252019" cy="684019"/>
            </a:xfrm>
            <a:prstGeom prst="rect">
              <a:avLst/>
            </a:prstGeom>
          </p:spPr>
          <p:txBody>
            <a:bodyPr anchor="ctr" rtlCol="false" tIns="50800" lIns="50800" bIns="50800" rIns="50800"/>
            <a:lstStyle/>
            <a:p>
              <a:pPr algn="ctr">
                <a:lnSpc>
                  <a:spcPts val="2121"/>
                </a:lnSpc>
              </a:pPr>
            </a:p>
            <a:p>
              <a:pPr algn="ctr">
                <a:lnSpc>
                  <a:spcPts val="2121"/>
                </a:lnSpc>
              </a:pPr>
            </a:p>
          </p:txBody>
        </p:sp>
      </p:grpSp>
      <p:sp>
        <p:nvSpPr>
          <p:cNvPr name="Freeform 15" id="15"/>
          <p:cNvSpPr/>
          <p:nvPr/>
        </p:nvSpPr>
        <p:spPr>
          <a:xfrm flipH="false" flipV="false" rot="-10800000">
            <a:off x="683059" y="6146559"/>
            <a:ext cx="10104188" cy="1033825"/>
          </a:xfrm>
          <a:custGeom>
            <a:avLst/>
            <a:gdLst/>
            <a:ahLst/>
            <a:cxnLst/>
            <a:rect r="r" b="b" t="t" l="l"/>
            <a:pathLst>
              <a:path h="1033825" w="10104188">
                <a:moveTo>
                  <a:pt x="0" y="0"/>
                </a:moveTo>
                <a:lnTo>
                  <a:pt x="10104188" y="0"/>
                </a:lnTo>
                <a:lnTo>
                  <a:pt x="10104188" y="1033825"/>
                </a:lnTo>
                <a:lnTo>
                  <a:pt x="0" y="1033825"/>
                </a:lnTo>
                <a:lnTo>
                  <a:pt x="0" y="0"/>
                </a:lnTo>
                <a:close/>
              </a:path>
            </a:pathLst>
          </a:custGeom>
          <a:blipFill>
            <a:blip r:embed="rId4">
              <a:extLst>
                <a:ext uri="{96DAC541-7B7A-43D3-8B79-37D633B846F1}">
                  <asvg:svgBlip xmlns:asvg="http://schemas.microsoft.com/office/drawing/2016/SVG/main" r:embed="rId5"/>
                </a:ext>
              </a:extLst>
            </a:blip>
            <a:stretch>
              <a:fillRect l="0" t="-1132368" r="0" b="-62903"/>
            </a:stretch>
          </a:blipFill>
        </p:spPr>
      </p:sp>
      <p:sp>
        <p:nvSpPr>
          <p:cNvPr name="TextBox 16" id="16"/>
          <p:cNvSpPr txBox="true"/>
          <p:nvPr/>
        </p:nvSpPr>
        <p:spPr>
          <a:xfrm rot="0">
            <a:off x="1259261" y="6366642"/>
            <a:ext cx="8984577" cy="624865"/>
          </a:xfrm>
          <a:prstGeom prst="rect">
            <a:avLst/>
          </a:prstGeom>
        </p:spPr>
        <p:txBody>
          <a:bodyPr anchor="t" rtlCol="false" tIns="0" lIns="0" bIns="0" rIns="0">
            <a:spAutoFit/>
          </a:bodyPr>
          <a:lstStyle/>
          <a:p>
            <a:pPr algn="ctr">
              <a:lnSpc>
                <a:spcPts val="5120"/>
              </a:lnSpc>
            </a:pPr>
            <a:r>
              <a:rPr lang="en-US" b="true" sz="3657" spc="153">
                <a:solidFill>
                  <a:srgbClr val="253754"/>
                </a:solidFill>
                <a:latin typeface="Glacial Indifference Bold"/>
                <a:ea typeface="Glacial Indifference Bold"/>
                <a:cs typeface="Glacial Indifference Bold"/>
                <a:sym typeface="Glacial Indifference Bold"/>
              </a:rPr>
              <a:t>diversificacion geografica </a:t>
            </a:r>
          </a:p>
        </p:txBody>
      </p:sp>
      <p:sp>
        <p:nvSpPr>
          <p:cNvPr name="TextBox 17" id="17"/>
          <p:cNvSpPr txBox="true"/>
          <p:nvPr/>
        </p:nvSpPr>
        <p:spPr>
          <a:xfrm rot="0">
            <a:off x="1009031" y="7242633"/>
            <a:ext cx="9108336" cy="1820332"/>
          </a:xfrm>
          <a:prstGeom prst="rect">
            <a:avLst/>
          </a:prstGeom>
        </p:spPr>
        <p:txBody>
          <a:bodyPr anchor="t" rtlCol="false" tIns="0" lIns="0" bIns="0" rIns="0">
            <a:spAutoFit/>
          </a:bodyPr>
          <a:lstStyle/>
          <a:p>
            <a:pPr algn="l">
              <a:lnSpc>
                <a:spcPts val="3616"/>
              </a:lnSpc>
            </a:pPr>
            <a:r>
              <a:rPr lang="en-US" sz="2583" spc="56">
                <a:solidFill>
                  <a:srgbClr val="EDE8E4"/>
                </a:solidFill>
                <a:latin typeface="Glacial Indifference"/>
                <a:ea typeface="Glacial Indifference"/>
                <a:cs typeface="Glacial Indifference"/>
                <a:sym typeface="Glacial Indifference"/>
              </a:rPr>
              <a:t>O</a:t>
            </a:r>
            <a:r>
              <a:rPr lang="en-US" sz="2583" strike="noStrike" spc="56" u="none">
                <a:solidFill>
                  <a:srgbClr val="EDE8E4"/>
                </a:solidFill>
                <a:latin typeface="Glacial Indifference"/>
                <a:ea typeface="Glacial Indifference"/>
                <a:cs typeface="Glacial Indifference"/>
                <a:sym typeface="Glacial Indifference"/>
              </a:rPr>
              <a:t>perar en econ</a:t>
            </a:r>
            <a:r>
              <a:rPr lang="en-US" sz="2583" spc="56" strike="noStrike" u="none">
                <a:solidFill>
                  <a:srgbClr val="EDE8E4"/>
                </a:solidFill>
                <a:latin typeface="Glacial Indifference"/>
                <a:ea typeface="Glacial Indifference"/>
                <a:cs typeface="Glacial Indifference"/>
                <a:sym typeface="Glacial Indifference"/>
              </a:rPr>
              <a:t>o</a:t>
            </a:r>
            <a:r>
              <a:rPr lang="en-US" sz="2583" strike="noStrike" spc="56" u="none">
                <a:solidFill>
                  <a:srgbClr val="EDE8E4"/>
                </a:solidFill>
                <a:latin typeface="Glacial Indifference"/>
                <a:ea typeface="Glacial Indifference"/>
                <a:cs typeface="Glacial Indifference"/>
                <a:sym typeface="Glacial Indifference"/>
              </a:rPr>
              <a:t>mías diferentes reduce la</a:t>
            </a:r>
            <a:r>
              <a:rPr lang="en-US" sz="2583" spc="56" strike="noStrike" u="none">
                <a:solidFill>
                  <a:srgbClr val="EDE8E4"/>
                </a:solidFill>
                <a:latin typeface="Glacial Indifference"/>
                <a:ea typeface="Glacial Indifference"/>
                <a:cs typeface="Glacial Indifference"/>
                <a:sym typeface="Glacial Indifference"/>
              </a:rPr>
              <a:t> </a:t>
            </a:r>
            <a:r>
              <a:rPr lang="en-US" sz="2583" strike="noStrike" spc="56" u="none">
                <a:solidFill>
                  <a:srgbClr val="EDE8E4"/>
                </a:solidFill>
                <a:latin typeface="Glacial Indifference"/>
                <a:ea typeface="Glacial Indifference"/>
                <a:cs typeface="Glacial Indifference"/>
                <a:sym typeface="Glacial Indifference"/>
              </a:rPr>
              <a:t>de</a:t>
            </a:r>
            <a:r>
              <a:rPr lang="en-US" sz="2583" spc="56" strike="noStrike" u="none">
                <a:solidFill>
                  <a:srgbClr val="EDE8E4"/>
                </a:solidFill>
                <a:latin typeface="Glacial Indifference"/>
                <a:ea typeface="Glacial Indifference"/>
                <a:cs typeface="Glacial Indifference"/>
                <a:sym typeface="Glacial Indifference"/>
              </a:rPr>
              <a:t>pende</a:t>
            </a:r>
            <a:r>
              <a:rPr lang="en-US" sz="2583" strike="noStrike" spc="56" u="none">
                <a:solidFill>
                  <a:srgbClr val="EDE8E4"/>
                </a:solidFill>
                <a:latin typeface="Glacial Indifference"/>
                <a:ea typeface="Glacial Indifference"/>
                <a:cs typeface="Glacial Indifference"/>
                <a:sym typeface="Glacial Indifference"/>
              </a:rPr>
              <a:t>n</a:t>
            </a:r>
            <a:r>
              <a:rPr lang="en-US" sz="2583" spc="56" strike="noStrike" u="none">
                <a:solidFill>
                  <a:srgbClr val="EDE8E4"/>
                </a:solidFill>
                <a:latin typeface="Glacial Indifference"/>
                <a:ea typeface="Glacial Indifference"/>
                <a:cs typeface="Glacial Indifference"/>
                <a:sym typeface="Glacial Indifference"/>
              </a:rPr>
              <a:t>cia </a:t>
            </a:r>
            <a:r>
              <a:rPr lang="en-US" sz="2583" strike="noStrike" spc="56" u="none">
                <a:solidFill>
                  <a:srgbClr val="EDE8E4"/>
                </a:solidFill>
                <a:latin typeface="Glacial Indifference"/>
                <a:ea typeface="Glacial Indifference"/>
                <a:cs typeface="Glacial Indifference"/>
                <a:sym typeface="Glacial Indifference"/>
              </a:rPr>
              <a:t>de</a:t>
            </a:r>
            <a:r>
              <a:rPr lang="en-US" sz="2583" spc="56" strike="noStrike" u="none">
                <a:solidFill>
                  <a:srgbClr val="EDE8E4"/>
                </a:solidFill>
                <a:latin typeface="Glacial Indifference"/>
                <a:ea typeface="Glacial Indifference"/>
                <a:cs typeface="Glacial Indifference"/>
                <a:sym typeface="Glacial Indifference"/>
              </a:rPr>
              <a:t> la</a:t>
            </a:r>
            <a:r>
              <a:rPr lang="en-US" sz="2583" strike="noStrike" spc="56" u="none">
                <a:solidFill>
                  <a:srgbClr val="EDE8E4"/>
                </a:solidFill>
                <a:latin typeface="Glacial Indifference"/>
                <a:ea typeface="Glacial Indifference"/>
                <a:cs typeface="Glacial Indifference"/>
                <a:sym typeface="Glacial Indifference"/>
              </a:rPr>
              <a:t>s</a:t>
            </a:r>
            <a:r>
              <a:rPr lang="en-US" sz="2583" spc="56" strike="noStrike" u="none">
                <a:solidFill>
                  <a:srgbClr val="EDE8E4"/>
                </a:solidFill>
                <a:latin typeface="Glacial Indifference"/>
                <a:ea typeface="Glacial Indifference"/>
                <a:cs typeface="Glacial Indifference"/>
                <a:sym typeface="Glacial Indifference"/>
              </a:rPr>
              <a:t> </a:t>
            </a:r>
            <a:r>
              <a:rPr lang="en-US" sz="2583" strike="noStrike" spc="56" u="none">
                <a:solidFill>
                  <a:srgbClr val="EDE8E4"/>
                </a:solidFill>
                <a:latin typeface="Glacial Indifference"/>
                <a:ea typeface="Glacial Indifference"/>
                <a:cs typeface="Glacial Indifference"/>
                <a:sym typeface="Glacial Indifference"/>
              </a:rPr>
              <a:t>p</a:t>
            </a:r>
            <a:r>
              <a:rPr lang="en-US" sz="2583" spc="56" strike="noStrike" u="none">
                <a:solidFill>
                  <a:srgbClr val="EDE8E4"/>
                </a:solidFill>
                <a:latin typeface="Glacial Indifference"/>
                <a:ea typeface="Glacial Indifference"/>
                <a:cs typeface="Glacial Indifference"/>
                <a:sym typeface="Glacial Indifference"/>
              </a:rPr>
              <a:t>r</a:t>
            </a:r>
            <a:r>
              <a:rPr lang="en-US" sz="2583" strike="noStrike" spc="56" u="none">
                <a:solidFill>
                  <a:srgbClr val="EDE8E4"/>
                </a:solidFill>
                <a:latin typeface="Glacial Indifference"/>
                <a:ea typeface="Glacial Indifference"/>
                <a:cs typeface="Glacial Indifference"/>
                <a:sym typeface="Glacial Indifference"/>
              </a:rPr>
              <a:t>odu</a:t>
            </a:r>
            <a:r>
              <a:rPr lang="en-US" sz="2583" spc="56" strike="noStrike" u="none">
                <a:solidFill>
                  <a:srgbClr val="EDE8E4"/>
                </a:solidFill>
                <a:latin typeface="Glacial Indifference"/>
                <a:ea typeface="Glacial Indifference"/>
                <a:cs typeface="Glacial Indifference"/>
                <a:sym typeface="Glacial Indifference"/>
              </a:rPr>
              <a:t>c</a:t>
            </a:r>
            <a:r>
              <a:rPr lang="en-US" sz="2583" strike="noStrike" spc="56" u="none">
                <a:solidFill>
                  <a:srgbClr val="EDE8E4"/>
                </a:solidFill>
                <a:latin typeface="Glacial Indifference"/>
                <a:ea typeface="Glacial Indifference"/>
                <a:cs typeface="Glacial Indifference"/>
                <a:sym typeface="Glacial Indifference"/>
              </a:rPr>
              <a:t>to</a:t>
            </a:r>
            <a:r>
              <a:rPr lang="en-US" sz="2583" spc="56" strike="noStrike" u="none">
                <a:solidFill>
                  <a:srgbClr val="EDE8E4"/>
                </a:solidFill>
                <a:latin typeface="Glacial Indifference"/>
                <a:ea typeface="Glacial Indifference"/>
                <a:cs typeface="Glacial Indifference"/>
                <a:sym typeface="Glacial Indifference"/>
              </a:rPr>
              <a:t>ra</a:t>
            </a:r>
            <a:r>
              <a:rPr lang="en-US" sz="2583" strike="noStrike" spc="56" u="none">
                <a:solidFill>
                  <a:srgbClr val="EDE8E4"/>
                </a:solidFill>
                <a:latin typeface="Glacial Indifference"/>
                <a:ea typeface="Glacial Indifference"/>
                <a:cs typeface="Glacial Indifference"/>
                <a:sym typeface="Glacial Indifference"/>
              </a:rPr>
              <a:t>s</a:t>
            </a:r>
            <a:r>
              <a:rPr lang="en-US" sz="2583" spc="56" strike="noStrike" u="none">
                <a:solidFill>
                  <a:srgbClr val="EDE8E4"/>
                </a:solidFill>
                <a:latin typeface="Glacial Indifference"/>
                <a:ea typeface="Glacial Indifference"/>
                <a:cs typeface="Glacial Indifference"/>
                <a:sym typeface="Glacial Indifference"/>
              </a:rPr>
              <a:t> </a:t>
            </a:r>
            <a:r>
              <a:rPr lang="en-US" sz="2583" strike="noStrike" spc="56" u="none">
                <a:solidFill>
                  <a:srgbClr val="EDE8E4"/>
                </a:solidFill>
                <a:latin typeface="Glacial Indifference"/>
                <a:ea typeface="Glacial Indifference"/>
                <a:cs typeface="Glacial Indifference"/>
                <a:sym typeface="Glacial Indifference"/>
              </a:rPr>
              <a:t>de</a:t>
            </a:r>
            <a:r>
              <a:rPr lang="en-US" sz="2583" spc="56" strike="noStrike" u="none">
                <a:solidFill>
                  <a:srgbClr val="EDE8E4"/>
                </a:solidFill>
                <a:latin typeface="Glacial Indifference"/>
                <a:ea typeface="Glacial Indifference"/>
                <a:cs typeface="Glacial Indifference"/>
                <a:sym typeface="Glacial Indifference"/>
              </a:rPr>
              <a:t> </a:t>
            </a:r>
            <a:r>
              <a:rPr lang="en-US" sz="2583" strike="noStrike" spc="56" u="none">
                <a:solidFill>
                  <a:srgbClr val="EDE8E4"/>
                </a:solidFill>
                <a:latin typeface="Glacial Indifference"/>
                <a:ea typeface="Glacial Indifference"/>
                <a:cs typeface="Glacial Indifference"/>
                <a:sym typeface="Glacial Indifference"/>
              </a:rPr>
              <a:t>Ho</a:t>
            </a:r>
            <a:r>
              <a:rPr lang="en-US" sz="2583" spc="56" strike="noStrike" u="none">
                <a:solidFill>
                  <a:srgbClr val="EDE8E4"/>
                </a:solidFill>
                <a:latin typeface="Glacial Indifference"/>
                <a:ea typeface="Glacial Indifference"/>
                <a:cs typeface="Glacial Indifference"/>
                <a:sym typeface="Glacial Indifference"/>
              </a:rPr>
              <a:t>l</a:t>
            </a:r>
            <a:r>
              <a:rPr lang="en-US" sz="2583" strike="noStrike" spc="56" u="none">
                <a:solidFill>
                  <a:srgbClr val="EDE8E4"/>
                </a:solidFill>
                <a:latin typeface="Glacial Indifference"/>
                <a:ea typeface="Glacial Indifference"/>
                <a:cs typeface="Glacial Indifference"/>
                <a:sym typeface="Glacial Indifference"/>
              </a:rPr>
              <a:t>lywoo</a:t>
            </a:r>
            <a:r>
              <a:rPr lang="en-US" sz="2583" spc="56" strike="noStrike" u="none">
                <a:solidFill>
                  <a:srgbClr val="EDE8E4"/>
                </a:solidFill>
                <a:latin typeface="Glacial Indifference"/>
                <a:ea typeface="Glacial Indifference"/>
                <a:cs typeface="Glacial Indifference"/>
                <a:sym typeface="Glacial Indifference"/>
              </a:rPr>
              <a:t>d. como lo puede ser la insdustria india de cine</a:t>
            </a:r>
          </a:p>
          <a:p>
            <a:pPr algn="l">
              <a:lnSpc>
                <a:spcPts val="3616"/>
              </a:lnSpc>
            </a:pPr>
          </a:p>
        </p:txBody>
      </p:sp>
      <p:grpSp>
        <p:nvGrpSpPr>
          <p:cNvPr name="Group 18" id="18"/>
          <p:cNvGrpSpPr/>
          <p:nvPr/>
        </p:nvGrpSpPr>
        <p:grpSpPr>
          <a:xfrm rot="0">
            <a:off x="11142549" y="6146559"/>
            <a:ext cx="6481257" cy="3111741"/>
            <a:chOff x="0" y="0"/>
            <a:chExt cx="1444541" cy="693544"/>
          </a:xfrm>
        </p:grpSpPr>
        <p:sp>
          <p:nvSpPr>
            <p:cNvPr name="Freeform 19" id="19"/>
            <p:cNvSpPr/>
            <p:nvPr/>
          </p:nvSpPr>
          <p:spPr>
            <a:xfrm flipH="false" flipV="false" rot="0">
              <a:off x="0" y="0"/>
              <a:ext cx="1444541" cy="693544"/>
            </a:xfrm>
            <a:custGeom>
              <a:avLst/>
              <a:gdLst/>
              <a:ahLst/>
              <a:cxnLst/>
              <a:rect r="r" b="b" t="t" l="l"/>
              <a:pathLst>
                <a:path h="693544" w="1444541">
                  <a:moveTo>
                    <a:pt x="70476" y="0"/>
                  </a:moveTo>
                  <a:lnTo>
                    <a:pt x="1374065" y="0"/>
                  </a:lnTo>
                  <a:cubicBezTo>
                    <a:pt x="1412988" y="0"/>
                    <a:pt x="1444541" y="31553"/>
                    <a:pt x="1444541" y="70476"/>
                  </a:cubicBezTo>
                  <a:lnTo>
                    <a:pt x="1444541" y="623068"/>
                  </a:lnTo>
                  <a:cubicBezTo>
                    <a:pt x="1444541" y="661991"/>
                    <a:pt x="1412988" y="693544"/>
                    <a:pt x="1374065" y="693544"/>
                  </a:cubicBezTo>
                  <a:lnTo>
                    <a:pt x="70476" y="693544"/>
                  </a:lnTo>
                  <a:cubicBezTo>
                    <a:pt x="31553" y="693544"/>
                    <a:pt x="0" y="661991"/>
                    <a:pt x="0" y="623068"/>
                  </a:cubicBezTo>
                  <a:lnTo>
                    <a:pt x="0" y="70476"/>
                  </a:lnTo>
                  <a:cubicBezTo>
                    <a:pt x="0" y="31553"/>
                    <a:pt x="31553" y="0"/>
                    <a:pt x="70476" y="0"/>
                  </a:cubicBezTo>
                  <a:close/>
                </a:path>
              </a:pathLst>
            </a:custGeom>
            <a:ln w="38100" cap="rnd">
              <a:solidFill>
                <a:srgbClr val="E3D8D4"/>
              </a:solidFill>
              <a:prstDash val="solid"/>
              <a:round/>
            </a:ln>
          </p:spPr>
        </p:sp>
        <p:sp>
          <p:nvSpPr>
            <p:cNvPr name="TextBox 20" id="20"/>
            <p:cNvSpPr txBox="true"/>
            <p:nvPr/>
          </p:nvSpPr>
          <p:spPr>
            <a:xfrm>
              <a:off x="0" y="9525"/>
              <a:ext cx="1444541" cy="684019"/>
            </a:xfrm>
            <a:prstGeom prst="rect">
              <a:avLst/>
            </a:prstGeom>
          </p:spPr>
          <p:txBody>
            <a:bodyPr anchor="ctr" rtlCol="false" tIns="50800" lIns="50800" bIns="50800" rIns="50800"/>
            <a:lstStyle/>
            <a:p>
              <a:pPr algn="ctr">
                <a:lnSpc>
                  <a:spcPts val="2121"/>
                </a:lnSpc>
              </a:pPr>
            </a:p>
            <a:p>
              <a:pPr algn="ctr">
                <a:lnSpc>
                  <a:spcPts val="2121"/>
                </a:lnSpc>
              </a:pPr>
            </a:p>
          </p:txBody>
        </p:sp>
      </p:grpSp>
      <p:sp>
        <p:nvSpPr>
          <p:cNvPr name="Freeform 21" id="21"/>
          <p:cNvSpPr/>
          <p:nvPr/>
        </p:nvSpPr>
        <p:spPr>
          <a:xfrm flipH="false" flipV="false" rot="-10800000">
            <a:off x="11142549" y="6146559"/>
            <a:ext cx="6481257" cy="1033825"/>
          </a:xfrm>
          <a:custGeom>
            <a:avLst/>
            <a:gdLst/>
            <a:ahLst/>
            <a:cxnLst/>
            <a:rect r="r" b="b" t="t" l="l"/>
            <a:pathLst>
              <a:path h="1033825" w="6481257">
                <a:moveTo>
                  <a:pt x="0" y="0"/>
                </a:moveTo>
                <a:lnTo>
                  <a:pt x="6481258" y="0"/>
                </a:lnTo>
                <a:lnTo>
                  <a:pt x="6481258" y="1033825"/>
                </a:lnTo>
                <a:lnTo>
                  <a:pt x="0" y="1033825"/>
                </a:lnTo>
                <a:lnTo>
                  <a:pt x="0" y="0"/>
                </a:lnTo>
                <a:close/>
              </a:path>
            </a:pathLst>
          </a:custGeom>
          <a:blipFill>
            <a:blip r:embed="rId4">
              <a:extLst>
                <a:ext uri="{96DAC541-7B7A-43D3-8B79-37D633B846F1}">
                  <asvg:svgBlip xmlns:asvg="http://schemas.microsoft.com/office/drawing/2016/SVG/main" r:embed="rId5"/>
                </a:ext>
              </a:extLst>
            </a:blip>
            <a:stretch>
              <a:fillRect l="0" t="-708421" r="0" b="-22420"/>
            </a:stretch>
          </a:blipFill>
        </p:spPr>
      </p:sp>
      <p:sp>
        <p:nvSpPr>
          <p:cNvPr name="TextBox 22" id="22"/>
          <p:cNvSpPr txBox="true"/>
          <p:nvPr/>
        </p:nvSpPr>
        <p:spPr>
          <a:xfrm rot="0">
            <a:off x="11512150" y="6385692"/>
            <a:ext cx="5763091" cy="522412"/>
          </a:xfrm>
          <a:prstGeom prst="rect">
            <a:avLst/>
          </a:prstGeom>
        </p:spPr>
        <p:txBody>
          <a:bodyPr anchor="t" rtlCol="false" tIns="0" lIns="0" bIns="0" rIns="0">
            <a:spAutoFit/>
          </a:bodyPr>
          <a:lstStyle/>
          <a:p>
            <a:pPr algn="ctr">
              <a:lnSpc>
                <a:spcPts val="4280"/>
              </a:lnSpc>
            </a:pPr>
            <a:r>
              <a:rPr lang="en-US" b="true" sz="3057" spc="128">
                <a:solidFill>
                  <a:srgbClr val="253754"/>
                </a:solidFill>
                <a:latin typeface="Glacial Indifference Bold"/>
                <a:ea typeface="Glacial Indifference Bold"/>
                <a:cs typeface="Glacial Indifference Bold"/>
                <a:sym typeface="Glacial Indifference Bold"/>
              </a:rPr>
              <a:t>estrategia de adquisicion</a:t>
            </a:r>
          </a:p>
        </p:txBody>
      </p:sp>
      <p:sp>
        <p:nvSpPr>
          <p:cNvPr name="TextBox 23" id="23"/>
          <p:cNvSpPr txBox="true"/>
          <p:nvPr/>
        </p:nvSpPr>
        <p:spPr>
          <a:xfrm rot="0">
            <a:off x="11351642" y="7242633"/>
            <a:ext cx="5842475" cy="1673012"/>
          </a:xfrm>
          <a:prstGeom prst="rect">
            <a:avLst/>
          </a:prstGeom>
        </p:spPr>
        <p:txBody>
          <a:bodyPr anchor="t" rtlCol="false" tIns="0" lIns="0" bIns="0" rIns="0">
            <a:spAutoFit/>
          </a:bodyPr>
          <a:lstStyle/>
          <a:p>
            <a:pPr algn="l">
              <a:lnSpc>
                <a:spcPts val="3336"/>
              </a:lnSpc>
            </a:pPr>
            <a:r>
              <a:rPr lang="en-US" b="true" sz="2383" spc="52">
                <a:solidFill>
                  <a:srgbClr val="EDE8E4"/>
                </a:solidFill>
                <a:latin typeface="Glacial Indifference Bold"/>
                <a:ea typeface="Glacial Indifference Bold"/>
                <a:cs typeface="Glacial Indifference Bold"/>
                <a:sym typeface="Glacial Indifference Bold"/>
              </a:rPr>
              <a:t>caso chile:</a:t>
            </a:r>
            <a:r>
              <a:rPr lang="en-US" sz="2383" spc="52">
                <a:solidFill>
                  <a:srgbClr val="EDE8E4"/>
                </a:solidFill>
                <a:latin typeface="Glacial Indifference"/>
                <a:ea typeface="Glacial Indifference"/>
                <a:cs typeface="Glacial Indifference"/>
                <a:sym typeface="Glacial Indifference"/>
              </a:rPr>
              <a:t> Entrada mediante adquisición de cadena Hoyts en mercado maduro, Más eficiente que iniciar desde cero en mercados con competencia establecida</a:t>
            </a:r>
          </a:p>
        </p:txBody>
      </p:sp>
    </p:spTree>
  </p:cSld>
  <p:clrMapOvr>
    <a:masterClrMapping/>
  </p:clrMapOvr>
</p:sld>
</file>

<file path=ppt/slides/slide13.xml><?xml version="1.0" encoding="utf-8"?>
<p:sld xmlns:p="http://schemas.openxmlformats.org/presentationml/2006/main" xmlns:a="http://schemas.openxmlformats.org/drawingml/2006/main" xmlns:r="http://schemas.openxmlformats.org/officeDocument/2006/relationships">
  <p:cSld>
    <p:bg>
      <p:bgPr>
        <a:solidFill>
          <a:srgbClr val="253754"/>
        </a:solidFill>
      </p:bgPr>
    </p:bg>
    <p:spTree>
      <p:nvGrpSpPr>
        <p:cNvPr id="1" name=""/>
        <p:cNvGrpSpPr/>
        <p:nvPr/>
      </p:nvGrpSpPr>
      <p:grpSpPr>
        <a:xfrm>
          <a:off x="0" y="0"/>
          <a:ext cx="0" cy="0"/>
          <a:chOff x="0" y="0"/>
          <a:chExt cx="0" cy="0"/>
        </a:xfrm>
      </p:grpSpPr>
      <p:sp>
        <p:nvSpPr>
          <p:cNvPr name="Freeform 2" id="2"/>
          <p:cNvSpPr/>
          <p:nvPr/>
        </p:nvSpPr>
        <p:spPr>
          <a:xfrm flipH="false" flipV="false" rot="0">
            <a:off x="-1680157" y="-3300337"/>
            <a:ext cx="6212126" cy="7976908"/>
          </a:xfrm>
          <a:custGeom>
            <a:avLst/>
            <a:gdLst/>
            <a:ahLst/>
            <a:cxnLst/>
            <a:rect r="r" b="b" t="t" l="l"/>
            <a:pathLst>
              <a:path h="7976908" w="6212126">
                <a:moveTo>
                  <a:pt x="0" y="0"/>
                </a:moveTo>
                <a:lnTo>
                  <a:pt x="6212127" y="0"/>
                </a:lnTo>
                <a:lnTo>
                  <a:pt x="6212127" y="7976908"/>
                </a:lnTo>
                <a:lnTo>
                  <a:pt x="0" y="7976908"/>
                </a:lnTo>
                <a:lnTo>
                  <a:pt x="0" y="0"/>
                </a:lnTo>
                <a:close/>
              </a:path>
            </a:pathLst>
          </a:custGeom>
          <a:blipFill>
            <a:blip r:embed="rId2">
              <a:extLst>
                <a:ext uri="{96DAC541-7B7A-43D3-8B79-37D633B846F1}">
                  <asvg:svgBlip xmlns:asvg="http://schemas.microsoft.com/office/drawing/2016/SVG/main" r:embed="rId3"/>
                </a:ext>
              </a:extLst>
            </a:blip>
            <a:stretch>
              <a:fillRect l="0" t="0" r="-37402" b="0"/>
            </a:stretch>
          </a:blipFill>
          <a:ln cap="sq">
            <a:noFill/>
            <a:prstDash val="solid"/>
            <a:miter/>
          </a:ln>
        </p:spPr>
      </p:sp>
      <p:sp>
        <p:nvSpPr>
          <p:cNvPr name="TextBox 3" id="3"/>
          <p:cNvSpPr txBox="true"/>
          <p:nvPr/>
        </p:nvSpPr>
        <p:spPr>
          <a:xfrm rot="0">
            <a:off x="2772438" y="225491"/>
            <a:ext cx="14255381" cy="2458803"/>
          </a:xfrm>
          <a:prstGeom prst="rect">
            <a:avLst/>
          </a:prstGeom>
        </p:spPr>
        <p:txBody>
          <a:bodyPr anchor="t" rtlCol="false" tIns="0" lIns="0" bIns="0" rIns="0">
            <a:spAutoFit/>
          </a:bodyPr>
          <a:lstStyle/>
          <a:p>
            <a:pPr algn="r">
              <a:lnSpc>
                <a:spcPts val="9841"/>
              </a:lnSpc>
            </a:pPr>
            <a:r>
              <a:rPr lang="en-US" sz="7029" spc="660">
                <a:solidFill>
                  <a:srgbClr val="EDE8E4"/>
                </a:solidFill>
                <a:latin typeface="Glacial Indifference"/>
                <a:ea typeface="Glacial Indifference"/>
                <a:cs typeface="Glacial Indifference"/>
                <a:sym typeface="Glacial Indifference"/>
              </a:rPr>
              <a:t>OBJETIVO B: INNOVACION EN FORMATOS DE SALA</a:t>
            </a:r>
          </a:p>
        </p:txBody>
      </p:sp>
      <p:sp>
        <p:nvSpPr>
          <p:cNvPr name="TextBox 4" id="4"/>
          <p:cNvSpPr txBox="true"/>
          <p:nvPr/>
        </p:nvSpPr>
        <p:spPr>
          <a:xfrm rot="0">
            <a:off x="690882" y="2904377"/>
            <a:ext cx="5023004" cy="624865"/>
          </a:xfrm>
          <a:prstGeom prst="rect">
            <a:avLst/>
          </a:prstGeom>
        </p:spPr>
        <p:txBody>
          <a:bodyPr anchor="t" rtlCol="false" tIns="0" lIns="0" bIns="0" rIns="0">
            <a:spAutoFit/>
          </a:bodyPr>
          <a:lstStyle/>
          <a:p>
            <a:pPr algn="ctr">
              <a:lnSpc>
                <a:spcPts val="5120"/>
              </a:lnSpc>
            </a:pPr>
            <a:r>
              <a:rPr lang="en-US" b="true" sz="3657" spc="153">
                <a:solidFill>
                  <a:srgbClr val="253754"/>
                </a:solidFill>
                <a:latin typeface="Glacial Indifference Bold"/>
                <a:ea typeface="Glacial Indifference Bold"/>
                <a:cs typeface="Glacial Indifference Bold"/>
                <a:sym typeface="Glacial Indifference Bold"/>
              </a:rPr>
              <a:t>Mision de Cinepolis</a:t>
            </a:r>
          </a:p>
        </p:txBody>
      </p:sp>
      <p:grpSp>
        <p:nvGrpSpPr>
          <p:cNvPr name="Group 5" id="5"/>
          <p:cNvGrpSpPr/>
          <p:nvPr/>
        </p:nvGrpSpPr>
        <p:grpSpPr>
          <a:xfrm rot="0">
            <a:off x="959348" y="2684294"/>
            <a:ext cx="9538434" cy="6171847"/>
            <a:chOff x="0" y="0"/>
            <a:chExt cx="2121827" cy="1372929"/>
          </a:xfrm>
        </p:grpSpPr>
        <p:sp>
          <p:nvSpPr>
            <p:cNvPr name="Freeform 6" id="6"/>
            <p:cNvSpPr/>
            <p:nvPr/>
          </p:nvSpPr>
          <p:spPr>
            <a:xfrm flipH="false" flipV="false" rot="0">
              <a:off x="0" y="0"/>
              <a:ext cx="2121827" cy="1372929"/>
            </a:xfrm>
            <a:custGeom>
              <a:avLst/>
              <a:gdLst/>
              <a:ahLst/>
              <a:cxnLst/>
              <a:rect r="r" b="b" t="t" l="l"/>
              <a:pathLst>
                <a:path h="1372929" w="2121827">
                  <a:moveTo>
                    <a:pt x="47888" y="0"/>
                  </a:moveTo>
                  <a:lnTo>
                    <a:pt x="2073940" y="0"/>
                  </a:lnTo>
                  <a:cubicBezTo>
                    <a:pt x="2086640" y="0"/>
                    <a:pt x="2098821" y="5045"/>
                    <a:pt x="2107801" y="14026"/>
                  </a:cubicBezTo>
                  <a:cubicBezTo>
                    <a:pt x="2116782" y="23007"/>
                    <a:pt x="2121827" y="35187"/>
                    <a:pt x="2121827" y="47888"/>
                  </a:cubicBezTo>
                  <a:lnTo>
                    <a:pt x="2121827" y="1325041"/>
                  </a:lnTo>
                  <a:cubicBezTo>
                    <a:pt x="2121827" y="1351489"/>
                    <a:pt x="2100387" y="1372929"/>
                    <a:pt x="2073940" y="1372929"/>
                  </a:cubicBezTo>
                  <a:lnTo>
                    <a:pt x="47888" y="1372929"/>
                  </a:lnTo>
                  <a:cubicBezTo>
                    <a:pt x="21440" y="1372929"/>
                    <a:pt x="0" y="1351489"/>
                    <a:pt x="0" y="1325041"/>
                  </a:cubicBezTo>
                  <a:lnTo>
                    <a:pt x="0" y="47888"/>
                  </a:lnTo>
                  <a:cubicBezTo>
                    <a:pt x="0" y="21440"/>
                    <a:pt x="21440" y="0"/>
                    <a:pt x="47888" y="0"/>
                  </a:cubicBezTo>
                  <a:close/>
                </a:path>
              </a:pathLst>
            </a:custGeom>
            <a:ln w="38100" cap="rnd">
              <a:solidFill>
                <a:srgbClr val="E3D8D4"/>
              </a:solidFill>
              <a:prstDash val="solid"/>
              <a:round/>
            </a:ln>
          </p:spPr>
        </p:sp>
        <p:sp>
          <p:nvSpPr>
            <p:cNvPr name="TextBox 7" id="7"/>
            <p:cNvSpPr txBox="true"/>
            <p:nvPr/>
          </p:nvSpPr>
          <p:spPr>
            <a:xfrm>
              <a:off x="0" y="9525"/>
              <a:ext cx="2121827" cy="1363404"/>
            </a:xfrm>
            <a:prstGeom prst="rect">
              <a:avLst/>
            </a:prstGeom>
          </p:spPr>
          <p:txBody>
            <a:bodyPr anchor="ctr" rtlCol="false" tIns="50800" lIns="50800" bIns="50800" rIns="50800"/>
            <a:lstStyle/>
            <a:p>
              <a:pPr algn="ctr">
                <a:lnSpc>
                  <a:spcPts val="2121"/>
                </a:lnSpc>
              </a:pPr>
            </a:p>
            <a:p>
              <a:pPr algn="ctr">
                <a:lnSpc>
                  <a:spcPts val="2121"/>
                </a:lnSpc>
              </a:pPr>
            </a:p>
          </p:txBody>
        </p:sp>
      </p:grpSp>
      <p:sp>
        <p:nvSpPr>
          <p:cNvPr name="Freeform 8" id="8"/>
          <p:cNvSpPr/>
          <p:nvPr/>
        </p:nvSpPr>
        <p:spPr>
          <a:xfrm flipH="false" flipV="false" rot="0">
            <a:off x="11232537" y="2776043"/>
            <a:ext cx="6974637" cy="3338201"/>
          </a:xfrm>
          <a:custGeom>
            <a:avLst/>
            <a:gdLst/>
            <a:ahLst/>
            <a:cxnLst/>
            <a:rect r="r" b="b" t="t" l="l"/>
            <a:pathLst>
              <a:path h="3338201" w="6974637">
                <a:moveTo>
                  <a:pt x="0" y="0"/>
                </a:moveTo>
                <a:lnTo>
                  <a:pt x="6974638" y="0"/>
                </a:lnTo>
                <a:lnTo>
                  <a:pt x="6974638" y="3338201"/>
                </a:lnTo>
                <a:lnTo>
                  <a:pt x="0" y="3338201"/>
                </a:lnTo>
                <a:lnTo>
                  <a:pt x="0" y="0"/>
                </a:lnTo>
                <a:close/>
              </a:path>
            </a:pathLst>
          </a:custGeom>
          <a:blipFill>
            <a:blip r:embed="rId4"/>
            <a:stretch>
              <a:fillRect l="-31128" t="0" r="0" b="0"/>
            </a:stretch>
          </a:blipFill>
        </p:spPr>
      </p:sp>
      <p:sp>
        <p:nvSpPr>
          <p:cNvPr name="Freeform 9" id="9"/>
          <p:cNvSpPr/>
          <p:nvPr/>
        </p:nvSpPr>
        <p:spPr>
          <a:xfrm flipH="false" flipV="false" rot="-10800000">
            <a:off x="959348" y="2684294"/>
            <a:ext cx="9538434" cy="1035821"/>
          </a:xfrm>
          <a:custGeom>
            <a:avLst/>
            <a:gdLst/>
            <a:ahLst/>
            <a:cxnLst/>
            <a:rect r="r" b="b" t="t" l="l"/>
            <a:pathLst>
              <a:path h="1035821" w="9538434">
                <a:moveTo>
                  <a:pt x="0" y="0"/>
                </a:moveTo>
                <a:lnTo>
                  <a:pt x="9538434" y="0"/>
                </a:lnTo>
                <a:lnTo>
                  <a:pt x="9538434" y="1035821"/>
                </a:lnTo>
                <a:lnTo>
                  <a:pt x="0" y="1035821"/>
                </a:lnTo>
                <a:lnTo>
                  <a:pt x="0" y="0"/>
                </a:lnTo>
                <a:close/>
              </a:path>
            </a:pathLst>
          </a:custGeom>
          <a:blipFill>
            <a:blip r:embed="rId5">
              <a:extLst>
                <a:ext uri="{96DAC541-7B7A-43D3-8B79-37D633B846F1}">
                  <asvg:svgBlip xmlns:asvg="http://schemas.microsoft.com/office/drawing/2016/SVG/main" r:embed="rId6"/>
                </a:ext>
              </a:extLst>
            </a:blip>
            <a:stretch>
              <a:fillRect l="0" t="-1064014" r="0" b="-56376"/>
            </a:stretch>
          </a:blipFill>
        </p:spPr>
      </p:sp>
      <p:grpSp>
        <p:nvGrpSpPr>
          <p:cNvPr name="Group 10" id="10"/>
          <p:cNvGrpSpPr/>
          <p:nvPr/>
        </p:nvGrpSpPr>
        <p:grpSpPr>
          <a:xfrm rot="0">
            <a:off x="1536811" y="4828971"/>
            <a:ext cx="4177075" cy="979243"/>
            <a:chOff x="0" y="0"/>
            <a:chExt cx="1283029" cy="300784"/>
          </a:xfrm>
        </p:grpSpPr>
        <p:sp>
          <p:nvSpPr>
            <p:cNvPr name="Freeform 11" id="11"/>
            <p:cNvSpPr/>
            <p:nvPr/>
          </p:nvSpPr>
          <p:spPr>
            <a:xfrm flipH="false" flipV="false" rot="0">
              <a:off x="0" y="0"/>
              <a:ext cx="1283029" cy="300784"/>
            </a:xfrm>
            <a:custGeom>
              <a:avLst/>
              <a:gdLst/>
              <a:ahLst/>
              <a:cxnLst/>
              <a:rect r="r" b="b" t="t" l="l"/>
              <a:pathLst>
                <a:path h="300784" w="1283029">
                  <a:moveTo>
                    <a:pt x="48189" y="0"/>
                  </a:moveTo>
                  <a:lnTo>
                    <a:pt x="1234840" y="0"/>
                  </a:lnTo>
                  <a:cubicBezTo>
                    <a:pt x="1247620" y="0"/>
                    <a:pt x="1259877" y="5077"/>
                    <a:pt x="1268915" y="14114"/>
                  </a:cubicBezTo>
                  <a:cubicBezTo>
                    <a:pt x="1277952" y="23152"/>
                    <a:pt x="1283029" y="35409"/>
                    <a:pt x="1283029" y="48189"/>
                  </a:cubicBezTo>
                  <a:lnTo>
                    <a:pt x="1283029" y="252595"/>
                  </a:lnTo>
                  <a:cubicBezTo>
                    <a:pt x="1283029" y="279209"/>
                    <a:pt x="1261454" y="300784"/>
                    <a:pt x="1234840" y="300784"/>
                  </a:cubicBezTo>
                  <a:lnTo>
                    <a:pt x="48189" y="300784"/>
                  </a:lnTo>
                  <a:cubicBezTo>
                    <a:pt x="21575" y="300784"/>
                    <a:pt x="0" y="279209"/>
                    <a:pt x="0" y="252595"/>
                  </a:cubicBezTo>
                  <a:lnTo>
                    <a:pt x="0" y="48189"/>
                  </a:lnTo>
                  <a:cubicBezTo>
                    <a:pt x="0" y="21575"/>
                    <a:pt x="21575" y="0"/>
                    <a:pt x="48189" y="0"/>
                  </a:cubicBezTo>
                  <a:close/>
                </a:path>
              </a:pathLst>
            </a:custGeom>
            <a:solidFill>
              <a:srgbClr val="EDE8E4"/>
            </a:solidFill>
          </p:spPr>
        </p:sp>
        <p:sp>
          <p:nvSpPr>
            <p:cNvPr name="TextBox 12" id="12"/>
            <p:cNvSpPr txBox="true"/>
            <p:nvPr/>
          </p:nvSpPr>
          <p:spPr>
            <a:xfrm>
              <a:off x="0" y="9525"/>
              <a:ext cx="1283029" cy="291259"/>
            </a:xfrm>
            <a:prstGeom prst="rect">
              <a:avLst/>
            </a:prstGeom>
          </p:spPr>
          <p:txBody>
            <a:bodyPr anchor="ctr" rtlCol="false" tIns="50800" lIns="50800" bIns="50800" rIns="50800"/>
            <a:lstStyle/>
            <a:p>
              <a:pPr algn="ctr">
                <a:lnSpc>
                  <a:spcPts val="2121"/>
                </a:lnSpc>
              </a:pPr>
            </a:p>
          </p:txBody>
        </p:sp>
      </p:grpSp>
      <p:grpSp>
        <p:nvGrpSpPr>
          <p:cNvPr name="Group 13" id="13"/>
          <p:cNvGrpSpPr/>
          <p:nvPr/>
        </p:nvGrpSpPr>
        <p:grpSpPr>
          <a:xfrm rot="0">
            <a:off x="6033181" y="4800072"/>
            <a:ext cx="3680562" cy="979243"/>
            <a:chOff x="0" y="0"/>
            <a:chExt cx="1130520" cy="300784"/>
          </a:xfrm>
        </p:grpSpPr>
        <p:sp>
          <p:nvSpPr>
            <p:cNvPr name="Freeform 14" id="14"/>
            <p:cNvSpPr/>
            <p:nvPr/>
          </p:nvSpPr>
          <p:spPr>
            <a:xfrm flipH="false" flipV="false" rot="0">
              <a:off x="0" y="0"/>
              <a:ext cx="1130520" cy="300784"/>
            </a:xfrm>
            <a:custGeom>
              <a:avLst/>
              <a:gdLst/>
              <a:ahLst/>
              <a:cxnLst/>
              <a:rect r="r" b="b" t="t" l="l"/>
              <a:pathLst>
                <a:path h="300784" w="1130520">
                  <a:moveTo>
                    <a:pt x="54690" y="0"/>
                  </a:moveTo>
                  <a:lnTo>
                    <a:pt x="1075830" y="0"/>
                  </a:lnTo>
                  <a:cubicBezTo>
                    <a:pt x="1090335" y="0"/>
                    <a:pt x="1104245" y="5762"/>
                    <a:pt x="1114502" y="16018"/>
                  </a:cubicBezTo>
                  <a:cubicBezTo>
                    <a:pt x="1124758" y="26275"/>
                    <a:pt x="1130520" y="40185"/>
                    <a:pt x="1130520" y="54690"/>
                  </a:cubicBezTo>
                  <a:lnTo>
                    <a:pt x="1130520" y="246094"/>
                  </a:lnTo>
                  <a:cubicBezTo>
                    <a:pt x="1130520" y="260599"/>
                    <a:pt x="1124758" y="274509"/>
                    <a:pt x="1114502" y="284766"/>
                  </a:cubicBezTo>
                  <a:cubicBezTo>
                    <a:pt x="1104245" y="295022"/>
                    <a:pt x="1090335" y="300784"/>
                    <a:pt x="1075830" y="300784"/>
                  </a:cubicBezTo>
                  <a:lnTo>
                    <a:pt x="54690" y="300784"/>
                  </a:lnTo>
                  <a:cubicBezTo>
                    <a:pt x="40185" y="300784"/>
                    <a:pt x="26275" y="295022"/>
                    <a:pt x="16018" y="284766"/>
                  </a:cubicBezTo>
                  <a:cubicBezTo>
                    <a:pt x="5762" y="274509"/>
                    <a:pt x="0" y="260599"/>
                    <a:pt x="0" y="246094"/>
                  </a:cubicBezTo>
                  <a:lnTo>
                    <a:pt x="0" y="54690"/>
                  </a:lnTo>
                  <a:cubicBezTo>
                    <a:pt x="0" y="40185"/>
                    <a:pt x="5762" y="26275"/>
                    <a:pt x="16018" y="16018"/>
                  </a:cubicBezTo>
                  <a:cubicBezTo>
                    <a:pt x="26275" y="5762"/>
                    <a:pt x="40185" y="0"/>
                    <a:pt x="54690" y="0"/>
                  </a:cubicBezTo>
                  <a:close/>
                </a:path>
              </a:pathLst>
            </a:custGeom>
            <a:solidFill>
              <a:srgbClr val="EDE8E4"/>
            </a:solidFill>
          </p:spPr>
        </p:sp>
        <p:sp>
          <p:nvSpPr>
            <p:cNvPr name="TextBox 15" id="15"/>
            <p:cNvSpPr txBox="true"/>
            <p:nvPr/>
          </p:nvSpPr>
          <p:spPr>
            <a:xfrm>
              <a:off x="0" y="9525"/>
              <a:ext cx="1130520" cy="291259"/>
            </a:xfrm>
            <a:prstGeom prst="rect">
              <a:avLst/>
            </a:prstGeom>
          </p:spPr>
          <p:txBody>
            <a:bodyPr anchor="ctr" rtlCol="false" tIns="50800" lIns="50800" bIns="50800" rIns="50800"/>
            <a:lstStyle/>
            <a:p>
              <a:pPr algn="ctr">
                <a:lnSpc>
                  <a:spcPts val="2121"/>
                </a:lnSpc>
              </a:pPr>
            </a:p>
          </p:txBody>
        </p:sp>
      </p:grpSp>
      <p:grpSp>
        <p:nvGrpSpPr>
          <p:cNvPr name="Group 16" id="16"/>
          <p:cNvGrpSpPr/>
          <p:nvPr/>
        </p:nvGrpSpPr>
        <p:grpSpPr>
          <a:xfrm rot="0">
            <a:off x="1456860" y="6103489"/>
            <a:ext cx="4177075" cy="979243"/>
            <a:chOff x="0" y="0"/>
            <a:chExt cx="1283029" cy="300784"/>
          </a:xfrm>
        </p:grpSpPr>
        <p:sp>
          <p:nvSpPr>
            <p:cNvPr name="Freeform 17" id="17"/>
            <p:cNvSpPr/>
            <p:nvPr/>
          </p:nvSpPr>
          <p:spPr>
            <a:xfrm flipH="false" flipV="false" rot="0">
              <a:off x="0" y="0"/>
              <a:ext cx="1283029" cy="300784"/>
            </a:xfrm>
            <a:custGeom>
              <a:avLst/>
              <a:gdLst/>
              <a:ahLst/>
              <a:cxnLst/>
              <a:rect r="r" b="b" t="t" l="l"/>
              <a:pathLst>
                <a:path h="300784" w="1283029">
                  <a:moveTo>
                    <a:pt x="48189" y="0"/>
                  </a:moveTo>
                  <a:lnTo>
                    <a:pt x="1234840" y="0"/>
                  </a:lnTo>
                  <a:cubicBezTo>
                    <a:pt x="1247620" y="0"/>
                    <a:pt x="1259877" y="5077"/>
                    <a:pt x="1268915" y="14114"/>
                  </a:cubicBezTo>
                  <a:cubicBezTo>
                    <a:pt x="1277952" y="23152"/>
                    <a:pt x="1283029" y="35409"/>
                    <a:pt x="1283029" y="48189"/>
                  </a:cubicBezTo>
                  <a:lnTo>
                    <a:pt x="1283029" y="252595"/>
                  </a:lnTo>
                  <a:cubicBezTo>
                    <a:pt x="1283029" y="279209"/>
                    <a:pt x="1261454" y="300784"/>
                    <a:pt x="1234840" y="300784"/>
                  </a:cubicBezTo>
                  <a:lnTo>
                    <a:pt x="48189" y="300784"/>
                  </a:lnTo>
                  <a:cubicBezTo>
                    <a:pt x="21575" y="300784"/>
                    <a:pt x="0" y="279209"/>
                    <a:pt x="0" y="252595"/>
                  </a:cubicBezTo>
                  <a:lnTo>
                    <a:pt x="0" y="48189"/>
                  </a:lnTo>
                  <a:cubicBezTo>
                    <a:pt x="0" y="21575"/>
                    <a:pt x="21575" y="0"/>
                    <a:pt x="48189" y="0"/>
                  </a:cubicBezTo>
                  <a:close/>
                </a:path>
              </a:pathLst>
            </a:custGeom>
            <a:solidFill>
              <a:srgbClr val="EDE8E4"/>
            </a:solidFill>
          </p:spPr>
        </p:sp>
        <p:sp>
          <p:nvSpPr>
            <p:cNvPr name="TextBox 18" id="18"/>
            <p:cNvSpPr txBox="true"/>
            <p:nvPr/>
          </p:nvSpPr>
          <p:spPr>
            <a:xfrm>
              <a:off x="0" y="9525"/>
              <a:ext cx="1283029" cy="291259"/>
            </a:xfrm>
            <a:prstGeom prst="rect">
              <a:avLst/>
            </a:prstGeom>
          </p:spPr>
          <p:txBody>
            <a:bodyPr anchor="ctr" rtlCol="false" tIns="50800" lIns="50800" bIns="50800" rIns="50800"/>
            <a:lstStyle/>
            <a:p>
              <a:pPr algn="ctr">
                <a:lnSpc>
                  <a:spcPts val="2121"/>
                </a:lnSpc>
              </a:pPr>
            </a:p>
          </p:txBody>
        </p:sp>
      </p:grpSp>
      <p:grpSp>
        <p:nvGrpSpPr>
          <p:cNvPr name="Group 19" id="19"/>
          <p:cNvGrpSpPr/>
          <p:nvPr/>
        </p:nvGrpSpPr>
        <p:grpSpPr>
          <a:xfrm rot="0">
            <a:off x="6033181" y="6114244"/>
            <a:ext cx="3680562" cy="979243"/>
            <a:chOff x="0" y="0"/>
            <a:chExt cx="1130520" cy="300784"/>
          </a:xfrm>
        </p:grpSpPr>
        <p:sp>
          <p:nvSpPr>
            <p:cNvPr name="Freeform 20" id="20"/>
            <p:cNvSpPr/>
            <p:nvPr/>
          </p:nvSpPr>
          <p:spPr>
            <a:xfrm flipH="false" flipV="false" rot="0">
              <a:off x="0" y="0"/>
              <a:ext cx="1130520" cy="300784"/>
            </a:xfrm>
            <a:custGeom>
              <a:avLst/>
              <a:gdLst/>
              <a:ahLst/>
              <a:cxnLst/>
              <a:rect r="r" b="b" t="t" l="l"/>
              <a:pathLst>
                <a:path h="300784" w="1130520">
                  <a:moveTo>
                    <a:pt x="54690" y="0"/>
                  </a:moveTo>
                  <a:lnTo>
                    <a:pt x="1075830" y="0"/>
                  </a:lnTo>
                  <a:cubicBezTo>
                    <a:pt x="1090335" y="0"/>
                    <a:pt x="1104245" y="5762"/>
                    <a:pt x="1114502" y="16018"/>
                  </a:cubicBezTo>
                  <a:cubicBezTo>
                    <a:pt x="1124758" y="26275"/>
                    <a:pt x="1130520" y="40185"/>
                    <a:pt x="1130520" y="54690"/>
                  </a:cubicBezTo>
                  <a:lnTo>
                    <a:pt x="1130520" y="246094"/>
                  </a:lnTo>
                  <a:cubicBezTo>
                    <a:pt x="1130520" y="260599"/>
                    <a:pt x="1124758" y="274509"/>
                    <a:pt x="1114502" y="284766"/>
                  </a:cubicBezTo>
                  <a:cubicBezTo>
                    <a:pt x="1104245" y="295022"/>
                    <a:pt x="1090335" y="300784"/>
                    <a:pt x="1075830" y="300784"/>
                  </a:cubicBezTo>
                  <a:lnTo>
                    <a:pt x="54690" y="300784"/>
                  </a:lnTo>
                  <a:cubicBezTo>
                    <a:pt x="40185" y="300784"/>
                    <a:pt x="26275" y="295022"/>
                    <a:pt x="16018" y="284766"/>
                  </a:cubicBezTo>
                  <a:cubicBezTo>
                    <a:pt x="5762" y="274509"/>
                    <a:pt x="0" y="260599"/>
                    <a:pt x="0" y="246094"/>
                  </a:cubicBezTo>
                  <a:lnTo>
                    <a:pt x="0" y="54690"/>
                  </a:lnTo>
                  <a:cubicBezTo>
                    <a:pt x="0" y="40185"/>
                    <a:pt x="5762" y="26275"/>
                    <a:pt x="16018" y="16018"/>
                  </a:cubicBezTo>
                  <a:cubicBezTo>
                    <a:pt x="26275" y="5762"/>
                    <a:pt x="40185" y="0"/>
                    <a:pt x="54690" y="0"/>
                  </a:cubicBezTo>
                  <a:close/>
                </a:path>
              </a:pathLst>
            </a:custGeom>
            <a:solidFill>
              <a:srgbClr val="EDE8E4"/>
            </a:solidFill>
          </p:spPr>
        </p:sp>
        <p:sp>
          <p:nvSpPr>
            <p:cNvPr name="TextBox 21" id="21"/>
            <p:cNvSpPr txBox="true"/>
            <p:nvPr/>
          </p:nvSpPr>
          <p:spPr>
            <a:xfrm>
              <a:off x="0" y="9525"/>
              <a:ext cx="1130520" cy="291259"/>
            </a:xfrm>
            <a:prstGeom prst="rect">
              <a:avLst/>
            </a:prstGeom>
          </p:spPr>
          <p:txBody>
            <a:bodyPr anchor="ctr" rtlCol="false" tIns="50800" lIns="50800" bIns="50800" rIns="50800"/>
            <a:lstStyle/>
            <a:p>
              <a:pPr algn="ctr">
                <a:lnSpc>
                  <a:spcPts val="2121"/>
                </a:lnSpc>
              </a:pPr>
            </a:p>
          </p:txBody>
        </p:sp>
      </p:grpSp>
      <p:grpSp>
        <p:nvGrpSpPr>
          <p:cNvPr name="Group 22" id="22"/>
          <p:cNvGrpSpPr/>
          <p:nvPr/>
        </p:nvGrpSpPr>
        <p:grpSpPr>
          <a:xfrm rot="0">
            <a:off x="1456860" y="7425632"/>
            <a:ext cx="4177075" cy="979243"/>
            <a:chOff x="0" y="0"/>
            <a:chExt cx="1283029" cy="300784"/>
          </a:xfrm>
        </p:grpSpPr>
        <p:sp>
          <p:nvSpPr>
            <p:cNvPr name="Freeform 23" id="23"/>
            <p:cNvSpPr/>
            <p:nvPr/>
          </p:nvSpPr>
          <p:spPr>
            <a:xfrm flipH="false" flipV="false" rot="0">
              <a:off x="0" y="0"/>
              <a:ext cx="1283029" cy="300784"/>
            </a:xfrm>
            <a:custGeom>
              <a:avLst/>
              <a:gdLst/>
              <a:ahLst/>
              <a:cxnLst/>
              <a:rect r="r" b="b" t="t" l="l"/>
              <a:pathLst>
                <a:path h="300784" w="1283029">
                  <a:moveTo>
                    <a:pt x="48189" y="0"/>
                  </a:moveTo>
                  <a:lnTo>
                    <a:pt x="1234840" y="0"/>
                  </a:lnTo>
                  <a:cubicBezTo>
                    <a:pt x="1247620" y="0"/>
                    <a:pt x="1259877" y="5077"/>
                    <a:pt x="1268915" y="14114"/>
                  </a:cubicBezTo>
                  <a:cubicBezTo>
                    <a:pt x="1277952" y="23152"/>
                    <a:pt x="1283029" y="35409"/>
                    <a:pt x="1283029" y="48189"/>
                  </a:cubicBezTo>
                  <a:lnTo>
                    <a:pt x="1283029" y="252595"/>
                  </a:lnTo>
                  <a:cubicBezTo>
                    <a:pt x="1283029" y="279209"/>
                    <a:pt x="1261454" y="300784"/>
                    <a:pt x="1234840" y="300784"/>
                  </a:cubicBezTo>
                  <a:lnTo>
                    <a:pt x="48189" y="300784"/>
                  </a:lnTo>
                  <a:cubicBezTo>
                    <a:pt x="21575" y="300784"/>
                    <a:pt x="0" y="279209"/>
                    <a:pt x="0" y="252595"/>
                  </a:cubicBezTo>
                  <a:lnTo>
                    <a:pt x="0" y="48189"/>
                  </a:lnTo>
                  <a:cubicBezTo>
                    <a:pt x="0" y="21575"/>
                    <a:pt x="21575" y="0"/>
                    <a:pt x="48189" y="0"/>
                  </a:cubicBezTo>
                  <a:close/>
                </a:path>
              </a:pathLst>
            </a:custGeom>
            <a:solidFill>
              <a:srgbClr val="EDE8E4"/>
            </a:solidFill>
          </p:spPr>
        </p:sp>
        <p:sp>
          <p:nvSpPr>
            <p:cNvPr name="TextBox 24" id="24"/>
            <p:cNvSpPr txBox="true"/>
            <p:nvPr/>
          </p:nvSpPr>
          <p:spPr>
            <a:xfrm>
              <a:off x="0" y="9525"/>
              <a:ext cx="1283029" cy="291259"/>
            </a:xfrm>
            <a:prstGeom prst="rect">
              <a:avLst/>
            </a:prstGeom>
          </p:spPr>
          <p:txBody>
            <a:bodyPr anchor="ctr" rtlCol="false" tIns="50800" lIns="50800" bIns="50800" rIns="50800"/>
            <a:lstStyle/>
            <a:p>
              <a:pPr algn="ctr">
                <a:lnSpc>
                  <a:spcPts val="2121"/>
                </a:lnSpc>
              </a:pPr>
            </a:p>
          </p:txBody>
        </p:sp>
      </p:grpSp>
      <p:grpSp>
        <p:nvGrpSpPr>
          <p:cNvPr name="Group 25" id="25"/>
          <p:cNvGrpSpPr/>
          <p:nvPr/>
        </p:nvGrpSpPr>
        <p:grpSpPr>
          <a:xfrm rot="0">
            <a:off x="6033181" y="7391974"/>
            <a:ext cx="3680562" cy="979243"/>
            <a:chOff x="0" y="0"/>
            <a:chExt cx="1130520" cy="300784"/>
          </a:xfrm>
        </p:grpSpPr>
        <p:sp>
          <p:nvSpPr>
            <p:cNvPr name="Freeform 26" id="26"/>
            <p:cNvSpPr/>
            <p:nvPr/>
          </p:nvSpPr>
          <p:spPr>
            <a:xfrm flipH="false" flipV="false" rot="0">
              <a:off x="0" y="0"/>
              <a:ext cx="1130520" cy="300784"/>
            </a:xfrm>
            <a:custGeom>
              <a:avLst/>
              <a:gdLst/>
              <a:ahLst/>
              <a:cxnLst/>
              <a:rect r="r" b="b" t="t" l="l"/>
              <a:pathLst>
                <a:path h="300784" w="1130520">
                  <a:moveTo>
                    <a:pt x="54690" y="0"/>
                  </a:moveTo>
                  <a:lnTo>
                    <a:pt x="1075830" y="0"/>
                  </a:lnTo>
                  <a:cubicBezTo>
                    <a:pt x="1090335" y="0"/>
                    <a:pt x="1104245" y="5762"/>
                    <a:pt x="1114502" y="16018"/>
                  </a:cubicBezTo>
                  <a:cubicBezTo>
                    <a:pt x="1124758" y="26275"/>
                    <a:pt x="1130520" y="40185"/>
                    <a:pt x="1130520" y="54690"/>
                  </a:cubicBezTo>
                  <a:lnTo>
                    <a:pt x="1130520" y="246094"/>
                  </a:lnTo>
                  <a:cubicBezTo>
                    <a:pt x="1130520" y="260599"/>
                    <a:pt x="1124758" y="274509"/>
                    <a:pt x="1114502" y="284766"/>
                  </a:cubicBezTo>
                  <a:cubicBezTo>
                    <a:pt x="1104245" y="295022"/>
                    <a:pt x="1090335" y="300784"/>
                    <a:pt x="1075830" y="300784"/>
                  </a:cubicBezTo>
                  <a:lnTo>
                    <a:pt x="54690" y="300784"/>
                  </a:lnTo>
                  <a:cubicBezTo>
                    <a:pt x="40185" y="300784"/>
                    <a:pt x="26275" y="295022"/>
                    <a:pt x="16018" y="284766"/>
                  </a:cubicBezTo>
                  <a:cubicBezTo>
                    <a:pt x="5762" y="274509"/>
                    <a:pt x="0" y="260599"/>
                    <a:pt x="0" y="246094"/>
                  </a:cubicBezTo>
                  <a:lnTo>
                    <a:pt x="0" y="54690"/>
                  </a:lnTo>
                  <a:cubicBezTo>
                    <a:pt x="0" y="40185"/>
                    <a:pt x="5762" y="26275"/>
                    <a:pt x="16018" y="16018"/>
                  </a:cubicBezTo>
                  <a:cubicBezTo>
                    <a:pt x="26275" y="5762"/>
                    <a:pt x="40185" y="0"/>
                    <a:pt x="54690" y="0"/>
                  </a:cubicBezTo>
                  <a:close/>
                </a:path>
              </a:pathLst>
            </a:custGeom>
            <a:solidFill>
              <a:srgbClr val="EDE8E4"/>
            </a:solidFill>
          </p:spPr>
        </p:sp>
        <p:sp>
          <p:nvSpPr>
            <p:cNvPr name="TextBox 27" id="27"/>
            <p:cNvSpPr txBox="true"/>
            <p:nvPr/>
          </p:nvSpPr>
          <p:spPr>
            <a:xfrm>
              <a:off x="0" y="9525"/>
              <a:ext cx="1130520" cy="291259"/>
            </a:xfrm>
            <a:prstGeom prst="rect">
              <a:avLst/>
            </a:prstGeom>
          </p:spPr>
          <p:txBody>
            <a:bodyPr anchor="ctr" rtlCol="false" tIns="50800" lIns="50800" bIns="50800" rIns="50800"/>
            <a:lstStyle/>
            <a:p>
              <a:pPr algn="ctr">
                <a:lnSpc>
                  <a:spcPts val="2121"/>
                </a:lnSpc>
              </a:pPr>
            </a:p>
          </p:txBody>
        </p:sp>
      </p:grpSp>
      <p:sp>
        <p:nvSpPr>
          <p:cNvPr name="TextBox 28" id="28"/>
          <p:cNvSpPr txBox="true"/>
          <p:nvPr/>
        </p:nvSpPr>
        <p:spPr>
          <a:xfrm rot="0">
            <a:off x="1503287" y="2904949"/>
            <a:ext cx="8481513" cy="1268732"/>
          </a:xfrm>
          <a:prstGeom prst="rect">
            <a:avLst/>
          </a:prstGeom>
        </p:spPr>
        <p:txBody>
          <a:bodyPr anchor="t" rtlCol="false" tIns="0" lIns="0" bIns="0" rIns="0">
            <a:spAutoFit/>
          </a:bodyPr>
          <a:lstStyle/>
          <a:p>
            <a:pPr algn="ctr">
              <a:lnSpc>
                <a:spcPts val="5130"/>
              </a:lnSpc>
            </a:pPr>
            <a:r>
              <a:rPr lang="en-US" b="true" sz="3664" spc="153">
                <a:solidFill>
                  <a:srgbClr val="253754"/>
                </a:solidFill>
                <a:latin typeface="Glacial Indifference Bold"/>
                <a:ea typeface="Glacial Indifference Bold"/>
                <a:cs typeface="Glacial Indifference Bold"/>
                <a:sym typeface="Glacial Indifference Bold"/>
              </a:rPr>
              <a:t>objetivo A: espansion geografica internacional</a:t>
            </a:r>
          </a:p>
        </p:txBody>
      </p:sp>
      <p:sp>
        <p:nvSpPr>
          <p:cNvPr name="TextBox 29" id="29"/>
          <p:cNvSpPr txBox="true"/>
          <p:nvPr/>
        </p:nvSpPr>
        <p:spPr>
          <a:xfrm rot="0">
            <a:off x="1096562" y="3813048"/>
            <a:ext cx="9401220" cy="834624"/>
          </a:xfrm>
          <a:prstGeom prst="rect">
            <a:avLst/>
          </a:prstGeom>
        </p:spPr>
        <p:txBody>
          <a:bodyPr anchor="t" rtlCol="false" tIns="0" lIns="0" bIns="0" rIns="0">
            <a:spAutoFit/>
          </a:bodyPr>
          <a:lstStyle/>
          <a:p>
            <a:pPr algn="l">
              <a:lnSpc>
                <a:spcPts val="3347"/>
              </a:lnSpc>
            </a:pPr>
            <a:r>
              <a:rPr lang="en-US" sz="2390" spc="52">
                <a:solidFill>
                  <a:srgbClr val="FEFEFE"/>
                </a:solidFill>
                <a:latin typeface="Glacial Indifference"/>
                <a:ea typeface="Glacial Indifference"/>
                <a:cs typeface="Glacial Indifference"/>
                <a:sym typeface="Glacial Indifference"/>
              </a:rPr>
              <a:t>Cinépolis desarrolló formatos especializados que amplían la base de clientes y protegen ingresos ante variaciones en la demanda.</a:t>
            </a:r>
          </a:p>
        </p:txBody>
      </p:sp>
      <p:sp>
        <p:nvSpPr>
          <p:cNvPr name="TextBox 30" id="30"/>
          <p:cNvSpPr txBox="true"/>
          <p:nvPr/>
        </p:nvSpPr>
        <p:spPr>
          <a:xfrm rot="0">
            <a:off x="1616762" y="4924221"/>
            <a:ext cx="4017172" cy="341663"/>
          </a:xfrm>
          <a:prstGeom prst="rect">
            <a:avLst/>
          </a:prstGeom>
        </p:spPr>
        <p:txBody>
          <a:bodyPr anchor="t" rtlCol="false" tIns="0" lIns="0" bIns="0" rIns="0">
            <a:spAutoFit/>
          </a:bodyPr>
          <a:lstStyle/>
          <a:p>
            <a:pPr algn="ctr">
              <a:lnSpc>
                <a:spcPts val="2708"/>
              </a:lnSpc>
            </a:pPr>
            <a:r>
              <a:rPr lang="en-US" b="true" sz="1934" spc="19">
                <a:solidFill>
                  <a:srgbClr val="253754"/>
                </a:solidFill>
                <a:latin typeface="Glacial Indifference Bold"/>
                <a:ea typeface="Glacial Indifference Bold"/>
                <a:cs typeface="Glacial Indifference Bold"/>
                <a:sym typeface="Glacial Indifference Bold"/>
              </a:rPr>
              <a:t>Cinepolis VIP </a:t>
            </a:r>
          </a:p>
        </p:txBody>
      </p:sp>
      <p:sp>
        <p:nvSpPr>
          <p:cNvPr name="TextBox 31" id="31"/>
          <p:cNvSpPr txBox="true"/>
          <p:nvPr/>
        </p:nvSpPr>
        <p:spPr>
          <a:xfrm rot="0">
            <a:off x="1566525" y="5280493"/>
            <a:ext cx="3775577" cy="290896"/>
          </a:xfrm>
          <a:prstGeom prst="rect">
            <a:avLst/>
          </a:prstGeom>
        </p:spPr>
        <p:txBody>
          <a:bodyPr anchor="t" rtlCol="false" tIns="0" lIns="0" bIns="0" rIns="0">
            <a:spAutoFit/>
          </a:bodyPr>
          <a:lstStyle/>
          <a:p>
            <a:pPr algn="ctr">
              <a:lnSpc>
                <a:spcPts val="2341"/>
              </a:lnSpc>
            </a:pPr>
            <a:r>
              <a:rPr lang="en-US" b="true" sz="1672" spc="36">
                <a:solidFill>
                  <a:srgbClr val="152540"/>
                </a:solidFill>
                <a:latin typeface="Glacial Indifference Bold"/>
                <a:ea typeface="Glacial Indifference Bold"/>
                <a:cs typeface="Glacial Indifference Bold"/>
                <a:sym typeface="Glacial Indifference Bold"/>
              </a:rPr>
              <a:t>expericeincia premium</a:t>
            </a:r>
          </a:p>
        </p:txBody>
      </p:sp>
      <p:sp>
        <p:nvSpPr>
          <p:cNvPr name="TextBox 32" id="32"/>
          <p:cNvSpPr txBox="true"/>
          <p:nvPr/>
        </p:nvSpPr>
        <p:spPr>
          <a:xfrm rot="0">
            <a:off x="6033181" y="4924221"/>
            <a:ext cx="3539666" cy="341663"/>
          </a:xfrm>
          <a:prstGeom prst="rect">
            <a:avLst/>
          </a:prstGeom>
        </p:spPr>
        <p:txBody>
          <a:bodyPr anchor="t" rtlCol="false" tIns="0" lIns="0" bIns="0" rIns="0">
            <a:spAutoFit/>
          </a:bodyPr>
          <a:lstStyle/>
          <a:p>
            <a:pPr algn="ctr">
              <a:lnSpc>
                <a:spcPts val="2708"/>
              </a:lnSpc>
            </a:pPr>
            <a:r>
              <a:rPr lang="en-US" b="true" sz="1934" spc="19">
                <a:solidFill>
                  <a:srgbClr val="253754"/>
                </a:solidFill>
                <a:latin typeface="Glacial Indifference Bold"/>
                <a:ea typeface="Glacial Indifference Bold"/>
                <a:cs typeface="Glacial Indifference Bold"/>
                <a:sym typeface="Glacial Indifference Bold"/>
              </a:rPr>
              <a:t>IMAX</a:t>
            </a:r>
          </a:p>
        </p:txBody>
      </p:sp>
      <p:sp>
        <p:nvSpPr>
          <p:cNvPr name="TextBox 33" id="33"/>
          <p:cNvSpPr txBox="true"/>
          <p:nvPr/>
        </p:nvSpPr>
        <p:spPr>
          <a:xfrm rot="0">
            <a:off x="6139620" y="5280493"/>
            <a:ext cx="3326789" cy="290896"/>
          </a:xfrm>
          <a:prstGeom prst="rect">
            <a:avLst/>
          </a:prstGeom>
        </p:spPr>
        <p:txBody>
          <a:bodyPr anchor="t" rtlCol="false" tIns="0" lIns="0" bIns="0" rIns="0">
            <a:spAutoFit/>
          </a:bodyPr>
          <a:lstStyle/>
          <a:p>
            <a:pPr algn="ctr">
              <a:lnSpc>
                <a:spcPts val="2341"/>
              </a:lnSpc>
            </a:pPr>
            <a:r>
              <a:rPr lang="en-US" b="true" sz="1672" spc="36">
                <a:solidFill>
                  <a:srgbClr val="152540"/>
                </a:solidFill>
                <a:latin typeface="Glacial Indifference Bold"/>
                <a:ea typeface="Glacial Indifference Bold"/>
                <a:cs typeface="Glacial Indifference Bold"/>
                <a:sym typeface="Glacial Indifference Bold"/>
              </a:rPr>
              <a:t>pantalla gigante</a:t>
            </a:r>
          </a:p>
        </p:txBody>
      </p:sp>
      <p:sp>
        <p:nvSpPr>
          <p:cNvPr name="TextBox 34" id="34"/>
          <p:cNvSpPr txBox="true"/>
          <p:nvPr/>
        </p:nvSpPr>
        <p:spPr>
          <a:xfrm rot="0">
            <a:off x="1536811" y="6205052"/>
            <a:ext cx="4017172" cy="341663"/>
          </a:xfrm>
          <a:prstGeom prst="rect">
            <a:avLst/>
          </a:prstGeom>
        </p:spPr>
        <p:txBody>
          <a:bodyPr anchor="t" rtlCol="false" tIns="0" lIns="0" bIns="0" rIns="0">
            <a:spAutoFit/>
          </a:bodyPr>
          <a:lstStyle/>
          <a:p>
            <a:pPr algn="ctr">
              <a:lnSpc>
                <a:spcPts val="2708"/>
              </a:lnSpc>
            </a:pPr>
            <a:r>
              <a:rPr lang="en-US" b="true" sz="1934" spc="19">
                <a:solidFill>
                  <a:srgbClr val="253754"/>
                </a:solidFill>
                <a:latin typeface="Glacial Indifference Bold"/>
                <a:ea typeface="Glacial Indifference Bold"/>
                <a:cs typeface="Glacial Indifference Bold"/>
                <a:sym typeface="Glacial Indifference Bold"/>
              </a:rPr>
              <a:t>4DX</a:t>
            </a:r>
          </a:p>
        </p:txBody>
      </p:sp>
      <p:sp>
        <p:nvSpPr>
          <p:cNvPr name="TextBox 35" id="35"/>
          <p:cNvSpPr txBox="true"/>
          <p:nvPr/>
        </p:nvSpPr>
        <p:spPr>
          <a:xfrm rot="0">
            <a:off x="1536811" y="6565765"/>
            <a:ext cx="3775577" cy="290896"/>
          </a:xfrm>
          <a:prstGeom prst="rect">
            <a:avLst/>
          </a:prstGeom>
        </p:spPr>
        <p:txBody>
          <a:bodyPr anchor="t" rtlCol="false" tIns="0" lIns="0" bIns="0" rIns="0">
            <a:spAutoFit/>
          </a:bodyPr>
          <a:lstStyle/>
          <a:p>
            <a:pPr algn="ctr">
              <a:lnSpc>
                <a:spcPts val="2341"/>
              </a:lnSpc>
            </a:pPr>
            <a:r>
              <a:rPr lang="en-US" b="true" sz="1672" spc="36">
                <a:solidFill>
                  <a:srgbClr val="152540"/>
                </a:solidFill>
                <a:latin typeface="Glacial Indifference Bold"/>
                <a:ea typeface="Glacial Indifference Bold"/>
                <a:cs typeface="Glacial Indifference Bold"/>
                <a:sym typeface="Glacial Indifference Bold"/>
              </a:rPr>
              <a:t>experiencia inmersiva</a:t>
            </a:r>
          </a:p>
        </p:txBody>
      </p:sp>
      <p:sp>
        <p:nvSpPr>
          <p:cNvPr name="TextBox 36" id="36"/>
          <p:cNvSpPr txBox="true"/>
          <p:nvPr/>
        </p:nvSpPr>
        <p:spPr>
          <a:xfrm rot="0">
            <a:off x="6103629" y="6205052"/>
            <a:ext cx="3539666" cy="341663"/>
          </a:xfrm>
          <a:prstGeom prst="rect">
            <a:avLst/>
          </a:prstGeom>
        </p:spPr>
        <p:txBody>
          <a:bodyPr anchor="t" rtlCol="false" tIns="0" lIns="0" bIns="0" rIns="0">
            <a:spAutoFit/>
          </a:bodyPr>
          <a:lstStyle/>
          <a:p>
            <a:pPr algn="ctr">
              <a:lnSpc>
                <a:spcPts val="2708"/>
              </a:lnSpc>
            </a:pPr>
            <a:r>
              <a:rPr lang="en-US" b="true" sz="1934" spc="19">
                <a:solidFill>
                  <a:srgbClr val="253754"/>
                </a:solidFill>
                <a:latin typeface="Glacial Indifference Bold"/>
                <a:ea typeface="Glacial Indifference Bold"/>
                <a:cs typeface="Glacial Indifference Bold"/>
                <a:sym typeface="Glacial Indifference Bold"/>
              </a:rPr>
              <a:t>sala de arte</a:t>
            </a:r>
          </a:p>
        </p:txBody>
      </p:sp>
      <p:sp>
        <p:nvSpPr>
          <p:cNvPr name="TextBox 37" id="37"/>
          <p:cNvSpPr txBox="true"/>
          <p:nvPr/>
        </p:nvSpPr>
        <p:spPr>
          <a:xfrm rot="0">
            <a:off x="6103629" y="6565765"/>
            <a:ext cx="3326789" cy="290896"/>
          </a:xfrm>
          <a:prstGeom prst="rect">
            <a:avLst/>
          </a:prstGeom>
        </p:spPr>
        <p:txBody>
          <a:bodyPr anchor="t" rtlCol="false" tIns="0" lIns="0" bIns="0" rIns="0">
            <a:spAutoFit/>
          </a:bodyPr>
          <a:lstStyle/>
          <a:p>
            <a:pPr algn="ctr">
              <a:lnSpc>
                <a:spcPts val="2341"/>
              </a:lnSpc>
            </a:pPr>
            <a:r>
              <a:rPr lang="en-US" b="true" sz="1672" spc="36">
                <a:solidFill>
                  <a:srgbClr val="152540"/>
                </a:solidFill>
                <a:latin typeface="Glacial Indifference Bold"/>
                <a:ea typeface="Glacial Indifference Bold"/>
                <a:cs typeface="Glacial Indifference Bold"/>
                <a:sym typeface="Glacial Indifference Bold"/>
              </a:rPr>
              <a:t>cine independiente</a:t>
            </a:r>
          </a:p>
        </p:txBody>
      </p:sp>
      <p:sp>
        <p:nvSpPr>
          <p:cNvPr name="TextBox 38" id="38"/>
          <p:cNvSpPr txBox="true"/>
          <p:nvPr/>
        </p:nvSpPr>
        <p:spPr>
          <a:xfrm rot="0">
            <a:off x="1536811" y="7482782"/>
            <a:ext cx="4017172" cy="341663"/>
          </a:xfrm>
          <a:prstGeom prst="rect">
            <a:avLst/>
          </a:prstGeom>
        </p:spPr>
        <p:txBody>
          <a:bodyPr anchor="t" rtlCol="false" tIns="0" lIns="0" bIns="0" rIns="0">
            <a:spAutoFit/>
          </a:bodyPr>
          <a:lstStyle/>
          <a:p>
            <a:pPr algn="ctr">
              <a:lnSpc>
                <a:spcPts val="2708"/>
              </a:lnSpc>
            </a:pPr>
            <a:r>
              <a:rPr lang="en-US" b="true" sz="1934" spc="19">
                <a:solidFill>
                  <a:srgbClr val="253754"/>
                </a:solidFill>
                <a:latin typeface="Glacial Indifference Bold"/>
                <a:ea typeface="Glacial Indifference Bold"/>
                <a:cs typeface="Glacial Indifference Bold"/>
                <a:sym typeface="Glacial Indifference Bold"/>
              </a:rPr>
              <a:t>sala junior</a:t>
            </a:r>
          </a:p>
        </p:txBody>
      </p:sp>
      <p:sp>
        <p:nvSpPr>
          <p:cNvPr name="TextBox 39" id="39"/>
          <p:cNvSpPr txBox="true"/>
          <p:nvPr/>
        </p:nvSpPr>
        <p:spPr>
          <a:xfrm rot="0">
            <a:off x="1657608" y="7843495"/>
            <a:ext cx="3775577" cy="290896"/>
          </a:xfrm>
          <a:prstGeom prst="rect">
            <a:avLst/>
          </a:prstGeom>
        </p:spPr>
        <p:txBody>
          <a:bodyPr anchor="t" rtlCol="false" tIns="0" lIns="0" bIns="0" rIns="0">
            <a:spAutoFit/>
          </a:bodyPr>
          <a:lstStyle/>
          <a:p>
            <a:pPr algn="ctr">
              <a:lnSpc>
                <a:spcPts val="2341"/>
              </a:lnSpc>
            </a:pPr>
            <a:r>
              <a:rPr lang="en-US" b="true" sz="1672" spc="36">
                <a:solidFill>
                  <a:srgbClr val="152540"/>
                </a:solidFill>
                <a:latin typeface="Glacial Indifference Bold"/>
                <a:ea typeface="Glacial Indifference Bold"/>
                <a:cs typeface="Glacial Indifference Bold"/>
                <a:sym typeface="Glacial Indifference Bold"/>
              </a:rPr>
              <a:t>Familias con niños</a:t>
            </a:r>
          </a:p>
        </p:txBody>
      </p:sp>
      <p:sp>
        <p:nvSpPr>
          <p:cNvPr name="TextBox 40" id="40"/>
          <p:cNvSpPr txBox="true"/>
          <p:nvPr/>
        </p:nvSpPr>
        <p:spPr>
          <a:xfrm rot="0">
            <a:off x="6174077" y="7475807"/>
            <a:ext cx="3539666" cy="341663"/>
          </a:xfrm>
          <a:prstGeom prst="rect">
            <a:avLst/>
          </a:prstGeom>
        </p:spPr>
        <p:txBody>
          <a:bodyPr anchor="t" rtlCol="false" tIns="0" lIns="0" bIns="0" rIns="0">
            <a:spAutoFit/>
          </a:bodyPr>
          <a:lstStyle/>
          <a:p>
            <a:pPr algn="ctr">
              <a:lnSpc>
                <a:spcPts val="2708"/>
              </a:lnSpc>
            </a:pPr>
            <a:r>
              <a:rPr lang="en-US" b="true" sz="1934" spc="19">
                <a:solidFill>
                  <a:srgbClr val="253754"/>
                </a:solidFill>
                <a:latin typeface="Glacial Indifference Bold"/>
                <a:ea typeface="Glacial Indifference Bold"/>
                <a:cs typeface="Glacial Indifference Bold"/>
                <a:sym typeface="Glacial Indifference Bold"/>
              </a:rPr>
              <a:t>Gastronomía</a:t>
            </a:r>
          </a:p>
        </p:txBody>
      </p:sp>
      <p:sp>
        <p:nvSpPr>
          <p:cNvPr name="TextBox 41" id="41"/>
          <p:cNvSpPr txBox="true"/>
          <p:nvPr/>
        </p:nvSpPr>
        <p:spPr>
          <a:xfrm rot="0">
            <a:off x="6246058" y="7877153"/>
            <a:ext cx="3326789" cy="290896"/>
          </a:xfrm>
          <a:prstGeom prst="rect">
            <a:avLst/>
          </a:prstGeom>
        </p:spPr>
        <p:txBody>
          <a:bodyPr anchor="t" rtlCol="false" tIns="0" lIns="0" bIns="0" rIns="0">
            <a:spAutoFit/>
          </a:bodyPr>
          <a:lstStyle/>
          <a:p>
            <a:pPr algn="ctr">
              <a:lnSpc>
                <a:spcPts val="2341"/>
              </a:lnSpc>
            </a:pPr>
            <a:r>
              <a:rPr lang="en-US" b="true" sz="1672" spc="36">
                <a:solidFill>
                  <a:srgbClr val="152540"/>
                </a:solidFill>
                <a:latin typeface="Glacial Indifference Bold"/>
                <a:ea typeface="Glacial Indifference Bold"/>
                <a:cs typeface="Glacial Indifference Bold"/>
                <a:sym typeface="Glacial Indifference Bold"/>
              </a:rPr>
              <a:t>Cinecafé, Coffee Tree</a:t>
            </a:r>
          </a:p>
        </p:txBody>
      </p:sp>
      <p:grpSp>
        <p:nvGrpSpPr>
          <p:cNvPr name="Group 42" id="42"/>
          <p:cNvGrpSpPr/>
          <p:nvPr/>
        </p:nvGrpSpPr>
        <p:grpSpPr>
          <a:xfrm rot="0">
            <a:off x="10497782" y="6664245"/>
            <a:ext cx="7233449" cy="3111741"/>
            <a:chOff x="0" y="0"/>
            <a:chExt cx="1612189" cy="693544"/>
          </a:xfrm>
        </p:grpSpPr>
        <p:sp>
          <p:nvSpPr>
            <p:cNvPr name="Freeform 43" id="43"/>
            <p:cNvSpPr/>
            <p:nvPr/>
          </p:nvSpPr>
          <p:spPr>
            <a:xfrm flipH="false" flipV="false" rot="0">
              <a:off x="0" y="0"/>
              <a:ext cx="1612189" cy="693544"/>
            </a:xfrm>
            <a:custGeom>
              <a:avLst/>
              <a:gdLst/>
              <a:ahLst/>
              <a:cxnLst/>
              <a:rect r="r" b="b" t="t" l="l"/>
              <a:pathLst>
                <a:path h="693544" w="1612189">
                  <a:moveTo>
                    <a:pt x="63147" y="0"/>
                  </a:moveTo>
                  <a:lnTo>
                    <a:pt x="1549042" y="0"/>
                  </a:lnTo>
                  <a:cubicBezTo>
                    <a:pt x="1583917" y="0"/>
                    <a:pt x="1612189" y="28272"/>
                    <a:pt x="1612189" y="63147"/>
                  </a:cubicBezTo>
                  <a:lnTo>
                    <a:pt x="1612189" y="630397"/>
                  </a:lnTo>
                  <a:cubicBezTo>
                    <a:pt x="1612189" y="665272"/>
                    <a:pt x="1583917" y="693544"/>
                    <a:pt x="1549042" y="693544"/>
                  </a:cubicBezTo>
                  <a:lnTo>
                    <a:pt x="63147" y="693544"/>
                  </a:lnTo>
                  <a:cubicBezTo>
                    <a:pt x="28272" y="693544"/>
                    <a:pt x="0" y="665272"/>
                    <a:pt x="0" y="630397"/>
                  </a:cubicBezTo>
                  <a:lnTo>
                    <a:pt x="0" y="63147"/>
                  </a:lnTo>
                  <a:cubicBezTo>
                    <a:pt x="0" y="28272"/>
                    <a:pt x="28272" y="0"/>
                    <a:pt x="63147" y="0"/>
                  </a:cubicBezTo>
                  <a:close/>
                </a:path>
              </a:pathLst>
            </a:custGeom>
            <a:ln w="38100" cap="rnd">
              <a:solidFill>
                <a:srgbClr val="E3D8D4"/>
              </a:solidFill>
              <a:prstDash val="solid"/>
              <a:round/>
            </a:ln>
          </p:spPr>
        </p:sp>
        <p:sp>
          <p:nvSpPr>
            <p:cNvPr name="TextBox 44" id="44"/>
            <p:cNvSpPr txBox="true"/>
            <p:nvPr/>
          </p:nvSpPr>
          <p:spPr>
            <a:xfrm>
              <a:off x="0" y="9525"/>
              <a:ext cx="1612189" cy="684019"/>
            </a:xfrm>
            <a:prstGeom prst="rect">
              <a:avLst/>
            </a:prstGeom>
          </p:spPr>
          <p:txBody>
            <a:bodyPr anchor="ctr" rtlCol="false" tIns="50800" lIns="50800" bIns="50800" rIns="50800"/>
            <a:lstStyle/>
            <a:p>
              <a:pPr algn="ctr">
                <a:lnSpc>
                  <a:spcPts val="2121"/>
                </a:lnSpc>
              </a:pPr>
            </a:p>
            <a:p>
              <a:pPr algn="ctr">
                <a:lnSpc>
                  <a:spcPts val="2121"/>
                </a:lnSpc>
              </a:pPr>
            </a:p>
          </p:txBody>
        </p:sp>
      </p:grpSp>
      <p:sp>
        <p:nvSpPr>
          <p:cNvPr name="Freeform 45" id="45"/>
          <p:cNvSpPr/>
          <p:nvPr/>
        </p:nvSpPr>
        <p:spPr>
          <a:xfrm flipH="false" flipV="false" rot="-10800000">
            <a:off x="10497782" y="6664245"/>
            <a:ext cx="7233449" cy="1033825"/>
          </a:xfrm>
          <a:custGeom>
            <a:avLst/>
            <a:gdLst/>
            <a:ahLst/>
            <a:cxnLst/>
            <a:rect r="r" b="b" t="t" l="l"/>
            <a:pathLst>
              <a:path h="1033825" w="7233449">
                <a:moveTo>
                  <a:pt x="0" y="0"/>
                </a:moveTo>
                <a:lnTo>
                  <a:pt x="7233448" y="0"/>
                </a:lnTo>
                <a:lnTo>
                  <a:pt x="7233448" y="1033825"/>
                </a:lnTo>
                <a:lnTo>
                  <a:pt x="0" y="1033825"/>
                </a:lnTo>
                <a:lnTo>
                  <a:pt x="0" y="0"/>
                </a:lnTo>
                <a:close/>
              </a:path>
            </a:pathLst>
          </a:custGeom>
          <a:blipFill>
            <a:blip r:embed="rId5">
              <a:extLst>
                <a:ext uri="{96DAC541-7B7A-43D3-8B79-37D633B846F1}">
                  <asvg:svgBlip xmlns:asvg="http://schemas.microsoft.com/office/drawing/2016/SVG/main" r:embed="rId6"/>
                </a:ext>
              </a:extLst>
            </a:blip>
            <a:stretch>
              <a:fillRect l="0" t="-796441" r="0" b="-30825"/>
            </a:stretch>
          </a:blipFill>
        </p:spPr>
      </p:sp>
      <p:sp>
        <p:nvSpPr>
          <p:cNvPr name="TextBox 46" id="46"/>
          <p:cNvSpPr txBox="true"/>
          <p:nvPr/>
        </p:nvSpPr>
        <p:spPr>
          <a:xfrm rot="0">
            <a:off x="10910277" y="6903378"/>
            <a:ext cx="6431935" cy="1065337"/>
          </a:xfrm>
          <a:prstGeom prst="rect">
            <a:avLst/>
          </a:prstGeom>
        </p:spPr>
        <p:txBody>
          <a:bodyPr anchor="t" rtlCol="false" tIns="0" lIns="0" bIns="0" rIns="0">
            <a:spAutoFit/>
          </a:bodyPr>
          <a:lstStyle/>
          <a:p>
            <a:pPr algn="ctr">
              <a:lnSpc>
                <a:spcPts val="4280"/>
              </a:lnSpc>
            </a:pPr>
            <a:r>
              <a:rPr lang="en-US" b="true" sz="3057" spc="128">
                <a:solidFill>
                  <a:srgbClr val="253754"/>
                </a:solidFill>
                <a:latin typeface="Glacial Indifference Bold"/>
                <a:ea typeface="Glacial Indifference Bold"/>
                <a:cs typeface="Glacial Indifference Bold"/>
                <a:sym typeface="Glacial Indifference Bold"/>
              </a:rPr>
              <a:t>Estrategia de Captura de Valor</a:t>
            </a:r>
          </a:p>
          <a:p>
            <a:pPr algn="ctr">
              <a:lnSpc>
                <a:spcPts val="4280"/>
              </a:lnSpc>
            </a:pPr>
          </a:p>
        </p:txBody>
      </p:sp>
      <p:sp>
        <p:nvSpPr>
          <p:cNvPr name="TextBox 47" id="47"/>
          <p:cNvSpPr txBox="true"/>
          <p:nvPr/>
        </p:nvSpPr>
        <p:spPr>
          <a:xfrm rot="0">
            <a:off x="10731141" y="7760320"/>
            <a:ext cx="6520532" cy="2092112"/>
          </a:xfrm>
          <a:prstGeom prst="rect">
            <a:avLst/>
          </a:prstGeom>
        </p:spPr>
        <p:txBody>
          <a:bodyPr anchor="t" rtlCol="false" tIns="0" lIns="0" bIns="0" rIns="0">
            <a:spAutoFit/>
          </a:bodyPr>
          <a:lstStyle/>
          <a:p>
            <a:pPr algn="l">
              <a:lnSpc>
                <a:spcPts val="3336"/>
              </a:lnSpc>
            </a:pPr>
            <a:r>
              <a:rPr lang="en-US" sz="2383" spc="52">
                <a:solidFill>
                  <a:srgbClr val="EDE8E4"/>
                </a:solidFill>
                <a:latin typeface="Glacial Indifference"/>
                <a:ea typeface="Glacial Indifference"/>
                <a:cs typeface="Glacial Indifference"/>
                <a:sym typeface="Glacial Indifference"/>
              </a:rPr>
              <a:t>Cada formato cobra un precio diferente y apunta a un segmento socioeconómico distinto, maximizando ingresos y cobertura de mercado.</a:t>
            </a:r>
          </a:p>
          <a:p>
            <a:pPr algn="l">
              <a:lnSpc>
                <a:spcPts val="3336"/>
              </a:lnSpc>
            </a:pPr>
          </a:p>
        </p:txBody>
      </p:sp>
    </p:spTree>
  </p:cSld>
  <p:clrMapOvr>
    <a:masterClrMapping/>
  </p:clrMapOvr>
</p:sld>
</file>

<file path=ppt/slides/slide14.xml><?xml version="1.0" encoding="utf-8"?>
<p:sld xmlns:p="http://schemas.openxmlformats.org/presentationml/2006/main" xmlns:a="http://schemas.openxmlformats.org/drawingml/2006/main" xmlns:r="http://schemas.openxmlformats.org/officeDocument/2006/relationships">
  <p:cSld>
    <p:bg>
      <p:bgPr>
        <a:solidFill>
          <a:srgbClr val="253754"/>
        </a:solidFill>
      </p:bgPr>
    </p:bg>
    <p:spTree>
      <p:nvGrpSpPr>
        <p:cNvPr id="1" name=""/>
        <p:cNvGrpSpPr/>
        <p:nvPr/>
      </p:nvGrpSpPr>
      <p:grpSpPr>
        <a:xfrm>
          <a:off x="0" y="0"/>
          <a:ext cx="0" cy="0"/>
          <a:chOff x="0" y="0"/>
          <a:chExt cx="0" cy="0"/>
        </a:xfrm>
      </p:grpSpPr>
      <p:sp>
        <p:nvSpPr>
          <p:cNvPr name="Freeform 2" id="2"/>
          <p:cNvSpPr/>
          <p:nvPr/>
        </p:nvSpPr>
        <p:spPr>
          <a:xfrm flipH="false" flipV="false" rot="0">
            <a:off x="-1680157" y="-3300337"/>
            <a:ext cx="6212126" cy="7976908"/>
          </a:xfrm>
          <a:custGeom>
            <a:avLst/>
            <a:gdLst/>
            <a:ahLst/>
            <a:cxnLst/>
            <a:rect r="r" b="b" t="t" l="l"/>
            <a:pathLst>
              <a:path h="7976908" w="6212126">
                <a:moveTo>
                  <a:pt x="0" y="0"/>
                </a:moveTo>
                <a:lnTo>
                  <a:pt x="6212127" y="0"/>
                </a:lnTo>
                <a:lnTo>
                  <a:pt x="6212127" y="7976908"/>
                </a:lnTo>
                <a:lnTo>
                  <a:pt x="0" y="7976908"/>
                </a:lnTo>
                <a:lnTo>
                  <a:pt x="0" y="0"/>
                </a:lnTo>
                <a:close/>
              </a:path>
            </a:pathLst>
          </a:custGeom>
          <a:blipFill>
            <a:blip r:embed="rId2">
              <a:extLst>
                <a:ext uri="{96DAC541-7B7A-43D3-8B79-37D633B846F1}">
                  <asvg:svgBlip xmlns:asvg="http://schemas.microsoft.com/office/drawing/2016/SVG/main" r:embed="rId3"/>
                </a:ext>
              </a:extLst>
            </a:blip>
            <a:stretch>
              <a:fillRect l="0" t="0" r="-37402" b="0"/>
            </a:stretch>
          </a:blipFill>
          <a:ln cap="sq">
            <a:noFill/>
            <a:prstDash val="solid"/>
            <a:miter/>
          </a:ln>
        </p:spPr>
      </p:sp>
      <p:sp>
        <p:nvSpPr>
          <p:cNvPr name="Freeform 3" id="3"/>
          <p:cNvSpPr/>
          <p:nvPr/>
        </p:nvSpPr>
        <p:spPr>
          <a:xfrm flipH="false" flipV="false" rot="-10151301">
            <a:off x="11214641" y="6982437"/>
            <a:ext cx="8535602" cy="7976908"/>
          </a:xfrm>
          <a:custGeom>
            <a:avLst/>
            <a:gdLst/>
            <a:ahLst/>
            <a:cxnLst/>
            <a:rect r="r" b="b" t="t" l="l"/>
            <a:pathLst>
              <a:path h="7976908" w="8535602">
                <a:moveTo>
                  <a:pt x="0" y="0"/>
                </a:moveTo>
                <a:lnTo>
                  <a:pt x="8535602" y="0"/>
                </a:lnTo>
                <a:lnTo>
                  <a:pt x="8535602" y="7976908"/>
                </a:lnTo>
                <a:lnTo>
                  <a:pt x="0" y="7976908"/>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a:ln cap="sq">
            <a:noFill/>
            <a:prstDash val="solid"/>
            <a:miter/>
          </a:ln>
        </p:spPr>
      </p:sp>
      <p:sp>
        <p:nvSpPr>
          <p:cNvPr name="TextBox 4" id="4"/>
          <p:cNvSpPr txBox="true"/>
          <p:nvPr/>
        </p:nvSpPr>
        <p:spPr>
          <a:xfrm rot="0">
            <a:off x="1768537" y="2904377"/>
            <a:ext cx="3972575" cy="1266434"/>
          </a:xfrm>
          <a:prstGeom prst="rect">
            <a:avLst/>
          </a:prstGeom>
        </p:spPr>
        <p:txBody>
          <a:bodyPr anchor="t" rtlCol="false" tIns="0" lIns="0" bIns="0" rIns="0">
            <a:spAutoFit/>
          </a:bodyPr>
          <a:lstStyle/>
          <a:p>
            <a:pPr algn="ctr">
              <a:lnSpc>
                <a:spcPts val="5120"/>
              </a:lnSpc>
            </a:pPr>
            <a:r>
              <a:rPr lang="en-US" b="true" sz="3657" spc="153">
                <a:solidFill>
                  <a:srgbClr val="253754"/>
                </a:solidFill>
                <a:latin typeface="Glacial Indifference Bold"/>
                <a:ea typeface="Glacial Indifference Bold"/>
                <a:cs typeface="Glacial Indifference Bold"/>
                <a:sym typeface="Glacial Indifference Bold"/>
              </a:rPr>
              <a:t>Mision de Cinepolis</a:t>
            </a:r>
          </a:p>
        </p:txBody>
      </p:sp>
      <p:grpSp>
        <p:nvGrpSpPr>
          <p:cNvPr name="Group 5" id="5"/>
          <p:cNvGrpSpPr/>
          <p:nvPr/>
        </p:nvGrpSpPr>
        <p:grpSpPr>
          <a:xfrm rot="0">
            <a:off x="1819400" y="2389019"/>
            <a:ext cx="8561380" cy="4341514"/>
            <a:chOff x="0" y="0"/>
            <a:chExt cx="1904481" cy="965771"/>
          </a:xfrm>
        </p:grpSpPr>
        <p:sp>
          <p:nvSpPr>
            <p:cNvPr name="Freeform 6" id="6"/>
            <p:cNvSpPr/>
            <p:nvPr/>
          </p:nvSpPr>
          <p:spPr>
            <a:xfrm flipH="false" flipV="false" rot="0">
              <a:off x="0" y="0"/>
              <a:ext cx="1904481" cy="965771"/>
            </a:xfrm>
            <a:custGeom>
              <a:avLst/>
              <a:gdLst/>
              <a:ahLst/>
              <a:cxnLst/>
              <a:rect r="r" b="b" t="t" l="l"/>
              <a:pathLst>
                <a:path h="965771" w="1904481">
                  <a:moveTo>
                    <a:pt x="53353" y="0"/>
                  </a:moveTo>
                  <a:lnTo>
                    <a:pt x="1851128" y="0"/>
                  </a:lnTo>
                  <a:cubicBezTo>
                    <a:pt x="1880594" y="0"/>
                    <a:pt x="1904481" y="23887"/>
                    <a:pt x="1904481" y="53353"/>
                  </a:cubicBezTo>
                  <a:lnTo>
                    <a:pt x="1904481" y="912418"/>
                  </a:lnTo>
                  <a:cubicBezTo>
                    <a:pt x="1904481" y="941884"/>
                    <a:pt x="1880594" y="965771"/>
                    <a:pt x="1851128" y="965771"/>
                  </a:cubicBezTo>
                  <a:lnTo>
                    <a:pt x="53353" y="965771"/>
                  </a:lnTo>
                  <a:cubicBezTo>
                    <a:pt x="39203" y="965771"/>
                    <a:pt x="25632" y="960150"/>
                    <a:pt x="15627" y="950144"/>
                  </a:cubicBezTo>
                  <a:cubicBezTo>
                    <a:pt x="5621" y="940139"/>
                    <a:pt x="0" y="926568"/>
                    <a:pt x="0" y="912418"/>
                  </a:cubicBezTo>
                  <a:lnTo>
                    <a:pt x="0" y="53353"/>
                  </a:lnTo>
                  <a:cubicBezTo>
                    <a:pt x="0" y="23887"/>
                    <a:pt x="23887" y="0"/>
                    <a:pt x="53353" y="0"/>
                  </a:cubicBezTo>
                  <a:close/>
                </a:path>
              </a:pathLst>
            </a:custGeom>
            <a:ln w="38100" cap="rnd">
              <a:solidFill>
                <a:srgbClr val="E3D8D4"/>
              </a:solidFill>
              <a:prstDash val="solid"/>
              <a:round/>
            </a:ln>
          </p:spPr>
        </p:sp>
        <p:sp>
          <p:nvSpPr>
            <p:cNvPr name="TextBox 7" id="7"/>
            <p:cNvSpPr txBox="true"/>
            <p:nvPr/>
          </p:nvSpPr>
          <p:spPr>
            <a:xfrm>
              <a:off x="0" y="9525"/>
              <a:ext cx="1904481" cy="956246"/>
            </a:xfrm>
            <a:prstGeom prst="rect">
              <a:avLst/>
            </a:prstGeom>
          </p:spPr>
          <p:txBody>
            <a:bodyPr anchor="ctr" rtlCol="false" tIns="50800" lIns="50800" bIns="50800" rIns="50800"/>
            <a:lstStyle/>
            <a:p>
              <a:pPr algn="ctr">
                <a:lnSpc>
                  <a:spcPts val="2121"/>
                </a:lnSpc>
              </a:pPr>
            </a:p>
            <a:p>
              <a:pPr algn="ctr">
                <a:lnSpc>
                  <a:spcPts val="2121"/>
                </a:lnSpc>
              </a:pPr>
            </a:p>
          </p:txBody>
        </p:sp>
      </p:grpSp>
      <p:sp>
        <p:nvSpPr>
          <p:cNvPr name="Freeform 8" id="8"/>
          <p:cNvSpPr/>
          <p:nvPr/>
        </p:nvSpPr>
        <p:spPr>
          <a:xfrm flipH="false" flipV="false" rot="-10800000">
            <a:off x="1819400" y="2389019"/>
            <a:ext cx="8561380" cy="1035821"/>
          </a:xfrm>
          <a:custGeom>
            <a:avLst/>
            <a:gdLst/>
            <a:ahLst/>
            <a:cxnLst/>
            <a:rect r="r" b="b" t="t" l="l"/>
            <a:pathLst>
              <a:path h="1035821" w="8561380">
                <a:moveTo>
                  <a:pt x="0" y="0"/>
                </a:moveTo>
                <a:lnTo>
                  <a:pt x="8561380" y="0"/>
                </a:lnTo>
                <a:lnTo>
                  <a:pt x="8561380" y="1035821"/>
                </a:lnTo>
                <a:lnTo>
                  <a:pt x="0" y="1035821"/>
                </a:lnTo>
                <a:lnTo>
                  <a:pt x="0" y="0"/>
                </a:lnTo>
                <a:close/>
              </a:path>
            </a:pathLst>
          </a:custGeom>
          <a:blipFill>
            <a:blip r:embed="rId4">
              <a:extLst>
                <a:ext uri="{96DAC541-7B7A-43D3-8B79-37D633B846F1}">
                  <asvg:svgBlip xmlns:asvg="http://schemas.microsoft.com/office/drawing/2016/SVG/main" r:embed="rId5"/>
                </a:ext>
              </a:extLst>
            </a:blip>
            <a:stretch>
              <a:fillRect l="0" t="-949902" r="0" b="-45479"/>
            </a:stretch>
          </a:blipFill>
        </p:spPr>
      </p:sp>
      <p:grpSp>
        <p:nvGrpSpPr>
          <p:cNvPr name="Group 9" id="9"/>
          <p:cNvGrpSpPr/>
          <p:nvPr/>
        </p:nvGrpSpPr>
        <p:grpSpPr>
          <a:xfrm rot="0">
            <a:off x="1942559" y="4676571"/>
            <a:ext cx="8115300" cy="1487955"/>
            <a:chOff x="0" y="0"/>
            <a:chExt cx="1283029" cy="235246"/>
          </a:xfrm>
        </p:grpSpPr>
        <p:sp>
          <p:nvSpPr>
            <p:cNvPr name="Freeform 10" id="10"/>
            <p:cNvSpPr/>
            <p:nvPr/>
          </p:nvSpPr>
          <p:spPr>
            <a:xfrm flipH="false" flipV="false" rot="0">
              <a:off x="0" y="0"/>
              <a:ext cx="1283029" cy="235246"/>
            </a:xfrm>
            <a:custGeom>
              <a:avLst/>
              <a:gdLst/>
              <a:ahLst/>
              <a:cxnLst/>
              <a:rect r="r" b="b" t="t" l="l"/>
              <a:pathLst>
                <a:path h="235246" w="1283029">
                  <a:moveTo>
                    <a:pt x="24804" y="0"/>
                  </a:moveTo>
                  <a:lnTo>
                    <a:pt x="1258225" y="0"/>
                  </a:lnTo>
                  <a:cubicBezTo>
                    <a:pt x="1264803" y="0"/>
                    <a:pt x="1271112" y="2613"/>
                    <a:pt x="1275764" y="7265"/>
                  </a:cubicBezTo>
                  <a:cubicBezTo>
                    <a:pt x="1280416" y="11916"/>
                    <a:pt x="1283029" y="18225"/>
                    <a:pt x="1283029" y="24804"/>
                  </a:cubicBezTo>
                  <a:lnTo>
                    <a:pt x="1283029" y="210442"/>
                  </a:lnTo>
                  <a:cubicBezTo>
                    <a:pt x="1283029" y="217020"/>
                    <a:pt x="1280416" y="223329"/>
                    <a:pt x="1275764" y="227981"/>
                  </a:cubicBezTo>
                  <a:cubicBezTo>
                    <a:pt x="1271112" y="232632"/>
                    <a:pt x="1264803" y="235246"/>
                    <a:pt x="1258225" y="235246"/>
                  </a:cubicBezTo>
                  <a:lnTo>
                    <a:pt x="24804" y="235246"/>
                  </a:lnTo>
                  <a:cubicBezTo>
                    <a:pt x="18225" y="235246"/>
                    <a:pt x="11916" y="232632"/>
                    <a:pt x="7265" y="227981"/>
                  </a:cubicBezTo>
                  <a:cubicBezTo>
                    <a:pt x="2613" y="223329"/>
                    <a:pt x="0" y="217020"/>
                    <a:pt x="0" y="210442"/>
                  </a:cubicBezTo>
                  <a:lnTo>
                    <a:pt x="0" y="24804"/>
                  </a:lnTo>
                  <a:cubicBezTo>
                    <a:pt x="0" y="18225"/>
                    <a:pt x="2613" y="11916"/>
                    <a:pt x="7265" y="7265"/>
                  </a:cubicBezTo>
                  <a:cubicBezTo>
                    <a:pt x="11916" y="2613"/>
                    <a:pt x="18225" y="0"/>
                    <a:pt x="24804" y="0"/>
                  </a:cubicBezTo>
                  <a:close/>
                </a:path>
              </a:pathLst>
            </a:custGeom>
            <a:solidFill>
              <a:srgbClr val="EDE8E4"/>
            </a:solidFill>
          </p:spPr>
        </p:sp>
        <p:sp>
          <p:nvSpPr>
            <p:cNvPr name="TextBox 11" id="11"/>
            <p:cNvSpPr txBox="true"/>
            <p:nvPr/>
          </p:nvSpPr>
          <p:spPr>
            <a:xfrm>
              <a:off x="0" y="9525"/>
              <a:ext cx="1283029" cy="225721"/>
            </a:xfrm>
            <a:prstGeom prst="rect">
              <a:avLst/>
            </a:prstGeom>
          </p:spPr>
          <p:txBody>
            <a:bodyPr anchor="ctr" rtlCol="false" tIns="50800" lIns="50800" bIns="50800" rIns="50800"/>
            <a:lstStyle/>
            <a:p>
              <a:pPr algn="ctr">
                <a:lnSpc>
                  <a:spcPts val="2121"/>
                </a:lnSpc>
              </a:pPr>
            </a:p>
          </p:txBody>
        </p:sp>
      </p:grpSp>
      <p:grpSp>
        <p:nvGrpSpPr>
          <p:cNvPr name="Group 12" id="12"/>
          <p:cNvGrpSpPr/>
          <p:nvPr/>
        </p:nvGrpSpPr>
        <p:grpSpPr>
          <a:xfrm rot="0">
            <a:off x="836316" y="7025808"/>
            <a:ext cx="9544463" cy="2716534"/>
            <a:chOff x="0" y="0"/>
            <a:chExt cx="1508980" cy="429484"/>
          </a:xfrm>
        </p:grpSpPr>
        <p:sp>
          <p:nvSpPr>
            <p:cNvPr name="Freeform 13" id="13"/>
            <p:cNvSpPr/>
            <p:nvPr/>
          </p:nvSpPr>
          <p:spPr>
            <a:xfrm flipH="false" flipV="false" rot="0">
              <a:off x="0" y="0"/>
              <a:ext cx="1508980" cy="429484"/>
            </a:xfrm>
            <a:custGeom>
              <a:avLst/>
              <a:gdLst/>
              <a:ahLst/>
              <a:cxnLst/>
              <a:rect r="r" b="b" t="t" l="l"/>
              <a:pathLst>
                <a:path h="429484" w="1508980">
                  <a:moveTo>
                    <a:pt x="21090" y="0"/>
                  </a:moveTo>
                  <a:lnTo>
                    <a:pt x="1487890" y="0"/>
                  </a:lnTo>
                  <a:cubicBezTo>
                    <a:pt x="1493483" y="0"/>
                    <a:pt x="1498847" y="2222"/>
                    <a:pt x="1502803" y="6177"/>
                  </a:cubicBezTo>
                  <a:cubicBezTo>
                    <a:pt x="1506758" y="10132"/>
                    <a:pt x="1508980" y="15496"/>
                    <a:pt x="1508980" y="21090"/>
                  </a:cubicBezTo>
                  <a:lnTo>
                    <a:pt x="1508980" y="408394"/>
                  </a:lnTo>
                  <a:cubicBezTo>
                    <a:pt x="1508980" y="420042"/>
                    <a:pt x="1499537" y="429484"/>
                    <a:pt x="1487890" y="429484"/>
                  </a:cubicBezTo>
                  <a:lnTo>
                    <a:pt x="21090" y="429484"/>
                  </a:lnTo>
                  <a:cubicBezTo>
                    <a:pt x="15496" y="429484"/>
                    <a:pt x="10132" y="427262"/>
                    <a:pt x="6177" y="423307"/>
                  </a:cubicBezTo>
                  <a:cubicBezTo>
                    <a:pt x="2222" y="419352"/>
                    <a:pt x="0" y="413988"/>
                    <a:pt x="0" y="408394"/>
                  </a:cubicBezTo>
                  <a:lnTo>
                    <a:pt x="0" y="21090"/>
                  </a:lnTo>
                  <a:cubicBezTo>
                    <a:pt x="0" y="15496"/>
                    <a:pt x="2222" y="10132"/>
                    <a:pt x="6177" y="6177"/>
                  </a:cubicBezTo>
                  <a:cubicBezTo>
                    <a:pt x="10132" y="2222"/>
                    <a:pt x="15496" y="0"/>
                    <a:pt x="21090" y="0"/>
                  </a:cubicBezTo>
                  <a:close/>
                </a:path>
              </a:pathLst>
            </a:custGeom>
            <a:solidFill>
              <a:srgbClr val="EDE8E4"/>
            </a:solidFill>
          </p:spPr>
        </p:sp>
        <p:sp>
          <p:nvSpPr>
            <p:cNvPr name="TextBox 14" id="14"/>
            <p:cNvSpPr txBox="true"/>
            <p:nvPr/>
          </p:nvSpPr>
          <p:spPr>
            <a:xfrm>
              <a:off x="0" y="9525"/>
              <a:ext cx="1508980" cy="419959"/>
            </a:xfrm>
            <a:prstGeom prst="rect">
              <a:avLst/>
            </a:prstGeom>
          </p:spPr>
          <p:txBody>
            <a:bodyPr anchor="ctr" rtlCol="false" tIns="50800" lIns="50800" bIns="50800" rIns="50800"/>
            <a:lstStyle/>
            <a:p>
              <a:pPr algn="ctr">
                <a:lnSpc>
                  <a:spcPts val="2121"/>
                </a:lnSpc>
              </a:pPr>
            </a:p>
          </p:txBody>
        </p:sp>
      </p:grpSp>
      <p:grpSp>
        <p:nvGrpSpPr>
          <p:cNvPr name="Group 15" id="15"/>
          <p:cNvGrpSpPr/>
          <p:nvPr/>
        </p:nvGrpSpPr>
        <p:grpSpPr>
          <a:xfrm rot="0">
            <a:off x="10892569" y="2605393"/>
            <a:ext cx="7062232" cy="2395393"/>
            <a:chOff x="0" y="0"/>
            <a:chExt cx="1116539" cy="378712"/>
          </a:xfrm>
        </p:grpSpPr>
        <p:sp>
          <p:nvSpPr>
            <p:cNvPr name="Freeform 16" id="16"/>
            <p:cNvSpPr/>
            <p:nvPr/>
          </p:nvSpPr>
          <p:spPr>
            <a:xfrm flipH="false" flipV="false" rot="0">
              <a:off x="0" y="0"/>
              <a:ext cx="1116539" cy="378712"/>
            </a:xfrm>
            <a:custGeom>
              <a:avLst/>
              <a:gdLst/>
              <a:ahLst/>
              <a:cxnLst/>
              <a:rect r="r" b="b" t="t" l="l"/>
              <a:pathLst>
                <a:path h="378712" w="1116539">
                  <a:moveTo>
                    <a:pt x="28502" y="0"/>
                  </a:moveTo>
                  <a:lnTo>
                    <a:pt x="1088036" y="0"/>
                  </a:lnTo>
                  <a:cubicBezTo>
                    <a:pt x="1103778" y="0"/>
                    <a:pt x="1116539" y="12761"/>
                    <a:pt x="1116539" y="28502"/>
                  </a:cubicBezTo>
                  <a:lnTo>
                    <a:pt x="1116539" y="350209"/>
                  </a:lnTo>
                  <a:cubicBezTo>
                    <a:pt x="1116539" y="357769"/>
                    <a:pt x="1113536" y="365018"/>
                    <a:pt x="1108191" y="370364"/>
                  </a:cubicBezTo>
                  <a:cubicBezTo>
                    <a:pt x="1102845" y="375709"/>
                    <a:pt x="1095596" y="378712"/>
                    <a:pt x="1088036" y="378712"/>
                  </a:cubicBezTo>
                  <a:lnTo>
                    <a:pt x="28502" y="378712"/>
                  </a:lnTo>
                  <a:cubicBezTo>
                    <a:pt x="12761" y="378712"/>
                    <a:pt x="0" y="365951"/>
                    <a:pt x="0" y="350209"/>
                  </a:cubicBezTo>
                  <a:lnTo>
                    <a:pt x="0" y="28502"/>
                  </a:lnTo>
                  <a:cubicBezTo>
                    <a:pt x="0" y="12761"/>
                    <a:pt x="12761" y="0"/>
                    <a:pt x="28502" y="0"/>
                  </a:cubicBezTo>
                  <a:close/>
                </a:path>
              </a:pathLst>
            </a:custGeom>
            <a:solidFill>
              <a:srgbClr val="EDE8E4"/>
            </a:solidFill>
          </p:spPr>
        </p:sp>
        <p:sp>
          <p:nvSpPr>
            <p:cNvPr name="TextBox 17" id="17"/>
            <p:cNvSpPr txBox="true"/>
            <p:nvPr/>
          </p:nvSpPr>
          <p:spPr>
            <a:xfrm>
              <a:off x="0" y="9525"/>
              <a:ext cx="1116539" cy="369187"/>
            </a:xfrm>
            <a:prstGeom prst="rect">
              <a:avLst/>
            </a:prstGeom>
          </p:spPr>
          <p:txBody>
            <a:bodyPr anchor="ctr" rtlCol="false" tIns="50800" lIns="50800" bIns="50800" rIns="50800"/>
            <a:lstStyle/>
            <a:p>
              <a:pPr algn="ctr">
                <a:lnSpc>
                  <a:spcPts val="2121"/>
                </a:lnSpc>
              </a:pPr>
            </a:p>
          </p:txBody>
        </p:sp>
      </p:grpSp>
      <p:sp>
        <p:nvSpPr>
          <p:cNvPr name="Freeform 18" id="18"/>
          <p:cNvSpPr/>
          <p:nvPr/>
        </p:nvSpPr>
        <p:spPr>
          <a:xfrm flipH="false" flipV="false" rot="0">
            <a:off x="11686655" y="5933266"/>
            <a:ext cx="4517008" cy="2994973"/>
          </a:xfrm>
          <a:custGeom>
            <a:avLst/>
            <a:gdLst/>
            <a:ahLst/>
            <a:cxnLst/>
            <a:rect r="r" b="b" t="t" l="l"/>
            <a:pathLst>
              <a:path h="2994973" w="4517008">
                <a:moveTo>
                  <a:pt x="0" y="0"/>
                </a:moveTo>
                <a:lnTo>
                  <a:pt x="4517008" y="0"/>
                </a:lnTo>
                <a:lnTo>
                  <a:pt x="4517008" y="2994972"/>
                </a:lnTo>
                <a:lnTo>
                  <a:pt x="0" y="2994972"/>
                </a:lnTo>
                <a:lnTo>
                  <a:pt x="0" y="0"/>
                </a:lnTo>
                <a:close/>
              </a:path>
            </a:pathLst>
          </a:custGeom>
          <a:blipFill>
            <a:blip r:embed="rId6"/>
            <a:stretch>
              <a:fillRect l="0" t="0" r="0" b="0"/>
            </a:stretch>
          </a:blipFill>
        </p:spPr>
      </p:sp>
      <p:sp>
        <p:nvSpPr>
          <p:cNvPr name="TextBox 19" id="19"/>
          <p:cNvSpPr txBox="true"/>
          <p:nvPr/>
        </p:nvSpPr>
        <p:spPr>
          <a:xfrm rot="0">
            <a:off x="2772438" y="254066"/>
            <a:ext cx="14255381" cy="2130311"/>
          </a:xfrm>
          <a:prstGeom prst="rect">
            <a:avLst/>
          </a:prstGeom>
        </p:spPr>
        <p:txBody>
          <a:bodyPr anchor="t" rtlCol="false" tIns="0" lIns="0" bIns="0" rIns="0">
            <a:spAutoFit/>
          </a:bodyPr>
          <a:lstStyle/>
          <a:p>
            <a:pPr algn="r">
              <a:lnSpc>
                <a:spcPts val="8581"/>
              </a:lnSpc>
            </a:pPr>
            <a:r>
              <a:rPr lang="en-US" sz="6129" spc="576">
                <a:solidFill>
                  <a:srgbClr val="EDE8E4"/>
                </a:solidFill>
                <a:latin typeface="Glacial Indifference"/>
                <a:ea typeface="Glacial Indifference"/>
                <a:cs typeface="Glacial Indifference"/>
                <a:sym typeface="Glacial Indifference"/>
              </a:rPr>
              <a:t>OBJETIVO C: TRASNFORMACION DEL MODELO DE INGRESOS</a:t>
            </a:r>
          </a:p>
        </p:txBody>
      </p:sp>
      <p:sp>
        <p:nvSpPr>
          <p:cNvPr name="TextBox 20" id="20"/>
          <p:cNvSpPr txBox="true"/>
          <p:nvPr/>
        </p:nvSpPr>
        <p:spPr>
          <a:xfrm rot="0">
            <a:off x="2307622" y="2609674"/>
            <a:ext cx="7612722" cy="625925"/>
          </a:xfrm>
          <a:prstGeom prst="rect">
            <a:avLst/>
          </a:prstGeom>
        </p:spPr>
        <p:txBody>
          <a:bodyPr anchor="t" rtlCol="false" tIns="0" lIns="0" bIns="0" rIns="0">
            <a:spAutoFit/>
          </a:bodyPr>
          <a:lstStyle/>
          <a:p>
            <a:pPr algn="ctr">
              <a:lnSpc>
                <a:spcPts val="5130"/>
              </a:lnSpc>
            </a:pPr>
            <a:r>
              <a:rPr lang="en-US" b="true" sz="3664" spc="153">
                <a:solidFill>
                  <a:srgbClr val="253754"/>
                </a:solidFill>
                <a:latin typeface="Glacial Indifference Bold"/>
                <a:ea typeface="Glacial Indifference Bold"/>
                <a:cs typeface="Glacial Indifference Bold"/>
                <a:sym typeface="Glacial Indifference Bold"/>
              </a:rPr>
              <a:t>reorientacion estrategica</a:t>
            </a:r>
          </a:p>
        </p:txBody>
      </p:sp>
      <p:sp>
        <p:nvSpPr>
          <p:cNvPr name="TextBox 21" id="21"/>
          <p:cNvSpPr txBox="true"/>
          <p:nvPr/>
        </p:nvSpPr>
        <p:spPr>
          <a:xfrm rot="0">
            <a:off x="1942559" y="3517773"/>
            <a:ext cx="8438221" cy="834624"/>
          </a:xfrm>
          <a:prstGeom prst="rect">
            <a:avLst/>
          </a:prstGeom>
        </p:spPr>
        <p:txBody>
          <a:bodyPr anchor="t" rtlCol="false" tIns="0" lIns="0" bIns="0" rIns="0">
            <a:spAutoFit/>
          </a:bodyPr>
          <a:lstStyle/>
          <a:p>
            <a:pPr algn="l">
              <a:lnSpc>
                <a:spcPts val="3347"/>
              </a:lnSpc>
            </a:pPr>
            <a:r>
              <a:rPr lang="en-US" sz="2390" spc="52">
                <a:solidFill>
                  <a:srgbClr val="FEFEFE"/>
                </a:solidFill>
                <a:latin typeface="Glacial Indifference"/>
                <a:ea typeface="Glacial Indifference"/>
                <a:cs typeface="Glacial Indifference"/>
                <a:sym typeface="Glacial Indifference"/>
              </a:rPr>
              <a:t>Uno de los objetivos más relevantes es la reorientación de la estructura de ingresos hacia la dulcería y gastronomía.</a:t>
            </a:r>
          </a:p>
        </p:txBody>
      </p:sp>
      <p:sp>
        <p:nvSpPr>
          <p:cNvPr name="TextBox 22" id="22"/>
          <p:cNvSpPr txBox="true"/>
          <p:nvPr/>
        </p:nvSpPr>
        <p:spPr>
          <a:xfrm rot="0">
            <a:off x="1974731" y="4605252"/>
            <a:ext cx="7804638" cy="1314213"/>
          </a:xfrm>
          <a:prstGeom prst="rect">
            <a:avLst/>
          </a:prstGeom>
        </p:spPr>
        <p:txBody>
          <a:bodyPr anchor="t" rtlCol="false" tIns="0" lIns="0" bIns="0" rIns="0">
            <a:spAutoFit/>
          </a:bodyPr>
          <a:lstStyle/>
          <a:p>
            <a:pPr algn="ctr">
              <a:lnSpc>
                <a:spcPts val="5263"/>
              </a:lnSpc>
            </a:pPr>
            <a:r>
              <a:rPr lang="en-US" b="true" sz="3759" spc="37">
                <a:solidFill>
                  <a:srgbClr val="253754"/>
                </a:solidFill>
                <a:latin typeface="Glacial Indifference Bold"/>
                <a:ea typeface="Glacial Indifference Bold"/>
                <a:cs typeface="Glacial Indifference Bold"/>
                <a:sym typeface="Glacial Indifference Bold"/>
              </a:rPr>
              <a:t>contribucion en temporadas altas de hasta un 60%</a:t>
            </a:r>
          </a:p>
        </p:txBody>
      </p:sp>
      <p:sp>
        <p:nvSpPr>
          <p:cNvPr name="TextBox 23" id="23"/>
          <p:cNvSpPr txBox="true"/>
          <p:nvPr/>
        </p:nvSpPr>
        <p:spPr>
          <a:xfrm rot="0">
            <a:off x="1425906" y="7102008"/>
            <a:ext cx="7612722" cy="581288"/>
          </a:xfrm>
          <a:prstGeom prst="rect">
            <a:avLst/>
          </a:prstGeom>
        </p:spPr>
        <p:txBody>
          <a:bodyPr anchor="t" rtlCol="false" tIns="0" lIns="0" bIns="0" rIns="0">
            <a:spAutoFit/>
          </a:bodyPr>
          <a:lstStyle/>
          <a:p>
            <a:pPr algn="l">
              <a:lnSpc>
                <a:spcPts val="4710"/>
              </a:lnSpc>
            </a:pPr>
            <a:r>
              <a:rPr lang="en-US" sz="3364" spc="141" b="true">
                <a:solidFill>
                  <a:srgbClr val="253754"/>
                </a:solidFill>
                <a:latin typeface="Glacial Indifference Bold"/>
                <a:ea typeface="Glacial Indifference Bold"/>
                <a:cs typeface="Glacial Indifference Bold"/>
                <a:sym typeface="Glacial Indifference Bold"/>
              </a:rPr>
              <a:t>Análisis de Márgenes</a:t>
            </a:r>
          </a:p>
        </p:txBody>
      </p:sp>
      <p:sp>
        <p:nvSpPr>
          <p:cNvPr name="TextBox 24" id="24"/>
          <p:cNvSpPr txBox="true"/>
          <p:nvPr/>
        </p:nvSpPr>
        <p:spPr>
          <a:xfrm rot="0">
            <a:off x="1203352" y="7921421"/>
            <a:ext cx="8438221" cy="1253724"/>
          </a:xfrm>
          <a:prstGeom prst="rect">
            <a:avLst/>
          </a:prstGeom>
        </p:spPr>
        <p:txBody>
          <a:bodyPr anchor="t" rtlCol="false" tIns="0" lIns="0" bIns="0" rIns="0">
            <a:spAutoFit/>
          </a:bodyPr>
          <a:lstStyle/>
          <a:p>
            <a:pPr algn="l" marL="516170" indent="-258085" lvl="1">
              <a:lnSpc>
                <a:spcPts val="3347"/>
              </a:lnSpc>
              <a:buFont typeface="Arial"/>
              <a:buChar char="•"/>
            </a:pPr>
            <a:r>
              <a:rPr lang="en-US" sz="2390" spc="52">
                <a:solidFill>
                  <a:srgbClr val="000000"/>
                </a:solidFill>
                <a:latin typeface="Glacial Indifference"/>
                <a:ea typeface="Glacial Indifference"/>
                <a:cs typeface="Glacial Indifference"/>
                <a:sym typeface="Glacial Indifference"/>
              </a:rPr>
              <a:t>venta de boletos → alto volumen, margenes bajos</a:t>
            </a:r>
          </a:p>
          <a:p>
            <a:pPr algn="l" marL="516170" indent="-258085" lvl="1">
              <a:lnSpc>
                <a:spcPts val="3347"/>
              </a:lnSpc>
              <a:buFont typeface="Arial"/>
              <a:buChar char="•"/>
            </a:pPr>
            <a:r>
              <a:rPr lang="en-US" sz="2390" spc="52">
                <a:solidFill>
                  <a:srgbClr val="000000"/>
                </a:solidFill>
                <a:latin typeface="Glacial Indifference"/>
                <a:ea typeface="Glacial Indifference"/>
                <a:cs typeface="Glacial Indifference"/>
                <a:sym typeface="Glacial Indifference"/>
              </a:rPr>
              <a:t>ducleria → margenes reales</a:t>
            </a:r>
          </a:p>
          <a:p>
            <a:pPr algn="l" marL="516170" indent="-258085" lvl="1">
              <a:lnSpc>
                <a:spcPts val="3347"/>
              </a:lnSpc>
              <a:buFont typeface="Arial"/>
              <a:buChar char="•"/>
            </a:pPr>
            <a:r>
              <a:rPr lang="en-US" sz="2390" spc="52">
                <a:solidFill>
                  <a:srgbClr val="000000"/>
                </a:solidFill>
                <a:latin typeface="Glacial Indifference"/>
                <a:ea typeface="Glacial Indifference"/>
                <a:cs typeface="Glacial Indifference"/>
                <a:sym typeface="Glacial Indifference"/>
              </a:rPr>
              <a:t>publicidad → ingreso adicional</a:t>
            </a:r>
          </a:p>
        </p:txBody>
      </p:sp>
      <p:sp>
        <p:nvSpPr>
          <p:cNvPr name="TextBox 25" id="25"/>
          <p:cNvSpPr txBox="true"/>
          <p:nvPr/>
        </p:nvSpPr>
        <p:spPr>
          <a:xfrm rot="0">
            <a:off x="11236292" y="2849779"/>
            <a:ext cx="6459362" cy="2151008"/>
          </a:xfrm>
          <a:prstGeom prst="rect">
            <a:avLst/>
          </a:prstGeom>
        </p:spPr>
        <p:txBody>
          <a:bodyPr anchor="t" rtlCol="false" tIns="0" lIns="0" bIns="0" rIns="0">
            <a:spAutoFit/>
          </a:bodyPr>
          <a:lstStyle/>
          <a:p>
            <a:pPr algn="l">
              <a:lnSpc>
                <a:spcPts val="4290"/>
              </a:lnSpc>
            </a:pPr>
            <a:r>
              <a:rPr lang="en-US" sz="3064" spc="128" b="true">
                <a:solidFill>
                  <a:srgbClr val="253754"/>
                </a:solidFill>
                <a:latin typeface="Glacial Indifference Bold"/>
                <a:ea typeface="Glacial Indifference Bold"/>
                <a:cs typeface="Glacial Indifference Bold"/>
                <a:sym typeface="Glacial Indifference Bold"/>
              </a:rPr>
              <a:t>Estrategia:</a:t>
            </a:r>
            <a:r>
              <a:rPr lang="en-US" sz="3064" spc="128">
                <a:solidFill>
                  <a:srgbClr val="253754"/>
                </a:solidFill>
                <a:latin typeface="Glacial Indifference"/>
                <a:ea typeface="Glacial Indifference"/>
                <a:cs typeface="Glacial Indifference"/>
                <a:sym typeface="Glacial Indifference"/>
              </a:rPr>
              <a:t> Aunque los boletos generan volumen, los márgenes reales están en la dulcería.</a:t>
            </a:r>
          </a:p>
          <a:p>
            <a:pPr algn="l">
              <a:lnSpc>
                <a:spcPts val="4290"/>
              </a:lnSpc>
            </a:pPr>
          </a:p>
        </p:txBody>
      </p:sp>
    </p:spTree>
  </p:cSld>
  <p:clrMapOvr>
    <a:masterClrMapping/>
  </p:clrMapOvr>
</p:sld>
</file>

<file path=ppt/slides/slide15.xml><?xml version="1.0" encoding="utf-8"?>
<p:sld xmlns:p="http://schemas.openxmlformats.org/presentationml/2006/main" xmlns:a="http://schemas.openxmlformats.org/drawingml/2006/main" xmlns:r="http://schemas.openxmlformats.org/officeDocument/2006/relationships">
  <p:cSld>
    <p:bg>
      <p:bgPr>
        <a:solidFill>
          <a:srgbClr val="253754"/>
        </a:solidFill>
      </p:bgPr>
    </p:bg>
    <p:spTree>
      <p:nvGrpSpPr>
        <p:cNvPr id="1" name=""/>
        <p:cNvGrpSpPr/>
        <p:nvPr/>
      </p:nvGrpSpPr>
      <p:grpSpPr>
        <a:xfrm>
          <a:off x="0" y="0"/>
          <a:ext cx="0" cy="0"/>
          <a:chOff x="0" y="0"/>
          <a:chExt cx="0" cy="0"/>
        </a:xfrm>
      </p:grpSpPr>
      <p:sp>
        <p:nvSpPr>
          <p:cNvPr name="Freeform 2" id="2"/>
          <p:cNvSpPr/>
          <p:nvPr/>
        </p:nvSpPr>
        <p:spPr>
          <a:xfrm flipH="false" flipV="false" rot="0">
            <a:off x="-1680157" y="-3300337"/>
            <a:ext cx="6212126" cy="7976908"/>
          </a:xfrm>
          <a:custGeom>
            <a:avLst/>
            <a:gdLst/>
            <a:ahLst/>
            <a:cxnLst/>
            <a:rect r="r" b="b" t="t" l="l"/>
            <a:pathLst>
              <a:path h="7976908" w="6212126">
                <a:moveTo>
                  <a:pt x="0" y="0"/>
                </a:moveTo>
                <a:lnTo>
                  <a:pt x="6212127" y="0"/>
                </a:lnTo>
                <a:lnTo>
                  <a:pt x="6212127" y="7976908"/>
                </a:lnTo>
                <a:lnTo>
                  <a:pt x="0" y="7976908"/>
                </a:lnTo>
                <a:lnTo>
                  <a:pt x="0" y="0"/>
                </a:lnTo>
                <a:close/>
              </a:path>
            </a:pathLst>
          </a:custGeom>
          <a:blipFill>
            <a:blip r:embed="rId2">
              <a:extLst>
                <a:ext uri="{96DAC541-7B7A-43D3-8B79-37D633B846F1}">
                  <asvg:svgBlip xmlns:asvg="http://schemas.microsoft.com/office/drawing/2016/SVG/main" r:embed="rId3"/>
                </a:ext>
              </a:extLst>
            </a:blip>
            <a:stretch>
              <a:fillRect l="0" t="0" r="-37402" b="0"/>
            </a:stretch>
          </a:blipFill>
          <a:ln cap="sq">
            <a:noFill/>
            <a:prstDash val="solid"/>
            <a:miter/>
          </a:ln>
        </p:spPr>
      </p:sp>
      <p:sp>
        <p:nvSpPr>
          <p:cNvPr name="Freeform 3" id="3"/>
          <p:cNvSpPr/>
          <p:nvPr/>
        </p:nvSpPr>
        <p:spPr>
          <a:xfrm flipH="false" flipV="false" rot="-10151301">
            <a:off x="11214641" y="6982437"/>
            <a:ext cx="8535602" cy="7976908"/>
          </a:xfrm>
          <a:custGeom>
            <a:avLst/>
            <a:gdLst/>
            <a:ahLst/>
            <a:cxnLst/>
            <a:rect r="r" b="b" t="t" l="l"/>
            <a:pathLst>
              <a:path h="7976908" w="8535602">
                <a:moveTo>
                  <a:pt x="0" y="0"/>
                </a:moveTo>
                <a:lnTo>
                  <a:pt x="8535602" y="0"/>
                </a:lnTo>
                <a:lnTo>
                  <a:pt x="8535602" y="7976908"/>
                </a:lnTo>
                <a:lnTo>
                  <a:pt x="0" y="7976908"/>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a:ln cap="sq">
            <a:noFill/>
            <a:prstDash val="solid"/>
            <a:miter/>
          </a:ln>
        </p:spPr>
      </p:sp>
      <p:sp>
        <p:nvSpPr>
          <p:cNvPr name="TextBox 4" id="4"/>
          <p:cNvSpPr txBox="true"/>
          <p:nvPr/>
        </p:nvSpPr>
        <p:spPr>
          <a:xfrm rot="0">
            <a:off x="1768537" y="2904377"/>
            <a:ext cx="3972575" cy="1266434"/>
          </a:xfrm>
          <a:prstGeom prst="rect">
            <a:avLst/>
          </a:prstGeom>
        </p:spPr>
        <p:txBody>
          <a:bodyPr anchor="t" rtlCol="false" tIns="0" lIns="0" bIns="0" rIns="0">
            <a:spAutoFit/>
          </a:bodyPr>
          <a:lstStyle/>
          <a:p>
            <a:pPr algn="ctr">
              <a:lnSpc>
                <a:spcPts val="5120"/>
              </a:lnSpc>
            </a:pPr>
            <a:r>
              <a:rPr lang="en-US" b="true" sz="3657" spc="153">
                <a:solidFill>
                  <a:srgbClr val="253754"/>
                </a:solidFill>
                <a:latin typeface="Glacial Indifference Bold"/>
                <a:ea typeface="Glacial Indifference Bold"/>
                <a:cs typeface="Glacial Indifference Bold"/>
                <a:sym typeface="Glacial Indifference Bold"/>
              </a:rPr>
              <a:t>Mision de Cinepolis</a:t>
            </a:r>
          </a:p>
        </p:txBody>
      </p:sp>
      <p:grpSp>
        <p:nvGrpSpPr>
          <p:cNvPr name="Group 5" id="5"/>
          <p:cNvGrpSpPr/>
          <p:nvPr/>
        </p:nvGrpSpPr>
        <p:grpSpPr>
          <a:xfrm rot="0">
            <a:off x="1819400" y="2389019"/>
            <a:ext cx="9764886" cy="5720532"/>
            <a:chOff x="0" y="0"/>
            <a:chExt cx="2172201" cy="1272534"/>
          </a:xfrm>
        </p:grpSpPr>
        <p:sp>
          <p:nvSpPr>
            <p:cNvPr name="Freeform 6" id="6"/>
            <p:cNvSpPr/>
            <p:nvPr/>
          </p:nvSpPr>
          <p:spPr>
            <a:xfrm flipH="false" flipV="false" rot="0">
              <a:off x="0" y="0"/>
              <a:ext cx="2172202" cy="1272534"/>
            </a:xfrm>
            <a:custGeom>
              <a:avLst/>
              <a:gdLst/>
              <a:ahLst/>
              <a:cxnLst/>
              <a:rect r="r" b="b" t="t" l="l"/>
              <a:pathLst>
                <a:path h="1272534" w="2172202">
                  <a:moveTo>
                    <a:pt x="46777" y="0"/>
                  </a:moveTo>
                  <a:lnTo>
                    <a:pt x="2125424" y="0"/>
                  </a:lnTo>
                  <a:cubicBezTo>
                    <a:pt x="2137831" y="0"/>
                    <a:pt x="2149728" y="4928"/>
                    <a:pt x="2158501" y="13701"/>
                  </a:cubicBezTo>
                  <a:cubicBezTo>
                    <a:pt x="2167273" y="22473"/>
                    <a:pt x="2172202" y="34371"/>
                    <a:pt x="2172202" y="46777"/>
                  </a:cubicBezTo>
                  <a:lnTo>
                    <a:pt x="2172202" y="1225757"/>
                  </a:lnTo>
                  <a:cubicBezTo>
                    <a:pt x="2172202" y="1251591"/>
                    <a:pt x="2151259" y="1272534"/>
                    <a:pt x="2125424" y="1272534"/>
                  </a:cubicBezTo>
                  <a:lnTo>
                    <a:pt x="46777" y="1272534"/>
                  </a:lnTo>
                  <a:cubicBezTo>
                    <a:pt x="20943" y="1272534"/>
                    <a:pt x="0" y="1251591"/>
                    <a:pt x="0" y="1225757"/>
                  </a:cubicBezTo>
                  <a:lnTo>
                    <a:pt x="0" y="46777"/>
                  </a:lnTo>
                  <a:cubicBezTo>
                    <a:pt x="0" y="20943"/>
                    <a:pt x="20943" y="0"/>
                    <a:pt x="46777" y="0"/>
                  </a:cubicBezTo>
                  <a:close/>
                </a:path>
              </a:pathLst>
            </a:custGeom>
            <a:ln w="38100" cap="rnd">
              <a:solidFill>
                <a:srgbClr val="E3D8D4"/>
              </a:solidFill>
              <a:prstDash val="solid"/>
              <a:round/>
            </a:ln>
          </p:spPr>
        </p:sp>
        <p:sp>
          <p:nvSpPr>
            <p:cNvPr name="TextBox 7" id="7"/>
            <p:cNvSpPr txBox="true"/>
            <p:nvPr/>
          </p:nvSpPr>
          <p:spPr>
            <a:xfrm>
              <a:off x="0" y="9525"/>
              <a:ext cx="2172201" cy="1263009"/>
            </a:xfrm>
            <a:prstGeom prst="rect">
              <a:avLst/>
            </a:prstGeom>
          </p:spPr>
          <p:txBody>
            <a:bodyPr anchor="ctr" rtlCol="false" tIns="50800" lIns="50800" bIns="50800" rIns="50800"/>
            <a:lstStyle/>
            <a:p>
              <a:pPr algn="ctr">
                <a:lnSpc>
                  <a:spcPts val="2121"/>
                </a:lnSpc>
              </a:pPr>
            </a:p>
            <a:p>
              <a:pPr algn="ctr">
                <a:lnSpc>
                  <a:spcPts val="2121"/>
                </a:lnSpc>
              </a:pPr>
            </a:p>
          </p:txBody>
        </p:sp>
      </p:grpSp>
      <p:sp>
        <p:nvSpPr>
          <p:cNvPr name="Freeform 8" id="8"/>
          <p:cNvSpPr/>
          <p:nvPr/>
        </p:nvSpPr>
        <p:spPr>
          <a:xfrm flipH="false" flipV="false" rot="-10800000">
            <a:off x="1819400" y="2389019"/>
            <a:ext cx="9764886" cy="1035821"/>
          </a:xfrm>
          <a:custGeom>
            <a:avLst/>
            <a:gdLst/>
            <a:ahLst/>
            <a:cxnLst/>
            <a:rect r="r" b="b" t="t" l="l"/>
            <a:pathLst>
              <a:path h="1035821" w="9764886">
                <a:moveTo>
                  <a:pt x="0" y="0"/>
                </a:moveTo>
                <a:lnTo>
                  <a:pt x="9764886" y="0"/>
                </a:lnTo>
                <a:lnTo>
                  <a:pt x="9764886" y="1035821"/>
                </a:lnTo>
                <a:lnTo>
                  <a:pt x="0" y="1035821"/>
                </a:lnTo>
                <a:lnTo>
                  <a:pt x="0" y="0"/>
                </a:lnTo>
                <a:close/>
              </a:path>
            </a:pathLst>
          </a:custGeom>
          <a:blipFill>
            <a:blip r:embed="rId4">
              <a:extLst>
                <a:ext uri="{96DAC541-7B7A-43D3-8B79-37D633B846F1}">
                  <asvg:svgBlip xmlns:asvg="http://schemas.microsoft.com/office/drawing/2016/SVG/main" r:embed="rId5"/>
                </a:ext>
              </a:extLst>
            </a:blip>
            <a:stretch>
              <a:fillRect l="0" t="-1090462" r="0" b="-58901"/>
            </a:stretch>
          </a:blipFill>
        </p:spPr>
      </p:sp>
      <p:grpSp>
        <p:nvGrpSpPr>
          <p:cNvPr name="Group 9" id="9"/>
          <p:cNvGrpSpPr/>
          <p:nvPr/>
        </p:nvGrpSpPr>
        <p:grpSpPr>
          <a:xfrm rot="0">
            <a:off x="1959872" y="4676571"/>
            <a:ext cx="9099254" cy="2932765"/>
            <a:chOff x="0" y="0"/>
            <a:chExt cx="1438592" cy="463670"/>
          </a:xfrm>
        </p:grpSpPr>
        <p:sp>
          <p:nvSpPr>
            <p:cNvPr name="Freeform 10" id="10"/>
            <p:cNvSpPr/>
            <p:nvPr/>
          </p:nvSpPr>
          <p:spPr>
            <a:xfrm flipH="false" flipV="false" rot="0">
              <a:off x="0" y="0"/>
              <a:ext cx="1438592" cy="463670"/>
            </a:xfrm>
            <a:custGeom>
              <a:avLst/>
              <a:gdLst/>
              <a:ahLst/>
              <a:cxnLst/>
              <a:rect r="r" b="b" t="t" l="l"/>
              <a:pathLst>
                <a:path h="463670" w="1438592">
                  <a:moveTo>
                    <a:pt x="22122" y="0"/>
                  </a:moveTo>
                  <a:lnTo>
                    <a:pt x="1416470" y="0"/>
                  </a:lnTo>
                  <a:cubicBezTo>
                    <a:pt x="1422337" y="0"/>
                    <a:pt x="1427964" y="2331"/>
                    <a:pt x="1432113" y="6479"/>
                  </a:cubicBezTo>
                  <a:cubicBezTo>
                    <a:pt x="1436261" y="10628"/>
                    <a:pt x="1438592" y="16255"/>
                    <a:pt x="1438592" y="22122"/>
                  </a:cubicBezTo>
                  <a:lnTo>
                    <a:pt x="1438592" y="441549"/>
                  </a:lnTo>
                  <a:cubicBezTo>
                    <a:pt x="1438592" y="447416"/>
                    <a:pt x="1436261" y="453042"/>
                    <a:pt x="1432113" y="457191"/>
                  </a:cubicBezTo>
                  <a:cubicBezTo>
                    <a:pt x="1427964" y="461339"/>
                    <a:pt x="1422337" y="463670"/>
                    <a:pt x="1416470" y="463670"/>
                  </a:cubicBezTo>
                  <a:lnTo>
                    <a:pt x="22122" y="463670"/>
                  </a:lnTo>
                  <a:cubicBezTo>
                    <a:pt x="16255" y="463670"/>
                    <a:pt x="10628" y="461339"/>
                    <a:pt x="6479" y="457191"/>
                  </a:cubicBezTo>
                  <a:cubicBezTo>
                    <a:pt x="2331" y="453042"/>
                    <a:pt x="0" y="447416"/>
                    <a:pt x="0" y="441549"/>
                  </a:cubicBezTo>
                  <a:lnTo>
                    <a:pt x="0" y="22122"/>
                  </a:lnTo>
                  <a:cubicBezTo>
                    <a:pt x="0" y="16255"/>
                    <a:pt x="2331" y="10628"/>
                    <a:pt x="6479" y="6479"/>
                  </a:cubicBezTo>
                  <a:cubicBezTo>
                    <a:pt x="10628" y="2331"/>
                    <a:pt x="16255" y="0"/>
                    <a:pt x="22122" y="0"/>
                  </a:cubicBezTo>
                  <a:close/>
                </a:path>
              </a:pathLst>
            </a:custGeom>
            <a:solidFill>
              <a:srgbClr val="EDE8E4"/>
            </a:solidFill>
          </p:spPr>
        </p:sp>
        <p:sp>
          <p:nvSpPr>
            <p:cNvPr name="TextBox 11" id="11"/>
            <p:cNvSpPr txBox="true"/>
            <p:nvPr/>
          </p:nvSpPr>
          <p:spPr>
            <a:xfrm>
              <a:off x="0" y="9525"/>
              <a:ext cx="1438592" cy="454145"/>
            </a:xfrm>
            <a:prstGeom prst="rect">
              <a:avLst/>
            </a:prstGeom>
          </p:spPr>
          <p:txBody>
            <a:bodyPr anchor="ctr" rtlCol="false" tIns="50800" lIns="50800" bIns="50800" rIns="50800"/>
            <a:lstStyle/>
            <a:p>
              <a:pPr algn="ctr">
                <a:lnSpc>
                  <a:spcPts val="2121"/>
                </a:lnSpc>
              </a:pPr>
            </a:p>
          </p:txBody>
        </p:sp>
      </p:grpSp>
      <p:sp>
        <p:nvSpPr>
          <p:cNvPr name="TextBox 12" id="12"/>
          <p:cNvSpPr txBox="true"/>
          <p:nvPr/>
        </p:nvSpPr>
        <p:spPr>
          <a:xfrm rot="0">
            <a:off x="2772438" y="254066"/>
            <a:ext cx="14255381" cy="2130311"/>
          </a:xfrm>
          <a:prstGeom prst="rect">
            <a:avLst/>
          </a:prstGeom>
        </p:spPr>
        <p:txBody>
          <a:bodyPr anchor="t" rtlCol="false" tIns="0" lIns="0" bIns="0" rIns="0">
            <a:spAutoFit/>
          </a:bodyPr>
          <a:lstStyle/>
          <a:p>
            <a:pPr algn="r">
              <a:lnSpc>
                <a:spcPts val="8581"/>
              </a:lnSpc>
            </a:pPr>
            <a:r>
              <a:rPr lang="en-US" sz="6129" spc="576">
                <a:solidFill>
                  <a:srgbClr val="EDE8E4"/>
                </a:solidFill>
                <a:latin typeface="Glacial Indifference"/>
                <a:ea typeface="Glacial Indifference"/>
                <a:cs typeface="Glacial Indifference"/>
                <a:sym typeface="Glacial Indifference"/>
              </a:rPr>
              <a:t>OBJETIVO D: PENETRACION DIGITAL Y OMNICANALIDAD</a:t>
            </a:r>
          </a:p>
        </p:txBody>
      </p:sp>
      <p:sp>
        <p:nvSpPr>
          <p:cNvPr name="TextBox 13" id="13"/>
          <p:cNvSpPr txBox="true"/>
          <p:nvPr/>
        </p:nvSpPr>
        <p:spPr>
          <a:xfrm rot="0">
            <a:off x="2376254" y="2609674"/>
            <a:ext cx="8682872" cy="625925"/>
          </a:xfrm>
          <a:prstGeom prst="rect">
            <a:avLst/>
          </a:prstGeom>
        </p:spPr>
        <p:txBody>
          <a:bodyPr anchor="t" rtlCol="false" tIns="0" lIns="0" bIns="0" rIns="0">
            <a:spAutoFit/>
          </a:bodyPr>
          <a:lstStyle/>
          <a:p>
            <a:pPr algn="ctr">
              <a:lnSpc>
                <a:spcPts val="5130"/>
              </a:lnSpc>
            </a:pPr>
            <a:r>
              <a:rPr lang="en-US" b="true" sz="3664" spc="153">
                <a:solidFill>
                  <a:srgbClr val="253754"/>
                </a:solidFill>
                <a:latin typeface="Glacial Indifference Bold"/>
                <a:ea typeface="Glacial Indifference Bold"/>
                <a:cs typeface="Glacial Indifference Bold"/>
                <a:sym typeface="Glacial Indifference Bold"/>
              </a:rPr>
              <a:t>migracion al modelo digital</a:t>
            </a:r>
          </a:p>
        </p:txBody>
      </p:sp>
      <p:sp>
        <p:nvSpPr>
          <p:cNvPr name="TextBox 14" id="14"/>
          <p:cNvSpPr txBox="true"/>
          <p:nvPr/>
        </p:nvSpPr>
        <p:spPr>
          <a:xfrm rot="0">
            <a:off x="1959872" y="3517773"/>
            <a:ext cx="9624414" cy="1253724"/>
          </a:xfrm>
          <a:prstGeom prst="rect">
            <a:avLst/>
          </a:prstGeom>
        </p:spPr>
        <p:txBody>
          <a:bodyPr anchor="t" rtlCol="false" tIns="0" lIns="0" bIns="0" rIns="0">
            <a:spAutoFit/>
          </a:bodyPr>
          <a:lstStyle/>
          <a:p>
            <a:pPr algn="l">
              <a:lnSpc>
                <a:spcPts val="3347"/>
              </a:lnSpc>
            </a:pPr>
            <a:r>
              <a:rPr lang="en-US" sz="2390" spc="52">
                <a:solidFill>
                  <a:srgbClr val="FEFEFE"/>
                </a:solidFill>
                <a:latin typeface="Glacial Indifference"/>
                <a:ea typeface="Glacial Indifference"/>
                <a:cs typeface="Glacial Indifference"/>
                <a:sym typeface="Glacial Indifference"/>
              </a:rPr>
              <a:t>En 2022, Cinépolis transformó su programa de lealtad de presencial a digital con objetivos claros:</a:t>
            </a:r>
          </a:p>
          <a:p>
            <a:pPr algn="l">
              <a:lnSpc>
                <a:spcPts val="3347"/>
              </a:lnSpc>
            </a:pPr>
          </a:p>
        </p:txBody>
      </p:sp>
      <p:sp>
        <p:nvSpPr>
          <p:cNvPr name="TextBox 15" id="15"/>
          <p:cNvSpPr txBox="true"/>
          <p:nvPr/>
        </p:nvSpPr>
        <p:spPr>
          <a:xfrm rot="0">
            <a:off x="2376254" y="4866747"/>
            <a:ext cx="7572894" cy="2508647"/>
          </a:xfrm>
          <a:prstGeom prst="rect">
            <a:avLst/>
          </a:prstGeom>
        </p:spPr>
        <p:txBody>
          <a:bodyPr anchor="t" rtlCol="false" tIns="0" lIns="0" bIns="0" rIns="0">
            <a:spAutoFit/>
          </a:bodyPr>
          <a:lstStyle/>
          <a:p>
            <a:pPr algn="l" marL="617337" indent="-308669" lvl="1">
              <a:lnSpc>
                <a:spcPts val="4003"/>
              </a:lnSpc>
              <a:buFont typeface="Arial"/>
              <a:buChar char="•"/>
            </a:pPr>
            <a:r>
              <a:rPr lang="en-US" b="true" sz="2859" spc="28">
                <a:solidFill>
                  <a:srgbClr val="253754"/>
                </a:solidFill>
                <a:latin typeface="Glacial Indifference Bold"/>
                <a:ea typeface="Glacial Indifference Bold"/>
                <a:cs typeface="Glacial Indifference Bold"/>
                <a:sym typeface="Glacial Indifference Bold"/>
              </a:rPr>
              <a:t>asegurar datos verificados del socio</a:t>
            </a:r>
          </a:p>
          <a:p>
            <a:pPr algn="l" marL="617337" indent="-308669" lvl="1">
              <a:lnSpc>
                <a:spcPts val="4003"/>
              </a:lnSpc>
              <a:buFont typeface="Arial"/>
              <a:buChar char="•"/>
            </a:pPr>
            <a:r>
              <a:rPr lang="en-US" b="true" sz="2859" spc="28">
                <a:solidFill>
                  <a:srgbClr val="253754"/>
                </a:solidFill>
                <a:latin typeface="Glacial Indifference Bold"/>
                <a:ea typeface="Glacial Indifference Bold"/>
                <a:cs typeface="Glacial Indifference Bold"/>
                <a:sym typeface="Glacial Indifference Bold"/>
              </a:rPr>
              <a:t>reducir datos erroneos y falsos</a:t>
            </a:r>
          </a:p>
          <a:p>
            <a:pPr algn="l" marL="617337" indent="-308669" lvl="1">
              <a:lnSpc>
                <a:spcPts val="4003"/>
              </a:lnSpc>
              <a:buFont typeface="Arial"/>
              <a:buChar char="•"/>
            </a:pPr>
            <a:r>
              <a:rPr lang="en-US" b="true" sz="2859" spc="28">
                <a:solidFill>
                  <a:srgbClr val="253754"/>
                </a:solidFill>
                <a:latin typeface="Glacial Indifference Bold"/>
                <a:ea typeface="Glacial Indifference Bold"/>
                <a:cs typeface="Glacial Indifference Bold"/>
                <a:sym typeface="Glacial Indifference Bold"/>
              </a:rPr>
              <a:t>Vincular programa a customer journeys digitales</a:t>
            </a:r>
          </a:p>
          <a:p>
            <a:pPr algn="l" marL="617337" indent="-308669" lvl="1">
              <a:lnSpc>
                <a:spcPts val="4003"/>
              </a:lnSpc>
              <a:buFont typeface="Arial"/>
              <a:buChar char="•"/>
            </a:pPr>
            <a:r>
              <a:rPr lang="en-US" b="true" sz="2859" spc="28">
                <a:solidFill>
                  <a:srgbClr val="253754"/>
                </a:solidFill>
                <a:latin typeface="Glacial Indifference Bold"/>
                <a:ea typeface="Glacial Indifference Bold"/>
                <a:cs typeface="Glacial Indifference Bold"/>
                <a:sym typeface="Glacial Indifference Bold"/>
              </a:rPr>
              <a:t>Fortalecer comunicación personalizada</a:t>
            </a:r>
          </a:p>
        </p:txBody>
      </p:sp>
      <p:grpSp>
        <p:nvGrpSpPr>
          <p:cNvPr name="Group 16" id="16"/>
          <p:cNvGrpSpPr/>
          <p:nvPr/>
        </p:nvGrpSpPr>
        <p:grpSpPr>
          <a:xfrm rot="0">
            <a:off x="11840613" y="6303502"/>
            <a:ext cx="5839758" cy="2360052"/>
            <a:chOff x="0" y="0"/>
            <a:chExt cx="923266" cy="373124"/>
          </a:xfrm>
        </p:grpSpPr>
        <p:sp>
          <p:nvSpPr>
            <p:cNvPr name="Freeform 17" id="17"/>
            <p:cNvSpPr/>
            <p:nvPr/>
          </p:nvSpPr>
          <p:spPr>
            <a:xfrm flipH="false" flipV="false" rot="0">
              <a:off x="0" y="0"/>
              <a:ext cx="923266" cy="373124"/>
            </a:xfrm>
            <a:custGeom>
              <a:avLst/>
              <a:gdLst/>
              <a:ahLst/>
              <a:cxnLst/>
              <a:rect r="r" b="b" t="t" l="l"/>
              <a:pathLst>
                <a:path h="373124" w="923266">
                  <a:moveTo>
                    <a:pt x="34469" y="0"/>
                  </a:moveTo>
                  <a:lnTo>
                    <a:pt x="888797" y="0"/>
                  </a:lnTo>
                  <a:cubicBezTo>
                    <a:pt x="897939" y="0"/>
                    <a:pt x="906706" y="3632"/>
                    <a:pt x="913170" y="10096"/>
                  </a:cubicBezTo>
                  <a:cubicBezTo>
                    <a:pt x="919634" y="16560"/>
                    <a:pt x="923266" y="25327"/>
                    <a:pt x="923266" y="34469"/>
                  </a:cubicBezTo>
                  <a:lnTo>
                    <a:pt x="923266" y="338655"/>
                  </a:lnTo>
                  <a:cubicBezTo>
                    <a:pt x="923266" y="347797"/>
                    <a:pt x="919634" y="356564"/>
                    <a:pt x="913170" y="363029"/>
                  </a:cubicBezTo>
                  <a:cubicBezTo>
                    <a:pt x="906706" y="369493"/>
                    <a:pt x="897939" y="373124"/>
                    <a:pt x="888797" y="373124"/>
                  </a:cubicBezTo>
                  <a:lnTo>
                    <a:pt x="34469" y="373124"/>
                  </a:lnTo>
                  <a:cubicBezTo>
                    <a:pt x="25327" y="373124"/>
                    <a:pt x="16560" y="369493"/>
                    <a:pt x="10096" y="363029"/>
                  </a:cubicBezTo>
                  <a:cubicBezTo>
                    <a:pt x="3632" y="356564"/>
                    <a:pt x="0" y="347797"/>
                    <a:pt x="0" y="338655"/>
                  </a:cubicBezTo>
                  <a:lnTo>
                    <a:pt x="0" y="34469"/>
                  </a:lnTo>
                  <a:cubicBezTo>
                    <a:pt x="0" y="25327"/>
                    <a:pt x="3632" y="16560"/>
                    <a:pt x="10096" y="10096"/>
                  </a:cubicBezTo>
                  <a:cubicBezTo>
                    <a:pt x="16560" y="3632"/>
                    <a:pt x="25327" y="0"/>
                    <a:pt x="34469" y="0"/>
                  </a:cubicBezTo>
                  <a:close/>
                </a:path>
              </a:pathLst>
            </a:custGeom>
            <a:solidFill>
              <a:srgbClr val="EDE8E4"/>
            </a:solidFill>
          </p:spPr>
        </p:sp>
        <p:sp>
          <p:nvSpPr>
            <p:cNvPr name="TextBox 18" id="18"/>
            <p:cNvSpPr txBox="true"/>
            <p:nvPr/>
          </p:nvSpPr>
          <p:spPr>
            <a:xfrm>
              <a:off x="0" y="9525"/>
              <a:ext cx="923266" cy="363599"/>
            </a:xfrm>
            <a:prstGeom prst="rect">
              <a:avLst/>
            </a:prstGeom>
          </p:spPr>
          <p:txBody>
            <a:bodyPr anchor="ctr" rtlCol="false" tIns="50800" lIns="50800" bIns="50800" rIns="50800"/>
            <a:lstStyle/>
            <a:p>
              <a:pPr algn="ctr">
                <a:lnSpc>
                  <a:spcPts val="2121"/>
                </a:lnSpc>
              </a:pPr>
            </a:p>
          </p:txBody>
        </p:sp>
      </p:grpSp>
      <p:sp>
        <p:nvSpPr>
          <p:cNvPr name="TextBox 19" id="19"/>
          <p:cNvSpPr txBox="true"/>
          <p:nvPr/>
        </p:nvSpPr>
        <p:spPr>
          <a:xfrm rot="0">
            <a:off x="12390672" y="6661196"/>
            <a:ext cx="5090663" cy="1498997"/>
          </a:xfrm>
          <a:prstGeom prst="rect">
            <a:avLst/>
          </a:prstGeom>
        </p:spPr>
        <p:txBody>
          <a:bodyPr anchor="t" rtlCol="false" tIns="0" lIns="0" bIns="0" rIns="0">
            <a:spAutoFit/>
          </a:bodyPr>
          <a:lstStyle/>
          <a:p>
            <a:pPr algn="l">
              <a:lnSpc>
                <a:spcPts val="4003"/>
              </a:lnSpc>
            </a:pPr>
            <a:r>
              <a:rPr lang="en-US" b="true" sz="2859" spc="28">
                <a:solidFill>
                  <a:srgbClr val="253754"/>
                </a:solidFill>
                <a:latin typeface="Glacial Indifference Bold"/>
                <a:ea typeface="Glacial Indifference Bold"/>
                <a:cs typeface="Glacial Indifference Bold"/>
                <a:sym typeface="Glacial Indifference Bold"/>
              </a:rPr>
              <a:t>Impacto: </a:t>
            </a:r>
            <a:r>
              <a:rPr lang="en-US" sz="2859" spc="28">
                <a:solidFill>
                  <a:srgbClr val="253754"/>
                </a:solidFill>
                <a:latin typeface="Glacial Indifference"/>
                <a:ea typeface="Glacial Indifference"/>
                <a:cs typeface="Glacial Indifference"/>
                <a:sym typeface="Glacial Indifference"/>
              </a:rPr>
              <a:t>Un socio activo representa un valor de hasta el 20% frente a uno no socio.</a:t>
            </a:r>
          </a:p>
        </p:txBody>
      </p:sp>
      <p:grpSp>
        <p:nvGrpSpPr>
          <p:cNvPr name="Group 20" id="20"/>
          <p:cNvGrpSpPr/>
          <p:nvPr/>
        </p:nvGrpSpPr>
        <p:grpSpPr>
          <a:xfrm rot="0">
            <a:off x="12016124" y="2685874"/>
            <a:ext cx="5839758" cy="3312828"/>
            <a:chOff x="0" y="0"/>
            <a:chExt cx="923266" cy="523758"/>
          </a:xfrm>
        </p:grpSpPr>
        <p:sp>
          <p:nvSpPr>
            <p:cNvPr name="Freeform 21" id="21"/>
            <p:cNvSpPr/>
            <p:nvPr/>
          </p:nvSpPr>
          <p:spPr>
            <a:xfrm flipH="false" flipV="false" rot="0">
              <a:off x="0" y="0"/>
              <a:ext cx="923266" cy="523758"/>
            </a:xfrm>
            <a:custGeom>
              <a:avLst/>
              <a:gdLst/>
              <a:ahLst/>
              <a:cxnLst/>
              <a:rect r="r" b="b" t="t" l="l"/>
              <a:pathLst>
                <a:path h="523758" w="923266">
                  <a:moveTo>
                    <a:pt x="34469" y="0"/>
                  </a:moveTo>
                  <a:lnTo>
                    <a:pt x="888797" y="0"/>
                  </a:lnTo>
                  <a:cubicBezTo>
                    <a:pt x="897939" y="0"/>
                    <a:pt x="906706" y="3632"/>
                    <a:pt x="913170" y="10096"/>
                  </a:cubicBezTo>
                  <a:cubicBezTo>
                    <a:pt x="919634" y="16560"/>
                    <a:pt x="923266" y="25327"/>
                    <a:pt x="923266" y="34469"/>
                  </a:cubicBezTo>
                  <a:lnTo>
                    <a:pt x="923266" y="489289"/>
                  </a:lnTo>
                  <a:cubicBezTo>
                    <a:pt x="923266" y="498431"/>
                    <a:pt x="919634" y="507198"/>
                    <a:pt x="913170" y="513662"/>
                  </a:cubicBezTo>
                  <a:cubicBezTo>
                    <a:pt x="906706" y="520127"/>
                    <a:pt x="897939" y="523758"/>
                    <a:pt x="888797" y="523758"/>
                  </a:cubicBezTo>
                  <a:lnTo>
                    <a:pt x="34469" y="523758"/>
                  </a:lnTo>
                  <a:cubicBezTo>
                    <a:pt x="25327" y="523758"/>
                    <a:pt x="16560" y="520127"/>
                    <a:pt x="10096" y="513662"/>
                  </a:cubicBezTo>
                  <a:cubicBezTo>
                    <a:pt x="3632" y="507198"/>
                    <a:pt x="0" y="498431"/>
                    <a:pt x="0" y="489289"/>
                  </a:cubicBezTo>
                  <a:lnTo>
                    <a:pt x="0" y="34469"/>
                  </a:lnTo>
                  <a:cubicBezTo>
                    <a:pt x="0" y="25327"/>
                    <a:pt x="3632" y="16560"/>
                    <a:pt x="10096" y="10096"/>
                  </a:cubicBezTo>
                  <a:cubicBezTo>
                    <a:pt x="16560" y="3632"/>
                    <a:pt x="25327" y="0"/>
                    <a:pt x="34469" y="0"/>
                  </a:cubicBezTo>
                  <a:close/>
                </a:path>
              </a:pathLst>
            </a:custGeom>
            <a:solidFill>
              <a:srgbClr val="EDE8E4"/>
            </a:solidFill>
          </p:spPr>
        </p:sp>
        <p:sp>
          <p:nvSpPr>
            <p:cNvPr name="TextBox 22" id="22"/>
            <p:cNvSpPr txBox="true"/>
            <p:nvPr/>
          </p:nvSpPr>
          <p:spPr>
            <a:xfrm>
              <a:off x="0" y="9525"/>
              <a:ext cx="923266" cy="514233"/>
            </a:xfrm>
            <a:prstGeom prst="rect">
              <a:avLst/>
            </a:prstGeom>
          </p:spPr>
          <p:txBody>
            <a:bodyPr anchor="ctr" rtlCol="false" tIns="50800" lIns="50800" bIns="50800" rIns="50800"/>
            <a:lstStyle/>
            <a:p>
              <a:pPr algn="ctr">
                <a:lnSpc>
                  <a:spcPts val="2121"/>
                </a:lnSpc>
              </a:pPr>
            </a:p>
          </p:txBody>
        </p:sp>
      </p:grpSp>
      <p:sp>
        <p:nvSpPr>
          <p:cNvPr name="TextBox 23" id="23"/>
          <p:cNvSpPr txBox="true"/>
          <p:nvPr/>
        </p:nvSpPr>
        <p:spPr>
          <a:xfrm rot="0">
            <a:off x="12369221" y="3059389"/>
            <a:ext cx="5090663" cy="2508647"/>
          </a:xfrm>
          <a:prstGeom prst="rect">
            <a:avLst/>
          </a:prstGeom>
        </p:spPr>
        <p:txBody>
          <a:bodyPr anchor="t" rtlCol="false" tIns="0" lIns="0" bIns="0" rIns="0">
            <a:spAutoFit/>
          </a:bodyPr>
          <a:lstStyle/>
          <a:p>
            <a:pPr algn="l">
              <a:lnSpc>
                <a:spcPts val="4003"/>
              </a:lnSpc>
            </a:pPr>
            <a:r>
              <a:rPr lang="en-US" b="true" sz="2859" spc="28">
                <a:solidFill>
                  <a:srgbClr val="253754"/>
                </a:solidFill>
                <a:latin typeface="Glacial Indifference Bold"/>
                <a:ea typeface="Glacial Indifference Bold"/>
                <a:cs typeface="Glacial Indifference Bold"/>
                <a:sym typeface="Glacial Indifference Bold"/>
              </a:rPr>
              <a:t>el problema anterior: </a:t>
            </a:r>
            <a:r>
              <a:rPr lang="en-US" sz="2859" spc="28">
                <a:solidFill>
                  <a:srgbClr val="253754"/>
                </a:solidFill>
                <a:latin typeface="Glacial Indifference"/>
                <a:ea typeface="Glacial Indifference"/>
                <a:cs typeface="Glacial Indifference"/>
                <a:sym typeface="Glacial Indifference"/>
              </a:rPr>
              <a:t>indicaba que cerca del 40% de los asistentes extrabiavan o dejaban de usar su tarejta club cinepolis fisica</a:t>
            </a:r>
          </a:p>
        </p:txBody>
      </p:sp>
    </p:spTree>
  </p:cSld>
  <p:clrMapOvr>
    <a:masterClrMapping/>
  </p:clrMapOvr>
</p:sld>
</file>

<file path=ppt/slides/slide16.xml><?xml version="1.0" encoding="utf-8"?>
<p:sld xmlns:p="http://schemas.openxmlformats.org/presentationml/2006/main" xmlns:a="http://schemas.openxmlformats.org/drawingml/2006/main" xmlns:r="http://schemas.openxmlformats.org/officeDocument/2006/relationships">
  <p:cSld>
    <p:bg>
      <p:bgPr>
        <a:solidFill>
          <a:srgbClr val="253754"/>
        </a:solidFill>
      </p:bgPr>
    </p:bg>
    <p:spTree>
      <p:nvGrpSpPr>
        <p:cNvPr id="1" name=""/>
        <p:cNvGrpSpPr/>
        <p:nvPr/>
      </p:nvGrpSpPr>
      <p:grpSpPr>
        <a:xfrm>
          <a:off x="0" y="0"/>
          <a:ext cx="0" cy="0"/>
          <a:chOff x="0" y="0"/>
          <a:chExt cx="0" cy="0"/>
        </a:xfrm>
      </p:grpSpPr>
      <p:sp>
        <p:nvSpPr>
          <p:cNvPr name="Freeform 2" id="2"/>
          <p:cNvSpPr/>
          <p:nvPr/>
        </p:nvSpPr>
        <p:spPr>
          <a:xfrm flipH="false" flipV="false" rot="0">
            <a:off x="-1680157" y="-3300337"/>
            <a:ext cx="5459935" cy="7976908"/>
          </a:xfrm>
          <a:custGeom>
            <a:avLst/>
            <a:gdLst/>
            <a:ahLst/>
            <a:cxnLst/>
            <a:rect r="r" b="b" t="t" l="l"/>
            <a:pathLst>
              <a:path h="7976908" w="5459935">
                <a:moveTo>
                  <a:pt x="0" y="0"/>
                </a:moveTo>
                <a:lnTo>
                  <a:pt x="5459935" y="0"/>
                </a:lnTo>
                <a:lnTo>
                  <a:pt x="5459935" y="7976908"/>
                </a:lnTo>
                <a:lnTo>
                  <a:pt x="0" y="7976908"/>
                </a:lnTo>
                <a:lnTo>
                  <a:pt x="0" y="0"/>
                </a:lnTo>
                <a:close/>
              </a:path>
            </a:pathLst>
          </a:custGeom>
          <a:blipFill>
            <a:blip r:embed="rId2">
              <a:extLst>
                <a:ext uri="{96DAC541-7B7A-43D3-8B79-37D633B846F1}">
                  <asvg:svgBlip xmlns:asvg="http://schemas.microsoft.com/office/drawing/2016/SVG/main" r:embed="rId3"/>
                </a:ext>
              </a:extLst>
            </a:blip>
            <a:stretch>
              <a:fillRect l="0" t="0" r="-56331" b="0"/>
            </a:stretch>
          </a:blipFill>
          <a:ln cap="sq">
            <a:noFill/>
            <a:prstDash val="solid"/>
            <a:miter/>
          </a:ln>
        </p:spPr>
      </p:sp>
      <p:sp>
        <p:nvSpPr>
          <p:cNvPr name="Freeform 3" id="3"/>
          <p:cNvSpPr/>
          <p:nvPr/>
        </p:nvSpPr>
        <p:spPr>
          <a:xfrm flipH="false" flipV="false" rot="-10151301">
            <a:off x="14445817" y="8614141"/>
            <a:ext cx="5150017" cy="6650972"/>
          </a:xfrm>
          <a:custGeom>
            <a:avLst/>
            <a:gdLst/>
            <a:ahLst/>
            <a:cxnLst/>
            <a:rect r="r" b="b" t="t" l="l"/>
            <a:pathLst>
              <a:path h="6650972" w="5150017">
                <a:moveTo>
                  <a:pt x="0" y="0"/>
                </a:moveTo>
                <a:lnTo>
                  <a:pt x="5150017" y="0"/>
                </a:lnTo>
                <a:lnTo>
                  <a:pt x="5150017" y="6650971"/>
                </a:lnTo>
                <a:lnTo>
                  <a:pt x="0" y="6650971"/>
                </a:lnTo>
                <a:lnTo>
                  <a:pt x="0" y="0"/>
                </a:lnTo>
                <a:close/>
              </a:path>
            </a:pathLst>
          </a:custGeom>
          <a:blipFill>
            <a:blip r:embed="rId2">
              <a:extLst>
                <a:ext uri="{96DAC541-7B7A-43D3-8B79-37D633B846F1}">
                  <asvg:svgBlip xmlns:asvg="http://schemas.microsoft.com/office/drawing/2016/SVG/main" r:embed="rId3"/>
                </a:ext>
              </a:extLst>
            </a:blip>
            <a:stretch>
              <a:fillRect l="0" t="0" r="-49717" b="-8341"/>
            </a:stretch>
          </a:blipFill>
          <a:ln cap="sq">
            <a:noFill/>
            <a:prstDash val="solid"/>
            <a:miter/>
          </a:ln>
        </p:spPr>
      </p:sp>
      <p:sp>
        <p:nvSpPr>
          <p:cNvPr name="TextBox 4" id="4"/>
          <p:cNvSpPr txBox="true"/>
          <p:nvPr/>
        </p:nvSpPr>
        <p:spPr>
          <a:xfrm rot="0">
            <a:off x="2772438" y="254066"/>
            <a:ext cx="14255381" cy="2130311"/>
          </a:xfrm>
          <a:prstGeom prst="rect">
            <a:avLst/>
          </a:prstGeom>
        </p:spPr>
        <p:txBody>
          <a:bodyPr anchor="t" rtlCol="false" tIns="0" lIns="0" bIns="0" rIns="0">
            <a:spAutoFit/>
          </a:bodyPr>
          <a:lstStyle/>
          <a:p>
            <a:pPr algn="r">
              <a:lnSpc>
                <a:spcPts val="8581"/>
              </a:lnSpc>
            </a:pPr>
            <a:r>
              <a:rPr lang="en-US" sz="6129" spc="576">
                <a:solidFill>
                  <a:srgbClr val="EDE8E4"/>
                </a:solidFill>
                <a:latin typeface="Glacial Indifference"/>
                <a:ea typeface="Glacial Indifference"/>
                <a:cs typeface="Glacial Indifference"/>
                <a:sym typeface="Glacial Indifference"/>
              </a:rPr>
              <a:t>OBJETIVOS E,F,G: ESTRATEGIAS DE DIVERSIFICACION</a:t>
            </a:r>
          </a:p>
        </p:txBody>
      </p:sp>
      <p:grpSp>
        <p:nvGrpSpPr>
          <p:cNvPr name="Group 5" id="5"/>
          <p:cNvGrpSpPr/>
          <p:nvPr/>
        </p:nvGrpSpPr>
        <p:grpSpPr>
          <a:xfrm rot="0">
            <a:off x="1146598" y="2384377"/>
            <a:ext cx="5131608" cy="6715239"/>
            <a:chOff x="0" y="0"/>
            <a:chExt cx="811307" cy="1061679"/>
          </a:xfrm>
        </p:grpSpPr>
        <p:sp>
          <p:nvSpPr>
            <p:cNvPr name="Freeform 6" id="6"/>
            <p:cNvSpPr/>
            <p:nvPr/>
          </p:nvSpPr>
          <p:spPr>
            <a:xfrm flipH="false" flipV="false" rot="0">
              <a:off x="0" y="0"/>
              <a:ext cx="811307" cy="1061679"/>
            </a:xfrm>
            <a:custGeom>
              <a:avLst/>
              <a:gdLst/>
              <a:ahLst/>
              <a:cxnLst/>
              <a:rect r="r" b="b" t="t" l="l"/>
              <a:pathLst>
                <a:path h="1061679" w="811307">
                  <a:moveTo>
                    <a:pt x="39226" y="0"/>
                  </a:moveTo>
                  <a:lnTo>
                    <a:pt x="772082" y="0"/>
                  </a:lnTo>
                  <a:cubicBezTo>
                    <a:pt x="793745" y="0"/>
                    <a:pt x="811307" y="17562"/>
                    <a:pt x="811307" y="39226"/>
                  </a:cubicBezTo>
                  <a:lnTo>
                    <a:pt x="811307" y="1022454"/>
                  </a:lnTo>
                  <a:cubicBezTo>
                    <a:pt x="811307" y="1044117"/>
                    <a:pt x="793745" y="1061679"/>
                    <a:pt x="772082" y="1061679"/>
                  </a:cubicBezTo>
                  <a:lnTo>
                    <a:pt x="39226" y="1061679"/>
                  </a:lnTo>
                  <a:cubicBezTo>
                    <a:pt x="17562" y="1061679"/>
                    <a:pt x="0" y="1044117"/>
                    <a:pt x="0" y="1022454"/>
                  </a:cubicBezTo>
                  <a:lnTo>
                    <a:pt x="0" y="39226"/>
                  </a:lnTo>
                  <a:cubicBezTo>
                    <a:pt x="0" y="17562"/>
                    <a:pt x="17562" y="0"/>
                    <a:pt x="39226" y="0"/>
                  </a:cubicBezTo>
                  <a:close/>
                </a:path>
              </a:pathLst>
            </a:custGeom>
            <a:solidFill>
              <a:srgbClr val="EDE8E4"/>
            </a:solidFill>
          </p:spPr>
        </p:sp>
        <p:sp>
          <p:nvSpPr>
            <p:cNvPr name="TextBox 7" id="7"/>
            <p:cNvSpPr txBox="true"/>
            <p:nvPr/>
          </p:nvSpPr>
          <p:spPr>
            <a:xfrm>
              <a:off x="0" y="9525"/>
              <a:ext cx="811307" cy="1052154"/>
            </a:xfrm>
            <a:prstGeom prst="rect">
              <a:avLst/>
            </a:prstGeom>
          </p:spPr>
          <p:txBody>
            <a:bodyPr anchor="ctr" rtlCol="false" tIns="50800" lIns="50800" bIns="50800" rIns="50800"/>
            <a:lstStyle/>
            <a:p>
              <a:pPr algn="ctr">
                <a:lnSpc>
                  <a:spcPts val="2121"/>
                </a:lnSpc>
              </a:pPr>
            </a:p>
          </p:txBody>
        </p:sp>
      </p:grpSp>
      <p:sp>
        <p:nvSpPr>
          <p:cNvPr name="TextBox 8" id="8"/>
          <p:cNvSpPr txBox="true"/>
          <p:nvPr/>
        </p:nvSpPr>
        <p:spPr>
          <a:xfrm rot="0">
            <a:off x="817875" y="2625544"/>
            <a:ext cx="5923806" cy="614443"/>
          </a:xfrm>
          <a:prstGeom prst="rect">
            <a:avLst/>
          </a:prstGeom>
        </p:spPr>
        <p:txBody>
          <a:bodyPr anchor="t" rtlCol="false" tIns="0" lIns="0" bIns="0" rIns="0">
            <a:spAutoFit/>
          </a:bodyPr>
          <a:lstStyle/>
          <a:p>
            <a:pPr algn="ctr">
              <a:lnSpc>
                <a:spcPts val="4983"/>
              </a:lnSpc>
            </a:pPr>
            <a:r>
              <a:rPr lang="en-US" b="true" sz="3559" spc="35">
                <a:solidFill>
                  <a:srgbClr val="253754"/>
                </a:solidFill>
                <a:latin typeface="Glacial Indifference Bold"/>
                <a:ea typeface="Glacial Indifference Bold"/>
                <a:cs typeface="Glacial Indifference Bold"/>
                <a:sym typeface="Glacial Indifference Bold"/>
              </a:rPr>
              <a:t>E: </a:t>
            </a:r>
            <a:r>
              <a:rPr lang="en-US" sz="3559" spc="35">
                <a:solidFill>
                  <a:srgbClr val="253754"/>
                </a:solidFill>
                <a:latin typeface="Glacial Indifference"/>
                <a:ea typeface="Glacial Indifference"/>
                <a:cs typeface="Glacial Indifference"/>
                <a:sym typeface="Glacial Indifference"/>
              </a:rPr>
              <a:t>precios diferenciados</a:t>
            </a:r>
          </a:p>
        </p:txBody>
      </p:sp>
      <p:sp>
        <p:nvSpPr>
          <p:cNvPr name="TextBox 9" id="9"/>
          <p:cNvSpPr txBox="true"/>
          <p:nvPr/>
        </p:nvSpPr>
        <p:spPr>
          <a:xfrm rot="0">
            <a:off x="1442627" y="3487637"/>
            <a:ext cx="4539551" cy="3957955"/>
          </a:xfrm>
          <a:prstGeom prst="rect">
            <a:avLst/>
          </a:prstGeom>
        </p:spPr>
        <p:txBody>
          <a:bodyPr anchor="t" rtlCol="false" tIns="0" lIns="0" bIns="0" rIns="0">
            <a:spAutoFit/>
          </a:bodyPr>
          <a:lstStyle/>
          <a:p>
            <a:pPr algn="l" marL="604519" indent="-302260" lvl="1">
              <a:lnSpc>
                <a:spcPts val="3919"/>
              </a:lnSpc>
              <a:buFont typeface="Arial"/>
              <a:buChar char="•"/>
            </a:pPr>
            <a:r>
              <a:rPr lang="en-US" sz="2799" spc="61">
                <a:solidFill>
                  <a:srgbClr val="152540"/>
                </a:solidFill>
                <a:latin typeface="Glacial Indifference"/>
                <a:ea typeface="Glacial Indifference"/>
                <a:cs typeface="Glacial Indifference"/>
                <a:sym typeface="Glacial Indifference"/>
              </a:rPr>
              <a:t>Estrategia de </a:t>
            </a:r>
            <a:r>
              <a:rPr lang="en-US" b="true" sz="2799" spc="61">
                <a:solidFill>
                  <a:srgbClr val="152540"/>
                </a:solidFill>
                <a:latin typeface="Glacial Indifference Bold"/>
                <a:ea typeface="Glacial Indifference Bold"/>
                <a:cs typeface="Glacial Indifference Bold"/>
                <a:sym typeface="Glacial Indifference Bold"/>
              </a:rPr>
              <a:t>precios variables </a:t>
            </a:r>
            <a:r>
              <a:rPr lang="en-US" sz="2799" spc="61">
                <a:solidFill>
                  <a:srgbClr val="152540"/>
                </a:solidFill>
                <a:latin typeface="Glacial Indifference"/>
                <a:ea typeface="Glacial Indifference"/>
                <a:cs typeface="Glacial Indifference"/>
                <a:sym typeface="Glacial Indifference"/>
              </a:rPr>
              <a:t>según región, ciudad y complejo.</a:t>
            </a:r>
          </a:p>
          <a:p>
            <a:pPr algn="l" marL="604519" indent="-302260" lvl="1">
              <a:lnSpc>
                <a:spcPts val="3919"/>
              </a:lnSpc>
              <a:buFont typeface="Arial"/>
              <a:buChar char="•"/>
            </a:pPr>
            <a:r>
              <a:rPr lang="en-US" sz="2799" spc="61">
                <a:solidFill>
                  <a:srgbClr val="152540"/>
                </a:solidFill>
                <a:latin typeface="Glacial Indifference"/>
                <a:ea typeface="Glacial Indifference"/>
                <a:cs typeface="Glacial Indifference"/>
                <a:sym typeface="Glacial Indifference"/>
              </a:rPr>
              <a:t>se consideran la </a:t>
            </a:r>
            <a:r>
              <a:rPr lang="en-US" b="true" sz="2799" spc="61">
                <a:solidFill>
                  <a:srgbClr val="152540"/>
                </a:solidFill>
                <a:latin typeface="Glacial Indifference Bold"/>
                <a:ea typeface="Glacial Indifference Bold"/>
                <a:cs typeface="Glacial Indifference Bold"/>
                <a:sym typeface="Glacial Indifference Bold"/>
              </a:rPr>
              <a:t>capcidad adquisitivo </a:t>
            </a:r>
            <a:r>
              <a:rPr lang="en-US" sz="2799" spc="61">
                <a:solidFill>
                  <a:srgbClr val="152540"/>
                </a:solidFill>
                <a:latin typeface="Glacial Indifference"/>
                <a:ea typeface="Glacial Indifference"/>
                <a:cs typeface="Glacial Indifference"/>
                <a:sym typeface="Glacial Indifference"/>
              </a:rPr>
              <a:t>local y la calidad del servicio</a:t>
            </a:r>
          </a:p>
          <a:p>
            <a:pPr algn="l">
              <a:lnSpc>
                <a:spcPts val="3919"/>
              </a:lnSpc>
            </a:pPr>
          </a:p>
        </p:txBody>
      </p:sp>
      <p:grpSp>
        <p:nvGrpSpPr>
          <p:cNvPr name="Group 10" id="10"/>
          <p:cNvGrpSpPr/>
          <p:nvPr/>
        </p:nvGrpSpPr>
        <p:grpSpPr>
          <a:xfrm rot="0">
            <a:off x="6815068" y="2543061"/>
            <a:ext cx="5131608" cy="6715239"/>
            <a:chOff x="0" y="0"/>
            <a:chExt cx="811307" cy="1061679"/>
          </a:xfrm>
        </p:grpSpPr>
        <p:sp>
          <p:nvSpPr>
            <p:cNvPr name="Freeform 11" id="11"/>
            <p:cNvSpPr/>
            <p:nvPr/>
          </p:nvSpPr>
          <p:spPr>
            <a:xfrm flipH="false" flipV="false" rot="0">
              <a:off x="0" y="0"/>
              <a:ext cx="811307" cy="1061679"/>
            </a:xfrm>
            <a:custGeom>
              <a:avLst/>
              <a:gdLst/>
              <a:ahLst/>
              <a:cxnLst/>
              <a:rect r="r" b="b" t="t" l="l"/>
              <a:pathLst>
                <a:path h="1061679" w="811307">
                  <a:moveTo>
                    <a:pt x="39226" y="0"/>
                  </a:moveTo>
                  <a:lnTo>
                    <a:pt x="772082" y="0"/>
                  </a:lnTo>
                  <a:cubicBezTo>
                    <a:pt x="793745" y="0"/>
                    <a:pt x="811307" y="17562"/>
                    <a:pt x="811307" y="39226"/>
                  </a:cubicBezTo>
                  <a:lnTo>
                    <a:pt x="811307" y="1022454"/>
                  </a:lnTo>
                  <a:cubicBezTo>
                    <a:pt x="811307" y="1044117"/>
                    <a:pt x="793745" y="1061679"/>
                    <a:pt x="772082" y="1061679"/>
                  </a:cubicBezTo>
                  <a:lnTo>
                    <a:pt x="39226" y="1061679"/>
                  </a:lnTo>
                  <a:cubicBezTo>
                    <a:pt x="17562" y="1061679"/>
                    <a:pt x="0" y="1044117"/>
                    <a:pt x="0" y="1022454"/>
                  </a:cubicBezTo>
                  <a:lnTo>
                    <a:pt x="0" y="39226"/>
                  </a:lnTo>
                  <a:cubicBezTo>
                    <a:pt x="0" y="17562"/>
                    <a:pt x="17562" y="0"/>
                    <a:pt x="39226" y="0"/>
                  </a:cubicBezTo>
                  <a:close/>
                </a:path>
              </a:pathLst>
            </a:custGeom>
            <a:solidFill>
              <a:srgbClr val="EDE8E4"/>
            </a:solidFill>
          </p:spPr>
        </p:sp>
        <p:sp>
          <p:nvSpPr>
            <p:cNvPr name="TextBox 12" id="12"/>
            <p:cNvSpPr txBox="true"/>
            <p:nvPr/>
          </p:nvSpPr>
          <p:spPr>
            <a:xfrm>
              <a:off x="0" y="9525"/>
              <a:ext cx="811307" cy="1052154"/>
            </a:xfrm>
            <a:prstGeom prst="rect">
              <a:avLst/>
            </a:prstGeom>
          </p:spPr>
          <p:txBody>
            <a:bodyPr anchor="ctr" rtlCol="false" tIns="50800" lIns="50800" bIns="50800" rIns="50800"/>
            <a:lstStyle/>
            <a:p>
              <a:pPr algn="ctr">
                <a:lnSpc>
                  <a:spcPts val="2121"/>
                </a:lnSpc>
              </a:pPr>
            </a:p>
          </p:txBody>
        </p:sp>
      </p:grpSp>
      <p:grpSp>
        <p:nvGrpSpPr>
          <p:cNvPr name="Group 13" id="13"/>
          <p:cNvGrpSpPr/>
          <p:nvPr/>
        </p:nvGrpSpPr>
        <p:grpSpPr>
          <a:xfrm rot="0">
            <a:off x="12483537" y="2701744"/>
            <a:ext cx="5131608" cy="6715239"/>
            <a:chOff x="0" y="0"/>
            <a:chExt cx="811307" cy="1061679"/>
          </a:xfrm>
        </p:grpSpPr>
        <p:sp>
          <p:nvSpPr>
            <p:cNvPr name="Freeform 14" id="14"/>
            <p:cNvSpPr/>
            <p:nvPr/>
          </p:nvSpPr>
          <p:spPr>
            <a:xfrm flipH="false" flipV="false" rot="0">
              <a:off x="0" y="0"/>
              <a:ext cx="811307" cy="1061679"/>
            </a:xfrm>
            <a:custGeom>
              <a:avLst/>
              <a:gdLst/>
              <a:ahLst/>
              <a:cxnLst/>
              <a:rect r="r" b="b" t="t" l="l"/>
              <a:pathLst>
                <a:path h="1061679" w="811307">
                  <a:moveTo>
                    <a:pt x="39226" y="0"/>
                  </a:moveTo>
                  <a:lnTo>
                    <a:pt x="772082" y="0"/>
                  </a:lnTo>
                  <a:cubicBezTo>
                    <a:pt x="793745" y="0"/>
                    <a:pt x="811307" y="17562"/>
                    <a:pt x="811307" y="39226"/>
                  </a:cubicBezTo>
                  <a:lnTo>
                    <a:pt x="811307" y="1022454"/>
                  </a:lnTo>
                  <a:cubicBezTo>
                    <a:pt x="811307" y="1044117"/>
                    <a:pt x="793745" y="1061679"/>
                    <a:pt x="772082" y="1061679"/>
                  </a:cubicBezTo>
                  <a:lnTo>
                    <a:pt x="39226" y="1061679"/>
                  </a:lnTo>
                  <a:cubicBezTo>
                    <a:pt x="17562" y="1061679"/>
                    <a:pt x="0" y="1044117"/>
                    <a:pt x="0" y="1022454"/>
                  </a:cubicBezTo>
                  <a:lnTo>
                    <a:pt x="0" y="39226"/>
                  </a:lnTo>
                  <a:cubicBezTo>
                    <a:pt x="0" y="17562"/>
                    <a:pt x="17562" y="0"/>
                    <a:pt x="39226" y="0"/>
                  </a:cubicBezTo>
                  <a:close/>
                </a:path>
              </a:pathLst>
            </a:custGeom>
            <a:solidFill>
              <a:srgbClr val="EDE8E4"/>
            </a:solidFill>
          </p:spPr>
        </p:sp>
        <p:sp>
          <p:nvSpPr>
            <p:cNvPr name="TextBox 15" id="15"/>
            <p:cNvSpPr txBox="true"/>
            <p:nvPr/>
          </p:nvSpPr>
          <p:spPr>
            <a:xfrm>
              <a:off x="0" y="9525"/>
              <a:ext cx="811307" cy="1052154"/>
            </a:xfrm>
            <a:prstGeom prst="rect">
              <a:avLst/>
            </a:prstGeom>
          </p:spPr>
          <p:txBody>
            <a:bodyPr anchor="ctr" rtlCol="false" tIns="50800" lIns="50800" bIns="50800" rIns="50800"/>
            <a:lstStyle/>
            <a:p>
              <a:pPr algn="ctr">
                <a:lnSpc>
                  <a:spcPts val="2121"/>
                </a:lnSpc>
              </a:pPr>
            </a:p>
          </p:txBody>
        </p:sp>
      </p:grpSp>
      <p:sp>
        <p:nvSpPr>
          <p:cNvPr name="TextBox 16" id="16"/>
          <p:cNvSpPr txBox="true"/>
          <p:nvPr/>
        </p:nvSpPr>
        <p:spPr>
          <a:xfrm rot="0">
            <a:off x="6418968" y="2625544"/>
            <a:ext cx="5923806" cy="1243093"/>
          </a:xfrm>
          <a:prstGeom prst="rect">
            <a:avLst/>
          </a:prstGeom>
        </p:spPr>
        <p:txBody>
          <a:bodyPr anchor="t" rtlCol="false" tIns="0" lIns="0" bIns="0" rIns="0">
            <a:spAutoFit/>
          </a:bodyPr>
          <a:lstStyle/>
          <a:p>
            <a:pPr algn="ctr">
              <a:lnSpc>
                <a:spcPts val="4983"/>
              </a:lnSpc>
            </a:pPr>
            <a:r>
              <a:rPr lang="en-US" b="true" sz="3559" spc="35">
                <a:solidFill>
                  <a:srgbClr val="253754"/>
                </a:solidFill>
                <a:latin typeface="Glacial Indifference Bold"/>
                <a:ea typeface="Glacial Indifference Bold"/>
                <a:cs typeface="Glacial Indifference Bold"/>
                <a:sym typeface="Glacial Indifference Bold"/>
              </a:rPr>
              <a:t>F: </a:t>
            </a:r>
            <a:r>
              <a:rPr lang="en-US" sz="3559" spc="35">
                <a:solidFill>
                  <a:srgbClr val="253754"/>
                </a:solidFill>
                <a:latin typeface="Glacial Indifference"/>
                <a:ea typeface="Glacial Indifference"/>
                <a:cs typeface="Glacial Indifference"/>
                <a:sym typeface="Glacial Indifference"/>
              </a:rPr>
              <a:t>duversificacion de contenido</a:t>
            </a:r>
          </a:p>
        </p:txBody>
      </p:sp>
      <p:sp>
        <p:nvSpPr>
          <p:cNvPr name="TextBox 17" id="17"/>
          <p:cNvSpPr txBox="true"/>
          <p:nvPr/>
        </p:nvSpPr>
        <p:spPr>
          <a:xfrm rot="0">
            <a:off x="7111096" y="4116287"/>
            <a:ext cx="4539551" cy="4453255"/>
          </a:xfrm>
          <a:prstGeom prst="rect">
            <a:avLst/>
          </a:prstGeom>
        </p:spPr>
        <p:txBody>
          <a:bodyPr anchor="t" rtlCol="false" tIns="0" lIns="0" bIns="0" rIns="0">
            <a:spAutoFit/>
          </a:bodyPr>
          <a:lstStyle/>
          <a:p>
            <a:pPr algn="l" marL="604519" indent="-302260" lvl="1">
              <a:lnSpc>
                <a:spcPts val="3919"/>
              </a:lnSpc>
              <a:buFont typeface="Arial"/>
              <a:buChar char="•"/>
            </a:pPr>
            <a:r>
              <a:rPr lang="en-US" sz="2799" spc="61">
                <a:solidFill>
                  <a:srgbClr val="152540"/>
                </a:solidFill>
                <a:latin typeface="Glacial Indifference"/>
                <a:ea typeface="Glacial Indifference"/>
                <a:cs typeface="Glacial Indifference"/>
                <a:sym typeface="Glacial Indifference"/>
              </a:rPr>
              <a:t>Transmisión de eventos especiales más allá del cine tradicional.</a:t>
            </a:r>
          </a:p>
          <a:p>
            <a:pPr algn="l" marL="604519" indent="-302260" lvl="1">
              <a:lnSpc>
                <a:spcPts val="3919"/>
              </a:lnSpc>
              <a:buFont typeface="Arial"/>
              <a:buChar char="•"/>
            </a:pPr>
            <a:r>
              <a:rPr lang="en-US" sz="2799" spc="61">
                <a:solidFill>
                  <a:srgbClr val="152540"/>
                </a:solidFill>
                <a:latin typeface="Glacial Indifference"/>
                <a:ea typeface="Glacial Indifference"/>
                <a:cs typeface="Glacial Indifference"/>
                <a:sym typeface="Glacial Indifference"/>
              </a:rPr>
              <a:t>conciertos </a:t>
            </a:r>
          </a:p>
          <a:p>
            <a:pPr algn="l" marL="604519" indent="-302260" lvl="1">
              <a:lnSpc>
                <a:spcPts val="3919"/>
              </a:lnSpc>
              <a:buFont typeface="Arial"/>
              <a:buChar char="•"/>
            </a:pPr>
            <a:r>
              <a:rPr lang="en-US" sz="2799" spc="61">
                <a:solidFill>
                  <a:srgbClr val="152540"/>
                </a:solidFill>
                <a:latin typeface="Glacial Indifference"/>
                <a:ea typeface="Glacial Indifference"/>
                <a:cs typeface="Glacial Indifference"/>
                <a:sym typeface="Glacial Indifference"/>
              </a:rPr>
              <a:t>opera</a:t>
            </a:r>
          </a:p>
          <a:p>
            <a:pPr algn="l" marL="604519" indent="-302260" lvl="1">
              <a:lnSpc>
                <a:spcPts val="3919"/>
              </a:lnSpc>
              <a:buFont typeface="Arial"/>
              <a:buChar char="•"/>
            </a:pPr>
            <a:r>
              <a:rPr lang="en-US" sz="2799" spc="61">
                <a:solidFill>
                  <a:srgbClr val="152540"/>
                </a:solidFill>
                <a:latin typeface="Glacial Indifference"/>
                <a:ea typeface="Glacial Indifference"/>
                <a:cs typeface="Glacial Indifference"/>
                <a:sym typeface="Glacial Indifference"/>
              </a:rPr>
              <a:t>futbol</a:t>
            </a:r>
          </a:p>
          <a:p>
            <a:pPr algn="l" marL="604519" indent="-302260" lvl="1">
              <a:lnSpc>
                <a:spcPts val="3919"/>
              </a:lnSpc>
              <a:buFont typeface="Arial"/>
              <a:buChar char="•"/>
            </a:pPr>
            <a:r>
              <a:rPr lang="en-US" sz="2799" spc="61">
                <a:solidFill>
                  <a:srgbClr val="152540"/>
                </a:solidFill>
                <a:latin typeface="Glacial Indifference"/>
                <a:ea typeface="Glacial Indifference"/>
                <a:cs typeface="Glacial Indifference"/>
                <a:sym typeface="Glacial Indifference"/>
              </a:rPr>
              <a:t>box</a:t>
            </a:r>
          </a:p>
          <a:p>
            <a:pPr algn="l">
              <a:lnSpc>
                <a:spcPts val="3919"/>
              </a:lnSpc>
            </a:pPr>
            <a:r>
              <a:rPr lang="en-US" sz="2799" spc="61">
                <a:solidFill>
                  <a:srgbClr val="152540"/>
                </a:solidFill>
                <a:latin typeface="Glacial Indifference"/>
                <a:ea typeface="Glacial Indifference"/>
                <a:cs typeface="Glacial Indifference"/>
                <a:sym typeface="Glacial Indifference"/>
              </a:rPr>
              <a:t>lo que genera nuevas fuentes de ingreso</a:t>
            </a:r>
          </a:p>
        </p:txBody>
      </p:sp>
      <p:sp>
        <p:nvSpPr>
          <p:cNvPr name="TextBox 18" id="18"/>
          <p:cNvSpPr txBox="true"/>
          <p:nvPr/>
        </p:nvSpPr>
        <p:spPr>
          <a:xfrm rot="0">
            <a:off x="11691339" y="2894666"/>
            <a:ext cx="5923806" cy="614443"/>
          </a:xfrm>
          <a:prstGeom prst="rect">
            <a:avLst/>
          </a:prstGeom>
        </p:spPr>
        <p:txBody>
          <a:bodyPr anchor="t" rtlCol="false" tIns="0" lIns="0" bIns="0" rIns="0">
            <a:spAutoFit/>
          </a:bodyPr>
          <a:lstStyle/>
          <a:p>
            <a:pPr algn="ctr">
              <a:lnSpc>
                <a:spcPts val="4983"/>
              </a:lnSpc>
            </a:pPr>
            <a:r>
              <a:rPr lang="en-US" b="true" sz="3559" spc="35">
                <a:solidFill>
                  <a:srgbClr val="253754"/>
                </a:solidFill>
                <a:latin typeface="Glacial Indifference Bold"/>
                <a:ea typeface="Glacial Indifference Bold"/>
                <a:cs typeface="Glacial Indifference Bold"/>
                <a:sym typeface="Glacial Indifference Bold"/>
              </a:rPr>
              <a:t>G: </a:t>
            </a:r>
            <a:r>
              <a:rPr lang="en-US" sz="3559" spc="35">
                <a:solidFill>
                  <a:srgbClr val="253754"/>
                </a:solidFill>
                <a:latin typeface="Glacial Indifference"/>
                <a:ea typeface="Glacial Indifference"/>
                <a:cs typeface="Glacial Indifference"/>
                <a:sym typeface="Glacial Indifference"/>
              </a:rPr>
              <a:t>Objetivos por País</a:t>
            </a:r>
          </a:p>
        </p:txBody>
      </p:sp>
      <p:sp>
        <p:nvSpPr>
          <p:cNvPr name="TextBox 19" id="19"/>
          <p:cNvSpPr txBox="true"/>
          <p:nvPr/>
        </p:nvSpPr>
        <p:spPr>
          <a:xfrm rot="0">
            <a:off x="12719749" y="3736893"/>
            <a:ext cx="4539551" cy="4453255"/>
          </a:xfrm>
          <a:prstGeom prst="rect">
            <a:avLst/>
          </a:prstGeom>
        </p:spPr>
        <p:txBody>
          <a:bodyPr anchor="t" rtlCol="false" tIns="0" lIns="0" bIns="0" rIns="0">
            <a:spAutoFit/>
          </a:bodyPr>
          <a:lstStyle/>
          <a:p>
            <a:pPr algn="l" marL="604519" indent="-302260" lvl="1">
              <a:lnSpc>
                <a:spcPts val="3919"/>
              </a:lnSpc>
              <a:buFont typeface="Arial"/>
              <a:buChar char="•"/>
            </a:pPr>
            <a:r>
              <a:rPr lang="en-US" sz="2799" spc="61">
                <a:solidFill>
                  <a:srgbClr val="152540"/>
                </a:solidFill>
                <a:latin typeface="Glacial Indifference"/>
                <a:ea typeface="Glacial Indifference"/>
                <a:cs typeface="Glacial Indifference"/>
                <a:sym typeface="Glacial Indifference"/>
              </a:rPr>
              <a:t>Estrategias específicas y medibles para cada mercado en 2025.</a:t>
            </a:r>
          </a:p>
          <a:p>
            <a:pPr algn="l" marL="604519" indent="-302260" lvl="1">
              <a:lnSpc>
                <a:spcPts val="3919"/>
              </a:lnSpc>
              <a:buFont typeface="Arial"/>
              <a:buChar char="•"/>
            </a:pPr>
            <a:r>
              <a:rPr lang="en-US" b="true" sz="2799" spc="61">
                <a:solidFill>
                  <a:srgbClr val="152540"/>
                </a:solidFill>
                <a:latin typeface="Glacial Indifference Bold"/>
                <a:ea typeface="Glacial Indifference Bold"/>
                <a:cs typeface="Glacial Indifference Bold"/>
                <a:sym typeface="Glacial Indifference Bold"/>
              </a:rPr>
              <a:t>Chile: 2-3 </a:t>
            </a:r>
            <a:r>
              <a:rPr lang="en-US" sz="2799" spc="61">
                <a:solidFill>
                  <a:srgbClr val="152540"/>
                </a:solidFill>
                <a:latin typeface="Glacial Indifference"/>
                <a:ea typeface="Glacial Indifference"/>
                <a:cs typeface="Glacial Indifference"/>
                <a:sym typeface="Glacial Indifference"/>
              </a:rPr>
              <a:t>nuevas salas anuales</a:t>
            </a:r>
          </a:p>
          <a:p>
            <a:pPr algn="l" marL="604519" indent="-302260" lvl="1">
              <a:lnSpc>
                <a:spcPts val="3919"/>
              </a:lnSpc>
              <a:buFont typeface="Arial"/>
              <a:buChar char="•"/>
            </a:pPr>
            <a:r>
              <a:rPr lang="en-US" b="true" sz="2799" spc="61">
                <a:solidFill>
                  <a:srgbClr val="152540"/>
                </a:solidFill>
                <a:latin typeface="Glacial Indifference Bold"/>
                <a:ea typeface="Glacial Indifference Bold"/>
                <a:cs typeface="Glacial Indifference Bold"/>
                <a:sym typeface="Glacial Indifference Bold"/>
              </a:rPr>
              <a:t>peru: </a:t>
            </a:r>
            <a:r>
              <a:rPr lang="en-US" sz="2799" spc="61">
                <a:solidFill>
                  <a:srgbClr val="152540"/>
                </a:solidFill>
                <a:latin typeface="Glacial Indifference"/>
                <a:ea typeface="Glacial Indifference"/>
                <a:cs typeface="Glacial Indifference"/>
                <a:sym typeface="Glacial Indifference"/>
              </a:rPr>
              <a:t>inversion de 7M en lima </a:t>
            </a:r>
          </a:p>
          <a:p>
            <a:pPr algn="l" marL="604519" indent="-302260" lvl="1">
              <a:lnSpc>
                <a:spcPts val="3919"/>
              </a:lnSpc>
              <a:buFont typeface="Arial"/>
              <a:buChar char="•"/>
            </a:pPr>
            <a:r>
              <a:rPr lang="en-US" b="true" sz="2799" spc="61">
                <a:solidFill>
                  <a:srgbClr val="152540"/>
                </a:solidFill>
                <a:latin typeface="Glacial Indifference Bold"/>
                <a:ea typeface="Glacial Indifference Bold"/>
                <a:cs typeface="Glacial Indifference Bold"/>
                <a:sym typeface="Glacial Indifference Bold"/>
              </a:rPr>
              <a:t>colombia: </a:t>
            </a:r>
            <a:r>
              <a:rPr lang="en-US" sz="2799" spc="61">
                <a:solidFill>
                  <a:srgbClr val="152540"/>
                </a:solidFill>
                <a:latin typeface="Glacial Indifference"/>
                <a:ea typeface="Glacial Indifference"/>
                <a:cs typeface="Glacial Indifference"/>
                <a:sym typeface="Glacial Indifference"/>
              </a:rPr>
              <a:t>optimizar sedes actuales</a:t>
            </a:r>
          </a:p>
        </p:txBody>
      </p:sp>
    </p:spTree>
  </p:cSld>
  <p:clrMapOvr>
    <a:masterClrMapping/>
  </p:clrMapOvr>
</p:sld>
</file>

<file path=ppt/slides/slide17.xml><?xml version="1.0" encoding="utf-8"?>
<p:sld xmlns:p="http://schemas.openxmlformats.org/presentationml/2006/main" xmlns:a="http://schemas.openxmlformats.org/drawingml/2006/main" xmlns:r="http://schemas.openxmlformats.org/officeDocument/2006/relationships">
  <p:cSld>
    <p:bg>
      <p:bgPr>
        <a:solidFill>
          <a:srgbClr val="253754"/>
        </a:solidFill>
      </p:bgPr>
    </p:bg>
    <p:spTree>
      <p:nvGrpSpPr>
        <p:cNvPr id="1" name=""/>
        <p:cNvGrpSpPr/>
        <p:nvPr/>
      </p:nvGrpSpPr>
      <p:grpSpPr>
        <a:xfrm>
          <a:off x="0" y="0"/>
          <a:ext cx="0" cy="0"/>
          <a:chOff x="0" y="0"/>
          <a:chExt cx="0" cy="0"/>
        </a:xfrm>
      </p:grpSpPr>
      <p:sp>
        <p:nvSpPr>
          <p:cNvPr name="Freeform 2" id="2"/>
          <p:cNvSpPr/>
          <p:nvPr/>
        </p:nvSpPr>
        <p:spPr>
          <a:xfrm flipH="false" flipV="false" rot="0">
            <a:off x="-1680157" y="-3300337"/>
            <a:ext cx="5459935" cy="7976908"/>
          </a:xfrm>
          <a:custGeom>
            <a:avLst/>
            <a:gdLst/>
            <a:ahLst/>
            <a:cxnLst/>
            <a:rect r="r" b="b" t="t" l="l"/>
            <a:pathLst>
              <a:path h="7976908" w="5459935">
                <a:moveTo>
                  <a:pt x="0" y="0"/>
                </a:moveTo>
                <a:lnTo>
                  <a:pt x="5459935" y="0"/>
                </a:lnTo>
                <a:lnTo>
                  <a:pt x="5459935" y="7976908"/>
                </a:lnTo>
                <a:lnTo>
                  <a:pt x="0" y="7976908"/>
                </a:lnTo>
                <a:lnTo>
                  <a:pt x="0" y="0"/>
                </a:lnTo>
                <a:close/>
              </a:path>
            </a:pathLst>
          </a:custGeom>
          <a:blipFill>
            <a:blip r:embed="rId2">
              <a:extLst>
                <a:ext uri="{96DAC541-7B7A-43D3-8B79-37D633B846F1}">
                  <asvg:svgBlip xmlns:asvg="http://schemas.microsoft.com/office/drawing/2016/SVG/main" r:embed="rId3"/>
                </a:ext>
              </a:extLst>
            </a:blip>
            <a:stretch>
              <a:fillRect l="0" t="0" r="-56331" b="0"/>
            </a:stretch>
          </a:blipFill>
          <a:ln cap="sq">
            <a:noFill/>
            <a:prstDash val="solid"/>
            <a:miter/>
          </a:ln>
        </p:spPr>
      </p:sp>
      <p:sp>
        <p:nvSpPr>
          <p:cNvPr name="Freeform 3" id="3"/>
          <p:cNvSpPr/>
          <p:nvPr/>
        </p:nvSpPr>
        <p:spPr>
          <a:xfrm flipH="false" flipV="false" rot="-10151301">
            <a:off x="14445817" y="8614141"/>
            <a:ext cx="5150017" cy="6650972"/>
          </a:xfrm>
          <a:custGeom>
            <a:avLst/>
            <a:gdLst/>
            <a:ahLst/>
            <a:cxnLst/>
            <a:rect r="r" b="b" t="t" l="l"/>
            <a:pathLst>
              <a:path h="6650972" w="5150017">
                <a:moveTo>
                  <a:pt x="0" y="0"/>
                </a:moveTo>
                <a:lnTo>
                  <a:pt x="5150017" y="0"/>
                </a:lnTo>
                <a:lnTo>
                  <a:pt x="5150017" y="6650971"/>
                </a:lnTo>
                <a:lnTo>
                  <a:pt x="0" y="6650971"/>
                </a:lnTo>
                <a:lnTo>
                  <a:pt x="0" y="0"/>
                </a:lnTo>
                <a:close/>
              </a:path>
            </a:pathLst>
          </a:custGeom>
          <a:blipFill>
            <a:blip r:embed="rId2">
              <a:extLst>
                <a:ext uri="{96DAC541-7B7A-43D3-8B79-37D633B846F1}">
                  <asvg:svgBlip xmlns:asvg="http://schemas.microsoft.com/office/drawing/2016/SVG/main" r:embed="rId3"/>
                </a:ext>
              </a:extLst>
            </a:blip>
            <a:stretch>
              <a:fillRect l="0" t="0" r="-49717" b="-8341"/>
            </a:stretch>
          </a:blipFill>
          <a:ln cap="sq">
            <a:noFill/>
            <a:prstDash val="solid"/>
            <a:miter/>
          </a:ln>
        </p:spPr>
      </p:sp>
      <p:sp>
        <p:nvSpPr>
          <p:cNvPr name="TextBox 4" id="4"/>
          <p:cNvSpPr txBox="true"/>
          <p:nvPr/>
        </p:nvSpPr>
        <p:spPr>
          <a:xfrm rot="0">
            <a:off x="2772438" y="254066"/>
            <a:ext cx="14255381" cy="4302011"/>
          </a:xfrm>
          <a:prstGeom prst="rect">
            <a:avLst/>
          </a:prstGeom>
        </p:spPr>
        <p:txBody>
          <a:bodyPr anchor="t" rtlCol="false" tIns="0" lIns="0" bIns="0" rIns="0">
            <a:spAutoFit/>
          </a:bodyPr>
          <a:lstStyle/>
          <a:p>
            <a:pPr algn="r">
              <a:lnSpc>
                <a:spcPts val="8581"/>
              </a:lnSpc>
            </a:pPr>
            <a:r>
              <a:rPr lang="en-US" sz="6129" spc="576">
                <a:solidFill>
                  <a:srgbClr val="EDE8E4"/>
                </a:solidFill>
                <a:latin typeface="Glacial Indifference"/>
                <a:ea typeface="Glacial Indifference"/>
                <a:cs typeface="Glacial Indifference"/>
                <a:sym typeface="Glacial Indifference"/>
              </a:rPr>
              <a:t>¿CÓMO ASEGURAN OBJETIVOS CLAROS?</a:t>
            </a:r>
          </a:p>
          <a:p>
            <a:pPr algn="r">
              <a:lnSpc>
                <a:spcPts val="8581"/>
              </a:lnSpc>
            </a:pPr>
            <a:r>
              <a:rPr lang="en-US" sz="6129" spc="576">
                <a:solidFill>
                  <a:srgbClr val="EDE8E4"/>
                </a:solidFill>
                <a:latin typeface="Glacial Indifference"/>
                <a:ea typeface="Glacial Indifference"/>
                <a:cs typeface="Glacial Indifference"/>
                <a:sym typeface="Glacial Indifference"/>
              </a:rPr>
              <a:t>PARTE 1</a:t>
            </a:r>
          </a:p>
          <a:p>
            <a:pPr algn="r">
              <a:lnSpc>
                <a:spcPts val="8581"/>
              </a:lnSpc>
            </a:pPr>
          </a:p>
        </p:txBody>
      </p:sp>
      <p:sp>
        <p:nvSpPr>
          <p:cNvPr name="TextBox 5" id="5"/>
          <p:cNvSpPr txBox="true"/>
          <p:nvPr/>
        </p:nvSpPr>
        <p:spPr>
          <a:xfrm rot="0">
            <a:off x="817875" y="2625544"/>
            <a:ext cx="5923806" cy="614443"/>
          </a:xfrm>
          <a:prstGeom prst="rect">
            <a:avLst/>
          </a:prstGeom>
        </p:spPr>
        <p:txBody>
          <a:bodyPr anchor="t" rtlCol="false" tIns="0" lIns="0" bIns="0" rIns="0">
            <a:spAutoFit/>
          </a:bodyPr>
          <a:lstStyle/>
          <a:p>
            <a:pPr algn="ctr">
              <a:lnSpc>
                <a:spcPts val="4983"/>
              </a:lnSpc>
            </a:pPr>
            <a:r>
              <a:rPr lang="en-US" b="true" sz="3559" spc="35">
                <a:solidFill>
                  <a:srgbClr val="253754"/>
                </a:solidFill>
                <a:latin typeface="Glacial Indifference Bold"/>
                <a:ea typeface="Glacial Indifference Bold"/>
                <a:cs typeface="Glacial Indifference Bold"/>
                <a:sym typeface="Glacial Indifference Bold"/>
              </a:rPr>
              <a:t>E: </a:t>
            </a:r>
            <a:r>
              <a:rPr lang="en-US" sz="3559" spc="35">
                <a:solidFill>
                  <a:srgbClr val="253754"/>
                </a:solidFill>
                <a:latin typeface="Glacial Indifference"/>
                <a:ea typeface="Glacial Indifference"/>
                <a:cs typeface="Glacial Indifference"/>
                <a:sym typeface="Glacial Indifference"/>
              </a:rPr>
              <a:t>precios diferenciados</a:t>
            </a:r>
          </a:p>
        </p:txBody>
      </p:sp>
      <p:grpSp>
        <p:nvGrpSpPr>
          <p:cNvPr name="Group 6" id="6"/>
          <p:cNvGrpSpPr/>
          <p:nvPr/>
        </p:nvGrpSpPr>
        <p:grpSpPr>
          <a:xfrm rot="0">
            <a:off x="1292866" y="2384377"/>
            <a:ext cx="9764886" cy="4893121"/>
            <a:chOff x="0" y="0"/>
            <a:chExt cx="2172201" cy="1088476"/>
          </a:xfrm>
        </p:grpSpPr>
        <p:sp>
          <p:nvSpPr>
            <p:cNvPr name="Freeform 7" id="7"/>
            <p:cNvSpPr/>
            <p:nvPr/>
          </p:nvSpPr>
          <p:spPr>
            <a:xfrm flipH="false" flipV="false" rot="0">
              <a:off x="0" y="0"/>
              <a:ext cx="2172202" cy="1088476"/>
            </a:xfrm>
            <a:custGeom>
              <a:avLst/>
              <a:gdLst/>
              <a:ahLst/>
              <a:cxnLst/>
              <a:rect r="r" b="b" t="t" l="l"/>
              <a:pathLst>
                <a:path h="1088476" w="2172202">
                  <a:moveTo>
                    <a:pt x="46777" y="0"/>
                  </a:moveTo>
                  <a:lnTo>
                    <a:pt x="2125424" y="0"/>
                  </a:lnTo>
                  <a:cubicBezTo>
                    <a:pt x="2137831" y="0"/>
                    <a:pt x="2149728" y="4928"/>
                    <a:pt x="2158501" y="13701"/>
                  </a:cubicBezTo>
                  <a:cubicBezTo>
                    <a:pt x="2167273" y="22473"/>
                    <a:pt x="2172202" y="34371"/>
                    <a:pt x="2172202" y="46777"/>
                  </a:cubicBezTo>
                  <a:lnTo>
                    <a:pt x="2172202" y="1041699"/>
                  </a:lnTo>
                  <a:cubicBezTo>
                    <a:pt x="2172202" y="1067533"/>
                    <a:pt x="2151259" y="1088476"/>
                    <a:pt x="2125424" y="1088476"/>
                  </a:cubicBezTo>
                  <a:lnTo>
                    <a:pt x="46777" y="1088476"/>
                  </a:lnTo>
                  <a:cubicBezTo>
                    <a:pt x="20943" y="1088476"/>
                    <a:pt x="0" y="1067533"/>
                    <a:pt x="0" y="1041699"/>
                  </a:cubicBezTo>
                  <a:lnTo>
                    <a:pt x="0" y="46777"/>
                  </a:lnTo>
                  <a:cubicBezTo>
                    <a:pt x="0" y="20943"/>
                    <a:pt x="20943" y="0"/>
                    <a:pt x="46777" y="0"/>
                  </a:cubicBezTo>
                  <a:close/>
                </a:path>
              </a:pathLst>
            </a:custGeom>
            <a:ln w="38100" cap="rnd">
              <a:solidFill>
                <a:srgbClr val="E3D8D4"/>
              </a:solidFill>
              <a:prstDash val="solid"/>
              <a:round/>
            </a:ln>
          </p:spPr>
        </p:sp>
        <p:sp>
          <p:nvSpPr>
            <p:cNvPr name="TextBox 8" id="8"/>
            <p:cNvSpPr txBox="true"/>
            <p:nvPr/>
          </p:nvSpPr>
          <p:spPr>
            <a:xfrm>
              <a:off x="0" y="9525"/>
              <a:ext cx="2172201" cy="1078951"/>
            </a:xfrm>
            <a:prstGeom prst="rect">
              <a:avLst/>
            </a:prstGeom>
          </p:spPr>
          <p:txBody>
            <a:bodyPr anchor="ctr" rtlCol="false" tIns="50800" lIns="50800" bIns="50800" rIns="50800"/>
            <a:lstStyle/>
            <a:p>
              <a:pPr algn="ctr">
                <a:lnSpc>
                  <a:spcPts val="2121"/>
                </a:lnSpc>
              </a:pPr>
            </a:p>
            <a:p>
              <a:pPr algn="ctr">
                <a:lnSpc>
                  <a:spcPts val="2121"/>
                </a:lnSpc>
              </a:pPr>
            </a:p>
          </p:txBody>
        </p:sp>
      </p:grpSp>
      <p:sp>
        <p:nvSpPr>
          <p:cNvPr name="Freeform 9" id="9"/>
          <p:cNvSpPr/>
          <p:nvPr/>
        </p:nvSpPr>
        <p:spPr>
          <a:xfrm flipH="false" flipV="false" rot="-10800000">
            <a:off x="1292866" y="2384377"/>
            <a:ext cx="9764886" cy="1035821"/>
          </a:xfrm>
          <a:custGeom>
            <a:avLst/>
            <a:gdLst/>
            <a:ahLst/>
            <a:cxnLst/>
            <a:rect r="r" b="b" t="t" l="l"/>
            <a:pathLst>
              <a:path h="1035821" w="9764886">
                <a:moveTo>
                  <a:pt x="0" y="0"/>
                </a:moveTo>
                <a:lnTo>
                  <a:pt x="9764886" y="0"/>
                </a:lnTo>
                <a:lnTo>
                  <a:pt x="9764886" y="1035821"/>
                </a:lnTo>
                <a:lnTo>
                  <a:pt x="0" y="1035821"/>
                </a:lnTo>
                <a:lnTo>
                  <a:pt x="0" y="0"/>
                </a:lnTo>
                <a:close/>
              </a:path>
            </a:pathLst>
          </a:custGeom>
          <a:blipFill>
            <a:blip r:embed="rId4">
              <a:extLst>
                <a:ext uri="{96DAC541-7B7A-43D3-8B79-37D633B846F1}">
                  <asvg:svgBlip xmlns:asvg="http://schemas.microsoft.com/office/drawing/2016/SVG/main" r:embed="rId5"/>
                </a:ext>
              </a:extLst>
            </a:blip>
            <a:stretch>
              <a:fillRect l="0" t="-1090462" r="0" b="-58901"/>
            </a:stretch>
          </a:blipFill>
        </p:spPr>
      </p:sp>
      <p:grpSp>
        <p:nvGrpSpPr>
          <p:cNvPr name="Group 10" id="10"/>
          <p:cNvGrpSpPr/>
          <p:nvPr/>
        </p:nvGrpSpPr>
        <p:grpSpPr>
          <a:xfrm rot="0">
            <a:off x="1433338" y="4671930"/>
            <a:ext cx="9099254" cy="2180574"/>
            <a:chOff x="0" y="0"/>
            <a:chExt cx="1438592" cy="344749"/>
          </a:xfrm>
        </p:grpSpPr>
        <p:sp>
          <p:nvSpPr>
            <p:cNvPr name="Freeform 11" id="11"/>
            <p:cNvSpPr/>
            <p:nvPr/>
          </p:nvSpPr>
          <p:spPr>
            <a:xfrm flipH="false" flipV="false" rot="0">
              <a:off x="0" y="0"/>
              <a:ext cx="1438592" cy="344749"/>
            </a:xfrm>
            <a:custGeom>
              <a:avLst/>
              <a:gdLst/>
              <a:ahLst/>
              <a:cxnLst/>
              <a:rect r="r" b="b" t="t" l="l"/>
              <a:pathLst>
                <a:path h="344749" w="1438592">
                  <a:moveTo>
                    <a:pt x="22122" y="0"/>
                  </a:moveTo>
                  <a:lnTo>
                    <a:pt x="1416470" y="0"/>
                  </a:lnTo>
                  <a:cubicBezTo>
                    <a:pt x="1422337" y="0"/>
                    <a:pt x="1427964" y="2331"/>
                    <a:pt x="1432113" y="6479"/>
                  </a:cubicBezTo>
                  <a:cubicBezTo>
                    <a:pt x="1436261" y="10628"/>
                    <a:pt x="1438592" y="16255"/>
                    <a:pt x="1438592" y="22122"/>
                  </a:cubicBezTo>
                  <a:lnTo>
                    <a:pt x="1438592" y="322627"/>
                  </a:lnTo>
                  <a:cubicBezTo>
                    <a:pt x="1438592" y="328494"/>
                    <a:pt x="1436261" y="334121"/>
                    <a:pt x="1432113" y="338269"/>
                  </a:cubicBezTo>
                  <a:cubicBezTo>
                    <a:pt x="1427964" y="342418"/>
                    <a:pt x="1422337" y="344749"/>
                    <a:pt x="1416470" y="344749"/>
                  </a:cubicBezTo>
                  <a:lnTo>
                    <a:pt x="22122" y="344749"/>
                  </a:lnTo>
                  <a:cubicBezTo>
                    <a:pt x="9904" y="344749"/>
                    <a:pt x="0" y="334845"/>
                    <a:pt x="0" y="322627"/>
                  </a:cubicBezTo>
                  <a:lnTo>
                    <a:pt x="0" y="22122"/>
                  </a:lnTo>
                  <a:cubicBezTo>
                    <a:pt x="0" y="16255"/>
                    <a:pt x="2331" y="10628"/>
                    <a:pt x="6479" y="6479"/>
                  </a:cubicBezTo>
                  <a:cubicBezTo>
                    <a:pt x="10628" y="2331"/>
                    <a:pt x="16255" y="0"/>
                    <a:pt x="22122" y="0"/>
                  </a:cubicBezTo>
                  <a:close/>
                </a:path>
              </a:pathLst>
            </a:custGeom>
            <a:solidFill>
              <a:srgbClr val="EDE8E4"/>
            </a:solidFill>
          </p:spPr>
        </p:sp>
        <p:sp>
          <p:nvSpPr>
            <p:cNvPr name="TextBox 12" id="12"/>
            <p:cNvSpPr txBox="true"/>
            <p:nvPr/>
          </p:nvSpPr>
          <p:spPr>
            <a:xfrm>
              <a:off x="0" y="9525"/>
              <a:ext cx="1438592" cy="335224"/>
            </a:xfrm>
            <a:prstGeom prst="rect">
              <a:avLst/>
            </a:prstGeom>
          </p:spPr>
          <p:txBody>
            <a:bodyPr anchor="ctr" rtlCol="false" tIns="50800" lIns="50800" bIns="50800" rIns="50800"/>
            <a:lstStyle/>
            <a:p>
              <a:pPr algn="ctr">
                <a:lnSpc>
                  <a:spcPts val="2121"/>
                </a:lnSpc>
              </a:pPr>
            </a:p>
          </p:txBody>
        </p:sp>
      </p:grpSp>
      <p:sp>
        <p:nvSpPr>
          <p:cNvPr name="TextBox 13" id="13"/>
          <p:cNvSpPr txBox="true"/>
          <p:nvPr/>
        </p:nvSpPr>
        <p:spPr>
          <a:xfrm rot="0">
            <a:off x="1849720" y="2605032"/>
            <a:ext cx="8682872" cy="1268732"/>
          </a:xfrm>
          <a:prstGeom prst="rect">
            <a:avLst/>
          </a:prstGeom>
        </p:spPr>
        <p:txBody>
          <a:bodyPr anchor="t" rtlCol="false" tIns="0" lIns="0" bIns="0" rIns="0">
            <a:spAutoFit/>
          </a:bodyPr>
          <a:lstStyle/>
          <a:p>
            <a:pPr algn="ctr">
              <a:lnSpc>
                <a:spcPts val="5130"/>
              </a:lnSpc>
            </a:pPr>
            <a:r>
              <a:rPr lang="en-US" b="true" sz="3664" spc="153">
                <a:solidFill>
                  <a:srgbClr val="253754"/>
                </a:solidFill>
                <a:latin typeface="Glacial Indifference Bold"/>
                <a:ea typeface="Glacial Indifference Bold"/>
                <a:cs typeface="Glacial Indifference Bold"/>
                <a:sym typeface="Glacial Indifference Bold"/>
              </a:rPr>
              <a:t>Balanced Scorecard</a:t>
            </a:r>
          </a:p>
          <a:p>
            <a:pPr algn="ctr">
              <a:lnSpc>
                <a:spcPts val="5130"/>
              </a:lnSpc>
            </a:pPr>
          </a:p>
        </p:txBody>
      </p:sp>
      <p:sp>
        <p:nvSpPr>
          <p:cNvPr name="TextBox 14" id="14"/>
          <p:cNvSpPr txBox="true"/>
          <p:nvPr/>
        </p:nvSpPr>
        <p:spPr>
          <a:xfrm rot="0">
            <a:off x="1433338" y="3513132"/>
            <a:ext cx="9624414" cy="1253724"/>
          </a:xfrm>
          <a:prstGeom prst="rect">
            <a:avLst/>
          </a:prstGeom>
        </p:spPr>
        <p:txBody>
          <a:bodyPr anchor="t" rtlCol="false" tIns="0" lIns="0" bIns="0" rIns="0">
            <a:spAutoFit/>
          </a:bodyPr>
          <a:lstStyle/>
          <a:p>
            <a:pPr algn="l">
              <a:lnSpc>
                <a:spcPts val="3347"/>
              </a:lnSpc>
            </a:pPr>
            <a:r>
              <a:rPr lang="en-US" sz="2390" spc="52">
                <a:solidFill>
                  <a:srgbClr val="FEFEFE"/>
                </a:solidFill>
                <a:latin typeface="Glacial Indifference"/>
                <a:ea typeface="Glacial Indifference"/>
                <a:cs typeface="Glacial Indifference"/>
                <a:sym typeface="Glacial Indifference"/>
              </a:rPr>
              <a:t>Herramienta adoptada para traducir misión y visión en indicadores medibles.</a:t>
            </a:r>
          </a:p>
          <a:p>
            <a:pPr algn="l">
              <a:lnSpc>
                <a:spcPts val="3347"/>
              </a:lnSpc>
            </a:pPr>
          </a:p>
        </p:txBody>
      </p:sp>
      <p:sp>
        <p:nvSpPr>
          <p:cNvPr name="TextBox 15" id="15"/>
          <p:cNvSpPr txBox="true"/>
          <p:nvPr/>
        </p:nvSpPr>
        <p:spPr>
          <a:xfrm rot="0">
            <a:off x="1849720" y="4862106"/>
            <a:ext cx="7572894" cy="1498997"/>
          </a:xfrm>
          <a:prstGeom prst="rect">
            <a:avLst/>
          </a:prstGeom>
        </p:spPr>
        <p:txBody>
          <a:bodyPr anchor="t" rtlCol="false" tIns="0" lIns="0" bIns="0" rIns="0">
            <a:spAutoFit/>
          </a:bodyPr>
          <a:lstStyle/>
          <a:p>
            <a:pPr algn="l" marL="617337" indent="-308669" lvl="1">
              <a:lnSpc>
                <a:spcPts val="4003"/>
              </a:lnSpc>
              <a:buFont typeface="Arial"/>
              <a:buChar char="•"/>
            </a:pPr>
            <a:r>
              <a:rPr lang="en-US" sz="2859" spc="28">
                <a:solidFill>
                  <a:srgbClr val="253754"/>
                </a:solidFill>
                <a:latin typeface="Glacial Indifference"/>
                <a:ea typeface="Glacial Indifference"/>
                <a:cs typeface="Glacial Indifference"/>
                <a:sym typeface="Glacial Indifference"/>
              </a:rPr>
              <a:t>Mapa estratégico con relaciones causales</a:t>
            </a:r>
          </a:p>
          <a:p>
            <a:pPr algn="l" marL="617337" indent="-308669" lvl="1">
              <a:lnSpc>
                <a:spcPts val="4003"/>
              </a:lnSpc>
              <a:buFont typeface="Arial"/>
              <a:buChar char="•"/>
            </a:pPr>
            <a:r>
              <a:rPr lang="en-US" sz="2859" spc="28">
                <a:solidFill>
                  <a:srgbClr val="253754"/>
                </a:solidFill>
                <a:latin typeface="Glacial Indifference"/>
                <a:ea typeface="Glacial Indifference"/>
                <a:cs typeface="Glacial Indifference"/>
                <a:sym typeface="Glacial Indifference"/>
              </a:rPr>
              <a:t>Cada área conoce su resultado esperado</a:t>
            </a:r>
          </a:p>
          <a:p>
            <a:pPr algn="l" marL="617337" indent="-308669" lvl="1">
              <a:lnSpc>
                <a:spcPts val="4003"/>
              </a:lnSpc>
              <a:buFont typeface="Arial"/>
              <a:buChar char="•"/>
            </a:pPr>
            <a:r>
              <a:rPr lang="en-US" sz="2859" spc="28">
                <a:solidFill>
                  <a:srgbClr val="253754"/>
                </a:solidFill>
                <a:latin typeface="Glacial Indifference"/>
                <a:ea typeface="Glacial Indifference"/>
                <a:cs typeface="Glacial Indifference"/>
                <a:sym typeface="Glacial Indifference"/>
              </a:rPr>
              <a:t>Conexión clara con estrategia global</a:t>
            </a:r>
          </a:p>
        </p:txBody>
      </p:sp>
      <p:grpSp>
        <p:nvGrpSpPr>
          <p:cNvPr name="Group 16" id="16"/>
          <p:cNvGrpSpPr/>
          <p:nvPr/>
        </p:nvGrpSpPr>
        <p:grpSpPr>
          <a:xfrm rot="0">
            <a:off x="557743" y="7591823"/>
            <a:ext cx="10500009" cy="1666477"/>
            <a:chOff x="0" y="0"/>
            <a:chExt cx="1660051" cy="263470"/>
          </a:xfrm>
        </p:grpSpPr>
        <p:sp>
          <p:nvSpPr>
            <p:cNvPr name="Freeform 17" id="17"/>
            <p:cNvSpPr/>
            <p:nvPr/>
          </p:nvSpPr>
          <p:spPr>
            <a:xfrm flipH="false" flipV="false" rot="0">
              <a:off x="0" y="0"/>
              <a:ext cx="1660051" cy="263470"/>
            </a:xfrm>
            <a:custGeom>
              <a:avLst/>
              <a:gdLst/>
              <a:ahLst/>
              <a:cxnLst/>
              <a:rect r="r" b="b" t="t" l="l"/>
              <a:pathLst>
                <a:path h="263470" w="1660051">
                  <a:moveTo>
                    <a:pt x="19170" y="0"/>
                  </a:moveTo>
                  <a:lnTo>
                    <a:pt x="1640881" y="0"/>
                  </a:lnTo>
                  <a:cubicBezTo>
                    <a:pt x="1651468" y="0"/>
                    <a:pt x="1660051" y="8583"/>
                    <a:pt x="1660051" y="19170"/>
                  </a:cubicBezTo>
                  <a:lnTo>
                    <a:pt x="1660051" y="244299"/>
                  </a:lnTo>
                  <a:cubicBezTo>
                    <a:pt x="1660051" y="249384"/>
                    <a:pt x="1658032" y="254260"/>
                    <a:pt x="1654436" y="257855"/>
                  </a:cubicBezTo>
                  <a:cubicBezTo>
                    <a:pt x="1650841" y="261450"/>
                    <a:pt x="1645965" y="263470"/>
                    <a:pt x="1640881" y="263470"/>
                  </a:cubicBezTo>
                  <a:lnTo>
                    <a:pt x="19170" y="263470"/>
                  </a:lnTo>
                  <a:cubicBezTo>
                    <a:pt x="8583" y="263470"/>
                    <a:pt x="0" y="254887"/>
                    <a:pt x="0" y="244299"/>
                  </a:cubicBezTo>
                  <a:lnTo>
                    <a:pt x="0" y="19170"/>
                  </a:lnTo>
                  <a:cubicBezTo>
                    <a:pt x="0" y="14086"/>
                    <a:pt x="2020" y="9210"/>
                    <a:pt x="5615" y="5615"/>
                  </a:cubicBezTo>
                  <a:cubicBezTo>
                    <a:pt x="9210" y="2020"/>
                    <a:pt x="14086" y="0"/>
                    <a:pt x="19170" y="0"/>
                  </a:cubicBezTo>
                  <a:close/>
                </a:path>
              </a:pathLst>
            </a:custGeom>
            <a:solidFill>
              <a:srgbClr val="EDE8E4"/>
            </a:solidFill>
          </p:spPr>
        </p:sp>
        <p:sp>
          <p:nvSpPr>
            <p:cNvPr name="TextBox 18" id="18"/>
            <p:cNvSpPr txBox="true"/>
            <p:nvPr/>
          </p:nvSpPr>
          <p:spPr>
            <a:xfrm>
              <a:off x="0" y="9525"/>
              <a:ext cx="1660051" cy="253945"/>
            </a:xfrm>
            <a:prstGeom prst="rect">
              <a:avLst/>
            </a:prstGeom>
          </p:spPr>
          <p:txBody>
            <a:bodyPr anchor="ctr" rtlCol="false" tIns="50800" lIns="50800" bIns="50800" rIns="50800"/>
            <a:lstStyle/>
            <a:p>
              <a:pPr algn="ctr">
                <a:lnSpc>
                  <a:spcPts val="2121"/>
                </a:lnSpc>
              </a:pPr>
            </a:p>
          </p:txBody>
        </p:sp>
      </p:grpSp>
      <p:sp>
        <p:nvSpPr>
          <p:cNvPr name="TextBox 19" id="19"/>
          <p:cNvSpPr txBox="true"/>
          <p:nvPr/>
        </p:nvSpPr>
        <p:spPr>
          <a:xfrm rot="0">
            <a:off x="1340652" y="7898647"/>
            <a:ext cx="9284625" cy="986155"/>
          </a:xfrm>
          <a:prstGeom prst="rect">
            <a:avLst/>
          </a:prstGeom>
        </p:spPr>
        <p:txBody>
          <a:bodyPr anchor="t" rtlCol="false" tIns="0" lIns="0" bIns="0" rIns="0">
            <a:spAutoFit/>
          </a:bodyPr>
          <a:lstStyle/>
          <a:p>
            <a:pPr algn="ctr">
              <a:lnSpc>
                <a:spcPts val="3919"/>
              </a:lnSpc>
            </a:pPr>
            <a:r>
              <a:rPr lang="en-US" b="true" sz="2799" spc="117">
                <a:solidFill>
                  <a:srgbClr val="253754"/>
                </a:solidFill>
                <a:latin typeface="Glacial Indifference Bold"/>
                <a:ea typeface="Glacial Indifference Bold"/>
                <a:cs typeface="Glacial Indifference Bold"/>
                <a:sym typeface="Glacial Indifference Bold"/>
              </a:rPr>
              <a:t>resultados: </a:t>
            </a:r>
            <a:r>
              <a:rPr lang="en-US" sz="2799" spc="117">
                <a:solidFill>
                  <a:srgbClr val="253754"/>
                </a:solidFill>
                <a:latin typeface="Glacial Indifference"/>
                <a:ea typeface="Glacial Indifference"/>
                <a:cs typeface="Glacial Indifference"/>
                <a:sym typeface="Glacial Indifference"/>
              </a:rPr>
              <a:t>Todos los objetivos tienen KPIs asociados y responsables definidos.</a:t>
            </a:r>
          </a:p>
        </p:txBody>
      </p:sp>
      <p:grpSp>
        <p:nvGrpSpPr>
          <p:cNvPr name="Group 20" id="20"/>
          <p:cNvGrpSpPr/>
          <p:nvPr/>
        </p:nvGrpSpPr>
        <p:grpSpPr>
          <a:xfrm rot="0">
            <a:off x="11530199" y="2472695"/>
            <a:ext cx="6304806" cy="7312139"/>
            <a:chOff x="0" y="0"/>
            <a:chExt cx="1402506" cy="1626587"/>
          </a:xfrm>
        </p:grpSpPr>
        <p:sp>
          <p:nvSpPr>
            <p:cNvPr name="Freeform 21" id="21"/>
            <p:cNvSpPr/>
            <p:nvPr/>
          </p:nvSpPr>
          <p:spPr>
            <a:xfrm flipH="false" flipV="false" rot="0">
              <a:off x="0" y="0"/>
              <a:ext cx="1402506" cy="1626587"/>
            </a:xfrm>
            <a:custGeom>
              <a:avLst/>
              <a:gdLst/>
              <a:ahLst/>
              <a:cxnLst/>
              <a:rect r="r" b="b" t="t" l="l"/>
              <a:pathLst>
                <a:path h="1626587" w="1402506">
                  <a:moveTo>
                    <a:pt x="72448" y="0"/>
                  </a:moveTo>
                  <a:lnTo>
                    <a:pt x="1330057" y="0"/>
                  </a:lnTo>
                  <a:cubicBezTo>
                    <a:pt x="1349272" y="0"/>
                    <a:pt x="1367699" y="7633"/>
                    <a:pt x="1381286" y="21220"/>
                  </a:cubicBezTo>
                  <a:cubicBezTo>
                    <a:pt x="1394873" y="34806"/>
                    <a:pt x="1402506" y="53234"/>
                    <a:pt x="1402506" y="72448"/>
                  </a:cubicBezTo>
                  <a:lnTo>
                    <a:pt x="1402506" y="1554139"/>
                  </a:lnTo>
                  <a:cubicBezTo>
                    <a:pt x="1402506" y="1594151"/>
                    <a:pt x="1370069" y="1626587"/>
                    <a:pt x="1330057" y="1626587"/>
                  </a:cubicBezTo>
                  <a:lnTo>
                    <a:pt x="72448" y="1626587"/>
                  </a:lnTo>
                  <a:cubicBezTo>
                    <a:pt x="32436" y="1626587"/>
                    <a:pt x="0" y="1594151"/>
                    <a:pt x="0" y="1554139"/>
                  </a:cubicBezTo>
                  <a:lnTo>
                    <a:pt x="0" y="72448"/>
                  </a:lnTo>
                  <a:cubicBezTo>
                    <a:pt x="0" y="32436"/>
                    <a:pt x="32436" y="0"/>
                    <a:pt x="72448" y="0"/>
                  </a:cubicBezTo>
                  <a:close/>
                </a:path>
              </a:pathLst>
            </a:custGeom>
            <a:ln w="38100" cap="rnd">
              <a:solidFill>
                <a:srgbClr val="E3D8D4"/>
              </a:solidFill>
              <a:prstDash val="solid"/>
              <a:round/>
            </a:ln>
          </p:spPr>
        </p:sp>
        <p:sp>
          <p:nvSpPr>
            <p:cNvPr name="TextBox 22" id="22"/>
            <p:cNvSpPr txBox="true"/>
            <p:nvPr/>
          </p:nvSpPr>
          <p:spPr>
            <a:xfrm>
              <a:off x="0" y="9525"/>
              <a:ext cx="1402506" cy="1617062"/>
            </a:xfrm>
            <a:prstGeom prst="rect">
              <a:avLst/>
            </a:prstGeom>
          </p:spPr>
          <p:txBody>
            <a:bodyPr anchor="ctr" rtlCol="false" tIns="50800" lIns="50800" bIns="50800" rIns="50800"/>
            <a:lstStyle/>
            <a:p>
              <a:pPr algn="ctr">
                <a:lnSpc>
                  <a:spcPts val="2121"/>
                </a:lnSpc>
              </a:pPr>
            </a:p>
            <a:p>
              <a:pPr algn="ctr">
                <a:lnSpc>
                  <a:spcPts val="2121"/>
                </a:lnSpc>
              </a:pPr>
            </a:p>
          </p:txBody>
        </p:sp>
      </p:grpSp>
      <p:sp>
        <p:nvSpPr>
          <p:cNvPr name="Freeform 23" id="23"/>
          <p:cNvSpPr/>
          <p:nvPr/>
        </p:nvSpPr>
        <p:spPr>
          <a:xfrm flipH="false" flipV="false" rot="-10800000">
            <a:off x="11530199" y="2472695"/>
            <a:ext cx="6304806" cy="1097587"/>
          </a:xfrm>
          <a:custGeom>
            <a:avLst/>
            <a:gdLst/>
            <a:ahLst/>
            <a:cxnLst/>
            <a:rect r="r" b="b" t="t" l="l"/>
            <a:pathLst>
              <a:path h="1097587" w="6304806">
                <a:moveTo>
                  <a:pt x="0" y="0"/>
                </a:moveTo>
                <a:lnTo>
                  <a:pt x="6304806" y="0"/>
                </a:lnTo>
                <a:lnTo>
                  <a:pt x="6304806" y="1097587"/>
                </a:lnTo>
                <a:lnTo>
                  <a:pt x="0" y="1097587"/>
                </a:lnTo>
                <a:lnTo>
                  <a:pt x="0" y="0"/>
                </a:lnTo>
                <a:close/>
              </a:path>
            </a:pathLst>
          </a:custGeom>
          <a:blipFill>
            <a:blip r:embed="rId4">
              <a:extLst>
                <a:ext uri="{96DAC541-7B7A-43D3-8B79-37D633B846F1}">
                  <asvg:svgBlip xmlns:asvg="http://schemas.microsoft.com/office/drawing/2016/SVG/main" r:embed="rId5"/>
                </a:ext>
              </a:extLst>
            </a:blip>
            <a:stretch>
              <a:fillRect l="0" t="-660351" r="0" b="-920"/>
            </a:stretch>
          </a:blipFill>
        </p:spPr>
      </p:sp>
      <p:sp>
        <p:nvSpPr>
          <p:cNvPr name="TextBox 24" id="24"/>
          <p:cNvSpPr txBox="true"/>
          <p:nvPr/>
        </p:nvSpPr>
        <p:spPr>
          <a:xfrm rot="0">
            <a:off x="11827514" y="2681174"/>
            <a:ext cx="5710176" cy="522233"/>
          </a:xfrm>
          <a:prstGeom prst="rect">
            <a:avLst/>
          </a:prstGeom>
        </p:spPr>
        <p:txBody>
          <a:bodyPr anchor="t" rtlCol="false" tIns="0" lIns="0" bIns="0" rIns="0">
            <a:spAutoFit/>
          </a:bodyPr>
          <a:lstStyle/>
          <a:p>
            <a:pPr algn="l">
              <a:lnSpc>
                <a:spcPts val="4290"/>
              </a:lnSpc>
            </a:pPr>
            <a:r>
              <a:rPr lang="en-US" sz="3064" spc="128" b="true">
                <a:solidFill>
                  <a:srgbClr val="253754"/>
                </a:solidFill>
                <a:latin typeface="Glacial Indifference Bold"/>
                <a:ea typeface="Glacial Indifference Bold"/>
                <a:cs typeface="Glacial Indifference Bold"/>
                <a:sym typeface="Glacial Indifference Bold"/>
              </a:rPr>
              <a:t>Segmentación de Marcas</a:t>
            </a:r>
          </a:p>
        </p:txBody>
      </p:sp>
      <p:sp>
        <p:nvSpPr>
          <p:cNvPr name="TextBox 25" id="25"/>
          <p:cNvSpPr txBox="true"/>
          <p:nvPr/>
        </p:nvSpPr>
        <p:spPr>
          <a:xfrm rot="0">
            <a:off x="11901312" y="3735267"/>
            <a:ext cx="5562581" cy="941304"/>
          </a:xfrm>
          <a:prstGeom prst="rect">
            <a:avLst/>
          </a:prstGeom>
        </p:spPr>
        <p:txBody>
          <a:bodyPr anchor="t" rtlCol="false" tIns="0" lIns="0" bIns="0" rIns="0">
            <a:spAutoFit/>
          </a:bodyPr>
          <a:lstStyle/>
          <a:p>
            <a:pPr algn="l">
              <a:lnSpc>
                <a:spcPts val="3767"/>
              </a:lnSpc>
            </a:pPr>
            <a:r>
              <a:rPr lang="en-US" sz="2690" spc="59">
                <a:solidFill>
                  <a:srgbClr val="FEFEFE"/>
                </a:solidFill>
                <a:latin typeface="Glacial Indifference"/>
                <a:ea typeface="Glacial Indifference"/>
                <a:cs typeface="Glacial Indifference"/>
                <a:sym typeface="Glacial Indifference"/>
              </a:rPr>
              <a:t>Cada tipo de sala es una unidad de negocio con:</a:t>
            </a:r>
          </a:p>
        </p:txBody>
      </p:sp>
      <p:grpSp>
        <p:nvGrpSpPr>
          <p:cNvPr name="Group 26" id="26"/>
          <p:cNvGrpSpPr/>
          <p:nvPr/>
        </p:nvGrpSpPr>
        <p:grpSpPr>
          <a:xfrm rot="0">
            <a:off x="11676805" y="5028996"/>
            <a:ext cx="2541946" cy="2180574"/>
            <a:chOff x="0" y="0"/>
            <a:chExt cx="401882" cy="344749"/>
          </a:xfrm>
        </p:grpSpPr>
        <p:sp>
          <p:nvSpPr>
            <p:cNvPr name="Freeform 27" id="27"/>
            <p:cNvSpPr/>
            <p:nvPr/>
          </p:nvSpPr>
          <p:spPr>
            <a:xfrm flipH="false" flipV="false" rot="0">
              <a:off x="0" y="0"/>
              <a:ext cx="401882" cy="344749"/>
            </a:xfrm>
            <a:custGeom>
              <a:avLst/>
              <a:gdLst/>
              <a:ahLst/>
              <a:cxnLst/>
              <a:rect r="r" b="b" t="t" l="l"/>
              <a:pathLst>
                <a:path h="344749" w="401882">
                  <a:moveTo>
                    <a:pt x="79187" y="0"/>
                  </a:moveTo>
                  <a:lnTo>
                    <a:pt x="322694" y="0"/>
                  </a:lnTo>
                  <a:cubicBezTo>
                    <a:pt x="366428" y="0"/>
                    <a:pt x="401882" y="35453"/>
                    <a:pt x="401882" y="79187"/>
                  </a:cubicBezTo>
                  <a:lnTo>
                    <a:pt x="401882" y="265561"/>
                  </a:lnTo>
                  <a:cubicBezTo>
                    <a:pt x="401882" y="309295"/>
                    <a:pt x="366428" y="344749"/>
                    <a:pt x="322694" y="344749"/>
                  </a:cubicBezTo>
                  <a:lnTo>
                    <a:pt x="79187" y="344749"/>
                  </a:lnTo>
                  <a:cubicBezTo>
                    <a:pt x="35453" y="344749"/>
                    <a:pt x="0" y="309295"/>
                    <a:pt x="0" y="265561"/>
                  </a:cubicBezTo>
                  <a:lnTo>
                    <a:pt x="0" y="79187"/>
                  </a:lnTo>
                  <a:cubicBezTo>
                    <a:pt x="0" y="35453"/>
                    <a:pt x="35453" y="0"/>
                    <a:pt x="79187" y="0"/>
                  </a:cubicBezTo>
                  <a:close/>
                </a:path>
              </a:pathLst>
            </a:custGeom>
            <a:solidFill>
              <a:srgbClr val="EDE8E4"/>
            </a:solidFill>
          </p:spPr>
        </p:sp>
        <p:sp>
          <p:nvSpPr>
            <p:cNvPr name="TextBox 28" id="28"/>
            <p:cNvSpPr txBox="true"/>
            <p:nvPr/>
          </p:nvSpPr>
          <p:spPr>
            <a:xfrm>
              <a:off x="0" y="9525"/>
              <a:ext cx="401882" cy="335224"/>
            </a:xfrm>
            <a:prstGeom prst="rect">
              <a:avLst/>
            </a:prstGeom>
          </p:spPr>
          <p:txBody>
            <a:bodyPr anchor="ctr" rtlCol="false" tIns="50800" lIns="50800" bIns="50800" rIns="50800"/>
            <a:lstStyle/>
            <a:p>
              <a:pPr algn="ctr">
                <a:lnSpc>
                  <a:spcPts val="2121"/>
                </a:lnSpc>
              </a:pPr>
            </a:p>
          </p:txBody>
        </p:sp>
      </p:grpSp>
      <p:sp>
        <p:nvSpPr>
          <p:cNvPr name="TextBox 29" id="29"/>
          <p:cNvSpPr txBox="true"/>
          <p:nvPr/>
        </p:nvSpPr>
        <p:spPr>
          <a:xfrm rot="0">
            <a:off x="11901312" y="5209971"/>
            <a:ext cx="2190923" cy="1417320"/>
          </a:xfrm>
          <a:prstGeom prst="rect">
            <a:avLst/>
          </a:prstGeom>
        </p:spPr>
        <p:txBody>
          <a:bodyPr anchor="t" rtlCol="false" tIns="0" lIns="0" bIns="0" rIns="0">
            <a:spAutoFit/>
          </a:bodyPr>
          <a:lstStyle/>
          <a:p>
            <a:pPr algn="l">
              <a:lnSpc>
                <a:spcPts val="3779"/>
              </a:lnSpc>
            </a:pPr>
            <a:r>
              <a:rPr lang="en-US" sz="2700" spc="113" b="true">
                <a:solidFill>
                  <a:srgbClr val="253754"/>
                </a:solidFill>
                <a:latin typeface="Glacial Indifference Bold"/>
                <a:ea typeface="Glacial Indifference Bold"/>
                <a:cs typeface="Glacial Indifference Bold"/>
                <a:sym typeface="Glacial Indifference Bold"/>
              </a:rPr>
              <a:t>segmento</a:t>
            </a:r>
            <a:r>
              <a:rPr lang="en-US" sz="2700" spc="113">
                <a:solidFill>
                  <a:srgbClr val="253754"/>
                </a:solidFill>
                <a:latin typeface="Glacial Indifference"/>
                <a:ea typeface="Glacial Indifference"/>
                <a:cs typeface="Glacial Indifference"/>
                <a:sym typeface="Glacial Indifference"/>
              </a:rPr>
              <a:t>: objetivo especifico</a:t>
            </a:r>
          </a:p>
        </p:txBody>
      </p:sp>
      <p:grpSp>
        <p:nvGrpSpPr>
          <p:cNvPr name="Group 30" id="30"/>
          <p:cNvGrpSpPr/>
          <p:nvPr/>
        </p:nvGrpSpPr>
        <p:grpSpPr>
          <a:xfrm rot="0">
            <a:off x="14485873" y="5028996"/>
            <a:ext cx="2541946" cy="2180574"/>
            <a:chOff x="0" y="0"/>
            <a:chExt cx="401882" cy="344749"/>
          </a:xfrm>
        </p:grpSpPr>
        <p:sp>
          <p:nvSpPr>
            <p:cNvPr name="Freeform 31" id="31"/>
            <p:cNvSpPr/>
            <p:nvPr/>
          </p:nvSpPr>
          <p:spPr>
            <a:xfrm flipH="false" flipV="false" rot="0">
              <a:off x="0" y="0"/>
              <a:ext cx="401882" cy="344749"/>
            </a:xfrm>
            <a:custGeom>
              <a:avLst/>
              <a:gdLst/>
              <a:ahLst/>
              <a:cxnLst/>
              <a:rect r="r" b="b" t="t" l="l"/>
              <a:pathLst>
                <a:path h="344749" w="401882">
                  <a:moveTo>
                    <a:pt x="79187" y="0"/>
                  </a:moveTo>
                  <a:lnTo>
                    <a:pt x="322694" y="0"/>
                  </a:lnTo>
                  <a:cubicBezTo>
                    <a:pt x="366428" y="0"/>
                    <a:pt x="401882" y="35453"/>
                    <a:pt x="401882" y="79187"/>
                  </a:cubicBezTo>
                  <a:lnTo>
                    <a:pt x="401882" y="265561"/>
                  </a:lnTo>
                  <a:cubicBezTo>
                    <a:pt x="401882" y="309295"/>
                    <a:pt x="366428" y="344749"/>
                    <a:pt x="322694" y="344749"/>
                  </a:cubicBezTo>
                  <a:lnTo>
                    <a:pt x="79187" y="344749"/>
                  </a:lnTo>
                  <a:cubicBezTo>
                    <a:pt x="35453" y="344749"/>
                    <a:pt x="0" y="309295"/>
                    <a:pt x="0" y="265561"/>
                  </a:cubicBezTo>
                  <a:lnTo>
                    <a:pt x="0" y="79187"/>
                  </a:lnTo>
                  <a:cubicBezTo>
                    <a:pt x="0" y="35453"/>
                    <a:pt x="35453" y="0"/>
                    <a:pt x="79187" y="0"/>
                  </a:cubicBezTo>
                  <a:close/>
                </a:path>
              </a:pathLst>
            </a:custGeom>
            <a:solidFill>
              <a:srgbClr val="EDE8E4"/>
            </a:solidFill>
          </p:spPr>
        </p:sp>
        <p:sp>
          <p:nvSpPr>
            <p:cNvPr name="TextBox 32" id="32"/>
            <p:cNvSpPr txBox="true"/>
            <p:nvPr/>
          </p:nvSpPr>
          <p:spPr>
            <a:xfrm>
              <a:off x="0" y="9525"/>
              <a:ext cx="401882" cy="335224"/>
            </a:xfrm>
            <a:prstGeom prst="rect">
              <a:avLst/>
            </a:prstGeom>
          </p:spPr>
          <p:txBody>
            <a:bodyPr anchor="ctr" rtlCol="false" tIns="50800" lIns="50800" bIns="50800" rIns="50800"/>
            <a:lstStyle/>
            <a:p>
              <a:pPr algn="ctr">
                <a:lnSpc>
                  <a:spcPts val="2121"/>
                </a:lnSpc>
              </a:pPr>
            </a:p>
          </p:txBody>
        </p:sp>
      </p:grpSp>
      <p:sp>
        <p:nvSpPr>
          <p:cNvPr name="TextBox 33" id="33"/>
          <p:cNvSpPr txBox="true"/>
          <p:nvPr/>
        </p:nvSpPr>
        <p:spPr>
          <a:xfrm rot="0">
            <a:off x="14661384" y="5209971"/>
            <a:ext cx="2190923" cy="1417320"/>
          </a:xfrm>
          <a:prstGeom prst="rect">
            <a:avLst/>
          </a:prstGeom>
        </p:spPr>
        <p:txBody>
          <a:bodyPr anchor="t" rtlCol="false" tIns="0" lIns="0" bIns="0" rIns="0">
            <a:spAutoFit/>
          </a:bodyPr>
          <a:lstStyle/>
          <a:p>
            <a:pPr algn="l">
              <a:lnSpc>
                <a:spcPts val="3779"/>
              </a:lnSpc>
            </a:pPr>
            <a:r>
              <a:rPr lang="en-US" sz="2700" spc="113" b="true">
                <a:solidFill>
                  <a:srgbClr val="253754"/>
                </a:solidFill>
                <a:latin typeface="Glacial Indifference Bold"/>
                <a:ea typeface="Glacial Indifference Bold"/>
                <a:cs typeface="Glacial Indifference Bold"/>
                <a:sym typeface="Glacial Indifference Bold"/>
              </a:rPr>
              <a:t>precio: </a:t>
            </a:r>
            <a:r>
              <a:rPr lang="en-US" sz="2700" spc="113">
                <a:solidFill>
                  <a:srgbClr val="253754"/>
                </a:solidFill>
                <a:latin typeface="Glacial Indifference"/>
                <a:ea typeface="Glacial Indifference"/>
                <a:cs typeface="Glacial Indifference"/>
                <a:sym typeface="Glacial Indifference"/>
              </a:rPr>
              <a:t>estrucutrua propia</a:t>
            </a:r>
          </a:p>
        </p:txBody>
      </p:sp>
      <p:grpSp>
        <p:nvGrpSpPr>
          <p:cNvPr name="Group 34" id="34"/>
          <p:cNvGrpSpPr/>
          <p:nvPr/>
        </p:nvGrpSpPr>
        <p:grpSpPr>
          <a:xfrm rot="0">
            <a:off x="13214900" y="7334775"/>
            <a:ext cx="2541946" cy="2180574"/>
            <a:chOff x="0" y="0"/>
            <a:chExt cx="401882" cy="344749"/>
          </a:xfrm>
        </p:grpSpPr>
        <p:sp>
          <p:nvSpPr>
            <p:cNvPr name="Freeform 35" id="35"/>
            <p:cNvSpPr/>
            <p:nvPr/>
          </p:nvSpPr>
          <p:spPr>
            <a:xfrm flipH="false" flipV="false" rot="0">
              <a:off x="0" y="0"/>
              <a:ext cx="401882" cy="344749"/>
            </a:xfrm>
            <a:custGeom>
              <a:avLst/>
              <a:gdLst/>
              <a:ahLst/>
              <a:cxnLst/>
              <a:rect r="r" b="b" t="t" l="l"/>
              <a:pathLst>
                <a:path h="344749" w="401882">
                  <a:moveTo>
                    <a:pt x="79187" y="0"/>
                  </a:moveTo>
                  <a:lnTo>
                    <a:pt x="322694" y="0"/>
                  </a:lnTo>
                  <a:cubicBezTo>
                    <a:pt x="366428" y="0"/>
                    <a:pt x="401882" y="35453"/>
                    <a:pt x="401882" y="79187"/>
                  </a:cubicBezTo>
                  <a:lnTo>
                    <a:pt x="401882" y="265561"/>
                  </a:lnTo>
                  <a:cubicBezTo>
                    <a:pt x="401882" y="309295"/>
                    <a:pt x="366428" y="344749"/>
                    <a:pt x="322694" y="344749"/>
                  </a:cubicBezTo>
                  <a:lnTo>
                    <a:pt x="79187" y="344749"/>
                  </a:lnTo>
                  <a:cubicBezTo>
                    <a:pt x="35453" y="344749"/>
                    <a:pt x="0" y="309295"/>
                    <a:pt x="0" y="265561"/>
                  </a:cubicBezTo>
                  <a:lnTo>
                    <a:pt x="0" y="79187"/>
                  </a:lnTo>
                  <a:cubicBezTo>
                    <a:pt x="0" y="35453"/>
                    <a:pt x="35453" y="0"/>
                    <a:pt x="79187" y="0"/>
                  </a:cubicBezTo>
                  <a:close/>
                </a:path>
              </a:pathLst>
            </a:custGeom>
            <a:solidFill>
              <a:srgbClr val="EDE8E4"/>
            </a:solidFill>
          </p:spPr>
        </p:sp>
        <p:sp>
          <p:nvSpPr>
            <p:cNvPr name="TextBox 36" id="36"/>
            <p:cNvSpPr txBox="true"/>
            <p:nvPr/>
          </p:nvSpPr>
          <p:spPr>
            <a:xfrm>
              <a:off x="0" y="9525"/>
              <a:ext cx="401882" cy="335224"/>
            </a:xfrm>
            <a:prstGeom prst="rect">
              <a:avLst/>
            </a:prstGeom>
          </p:spPr>
          <p:txBody>
            <a:bodyPr anchor="ctr" rtlCol="false" tIns="50800" lIns="50800" bIns="50800" rIns="50800"/>
            <a:lstStyle/>
            <a:p>
              <a:pPr algn="ctr">
                <a:lnSpc>
                  <a:spcPts val="2121"/>
                </a:lnSpc>
              </a:pPr>
            </a:p>
          </p:txBody>
        </p:sp>
      </p:grpSp>
      <p:sp>
        <p:nvSpPr>
          <p:cNvPr name="TextBox 37" id="37"/>
          <p:cNvSpPr txBox="true"/>
          <p:nvPr/>
        </p:nvSpPr>
        <p:spPr>
          <a:xfrm rot="0">
            <a:off x="13390412" y="7687827"/>
            <a:ext cx="2190923" cy="1417320"/>
          </a:xfrm>
          <a:prstGeom prst="rect">
            <a:avLst/>
          </a:prstGeom>
        </p:spPr>
        <p:txBody>
          <a:bodyPr anchor="t" rtlCol="false" tIns="0" lIns="0" bIns="0" rIns="0">
            <a:spAutoFit/>
          </a:bodyPr>
          <a:lstStyle/>
          <a:p>
            <a:pPr algn="l">
              <a:lnSpc>
                <a:spcPts val="3779"/>
              </a:lnSpc>
            </a:pPr>
            <a:r>
              <a:rPr lang="en-US" sz="2700" spc="113" b="true">
                <a:solidFill>
                  <a:srgbClr val="253754"/>
                </a:solidFill>
                <a:latin typeface="Glacial Indifference Bold"/>
                <a:ea typeface="Glacial Indifference Bold"/>
                <a:cs typeface="Glacial Indifference Bold"/>
                <a:sym typeface="Glacial Indifference Bold"/>
              </a:rPr>
              <a:t>valor: </a:t>
            </a:r>
            <a:r>
              <a:rPr lang="en-US" sz="2700" spc="113">
                <a:solidFill>
                  <a:srgbClr val="253754"/>
                </a:solidFill>
                <a:latin typeface="Glacial Indifference"/>
                <a:ea typeface="Glacial Indifference"/>
                <a:cs typeface="Glacial Indifference"/>
                <a:sym typeface="Glacial Indifference"/>
              </a:rPr>
              <a:t>propuesta unica</a:t>
            </a:r>
          </a:p>
        </p:txBody>
      </p:sp>
    </p:spTree>
  </p:cSld>
  <p:clrMapOvr>
    <a:masterClrMapping/>
  </p:clrMapOvr>
</p:sld>
</file>

<file path=ppt/slides/slide18.xml><?xml version="1.0" encoding="utf-8"?>
<p:sld xmlns:p="http://schemas.openxmlformats.org/presentationml/2006/main" xmlns:a="http://schemas.openxmlformats.org/drawingml/2006/main" xmlns:r="http://schemas.openxmlformats.org/officeDocument/2006/relationships">
  <p:cSld>
    <p:bg>
      <p:bgPr>
        <a:solidFill>
          <a:srgbClr val="253754"/>
        </a:solidFill>
      </p:bgPr>
    </p:bg>
    <p:spTree>
      <p:nvGrpSpPr>
        <p:cNvPr id="1" name=""/>
        <p:cNvGrpSpPr/>
        <p:nvPr/>
      </p:nvGrpSpPr>
      <p:grpSpPr>
        <a:xfrm>
          <a:off x="0" y="0"/>
          <a:ext cx="0" cy="0"/>
          <a:chOff x="0" y="0"/>
          <a:chExt cx="0" cy="0"/>
        </a:xfrm>
      </p:grpSpPr>
      <p:sp>
        <p:nvSpPr>
          <p:cNvPr name="Freeform 2" id="2"/>
          <p:cNvSpPr/>
          <p:nvPr/>
        </p:nvSpPr>
        <p:spPr>
          <a:xfrm flipH="false" flipV="false" rot="0">
            <a:off x="-1680157" y="-3300337"/>
            <a:ext cx="5459935" cy="7976908"/>
          </a:xfrm>
          <a:custGeom>
            <a:avLst/>
            <a:gdLst/>
            <a:ahLst/>
            <a:cxnLst/>
            <a:rect r="r" b="b" t="t" l="l"/>
            <a:pathLst>
              <a:path h="7976908" w="5459935">
                <a:moveTo>
                  <a:pt x="0" y="0"/>
                </a:moveTo>
                <a:lnTo>
                  <a:pt x="5459935" y="0"/>
                </a:lnTo>
                <a:lnTo>
                  <a:pt x="5459935" y="7976908"/>
                </a:lnTo>
                <a:lnTo>
                  <a:pt x="0" y="7976908"/>
                </a:lnTo>
                <a:lnTo>
                  <a:pt x="0" y="0"/>
                </a:lnTo>
                <a:close/>
              </a:path>
            </a:pathLst>
          </a:custGeom>
          <a:blipFill>
            <a:blip r:embed="rId2">
              <a:extLst>
                <a:ext uri="{96DAC541-7B7A-43D3-8B79-37D633B846F1}">
                  <asvg:svgBlip xmlns:asvg="http://schemas.microsoft.com/office/drawing/2016/SVG/main" r:embed="rId3"/>
                </a:ext>
              </a:extLst>
            </a:blip>
            <a:stretch>
              <a:fillRect l="0" t="0" r="-56331" b="0"/>
            </a:stretch>
          </a:blipFill>
          <a:ln cap="sq">
            <a:noFill/>
            <a:prstDash val="solid"/>
            <a:miter/>
          </a:ln>
        </p:spPr>
      </p:sp>
      <p:sp>
        <p:nvSpPr>
          <p:cNvPr name="Freeform 3" id="3"/>
          <p:cNvSpPr/>
          <p:nvPr/>
        </p:nvSpPr>
        <p:spPr>
          <a:xfrm flipH="false" flipV="false" rot="-10151301">
            <a:off x="14445817" y="8614141"/>
            <a:ext cx="5150017" cy="6650972"/>
          </a:xfrm>
          <a:custGeom>
            <a:avLst/>
            <a:gdLst/>
            <a:ahLst/>
            <a:cxnLst/>
            <a:rect r="r" b="b" t="t" l="l"/>
            <a:pathLst>
              <a:path h="6650972" w="5150017">
                <a:moveTo>
                  <a:pt x="0" y="0"/>
                </a:moveTo>
                <a:lnTo>
                  <a:pt x="5150017" y="0"/>
                </a:lnTo>
                <a:lnTo>
                  <a:pt x="5150017" y="6650971"/>
                </a:lnTo>
                <a:lnTo>
                  <a:pt x="0" y="6650971"/>
                </a:lnTo>
                <a:lnTo>
                  <a:pt x="0" y="0"/>
                </a:lnTo>
                <a:close/>
              </a:path>
            </a:pathLst>
          </a:custGeom>
          <a:blipFill>
            <a:blip r:embed="rId2">
              <a:extLst>
                <a:ext uri="{96DAC541-7B7A-43D3-8B79-37D633B846F1}">
                  <asvg:svgBlip xmlns:asvg="http://schemas.microsoft.com/office/drawing/2016/SVG/main" r:embed="rId3"/>
                </a:ext>
              </a:extLst>
            </a:blip>
            <a:stretch>
              <a:fillRect l="0" t="0" r="-49717" b="-8341"/>
            </a:stretch>
          </a:blipFill>
          <a:ln cap="sq">
            <a:noFill/>
            <a:prstDash val="solid"/>
            <a:miter/>
          </a:ln>
        </p:spPr>
      </p:sp>
      <p:sp>
        <p:nvSpPr>
          <p:cNvPr name="TextBox 4" id="4"/>
          <p:cNvSpPr txBox="true"/>
          <p:nvPr/>
        </p:nvSpPr>
        <p:spPr>
          <a:xfrm rot="0">
            <a:off x="2772438" y="254066"/>
            <a:ext cx="14255381" cy="2130311"/>
          </a:xfrm>
          <a:prstGeom prst="rect">
            <a:avLst/>
          </a:prstGeom>
        </p:spPr>
        <p:txBody>
          <a:bodyPr anchor="t" rtlCol="false" tIns="0" lIns="0" bIns="0" rIns="0">
            <a:spAutoFit/>
          </a:bodyPr>
          <a:lstStyle/>
          <a:p>
            <a:pPr algn="r">
              <a:lnSpc>
                <a:spcPts val="8581"/>
              </a:lnSpc>
            </a:pPr>
            <a:r>
              <a:rPr lang="en-US" sz="6129" spc="576">
                <a:solidFill>
                  <a:srgbClr val="EDE8E4"/>
                </a:solidFill>
                <a:latin typeface="Glacial Indifference"/>
                <a:ea typeface="Glacial Indifference"/>
                <a:cs typeface="Glacial Indifference"/>
                <a:sym typeface="Glacial Indifference"/>
              </a:rPr>
              <a:t>¿CÓMO ASEGURAN OBJETIVOS CLAROS?</a:t>
            </a:r>
          </a:p>
        </p:txBody>
      </p:sp>
      <p:sp>
        <p:nvSpPr>
          <p:cNvPr name="TextBox 5" id="5"/>
          <p:cNvSpPr txBox="true"/>
          <p:nvPr/>
        </p:nvSpPr>
        <p:spPr>
          <a:xfrm rot="0">
            <a:off x="817875" y="2625544"/>
            <a:ext cx="5923806" cy="614443"/>
          </a:xfrm>
          <a:prstGeom prst="rect">
            <a:avLst/>
          </a:prstGeom>
        </p:spPr>
        <p:txBody>
          <a:bodyPr anchor="t" rtlCol="false" tIns="0" lIns="0" bIns="0" rIns="0">
            <a:spAutoFit/>
          </a:bodyPr>
          <a:lstStyle/>
          <a:p>
            <a:pPr algn="ctr">
              <a:lnSpc>
                <a:spcPts val="4983"/>
              </a:lnSpc>
            </a:pPr>
            <a:r>
              <a:rPr lang="en-US" b="true" sz="3559" spc="35">
                <a:solidFill>
                  <a:srgbClr val="253754"/>
                </a:solidFill>
                <a:latin typeface="Glacial Indifference Bold"/>
                <a:ea typeface="Glacial Indifference Bold"/>
                <a:cs typeface="Glacial Indifference Bold"/>
                <a:sym typeface="Glacial Indifference Bold"/>
              </a:rPr>
              <a:t>E: </a:t>
            </a:r>
            <a:r>
              <a:rPr lang="en-US" sz="3559" spc="35">
                <a:solidFill>
                  <a:srgbClr val="253754"/>
                </a:solidFill>
                <a:latin typeface="Glacial Indifference"/>
                <a:ea typeface="Glacial Indifference"/>
                <a:cs typeface="Glacial Indifference"/>
                <a:sym typeface="Glacial Indifference"/>
              </a:rPr>
              <a:t>precios diferenciados</a:t>
            </a:r>
          </a:p>
        </p:txBody>
      </p:sp>
      <p:grpSp>
        <p:nvGrpSpPr>
          <p:cNvPr name="Group 6" id="6"/>
          <p:cNvGrpSpPr/>
          <p:nvPr/>
        </p:nvGrpSpPr>
        <p:grpSpPr>
          <a:xfrm rot="0">
            <a:off x="1028700" y="2384377"/>
            <a:ext cx="5313224" cy="6007061"/>
            <a:chOff x="0" y="0"/>
            <a:chExt cx="840021" cy="949716"/>
          </a:xfrm>
        </p:grpSpPr>
        <p:sp>
          <p:nvSpPr>
            <p:cNvPr name="Freeform 7" id="7"/>
            <p:cNvSpPr/>
            <p:nvPr/>
          </p:nvSpPr>
          <p:spPr>
            <a:xfrm flipH="false" flipV="false" rot="0">
              <a:off x="0" y="0"/>
              <a:ext cx="840021" cy="949716"/>
            </a:xfrm>
            <a:custGeom>
              <a:avLst/>
              <a:gdLst/>
              <a:ahLst/>
              <a:cxnLst/>
              <a:rect r="r" b="b" t="t" l="l"/>
              <a:pathLst>
                <a:path h="949716" w="840021">
                  <a:moveTo>
                    <a:pt x="37885" y="0"/>
                  </a:moveTo>
                  <a:lnTo>
                    <a:pt x="802136" y="0"/>
                  </a:lnTo>
                  <a:cubicBezTo>
                    <a:pt x="823059" y="0"/>
                    <a:pt x="840021" y="16962"/>
                    <a:pt x="840021" y="37885"/>
                  </a:cubicBezTo>
                  <a:lnTo>
                    <a:pt x="840021" y="911832"/>
                  </a:lnTo>
                  <a:cubicBezTo>
                    <a:pt x="840021" y="932755"/>
                    <a:pt x="823059" y="949716"/>
                    <a:pt x="802136" y="949716"/>
                  </a:cubicBezTo>
                  <a:lnTo>
                    <a:pt x="37885" y="949716"/>
                  </a:lnTo>
                  <a:cubicBezTo>
                    <a:pt x="16962" y="949716"/>
                    <a:pt x="0" y="932755"/>
                    <a:pt x="0" y="911832"/>
                  </a:cubicBezTo>
                  <a:lnTo>
                    <a:pt x="0" y="37885"/>
                  </a:lnTo>
                  <a:cubicBezTo>
                    <a:pt x="0" y="16962"/>
                    <a:pt x="16962" y="0"/>
                    <a:pt x="37885" y="0"/>
                  </a:cubicBezTo>
                  <a:close/>
                </a:path>
              </a:pathLst>
            </a:custGeom>
            <a:solidFill>
              <a:srgbClr val="EDE8E4"/>
            </a:solidFill>
          </p:spPr>
        </p:sp>
        <p:sp>
          <p:nvSpPr>
            <p:cNvPr name="TextBox 8" id="8"/>
            <p:cNvSpPr txBox="true"/>
            <p:nvPr/>
          </p:nvSpPr>
          <p:spPr>
            <a:xfrm>
              <a:off x="0" y="9525"/>
              <a:ext cx="840021" cy="940191"/>
            </a:xfrm>
            <a:prstGeom prst="rect">
              <a:avLst/>
            </a:prstGeom>
          </p:spPr>
          <p:txBody>
            <a:bodyPr anchor="ctr" rtlCol="false" tIns="50800" lIns="50800" bIns="50800" rIns="50800"/>
            <a:lstStyle/>
            <a:p>
              <a:pPr algn="ctr">
                <a:lnSpc>
                  <a:spcPts val="2121"/>
                </a:lnSpc>
              </a:pPr>
            </a:p>
          </p:txBody>
        </p:sp>
      </p:grpSp>
      <p:sp>
        <p:nvSpPr>
          <p:cNvPr name="TextBox 9" id="9"/>
          <p:cNvSpPr txBox="true"/>
          <p:nvPr/>
        </p:nvSpPr>
        <p:spPr>
          <a:xfrm rot="0">
            <a:off x="11901312" y="5209971"/>
            <a:ext cx="2190923" cy="1417320"/>
          </a:xfrm>
          <a:prstGeom prst="rect">
            <a:avLst/>
          </a:prstGeom>
        </p:spPr>
        <p:txBody>
          <a:bodyPr anchor="t" rtlCol="false" tIns="0" lIns="0" bIns="0" rIns="0">
            <a:spAutoFit/>
          </a:bodyPr>
          <a:lstStyle/>
          <a:p>
            <a:pPr algn="l">
              <a:lnSpc>
                <a:spcPts val="3779"/>
              </a:lnSpc>
            </a:pPr>
            <a:r>
              <a:rPr lang="en-US" sz="2700" spc="113" b="true">
                <a:solidFill>
                  <a:srgbClr val="253754"/>
                </a:solidFill>
                <a:latin typeface="Glacial Indifference Bold"/>
                <a:ea typeface="Glacial Indifference Bold"/>
                <a:cs typeface="Glacial Indifference Bold"/>
                <a:sym typeface="Glacial Indifference Bold"/>
              </a:rPr>
              <a:t>segmento</a:t>
            </a:r>
            <a:r>
              <a:rPr lang="en-US" sz="2700" spc="113">
                <a:solidFill>
                  <a:srgbClr val="253754"/>
                </a:solidFill>
                <a:latin typeface="Glacial Indifference"/>
                <a:ea typeface="Glacial Indifference"/>
                <a:cs typeface="Glacial Indifference"/>
                <a:sym typeface="Glacial Indifference"/>
              </a:rPr>
              <a:t>: objetivo especifico</a:t>
            </a:r>
          </a:p>
        </p:txBody>
      </p:sp>
      <p:grpSp>
        <p:nvGrpSpPr>
          <p:cNvPr name="Group 10" id="10"/>
          <p:cNvGrpSpPr/>
          <p:nvPr/>
        </p:nvGrpSpPr>
        <p:grpSpPr>
          <a:xfrm rot="0">
            <a:off x="6741682" y="2424834"/>
            <a:ext cx="5313224" cy="5966604"/>
            <a:chOff x="0" y="0"/>
            <a:chExt cx="840021" cy="943320"/>
          </a:xfrm>
        </p:grpSpPr>
        <p:sp>
          <p:nvSpPr>
            <p:cNvPr name="Freeform 11" id="11"/>
            <p:cNvSpPr/>
            <p:nvPr/>
          </p:nvSpPr>
          <p:spPr>
            <a:xfrm flipH="false" flipV="false" rot="0">
              <a:off x="0" y="0"/>
              <a:ext cx="840021" cy="943320"/>
            </a:xfrm>
            <a:custGeom>
              <a:avLst/>
              <a:gdLst/>
              <a:ahLst/>
              <a:cxnLst/>
              <a:rect r="r" b="b" t="t" l="l"/>
              <a:pathLst>
                <a:path h="943320" w="840021">
                  <a:moveTo>
                    <a:pt x="37885" y="0"/>
                  </a:moveTo>
                  <a:lnTo>
                    <a:pt x="802136" y="0"/>
                  </a:lnTo>
                  <a:cubicBezTo>
                    <a:pt x="823059" y="0"/>
                    <a:pt x="840021" y="16962"/>
                    <a:pt x="840021" y="37885"/>
                  </a:cubicBezTo>
                  <a:lnTo>
                    <a:pt x="840021" y="905435"/>
                  </a:lnTo>
                  <a:cubicBezTo>
                    <a:pt x="840021" y="926358"/>
                    <a:pt x="823059" y="943320"/>
                    <a:pt x="802136" y="943320"/>
                  </a:cubicBezTo>
                  <a:lnTo>
                    <a:pt x="37885" y="943320"/>
                  </a:lnTo>
                  <a:cubicBezTo>
                    <a:pt x="16962" y="943320"/>
                    <a:pt x="0" y="926358"/>
                    <a:pt x="0" y="905435"/>
                  </a:cubicBezTo>
                  <a:lnTo>
                    <a:pt x="0" y="37885"/>
                  </a:lnTo>
                  <a:cubicBezTo>
                    <a:pt x="0" y="16962"/>
                    <a:pt x="16962" y="0"/>
                    <a:pt x="37885" y="0"/>
                  </a:cubicBezTo>
                  <a:close/>
                </a:path>
              </a:pathLst>
            </a:custGeom>
            <a:solidFill>
              <a:srgbClr val="EDE8E4"/>
            </a:solidFill>
          </p:spPr>
        </p:sp>
        <p:sp>
          <p:nvSpPr>
            <p:cNvPr name="TextBox 12" id="12"/>
            <p:cNvSpPr txBox="true"/>
            <p:nvPr/>
          </p:nvSpPr>
          <p:spPr>
            <a:xfrm>
              <a:off x="0" y="9525"/>
              <a:ext cx="840021" cy="933795"/>
            </a:xfrm>
            <a:prstGeom prst="rect">
              <a:avLst/>
            </a:prstGeom>
          </p:spPr>
          <p:txBody>
            <a:bodyPr anchor="ctr" rtlCol="false" tIns="50800" lIns="50800" bIns="50800" rIns="50800"/>
            <a:lstStyle/>
            <a:p>
              <a:pPr algn="ctr">
                <a:lnSpc>
                  <a:spcPts val="2121"/>
                </a:lnSpc>
              </a:pPr>
            </a:p>
          </p:txBody>
        </p:sp>
      </p:grpSp>
      <p:grpSp>
        <p:nvGrpSpPr>
          <p:cNvPr name="Group 13" id="13"/>
          <p:cNvGrpSpPr/>
          <p:nvPr/>
        </p:nvGrpSpPr>
        <p:grpSpPr>
          <a:xfrm rot="0">
            <a:off x="12454956" y="2424834"/>
            <a:ext cx="5313224" cy="5966604"/>
            <a:chOff x="0" y="0"/>
            <a:chExt cx="840021" cy="943320"/>
          </a:xfrm>
        </p:grpSpPr>
        <p:sp>
          <p:nvSpPr>
            <p:cNvPr name="Freeform 14" id="14"/>
            <p:cNvSpPr/>
            <p:nvPr/>
          </p:nvSpPr>
          <p:spPr>
            <a:xfrm flipH="false" flipV="false" rot="0">
              <a:off x="0" y="0"/>
              <a:ext cx="840021" cy="943320"/>
            </a:xfrm>
            <a:custGeom>
              <a:avLst/>
              <a:gdLst/>
              <a:ahLst/>
              <a:cxnLst/>
              <a:rect r="r" b="b" t="t" l="l"/>
              <a:pathLst>
                <a:path h="943320" w="840021">
                  <a:moveTo>
                    <a:pt x="37885" y="0"/>
                  </a:moveTo>
                  <a:lnTo>
                    <a:pt x="802136" y="0"/>
                  </a:lnTo>
                  <a:cubicBezTo>
                    <a:pt x="823059" y="0"/>
                    <a:pt x="840021" y="16962"/>
                    <a:pt x="840021" y="37885"/>
                  </a:cubicBezTo>
                  <a:lnTo>
                    <a:pt x="840021" y="905435"/>
                  </a:lnTo>
                  <a:cubicBezTo>
                    <a:pt x="840021" y="926358"/>
                    <a:pt x="823059" y="943320"/>
                    <a:pt x="802136" y="943320"/>
                  </a:cubicBezTo>
                  <a:lnTo>
                    <a:pt x="37885" y="943320"/>
                  </a:lnTo>
                  <a:cubicBezTo>
                    <a:pt x="16962" y="943320"/>
                    <a:pt x="0" y="926358"/>
                    <a:pt x="0" y="905435"/>
                  </a:cubicBezTo>
                  <a:lnTo>
                    <a:pt x="0" y="37885"/>
                  </a:lnTo>
                  <a:cubicBezTo>
                    <a:pt x="0" y="16962"/>
                    <a:pt x="16962" y="0"/>
                    <a:pt x="37885" y="0"/>
                  </a:cubicBezTo>
                  <a:close/>
                </a:path>
              </a:pathLst>
            </a:custGeom>
            <a:solidFill>
              <a:srgbClr val="EDE8E4"/>
            </a:solidFill>
          </p:spPr>
        </p:sp>
        <p:sp>
          <p:nvSpPr>
            <p:cNvPr name="TextBox 15" id="15"/>
            <p:cNvSpPr txBox="true"/>
            <p:nvPr/>
          </p:nvSpPr>
          <p:spPr>
            <a:xfrm>
              <a:off x="0" y="9525"/>
              <a:ext cx="840021" cy="933795"/>
            </a:xfrm>
            <a:prstGeom prst="rect">
              <a:avLst/>
            </a:prstGeom>
          </p:spPr>
          <p:txBody>
            <a:bodyPr anchor="ctr" rtlCol="false" tIns="50800" lIns="50800" bIns="50800" rIns="50800"/>
            <a:lstStyle/>
            <a:p>
              <a:pPr algn="ctr">
                <a:lnSpc>
                  <a:spcPts val="2121"/>
                </a:lnSpc>
              </a:pPr>
            </a:p>
          </p:txBody>
        </p:sp>
      </p:grpSp>
      <p:sp>
        <p:nvSpPr>
          <p:cNvPr name="TextBox 16" id="16"/>
          <p:cNvSpPr txBox="true"/>
          <p:nvPr/>
        </p:nvSpPr>
        <p:spPr>
          <a:xfrm rot="0">
            <a:off x="1350687" y="2644594"/>
            <a:ext cx="5390994" cy="522233"/>
          </a:xfrm>
          <a:prstGeom prst="rect">
            <a:avLst/>
          </a:prstGeom>
        </p:spPr>
        <p:txBody>
          <a:bodyPr anchor="t" rtlCol="false" tIns="0" lIns="0" bIns="0" rIns="0">
            <a:spAutoFit/>
          </a:bodyPr>
          <a:lstStyle/>
          <a:p>
            <a:pPr algn="l">
              <a:lnSpc>
                <a:spcPts val="4290"/>
              </a:lnSpc>
            </a:pPr>
            <a:r>
              <a:rPr lang="en-US" sz="3064" spc="128" b="true">
                <a:solidFill>
                  <a:srgbClr val="253754"/>
                </a:solidFill>
                <a:latin typeface="Glacial Indifference Bold"/>
                <a:ea typeface="Glacial Indifference Bold"/>
                <a:cs typeface="Glacial Indifference Bold"/>
                <a:sym typeface="Glacial Indifference Bold"/>
              </a:rPr>
              <a:t>Inversión Cuantificada</a:t>
            </a:r>
          </a:p>
        </p:txBody>
      </p:sp>
      <p:sp>
        <p:nvSpPr>
          <p:cNvPr name="TextBox 17" id="17"/>
          <p:cNvSpPr txBox="true"/>
          <p:nvPr/>
        </p:nvSpPr>
        <p:spPr>
          <a:xfrm rot="0">
            <a:off x="1231165" y="3497162"/>
            <a:ext cx="4908293" cy="2930124"/>
          </a:xfrm>
          <a:prstGeom prst="rect">
            <a:avLst/>
          </a:prstGeom>
        </p:spPr>
        <p:txBody>
          <a:bodyPr anchor="t" rtlCol="false" tIns="0" lIns="0" bIns="0" rIns="0">
            <a:spAutoFit/>
          </a:bodyPr>
          <a:lstStyle/>
          <a:p>
            <a:pPr algn="l">
              <a:lnSpc>
                <a:spcPts val="3347"/>
              </a:lnSpc>
            </a:pPr>
            <a:r>
              <a:rPr lang="en-US" sz="2390" spc="52">
                <a:solidFill>
                  <a:srgbClr val="152540"/>
                </a:solidFill>
                <a:latin typeface="Glacial Indifference"/>
                <a:ea typeface="Glacial Indifference"/>
                <a:cs typeface="Glacial Indifference"/>
                <a:sym typeface="Glacial Indifference"/>
              </a:rPr>
              <a:t>Política de reinvertir un porcentaje definido de ganancias.</a:t>
            </a:r>
          </a:p>
          <a:p>
            <a:pPr algn="l">
              <a:lnSpc>
                <a:spcPts val="3347"/>
              </a:lnSpc>
            </a:pPr>
          </a:p>
          <a:p>
            <a:pPr algn="l">
              <a:lnSpc>
                <a:spcPts val="3347"/>
              </a:lnSpc>
            </a:pPr>
            <a:r>
              <a:rPr lang="en-US" sz="2390" spc="52">
                <a:solidFill>
                  <a:srgbClr val="152540"/>
                </a:solidFill>
                <a:latin typeface="Glacial Indifference"/>
                <a:ea typeface="Glacial Indifference"/>
                <a:cs typeface="Glacial Indifference"/>
                <a:sym typeface="Glacial Indifference"/>
              </a:rPr>
              <a:t>convierte crecimineto en:</a:t>
            </a:r>
          </a:p>
          <a:p>
            <a:pPr algn="l" marL="516170" indent="-258085" lvl="1">
              <a:lnSpc>
                <a:spcPts val="3347"/>
              </a:lnSpc>
              <a:buFont typeface="Arial"/>
              <a:buChar char="•"/>
            </a:pPr>
            <a:r>
              <a:rPr lang="en-US" sz="2390" spc="52">
                <a:solidFill>
                  <a:srgbClr val="152540"/>
                </a:solidFill>
                <a:latin typeface="Glacial Indifference"/>
                <a:ea typeface="Glacial Indifference"/>
                <a:cs typeface="Glacial Indifference"/>
                <a:sym typeface="Glacial Indifference"/>
              </a:rPr>
              <a:t>Objetivo financiero</a:t>
            </a:r>
          </a:p>
          <a:p>
            <a:pPr algn="l" marL="516170" indent="-258085" lvl="1">
              <a:lnSpc>
                <a:spcPts val="3347"/>
              </a:lnSpc>
              <a:buFont typeface="Arial"/>
              <a:buChar char="•"/>
            </a:pPr>
            <a:r>
              <a:rPr lang="en-US" sz="2390" spc="52">
                <a:solidFill>
                  <a:srgbClr val="152540"/>
                </a:solidFill>
                <a:latin typeface="Glacial Indifference"/>
                <a:ea typeface="Glacial Indifference"/>
                <a:cs typeface="Glacial Indifference"/>
                <a:sym typeface="Glacial Indifference"/>
              </a:rPr>
              <a:t>Métrica medible</a:t>
            </a:r>
          </a:p>
          <a:p>
            <a:pPr algn="l" marL="516170" indent="-258085" lvl="1">
              <a:lnSpc>
                <a:spcPts val="3347"/>
              </a:lnSpc>
              <a:buFont typeface="Arial"/>
              <a:buChar char="•"/>
            </a:pPr>
            <a:r>
              <a:rPr lang="en-US" sz="2390" spc="52">
                <a:solidFill>
                  <a:srgbClr val="152540"/>
                </a:solidFill>
                <a:latin typeface="Glacial Indifference"/>
                <a:ea typeface="Glacial Indifference"/>
                <a:cs typeface="Glacial Indifference"/>
                <a:sym typeface="Glacial Indifference"/>
              </a:rPr>
              <a:t>Compromiso real</a:t>
            </a:r>
          </a:p>
        </p:txBody>
      </p:sp>
      <p:sp>
        <p:nvSpPr>
          <p:cNvPr name="TextBox 18" id="18"/>
          <p:cNvSpPr txBox="true"/>
          <p:nvPr/>
        </p:nvSpPr>
        <p:spPr>
          <a:xfrm rot="0">
            <a:off x="6902821" y="2717754"/>
            <a:ext cx="5390994" cy="522233"/>
          </a:xfrm>
          <a:prstGeom prst="rect">
            <a:avLst/>
          </a:prstGeom>
        </p:spPr>
        <p:txBody>
          <a:bodyPr anchor="t" rtlCol="false" tIns="0" lIns="0" bIns="0" rIns="0">
            <a:spAutoFit/>
          </a:bodyPr>
          <a:lstStyle/>
          <a:p>
            <a:pPr algn="l">
              <a:lnSpc>
                <a:spcPts val="4290"/>
              </a:lnSpc>
            </a:pPr>
            <a:r>
              <a:rPr lang="en-US" sz="3064" spc="128" b="true">
                <a:solidFill>
                  <a:srgbClr val="253754"/>
                </a:solidFill>
                <a:latin typeface="Glacial Indifference Bold"/>
                <a:ea typeface="Glacial Indifference Bold"/>
                <a:cs typeface="Glacial Indifference Bold"/>
                <a:sym typeface="Glacial Indifference Bold"/>
              </a:rPr>
              <a:t>Adaptación Local</a:t>
            </a:r>
          </a:p>
        </p:txBody>
      </p:sp>
      <p:sp>
        <p:nvSpPr>
          <p:cNvPr name="TextBox 19" id="19"/>
          <p:cNvSpPr txBox="true"/>
          <p:nvPr/>
        </p:nvSpPr>
        <p:spPr>
          <a:xfrm rot="0">
            <a:off x="6902821" y="3497162"/>
            <a:ext cx="4908293" cy="4187424"/>
          </a:xfrm>
          <a:prstGeom prst="rect">
            <a:avLst/>
          </a:prstGeom>
        </p:spPr>
        <p:txBody>
          <a:bodyPr anchor="t" rtlCol="false" tIns="0" lIns="0" bIns="0" rIns="0">
            <a:spAutoFit/>
          </a:bodyPr>
          <a:lstStyle/>
          <a:p>
            <a:pPr algn="l">
              <a:lnSpc>
                <a:spcPts val="3347"/>
              </a:lnSpc>
            </a:pPr>
            <a:r>
              <a:rPr lang="en-US" sz="2390" spc="52">
                <a:solidFill>
                  <a:srgbClr val="152540"/>
                </a:solidFill>
                <a:latin typeface="Glacial Indifference"/>
                <a:ea typeface="Glacial Indifference"/>
                <a:cs typeface="Glacial Indifference"/>
                <a:sym typeface="Glacial Indifference"/>
              </a:rPr>
              <a:t>La "tropicalización" es un principio explícito de opera</a:t>
            </a:r>
            <a:r>
              <a:rPr lang="en-US" sz="2390" spc="52">
                <a:solidFill>
                  <a:srgbClr val="152540"/>
                </a:solidFill>
                <a:latin typeface="Glacial Indifference"/>
                <a:ea typeface="Glacial Indifference"/>
                <a:cs typeface="Glacial Indifference"/>
                <a:sym typeface="Glacial Indifference"/>
              </a:rPr>
              <a:t>ción.</a:t>
            </a:r>
          </a:p>
          <a:p>
            <a:pPr algn="l">
              <a:lnSpc>
                <a:spcPts val="3347"/>
              </a:lnSpc>
            </a:pPr>
          </a:p>
          <a:p>
            <a:pPr algn="l">
              <a:lnSpc>
                <a:spcPts val="3347"/>
              </a:lnSpc>
            </a:pPr>
            <a:r>
              <a:rPr lang="en-US" sz="2390" spc="52">
                <a:solidFill>
                  <a:srgbClr val="152540"/>
                </a:solidFill>
                <a:latin typeface="Glacial Indifference"/>
                <a:ea typeface="Glacial Indifference"/>
                <a:cs typeface="Glacial Indifference"/>
                <a:sym typeface="Glacial Indifference"/>
              </a:rPr>
              <a:t>Cuando entra a nuevos mercados:</a:t>
            </a:r>
          </a:p>
          <a:p>
            <a:pPr algn="l" marL="516170" indent="-258085" lvl="1">
              <a:lnSpc>
                <a:spcPts val="3347"/>
              </a:lnSpc>
              <a:buFont typeface="Arial"/>
              <a:buChar char="•"/>
            </a:pPr>
            <a:r>
              <a:rPr lang="en-US" sz="2390" spc="52">
                <a:solidFill>
                  <a:srgbClr val="152540"/>
                </a:solidFill>
                <a:latin typeface="Glacial Indifference"/>
                <a:ea typeface="Glacial Indifference"/>
                <a:cs typeface="Glacial Indifference"/>
                <a:sym typeface="Glacial Indifference"/>
              </a:rPr>
              <a:t>Invierte tiempo en conocer al público</a:t>
            </a:r>
          </a:p>
          <a:p>
            <a:pPr algn="l" marL="516170" indent="-258085" lvl="1">
              <a:lnSpc>
                <a:spcPts val="3347"/>
              </a:lnSpc>
              <a:buFont typeface="Arial"/>
              <a:buChar char="•"/>
            </a:pPr>
            <a:r>
              <a:rPr lang="en-US" sz="2390" spc="52">
                <a:solidFill>
                  <a:srgbClr val="152540"/>
                </a:solidFill>
                <a:latin typeface="Glacial Indifference"/>
                <a:ea typeface="Glacial Indifference"/>
                <a:cs typeface="Glacial Indifference"/>
                <a:sym typeface="Glacial Indifference"/>
              </a:rPr>
              <a:t>Adapta oferta a preferencias locales</a:t>
            </a:r>
          </a:p>
          <a:p>
            <a:pPr algn="l" marL="516170" indent="-258085" lvl="1">
              <a:lnSpc>
                <a:spcPts val="3347"/>
              </a:lnSpc>
              <a:buFont typeface="Arial"/>
              <a:buChar char="•"/>
            </a:pPr>
            <a:r>
              <a:rPr lang="en-US" sz="2390" spc="52">
                <a:solidFill>
                  <a:srgbClr val="152540"/>
                </a:solidFill>
                <a:latin typeface="Glacial Indifference"/>
                <a:ea typeface="Glacial Indifference"/>
                <a:cs typeface="Glacial Indifference"/>
                <a:sym typeface="Glacial Indifference"/>
              </a:rPr>
              <a:t>Define objetivos específicos por país</a:t>
            </a:r>
          </a:p>
        </p:txBody>
      </p:sp>
      <p:sp>
        <p:nvSpPr>
          <p:cNvPr name="TextBox 20" id="20"/>
          <p:cNvSpPr txBox="true"/>
          <p:nvPr/>
        </p:nvSpPr>
        <p:spPr>
          <a:xfrm rot="0">
            <a:off x="12693866" y="2644594"/>
            <a:ext cx="5390994" cy="522233"/>
          </a:xfrm>
          <a:prstGeom prst="rect">
            <a:avLst/>
          </a:prstGeom>
        </p:spPr>
        <p:txBody>
          <a:bodyPr anchor="t" rtlCol="false" tIns="0" lIns="0" bIns="0" rIns="0">
            <a:spAutoFit/>
          </a:bodyPr>
          <a:lstStyle/>
          <a:p>
            <a:pPr algn="l">
              <a:lnSpc>
                <a:spcPts val="4290"/>
              </a:lnSpc>
            </a:pPr>
            <a:r>
              <a:rPr lang="en-US" sz="3064" spc="128" b="true">
                <a:solidFill>
                  <a:srgbClr val="253754"/>
                </a:solidFill>
                <a:latin typeface="Glacial Indifference Bold"/>
                <a:ea typeface="Glacial Indifference Bold"/>
                <a:cs typeface="Glacial Indifference Bold"/>
                <a:sym typeface="Glacial Indifference Bold"/>
              </a:rPr>
              <a:t>NPS y Satisfacción</a:t>
            </a:r>
          </a:p>
        </p:txBody>
      </p:sp>
      <p:sp>
        <p:nvSpPr>
          <p:cNvPr name="TextBox 21" id="21"/>
          <p:cNvSpPr txBox="true"/>
          <p:nvPr/>
        </p:nvSpPr>
        <p:spPr>
          <a:xfrm rot="0">
            <a:off x="12654981" y="3424002"/>
            <a:ext cx="4908293" cy="3349224"/>
          </a:xfrm>
          <a:prstGeom prst="rect">
            <a:avLst/>
          </a:prstGeom>
        </p:spPr>
        <p:txBody>
          <a:bodyPr anchor="t" rtlCol="false" tIns="0" lIns="0" bIns="0" rIns="0">
            <a:spAutoFit/>
          </a:bodyPr>
          <a:lstStyle/>
          <a:p>
            <a:pPr algn="l">
              <a:lnSpc>
                <a:spcPts val="3347"/>
              </a:lnSpc>
            </a:pPr>
            <a:r>
              <a:rPr lang="en-US" sz="2390" spc="52">
                <a:solidFill>
                  <a:srgbClr val="152540"/>
                </a:solidFill>
                <a:latin typeface="Glacial Indifference"/>
                <a:ea typeface="Glacial Indifference"/>
                <a:cs typeface="Glacial Indifference"/>
                <a:sym typeface="Glacial Indifference"/>
              </a:rPr>
              <a:t>Uso de Net Promoter Score p</a:t>
            </a:r>
            <a:r>
              <a:rPr lang="en-US" sz="2390" spc="52">
                <a:solidFill>
                  <a:srgbClr val="152540"/>
                </a:solidFill>
                <a:latin typeface="Glacial Indifference"/>
                <a:ea typeface="Glacial Indifference"/>
                <a:cs typeface="Glacial Indifference"/>
                <a:sym typeface="Glacial Indifference"/>
              </a:rPr>
              <a:t>ara medir lealtad y calidad.</a:t>
            </a:r>
          </a:p>
          <a:p>
            <a:pPr algn="l">
              <a:lnSpc>
                <a:spcPts val="3347"/>
              </a:lnSpc>
            </a:pPr>
          </a:p>
          <a:p>
            <a:pPr algn="l">
              <a:lnSpc>
                <a:spcPts val="3347"/>
              </a:lnSpc>
            </a:pPr>
            <a:r>
              <a:rPr lang="en-US" sz="2390" spc="52">
                <a:solidFill>
                  <a:srgbClr val="152540"/>
                </a:solidFill>
                <a:latin typeface="Glacial Indifference"/>
                <a:ea typeface="Glacial Indifference"/>
                <a:cs typeface="Glacial Indifference"/>
                <a:sym typeface="Glacial Indifference"/>
              </a:rPr>
              <a:t>convierte “servicio estelar” en:</a:t>
            </a:r>
          </a:p>
          <a:p>
            <a:pPr algn="l">
              <a:lnSpc>
                <a:spcPts val="3347"/>
              </a:lnSpc>
            </a:pPr>
          </a:p>
          <a:p>
            <a:pPr algn="l" marL="516170" indent="-258085" lvl="1">
              <a:lnSpc>
                <a:spcPts val="3347"/>
              </a:lnSpc>
              <a:buFont typeface="Arial"/>
              <a:buChar char="•"/>
            </a:pPr>
            <a:r>
              <a:rPr lang="en-US" sz="2390" spc="52">
                <a:solidFill>
                  <a:srgbClr val="152540"/>
                </a:solidFill>
                <a:latin typeface="Glacial Indifference"/>
                <a:ea typeface="Glacial Indifference"/>
                <a:cs typeface="Glacial Indifference"/>
                <a:sym typeface="Glacial Indifference"/>
              </a:rPr>
              <a:t>Número medible</a:t>
            </a:r>
          </a:p>
          <a:p>
            <a:pPr algn="l" marL="516170" indent="-258085" lvl="1">
              <a:lnSpc>
                <a:spcPts val="3347"/>
              </a:lnSpc>
              <a:buFont typeface="Arial"/>
              <a:buChar char="•"/>
            </a:pPr>
            <a:r>
              <a:rPr lang="en-US" sz="2390" spc="52">
                <a:solidFill>
                  <a:srgbClr val="152540"/>
                </a:solidFill>
                <a:latin typeface="Glacial Indifference"/>
                <a:ea typeface="Glacial Indifference"/>
                <a:cs typeface="Glacial Indifference"/>
                <a:sym typeface="Glacial Indifference"/>
              </a:rPr>
              <a:t>Comparable entre periodos</a:t>
            </a:r>
          </a:p>
          <a:p>
            <a:pPr algn="l" marL="516170" indent="-258085" lvl="1">
              <a:lnSpc>
                <a:spcPts val="3347"/>
              </a:lnSpc>
              <a:buFont typeface="Arial"/>
              <a:buChar char="•"/>
            </a:pPr>
            <a:r>
              <a:rPr lang="en-US" sz="2390" spc="52">
                <a:solidFill>
                  <a:srgbClr val="152540"/>
                </a:solidFill>
                <a:latin typeface="Glacial Indifference"/>
                <a:ea typeface="Glacial Indifference"/>
                <a:cs typeface="Glacial Indifference"/>
                <a:sym typeface="Glacial Indifference"/>
              </a:rPr>
              <a:t>Aplicable entre mercados</a:t>
            </a:r>
          </a:p>
        </p:txBody>
      </p:sp>
    </p:spTree>
  </p:cSld>
  <p:clrMapOvr>
    <a:masterClrMapping/>
  </p:clrMapOvr>
</p:sld>
</file>

<file path=ppt/slides/slide19.xml><?xml version="1.0" encoding="utf-8"?>
<p:sld xmlns:p="http://schemas.openxmlformats.org/presentationml/2006/main" xmlns:a="http://schemas.openxmlformats.org/drawingml/2006/main" xmlns:r="http://schemas.openxmlformats.org/officeDocument/2006/relationships">
  <p:cSld>
    <p:bg>
      <p:bgPr>
        <a:solidFill>
          <a:srgbClr val="253754"/>
        </a:solidFill>
      </p:bgPr>
    </p:bg>
    <p:spTree>
      <p:nvGrpSpPr>
        <p:cNvPr id="1" name=""/>
        <p:cNvGrpSpPr/>
        <p:nvPr/>
      </p:nvGrpSpPr>
      <p:grpSpPr>
        <a:xfrm>
          <a:off x="0" y="0"/>
          <a:ext cx="0" cy="0"/>
          <a:chOff x="0" y="0"/>
          <a:chExt cx="0" cy="0"/>
        </a:xfrm>
      </p:grpSpPr>
      <p:sp>
        <p:nvSpPr>
          <p:cNvPr name="Freeform 2" id="2"/>
          <p:cNvSpPr/>
          <p:nvPr/>
        </p:nvSpPr>
        <p:spPr>
          <a:xfrm flipH="false" flipV="false" rot="0">
            <a:off x="-1680157" y="-3300337"/>
            <a:ext cx="6212126" cy="7976908"/>
          </a:xfrm>
          <a:custGeom>
            <a:avLst/>
            <a:gdLst/>
            <a:ahLst/>
            <a:cxnLst/>
            <a:rect r="r" b="b" t="t" l="l"/>
            <a:pathLst>
              <a:path h="7976908" w="6212126">
                <a:moveTo>
                  <a:pt x="0" y="0"/>
                </a:moveTo>
                <a:lnTo>
                  <a:pt x="6212127" y="0"/>
                </a:lnTo>
                <a:lnTo>
                  <a:pt x="6212127" y="7976908"/>
                </a:lnTo>
                <a:lnTo>
                  <a:pt x="0" y="7976908"/>
                </a:lnTo>
                <a:lnTo>
                  <a:pt x="0" y="0"/>
                </a:lnTo>
                <a:close/>
              </a:path>
            </a:pathLst>
          </a:custGeom>
          <a:blipFill>
            <a:blip r:embed="rId2">
              <a:extLst>
                <a:ext uri="{96DAC541-7B7A-43D3-8B79-37D633B846F1}">
                  <asvg:svgBlip xmlns:asvg="http://schemas.microsoft.com/office/drawing/2016/SVG/main" r:embed="rId3"/>
                </a:ext>
              </a:extLst>
            </a:blip>
            <a:stretch>
              <a:fillRect l="0" t="0" r="-37402" b="0"/>
            </a:stretch>
          </a:blipFill>
          <a:ln cap="sq">
            <a:noFill/>
            <a:prstDash val="solid"/>
            <a:miter/>
          </a:ln>
        </p:spPr>
      </p:sp>
      <p:sp>
        <p:nvSpPr>
          <p:cNvPr name="Freeform 3" id="3"/>
          <p:cNvSpPr/>
          <p:nvPr/>
        </p:nvSpPr>
        <p:spPr>
          <a:xfrm flipH="false" flipV="false" rot="-10151301">
            <a:off x="11214641" y="6982437"/>
            <a:ext cx="8535602" cy="7976908"/>
          </a:xfrm>
          <a:custGeom>
            <a:avLst/>
            <a:gdLst/>
            <a:ahLst/>
            <a:cxnLst/>
            <a:rect r="r" b="b" t="t" l="l"/>
            <a:pathLst>
              <a:path h="7976908" w="8535602">
                <a:moveTo>
                  <a:pt x="0" y="0"/>
                </a:moveTo>
                <a:lnTo>
                  <a:pt x="8535602" y="0"/>
                </a:lnTo>
                <a:lnTo>
                  <a:pt x="8535602" y="7976908"/>
                </a:lnTo>
                <a:lnTo>
                  <a:pt x="0" y="7976908"/>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a:ln cap="sq">
            <a:noFill/>
            <a:prstDash val="solid"/>
            <a:miter/>
          </a:ln>
        </p:spPr>
      </p:sp>
      <p:grpSp>
        <p:nvGrpSpPr>
          <p:cNvPr name="Group 4" id="4"/>
          <p:cNvGrpSpPr/>
          <p:nvPr/>
        </p:nvGrpSpPr>
        <p:grpSpPr>
          <a:xfrm rot="0">
            <a:off x="1309629" y="2550122"/>
            <a:ext cx="11224533" cy="7000248"/>
            <a:chOff x="0" y="0"/>
            <a:chExt cx="2501721" cy="1560214"/>
          </a:xfrm>
        </p:grpSpPr>
        <p:sp>
          <p:nvSpPr>
            <p:cNvPr name="Freeform 5" id="5"/>
            <p:cNvSpPr/>
            <p:nvPr/>
          </p:nvSpPr>
          <p:spPr>
            <a:xfrm flipH="false" flipV="false" rot="0">
              <a:off x="0" y="0"/>
              <a:ext cx="2501721" cy="1560214"/>
            </a:xfrm>
            <a:custGeom>
              <a:avLst/>
              <a:gdLst/>
              <a:ahLst/>
              <a:cxnLst/>
              <a:rect r="r" b="b" t="t" l="l"/>
              <a:pathLst>
                <a:path h="1560214" w="2501721">
                  <a:moveTo>
                    <a:pt x="40694" y="0"/>
                  </a:moveTo>
                  <a:lnTo>
                    <a:pt x="2461027" y="0"/>
                  </a:lnTo>
                  <a:cubicBezTo>
                    <a:pt x="2483502" y="0"/>
                    <a:pt x="2501721" y="18219"/>
                    <a:pt x="2501721" y="40694"/>
                  </a:cubicBezTo>
                  <a:lnTo>
                    <a:pt x="2501721" y="1519519"/>
                  </a:lnTo>
                  <a:cubicBezTo>
                    <a:pt x="2501721" y="1541994"/>
                    <a:pt x="2483502" y="1560214"/>
                    <a:pt x="2461027" y="1560214"/>
                  </a:cubicBezTo>
                  <a:lnTo>
                    <a:pt x="40694" y="1560214"/>
                  </a:lnTo>
                  <a:cubicBezTo>
                    <a:pt x="18219" y="1560214"/>
                    <a:pt x="0" y="1541994"/>
                    <a:pt x="0" y="1519519"/>
                  </a:cubicBezTo>
                  <a:lnTo>
                    <a:pt x="0" y="40694"/>
                  </a:lnTo>
                  <a:cubicBezTo>
                    <a:pt x="0" y="18219"/>
                    <a:pt x="18219" y="0"/>
                    <a:pt x="40694" y="0"/>
                  </a:cubicBezTo>
                  <a:close/>
                </a:path>
              </a:pathLst>
            </a:custGeom>
            <a:ln w="38100" cap="rnd">
              <a:solidFill>
                <a:srgbClr val="E3D8D4"/>
              </a:solidFill>
              <a:prstDash val="solid"/>
              <a:round/>
            </a:ln>
          </p:spPr>
        </p:sp>
        <p:sp>
          <p:nvSpPr>
            <p:cNvPr name="TextBox 6" id="6"/>
            <p:cNvSpPr txBox="true"/>
            <p:nvPr/>
          </p:nvSpPr>
          <p:spPr>
            <a:xfrm>
              <a:off x="0" y="9525"/>
              <a:ext cx="2501721" cy="1550689"/>
            </a:xfrm>
            <a:prstGeom prst="rect">
              <a:avLst/>
            </a:prstGeom>
          </p:spPr>
          <p:txBody>
            <a:bodyPr anchor="ctr" rtlCol="false" tIns="50800" lIns="50800" bIns="50800" rIns="50800"/>
            <a:lstStyle/>
            <a:p>
              <a:pPr algn="ctr">
                <a:lnSpc>
                  <a:spcPts val="2121"/>
                </a:lnSpc>
              </a:pPr>
            </a:p>
            <a:p>
              <a:pPr algn="ctr">
                <a:lnSpc>
                  <a:spcPts val="2121"/>
                </a:lnSpc>
              </a:pPr>
            </a:p>
            <a:p>
              <a:pPr algn="ctr">
                <a:lnSpc>
                  <a:spcPts val="2121"/>
                </a:lnSpc>
              </a:pPr>
            </a:p>
          </p:txBody>
        </p:sp>
      </p:grpSp>
      <p:sp>
        <p:nvSpPr>
          <p:cNvPr name="Freeform 7" id="7"/>
          <p:cNvSpPr/>
          <p:nvPr/>
        </p:nvSpPr>
        <p:spPr>
          <a:xfrm flipH="false" flipV="false" rot="-10800000">
            <a:off x="1595921" y="2684294"/>
            <a:ext cx="10651948" cy="1033825"/>
          </a:xfrm>
          <a:custGeom>
            <a:avLst/>
            <a:gdLst/>
            <a:ahLst/>
            <a:cxnLst/>
            <a:rect r="r" b="b" t="t" l="l"/>
            <a:pathLst>
              <a:path h="1033825" w="10651948">
                <a:moveTo>
                  <a:pt x="0" y="0"/>
                </a:moveTo>
                <a:lnTo>
                  <a:pt x="10651948" y="0"/>
                </a:lnTo>
                <a:lnTo>
                  <a:pt x="10651948" y="1033825"/>
                </a:lnTo>
                <a:lnTo>
                  <a:pt x="0" y="1033825"/>
                </a:lnTo>
                <a:lnTo>
                  <a:pt x="0" y="0"/>
                </a:lnTo>
                <a:close/>
              </a:path>
            </a:pathLst>
          </a:custGeom>
          <a:blipFill>
            <a:blip r:embed="rId4">
              <a:extLst>
                <a:ext uri="{96DAC541-7B7A-43D3-8B79-37D633B846F1}">
                  <asvg:svgBlip xmlns:asvg="http://schemas.microsoft.com/office/drawing/2016/SVG/main" r:embed="rId5"/>
                </a:ext>
              </a:extLst>
            </a:blip>
            <a:stretch>
              <a:fillRect l="-5375" t="-1263469" r="0" b="-75421"/>
            </a:stretch>
          </a:blipFill>
        </p:spPr>
      </p:sp>
      <p:grpSp>
        <p:nvGrpSpPr>
          <p:cNvPr name="Group 8" id="8"/>
          <p:cNvGrpSpPr/>
          <p:nvPr/>
        </p:nvGrpSpPr>
        <p:grpSpPr>
          <a:xfrm rot="0">
            <a:off x="1745442" y="3888509"/>
            <a:ext cx="10352906" cy="1643728"/>
            <a:chOff x="0" y="0"/>
            <a:chExt cx="1636794" cy="259873"/>
          </a:xfrm>
        </p:grpSpPr>
        <p:sp>
          <p:nvSpPr>
            <p:cNvPr name="Freeform 9" id="9"/>
            <p:cNvSpPr/>
            <p:nvPr/>
          </p:nvSpPr>
          <p:spPr>
            <a:xfrm flipH="false" flipV="false" rot="0">
              <a:off x="0" y="0"/>
              <a:ext cx="1636794" cy="259873"/>
            </a:xfrm>
            <a:custGeom>
              <a:avLst/>
              <a:gdLst/>
              <a:ahLst/>
              <a:cxnLst/>
              <a:rect r="r" b="b" t="t" l="l"/>
              <a:pathLst>
                <a:path h="259873" w="1636794">
                  <a:moveTo>
                    <a:pt x="19443" y="0"/>
                  </a:moveTo>
                  <a:lnTo>
                    <a:pt x="1617351" y="0"/>
                  </a:lnTo>
                  <a:cubicBezTo>
                    <a:pt x="1622508" y="0"/>
                    <a:pt x="1627453" y="2048"/>
                    <a:pt x="1631100" y="5695"/>
                  </a:cubicBezTo>
                  <a:cubicBezTo>
                    <a:pt x="1634746" y="9341"/>
                    <a:pt x="1636794" y="14286"/>
                    <a:pt x="1636794" y="19443"/>
                  </a:cubicBezTo>
                  <a:lnTo>
                    <a:pt x="1636794" y="240430"/>
                  </a:lnTo>
                  <a:cubicBezTo>
                    <a:pt x="1636794" y="245587"/>
                    <a:pt x="1634746" y="250532"/>
                    <a:pt x="1631100" y="254179"/>
                  </a:cubicBezTo>
                  <a:cubicBezTo>
                    <a:pt x="1627453" y="257825"/>
                    <a:pt x="1622508" y="259873"/>
                    <a:pt x="1617351" y="259873"/>
                  </a:cubicBezTo>
                  <a:lnTo>
                    <a:pt x="19443" y="259873"/>
                  </a:lnTo>
                  <a:cubicBezTo>
                    <a:pt x="14286" y="259873"/>
                    <a:pt x="9341" y="257825"/>
                    <a:pt x="5695" y="254179"/>
                  </a:cubicBezTo>
                  <a:cubicBezTo>
                    <a:pt x="2048" y="250532"/>
                    <a:pt x="0" y="245587"/>
                    <a:pt x="0" y="240430"/>
                  </a:cubicBezTo>
                  <a:lnTo>
                    <a:pt x="0" y="19443"/>
                  </a:lnTo>
                  <a:cubicBezTo>
                    <a:pt x="0" y="14286"/>
                    <a:pt x="2048" y="9341"/>
                    <a:pt x="5695" y="5695"/>
                  </a:cubicBezTo>
                  <a:cubicBezTo>
                    <a:pt x="9341" y="2048"/>
                    <a:pt x="14286" y="0"/>
                    <a:pt x="19443" y="0"/>
                  </a:cubicBezTo>
                  <a:close/>
                </a:path>
              </a:pathLst>
            </a:custGeom>
            <a:solidFill>
              <a:srgbClr val="EDE8E4"/>
            </a:solidFill>
          </p:spPr>
        </p:sp>
        <p:sp>
          <p:nvSpPr>
            <p:cNvPr name="TextBox 10" id="10"/>
            <p:cNvSpPr txBox="true"/>
            <p:nvPr/>
          </p:nvSpPr>
          <p:spPr>
            <a:xfrm>
              <a:off x="0" y="9525"/>
              <a:ext cx="1636794" cy="250348"/>
            </a:xfrm>
            <a:prstGeom prst="rect">
              <a:avLst/>
            </a:prstGeom>
          </p:spPr>
          <p:txBody>
            <a:bodyPr anchor="ctr" rtlCol="false" tIns="50800" lIns="50800" bIns="50800" rIns="50800"/>
            <a:lstStyle/>
            <a:p>
              <a:pPr algn="ctr">
                <a:lnSpc>
                  <a:spcPts val="2121"/>
                </a:lnSpc>
              </a:pPr>
            </a:p>
          </p:txBody>
        </p:sp>
      </p:grpSp>
      <p:grpSp>
        <p:nvGrpSpPr>
          <p:cNvPr name="Group 11" id="11"/>
          <p:cNvGrpSpPr/>
          <p:nvPr/>
        </p:nvGrpSpPr>
        <p:grpSpPr>
          <a:xfrm rot="0">
            <a:off x="1745442" y="5703687"/>
            <a:ext cx="10352906" cy="1581327"/>
            <a:chOff x="0" y="0"/>
            <a:chExt cx="1636794" cy="250008"/>
          </a:xfrm>
        </p:grpSpPr>
        <p:sp>
          <p:nvSpPr>
            <p:cNvPr name="Freeform 12" id="12"/>
            <p:cNvSpPr/>
            <p:nvPr/>
          </p:nvSpPr>
          <p:spPr>
            <a:xfrm flipH="false" flipV="false" rot="0">
              <a:off x="0" y="0"/>
              <a:ext cx="1636794" cy="250008"/>
            </a:xfrm>
            <a:custGeom>
              <a:avLst/>
              <a:gdLst/>
              <a:ahLst/>
              <a:cxnLst/>
              <a:rect r="r" b="b" t="t" l="l"/>
              <a:pathLst>
                <a:path h="250008" w="1636794">
                  <a:moveTo>
                    <a:pt x="19443" y="0"/>
                  </a:moveTo>
                  <a:lnTo>
                    <a:pt x="1617351" y="0"/>
                  </a:lnTo>
                  <a:cubicBezTo>
                    <a:pt x="1622508" y="0"/>
                    <a:pt x="1627453" y="2048"/>
                    <a:pt x="1631100" y="5695"/>
                  </a:cubicBezTo>
                  <a:cubicBezTo>
                    <a:pt x="1634746" y="9341"/>
                    <a:pt x="1636794" y="14286"/>
                    <a:pt x="1636794" y="19443"/>
                  </a:cubicBezTo>
                  <a:lnTo>
                    <a:pt x="1636794" y="230565"/>
                  </a:lnTo>
                  <a:cubicBezTo>
                    <a:pt x="1636794" y="235721"/>
                    <a:pt x="1634746" y="240667"/>
                    <a:pt x="1631100" y="244313"/>
                  </a:cubicBezTo>
                  <a:cubicBezTo>
                    <a:pt x="1627453" y="247959"/>
                    <a:pt x="1622508" y="250008"/>
                    <a:pt x="1617351" y="250008"/>
                  </a:cubicBezTo>
                  <a:lnTo>
                    <a:pt x="19443" y="250008"/>
                  </a:lnTo>
                  <a:cubicBezTo>
                    <a:pt x="14286" y="250008"/>
                    <a:pt x="9341" y="247959"/>
                    <a:pt x="5695" y="244313"/>
                  </a:cubicBezTo>
                  <a:cubicBezTo>
                    <a:pt x="2048" y="240667"/>
                    <a:pt x="0" y="235721"/>
                    <a:pt x="0" y="230565"/>
                  </a:cubicBezTo>
                  <a:lnTo>
                    <a:pt x="0" y="19443"/>
                  </a:lnTo>
                  <a:cubicBezTo>
                    <a:pt x="0" y="14286"/>
                    <a:pt x="2048" y="9341"/>
                    <a:pt x="5695" y="5695"/>
                  </a:cubicBezTo>
                  <a:cubicBezTo>
                    <a:pt x="9341" y="2048"/>
                    <a:pt x="14286" y="0"/>
                    <a:pt x="19443" y="0"/>
                  </a:cubicBezTo>
                  <a:close/>
                </a:path>
              </a:pathLst>
            </a:custGeom>
            <a:solidFill>
              <a:srgbClr val="EDE8E4"/>
            </a:solidFill>
          </p:spPr>
        </p:sp>
        <p:sp>
          <p:nvSpPr>
            <p:cNvPr name="TextBox 13" id="13"/>
            <p:cNvSpPr txBox="true"/>
            <p:nvPr/>
          </p:nvSpPr>
          <p:spPr>
            <a:xfrm>
              <a:off x="0" y="9525"/>
              <a:ext cx="1636794" cy="240483"/>
            </a:xfrm>
            <a:prstGeom prst="rect">
              <a:avLst/>
            </a:prstGeom>
          </p:spPr>
          <p:txBody>
            <a:bodyPr anchor="ctr" rtlCol="false" tIns="50800" lIns="50800" bIns="50800" rIns="50800"/>
            <a:lstStyle/>
            <a:p>
              <a:pPr algn="ctr">
                <a:lnSpc>
                  <a:spcPts val="2121"/>
                </a:lnSpc>
              </a:pPr>
            </a:p>
          </p:txBody>
        </p:sp>
      </p:grpSp>
      <p:grpSp>
        <p:nvGrpSpPr>
          <p:cNvPr name="Group 14" id="14"/>
          <p:cNvGrpSpPr/>
          <p:nvPr/>
        </p:nvGrpSpPr>
        <p:grpSpPr>
          <a:xfrm rot="0">
            <a:off x="1745442" y="7456464"/>
            <a:ext cx="10352906" cy="1801836"/>
            <a:chOff x="0" y="0"/>
            <a:chExt cx="1636794" cy="284870"/>
          </a:xfrm>
        </p:grpSpPr>
        <p:sp>
          <p:nvSpPr>
            <p:cNvPr name="Freeform 15" id="15"/>
            <p:cNvSpPr/>
            <p:nvPr/>
          </p:nvSpPr>
          <p:spPr>
            <a:xfrm flipH="false" flipV="false" rot="0">
              <a:off x="0" y="0"/>
              <a:ext cx="1636794" cy="284870"/>
            </a:xfrm>
            <a:custGeom>
              <a:avLst/>
              <a:gdLst/>
              <a:ahLst/>
              <a:cxnLst/>
              <a:rect r="r" b="b" t="t" l="l"/>
              <a:pathLst>
                <a:path h="284870" w="1636794">
                  <a:moveTo>
                    <a:pt x="19443" y="0"/>
                  </a:moveTo>
                  <a:lnTo>
                    <a:pt x="1617351" y="0"/>
                  </a:lnTo>
                  <a:cubicBezTo>
                    <a:pt x="1622508" y="0"/>
                    <a:pt x="1627453" y="2048"/>
                    <a:pt x="1631100" y="5695"/>
                  </a:cubicBezTo>
                  <a:cubicBezTo>
                    <a:pt x="1634746" y="9341"/>
                    <a:pt x="1636794" y="14286"/>
                    <a:pt x="1636794" y="19443"/>
                  </a:cubicBezTo>
                  <a:lnTo>
                    <a:pt x="1636794" y="265427"/>
                  </a:lnTo>
                  <a:cubicBezTo>
                    <a:pt x="1636794" y="270584"/>
                    <a:pt x="1634746" y="275529"/>
                    <a:pt x="1631100" y="279176"/>
                  </a:cubicBezTo>
                  <a:cubicBezTo>
                    <a:pt x="1627453" y="282822"/>
                    <a:pt x="1622508" y="284870"/>
                    <a:pt x="1617351" y="284870"/>
                  </a:cubicBezTo>
                  <a:lnTo>
                    <a:pt x="19443" y="284870"/>
                  </a:lnTo>
                  <a:cubicBezTo>
                    <a:pt x="14286" y="284870"/>
                    <a:pt x="9341" y="282822"/>
                    <a:pt x="5695" y="279176"/>
                  </a:cubicBezTo>
                  <a:cubicBezTo>
                    <a:pt x="2048" y="275529"/>
                    <a:pt x="0" y="270584"/>
                    <a:pt x="0" y="265427"/>
                  </a:cubicBezTo>
                  <a:lnTo>
                    <a:pt x="0" y="19443"/>
                  </a:lnTo>
                  <a:cubicBezTo>
                    <a:pt x="0" y="14286"/>
                    <a:pt x="2048" y="9341"/>
                    <a:pt x="5695" y="5695"/>
                  </a:cubicBezTo>
                  <a:cubicBezTo>
                    <a:pt x="9341" y="2048"/>
                    <a:pt x="14286" y="0"/>
                    <a:pt x="19443" y="0"/>
                  </a:cubicBezTo>
                  <a:close/>
                </a:path>
              </a:pathLst>
            </a:custGeom>
            <a:solidFill>
              <a:srgbClr val="EDE8E4"/>
            </a:solidFill>
          </p:spPr>
        </p:sp>
        <p:sp>
          <p:nvSpPr>
            <p:cNvPr name="TextBox 16" id="16"/>
            <p:cNvSpPr txBox="true"/>
            <p:nvPr/>
          </p:nvSpPr>
          <p:spPr>
            <a:xfrm>
              <a:off x="0" y="9525"/>
              <a:ext cx="1636794" cy="275345"/>
            </a:xfrm>
            <a:prstGeom prst="rect">
              <a:avLst/>
            </a:prstGeom>
          </p:spPr>
          <p:txBody>
            <a:bodyPr anchor="ctr" rtlCol="false" tIns="50800" lIns="50800" bIns="50800" rIns="50800"/>
            <a:lstStyle/>
            <a:p>
              <a:pPr algn="ctr">
                <a:lnSpc>
                  <a:spcPts val="2121"/>
                </a:lnSpc>
              </a:pPr>
            </a:p>
          </p:txBody>
        </p:sp>
      </p:grpSp>
      <p:grpSp>
        <p:nvGrpSpPr>
          <p:cNvPr name="Group 17" id="17"/>
          <p:cNvGrpSpPr/>
          <p:nvPr/>
        </p:nvGrpSpPr>
        <p:grpSpPr>
          <a:xfrm rot="0">
            <a:off x="12894216" y="2684294"/>
            <a:ext cx="5176453" cy="2459206"/>
            <a:chOff x="0" y="0"/>
            <a:chExt cx="818397" cy="388801"/>
          </a:xfrm>
        </p:grpSpPr>
        <p:sp>
          <p:nvSpPr>
            <p:cNvPr name="Freeform 18" id="18"/>
            <p:cNvSpPr/>
            <p:nvPr/>
          </p:nvSpPr>
          <p:spPr>
            <a:xfrm flipH="false" flipV="false" rot="0">
              <a:off x="0" y="0"/>
              <a:ext cx="818397" cy="388801"/>
            </a:xfrm>
            <a:custGeom>
              <a:avLst/>
              <a:gdLst/>
              <a:ahLst/>
              <a:cxnLst/>
              <a:rect r="r" b="b" t="t" l="l"/>
              <a:pathLst>
                <a:path h="388801" w="818397">
                  <a:moveTo>
                    <a:pt x="38886" y="0"/>
                  </a:moveTo>
                  <a:lnTo>
                    <a:pt x="779511" y="0"/>
                  </a:lnTo>
                  <a:cubicBezTo>
                    <a:pt x="800987" y="0"/>
                    <a:pt x="818397" y="17410"/>
                    <a:pt x="818397" y="38886"/>
                  </a:cubicBezTo>
                  <a:lnTo>
                    <a:pt x="818397" y="349915"/>
                  </a:lnTo>
                  <a:cubicBezTo>
                    <a:pt x="818397" y="371391"/>
                    <a:pt x="800987" y="388801"/>
                    <a:pt x="779511" y="388801"/>
                  </a:cubicBezTo>
                  <a:lnTo>
                    <a:pt x="38886" y="388801"/>
                  </a:lnTo>
                  <a:cubicBezTo>
                    <a:pt x="28573" y="388801"/>
                    <a:pt x="18682" y="384704"/>
                    <a:pt x="11389" y="377411"/>
                  </a:cubicBezTo>
                  <a:cubicBezTo>
                    <a:pt x="4097" y="370119"/>
                    <a:pt x="0" y="360228"/>
                    <a:pt x="0" y="349915"/>
                  </a:cubicBezTo>
                  <a:lnTo>
                    <a:pt x="0" y="38886"/>
                  </a:lnTo>
                  <a:cubicBezTo>
                    <a:pt x="0" y="17410"/>
                    <a:pt x="17410" y="0"/>
                    <a:pt x="38886" y="0"/>
                  </a:cubicBezTo>
                  <a:close/>
                </a:path>
              </a:pathLst>
            </a:custGeom>
            <a:solidFill>
              <a:srgbClr val="EDE8E4"/>
            </a:solidFill>
          </p:spPr>
        </p:sp>
        <p:sp>
          <p:nvSpPr>
            <p:cNvPr name="TextBox 19" id="19"/>
            <p:cNvSpPr txBox="true"/>
            <p:nvPr/>
          </p:nvSpPr>
          <p:spPr>
            <a:xfrm>
              <a:off x="0" y="9525"/>
              <a:ext cx="818397" cy="379276"/>
            </a:xfrm>
            <a:prstGeom prst="rect">
              <a:avLst/>
            </a:prstGeom>
          </p:spPr>
          <p:txBody>
            <a:bodyPr anchor="ctr" rtlCol="false" tIns="50800" lIns="50800" bIns="50800" rIns="50800"/>
            <a:lstStyle/>
            <a:p>
              <a:pPr algn="ctr">
                <a:lnSpc>
                  <a:spcPts val="2121"/>
                </a:lnSpc>
              </a:pPr>
            </a:p>
          </p:txBody>
        </p:sp>
      </p:grpSp>
      <p:sp>
        <p:nvSpPr>
          <p:cNvPr name="Freeform 20" id="20"/>
          <p:cNvSpPr/>
          <p:nvPr/>
        </p:nvSpPr>
        <p:spPr>
          <a:xfrm flipH="false" flipV="false" rot="0">
            <a:off x="13112895" y="5837125"/>
            <a:ext cx="4774170" cy="2840329"/>
          </a:xfrm>
          <a:custGeom>
            <a:avLst/>
            <a:gdLst/>
            <a:ahLst/>
            <a:cxnLst/>
            <a:rect r="r" b="b" t="t" l="l"/>
            <a:pathLst>
              <a:path h="2840329" w="4774170">
                <a:moveTo>
                  <a:pt x="0" y="0"/>
                </a:moveTo>
                <a:lnTo>
                  <a:pt x="4774169" y="0"/>
                </a:lnTo>
                <a:lnTo>
                  <a:pt x="4774169" y="2840329"/>
                </a:lnTo>
                <a:lnTo>
                  <a:pt x="0" y="2840329"/>
                </a:lnTo>
                <a:lnTo>
                  <a:pt x="0" y="0"/>
                </a:lnTo>
                <a:close/>
              </a:path>
            </a:pathLst>
          </a:custGeom>
          <a:blipFill>
            <a:blip r:embed="rId6"/>
            <a:stretch>
              <a:fillRect l="0" t="0" r="0" b="0"/>
            </a:stretch>
          </a:blipFill>
        </p:spPr>
      </p:sp>
      <p:sp>
        <p:nvSpPr>
          <p:cNvPr name="TextBox 21" id="21"/>
          <p:cNvSpPr txBox="true"/>
          <p:nvPr/>
        </p:nvSpPr>
        <p:spPr>
          <a:xfrm rot="0">
            <a:off x="2772438" y="225491"/>
            <a:ext cx="14255381" cy="1211565"/>
          </a:xfrm>
          <a:prstGeom prst="rect">
            <a:avLst/>
          </a:prstGeom>
        </p:spPr>
        <p:txBody>
          <a:bodyPr anchor="t" rtlCol="false" tIns="0" lIns="0" bIns="0" rIns="0">
            <a:spAutoFit/>
          </a:bodyPr>
          <a:lstStyle/>
          <a:p>
            <a:pPr algn="r">
              <a:lnSpc>
                <a:spcPts val="9841"/>
              </a:lnSpc>
            </a:pPr>
            <a:r>
              <a:rPr lang="en-US" sz="7029" spc="660">
                <a:solidFill>
                  <a:srgbClr val="EDE8E4"/>
                </a:solidFill>
                <a:latin typeface="Glacial Indifference"/>
                <a:ea typeface="Glacial Indifference"/>
                <a:cs typeface="Glacial Indifference"/>
                <a:sym typeface="Glacial Indifference"/>
              </a:rPr>
              <a:t>TRANSFORMACION DIGIITAL</a:t>
            </a:r>
          </a:p>
        </p:txBody>
      </p:sp>
      <p:sp>
        <p:nvSpPr>
          <p:cNvPr name="TextBox 22" id="22"/>
          <p:cNvSpPr txBox="true"/>
          <p:nvPr/>
        </p:nvSpPr>
        <p:spPr>
          <a:xfrm rot="0">
            <a:off x="2883860" y="2911515"/>
            <a:ext cx="8349613" cy="522233"/>
          </a:xfrm>
          <a:prstGeom prst="rect">
            <a:avLst/>
          </a:prstGeom>
        </p:spPr>
        <p:txBody>
          <a:bodyPr anchor="t" rtlCol="false" tIns="0" lIns="0" bIns="0" rIns="0">
            <a:spAutoFit/>
          </a:bodyPr>
          <a:lstStyle/>
          <a:p>
            <a:pPr algn="l">
              <a:lnSpc>
                <a:spcPts val="4290"/>
              </a:lnSpc>
            </a:pPr>
            <a:r>
              <a:rPr lang="en-US" sz="3064" spc="128" b="true">
                <a:solidFill>
                  <a:srgbClr val="253754"/>
                </a:solidFill>
                <a:latin typeface="Glacial Indifference Bold"/>
                <a:ea typeface="Glacial Indifference Bold"/>
                <a:cs typeface="Glacial Indifference Bold"/>
                <a:sym typeface="Glacial Indifference Bold"/>
              </a:rPr>
              <a:t>¿Por Qué la Transformación Digital?</a:t>
            </a:r>
          </a:p>
        </p:txBody>
      </p:sp>
      <p:sp>
        <p:nvSpPr>
          <p:cNvPr name="TextBox 23" id="23"/>
          <p:cNvSpPr txBox="true"/>
          <p:nvPr/>
        </p:nvSpPr>
        <p:spPr>
          <a:xfrm rot="0">
            <a:off x="2077805" y="4003901"/>
            <a:ext cx="8625417" cy="472702"/>
          </a:xfrm>
          <a:prstGeom prst="rect">
            <a:avLst/>
          </a:prstGeom>
        </p:spPr>
        <p:txBody>
          <a:bodyPr anchor="t" rtlCol="false" tIns="0" lIns="0" bIns="0" rIns="0">
            <a:spAutoFit/>
          </a:bodyPr>
          <a:lstStyle/>
          <a:p>
            <a:pPr algn="l">
              <a:lnSpc>
                <a:spcPts val="3870"/>
              </a:lnSpc>
            </a:pPr>
            <a:r>
              <a:rPr lang="en-US" sz="2764" spc="116" b="true">
                <a:solidFill>
                  <a:srgbClr val="253754"/>
                </a:solidFill>
                <a:latin typeface="Glacial Indifference Bold"/>
                <a:ea typeface="Glacial Indifference Bold"/>
                <a:cs typeface="Glacial Indifference Bold"/>
                <a:sym typeface="Glacial Indifference Bold"/>
              </a:rPr>
              <a:t>Saturación del Mercado Físico</a:t>
            </a:r>
          </a:p>
        </p:txBody>
      </p:sp>
      <p:sp>
        <p:nvSpPr>
          <p:cNvPr name="TextBox 24" id="24"/>
          <p:cNvSpPr txBox="true"/>
          <p:nvPr/>
        </p:nvSpPr>
        <p:spPr>
          <a:xfrm rot="0">
            <a:off x="2077805" y="4419453"/>
            <a:ext cx="9397988" cy="834624"/>
          </a:xfrm>
          <a:prstGeom prst="rect">
            <a:avLst/>
          </a:prstGeom>
        </p:spPr>
        <p:txBody>
          <a:bodyPr anchor="t" rtlCol="false" tIns="0" lIns="0" bIns="0" rIns="0">
            <a:spAutoFit/>
          </a:bodyPr>
          <a:lstStyle/>
          <a:p>
            <a:pPr algn="l">
              <a:lnSpc>
                <a:spcPts val="3347"/>
              </a:lnSpc>
            </a:pPr>
            <a:r>
              <a:rPr lang="en-US" sz="2390" spc="52">
                <a:solidFill>
                  <a:srgbClr val="152540"/>
                </a:solidFill>
                <a:latin typeface="Glacial Indifference"/>
                <a:ea typeface="Glacial Indifference"/>
                <a:cs typeface="Glacial Indifference"/>
                <a:sym typeface="Glacial Indifference"/>
              </a:rPr>
              <a:t>El crecimiento orgánico de salas tradicionales alcanzó límites en mercados maduros, requiriendo nuevos can</a:t>
            </a:r>
            <a:r>
              <a:rPr lang="en-US" sz="2390" spc="52">
                <a:solidFill>
                  <a:srgbClr val="152540"/>
                </a:solidFill>
                <a:latin typeface="Glacial Indifference"/>
                <a:ea typeface="Glacial Indifference"/>
                <a:cs typeface="Glacial Indifference"/>
                <a:sym typeface="Glacial Indifference"/>
              </a:rPr>
              <a:t>ales de ingresos.</a:t>
            </a:r>
          </a:p>
        </p:txBody>
      </p:sp>
      <p:sp>
        <p:nvSpPr>
          <p:cNvPr name="TextBox 25" id="25"/>
          <p:cNvSpPr txBox="true"/>
          <p:nvPr/>
        </p:nvSpPr>
        <p:spPr>
          <a:xfrm rot="0">
            <a:off x="2077805" y="5779975"/>
            <a:ext cx="8625417" cy="472702"/>
          </a:xfrm>
          <a:prstGeom prst="rect">
            <a:avLst/>
          </a:prstGeom>
        </p:spPr>
        <p:txBody>
          <a:bodyPr anchor="t" rtlCol="false" tIns="0" lIns="0" bIns="0" rIns="0">
            <a:spAutoFit/>
          </a:bodyPr>
          <a:lstStyle/>
          <a:p>
            <a:pPr algn="l">
              <a:lnSpc>
                <a:spcPts val="3870"/>
              </a:lnSpc>
            </a:pPr>
            <a:r>
              <a:rPr lang="en-US" sz="2764" spc="116" b="true">
                <a:solidFill>
                  <a:srgbClr val="253754"/>
                </a:solidFill>
                <a:latin typeface="Glacial Indifference Bold"/>
                <a:ea typeface="Glacial Indifference Bold"/>
                <a:cs typeface="Glacial Indifference Bold"/>
                <a:sym typeface="Glacial Indifference Bold"/>
              </a:rPr>
              <a:t>Cambio en Hábitos de Consumo</a:t>
            </a:r>
          </a:p>
        </p:txBody>
      </p:sp>
      <p:sp>
        <p:nvSpPr>
          <p:cNvPr name="TextBox 26" id="26"/>
          <p:cNvSpPr txBox="true"/>
          <p:nvPr/>
        </p:nvSpPr>
        <p:spPr>
          <a:xfrm rot="0">
            <a:off x="2077805" y="6195527"/>
            <a:ext cx="9397988" cy="834624"/>
          </a:xfrm>
          <a:prstGeom prst="rect">
            <a:avLst/>
          </a:prstGeom>
        </p:spPr>
        <p:txBody>
          <a:bodyPr anchor="t" rtlCol="false" tIns="0" lIns="0" bIns="0" rIns="0">
            <a:spAutoFit/>
          </a:bodyPr>
          <a:lstStyle/>
          <a:p>
            <a:pPr algn="l">
              <a:lnSpc>
                <a:spcPts val="3347"/>
              </a:lnSpc>
            </a:pPr>
            <a:r>
              <a:rPr lang="en-US" sz="2390" spc="52">
                <a:solidFill>
                  <a:srgbClr val="152540"/>
                </a:solidFill>
                <a:latin typeface="Glacial Indifference"/>
                <a:ea typeface="Glacial Indifference"/>
                <a:cs typeface="Glacial Indifference"/>
                <a:sym typeface="Glacial Indifference"/>
              </a:rPr>
              <a:t>La pandemia de 2020 aceleró la adopción digital, con audiencias valorando accesibilidad, diversidad y person</a:t>
            </a:r>
            <a:r>
              <a:rPr lang="en-US" sz="2390" spc="52">
                <a:solidFill>
                  <a:srgbClr val="152540"/>
                </a:solidFill>
                <a:latin typeface="Glacial Indifference"/>
                <a:ea typeface="Glacial Indifference"/>
                <a:cs typeface="Glacial Indifference"/>
                <a:sym typeface="Glacial Indifference"/>
              </a:rPr>
              <a:t>alización.</a:t>
            </a:r>
          </a:p>
        </p:txBody>
      </p:sp>
      <p:sp>
        <p:nvSpPr>
          <p:cNvPr name="TextBox 27" id="27"/>
          <p:cNvSpPr txBox="true"/>
          <p:nvPr/>
        </p:nvSpPr>
        <p:spPr>
          <a:xfrm rot="0">
            <a:off x="2077805" y="7570764"/>
            <a:ext cx="8625417" cy="472702"/>
          </a:xfrm>
          <a:prstGeom prst="rect">
            <a:avLst/>
          </a:prstGeom>
        </p:spPr>
        <p:txBody>
          <a:bodyPr anchor="t" rtlCol="false" tIns="0" lIns="0" bIns="0" rIns="0">
            <a:spAutoFit/>
          </a:bodyPr>
          <a:lstStyle/>
          <a:p>
            <a:pPr algn="l">
              <a:lnSpc>
                <a:spcPts val="3870"/>
              </a:lnSpc>
            </a:pPr>
            <a:r>
              <a:rPr lang="en-US" sz="2764" spc="116" b="true">
                <a:solidFill>
                  <a:srgbClr val="253754"/>
                </a:solidFill>
                <a:latin typeface="Glacial Indifference Bold"/>
                <a:ea typeface="Glacial Indifference Bold"/>
                <a:cs typeface="Glacial Indifference Bold"/>
                <a:sym typeface="Glacial Indifference Bold"/>
              </a:rPr>
              <a:t>Competencia de Streaming</a:t>
            </a:r>
          </a:p>
        </p:txBody>
      </p:sp>
      <p:sp>
        <p:nvSpPr>
          <p:cNvPr name="TextBox 28" id="28"/>
          <p:cNvSpPr txBox="true"/>
          <p:nvPr/>
        </p:nvSpPr>
        <p:spPr>
          <a:xfrm rot="0">
            <a:off x="2077805" y="8004576"/>
            <a:ext cx="9849302" cy="1253724"/>
          </a:xfrm>
          <a:prstGeom prst="rect">
            <a:avLst/>
          </a:prstGeom>
        </p:spPr>
        <p:txBody>
          <a:bodyPr anchor="t" rtlCol="false" tIns="0" lIns="0" bIns="0" rIns="0">
            <a:spAutoFit/>
          </a:bodyPr>
          <a:lstStyle/>
          <a:p>
            <a:pPr algn="l">
              <a:lnSpc>
                <a:spcPts val="3347"/>
              </a:lnSpc>
            </a:pPr>
            <a:r>
              <a:rPr lang="en-US" sz="2390" spc="52">
                <a:solidFill>
                  <a:srgbClr val="152540"/>
                </a:solidFill>
                <a:latin typeface="Glacial Indifference"/>
                <a:ea typeface="Glacial Indifference"/>
                <a:cs typeface="Glacial Indifference"/>
                <a:sym typeface="Glacial Indifference"/>
              </a:rPr>
              <a:t>Plataformas como Netflix y Disney+ redefinieron la experiencia de entretenimiento en casa, amenazando el modelo tradicion</a:t>
            </a:r>
            <a:r>
              <a:rPr lang="en-US" sz="2390" spc="52">
                <a:solidFill>
                  <a:srgbClr val="152540"/>
                </a:solidFill>
                <a:latin typeface="Glacial Indifference"/>
                <a:ea typeface="Glacial Indifference"/>
                <a:cs typeface="Glacial Indifference"/>
                <a:sym typeface="Glacial Indifference"/>
              </a:rPr>
              <a:t>al de exhibición.</a:t>
            </a:r>
          </a:p>
        </p:txBody>
      </p:sp>
      <p:sp>
        <p:nvSpPr>
          <p:cNvPr name="TextBox 29" id="29"/>
          <p:cNvSpPr txBox="true"/>
          <p:nvPr/>
        </p:nvSpPr>
        <p:spPr>
          <a:xfrm rot="0">
            <a:off x="13112895" y="3094165"/>
            <a:ext cx="4739095" cy="1444252"/>
          </a:xfrm>
          <a:prstGeom prst="rect">
            <a:avLst/>
          </a:prstGeom>
        </p:spPr>
        <p:txBody>
          <a:bodyPr anchor="t" rtlCol="false" tIns="0" lIns="0" bIns="0" rIns="0">
            <a:spAutoFit/>
          </a:bodyPr>
          <a:lstStyle/>
          <a:p>
            <a:pPr algn="ctr">
              <a:lnSpc>
                <a:spcPts val="3870"/>
              </a:lnSpc>
            </a:pPr>
            <a:r>
              <a:rPr lang="en-US" sz="2764" spc="116">
                <a:solidFill>
                  <a:srgbClr val="253754"/>
                </a:solidFill>
                <a:latin typeface="Glacial Indifference"/>
                <a:ea typeface="Glacial Indifference"/>
                <a:cs typeface="Glacial Indifference"/>
                <a:sym typeface="Glacial Indifference"/>
              </a:rPr>
              <a:t>se invierte el </a:t>
            </a:r>
            <a:r>
              <a:rPr lang="en-US" b="true" sz="2764" spc="116">
                <a:solidFill>
                  <a:srgbClr val="253754"/>
                </a:solidFill>
                <a:latin typeface="Glacial Indifference Bold"/>
                <a:ea typeface="Glacial Indifference Bold"/>
                <a:cs typeface="Glacial Indifference Bold"/>
                <a:sym typeface="Glacial Indifference Bold"/>
              </a:rPr>
              <a:t>7% </a:t>
            </a:r>
            <a:r>
              <a:rPr lang="en-US" sz="2764" spc="116">
                <a:solidFill>
                  <a:srgbClr val="253754"/>
                </a:solidFill>
                <a:latin typeface="Glacial Indifference"/>
                <a:ea typeface="Glacial Indifference"/>
                <a:cs typeface="Glacial Indifference"/>
                <a:sym typeface="Glacial Indifference"/>
              </a:rPr>
              <a:t>de los ingresos anuales en tecnologia</a:t>
            </a:r>
          </a:p>
        </p:txBody>
      </p:sp>
    </p:spTree>
  </p:cSld>
  <p:clrMapOvr>
    <a:masterClrMapping/>
  </p:clrMapOvr>
</p:sld>
</file>

<file path=ppt/slides/slide20.xml><?xml version="1.0" encoding="utf-8"?>
<p:sld xmlns:p="http://schemas.openxmlformats.org/presentationml/2006/main" xmlns:a="http://schemas.openxmlformats.org/drawingml/2006/main" xmlns:r="http://schemas.openxmlformats.org/officeDocument/2006/relationships">
  <p:cSld>
    <p:bg>
      <p:bgPr>
        <a:solidFill>
          <a:srgbClr val="253754"/>
        </a:solidFill>
      </p:bgPr>
    </p:bg>
    <p:spTree>
      <p:nvGrpSpPr>
        <p:cNvPr id="1" name=""/>
        <p:cNvGrpSpPr/>
        <p:nvPr/>
      </p:nvGrpSpPr>
      <p:grpSpPr>
        <a:xfrm>
          <a:off x="0" y="0"/>
          <a:ext cx="0" cy="0"/>
          <a:chOff x="0" y="0"/>
          <a:chExt cx="0" cy="0"/>
        </a:xfrm>
      </p:grpSpPr>
      <p:sp>
        <p:nvSpPr>
          <p:cNvPr name="Freeform 2" id="2"/>
          <p:cNvSpPr/>
          <p:nvPr/>
        </p:nvSpPr>
        <p:spPr>
          <a:xfrm flipH="false" flipV="false" rot="0">
            <a:off x="-1680157" y="-3300337"/>
            <a:ext cx="6212126" cy="7976908"/>
          </a:xfrm>
          <a:custGeom>
            <a:avLst/>
            <a:gdLst/>
            <a:ahLst/>
            <a:cxnLst/>
            <a:rect r="r" b="b" t="t" l="l"/>
            <a:pathLst>
              <a:path h="7976908" w="6212126">
                <a:moveTo>
                  <a:pt x="0" y="0"/>
                </a:moveTo>
                <a:lnTo>
                  <a:pt x="6212127" y="0"/>
                </a:lnTo>
                <a:lnTo>
                  <a:pt x="6212127" y="7976908"/>
                </a:lnTo>
                <a:lnTo>
                  <a:pt x="0" y="7976908"/>
                </a:lnTo>
                <a:lnTo>
                  <a:pt x="0" y="0"/>
                </a:lnTo>
                <a:close/>
              </a:path>
            </a:pathLst>
          </a:custGeom>
          <a:blipFill>
            <a:blip r:embed="rId2">
              <a:extLst>
                <a:ext uri="{96DAC541-7B7A-43D3-8B79-37D633B846F1}">
                  <asvg:svgBlip xmlns:asvg="http://schemas.microsoft.com/office/drawing/2016/SVG/main" r:embed="rId3"/>
                </a:ext>
              </a:extLst>
            </a:blip>
            <a:stretch>
              <a:fillRect l="0" t="0" r="-37402" b="0"/>
            </a:stretch>
          </a:blipFill>
          <a:ln cap="sq">
            <a:noFill/>
            <a:prstDash val="solid"/>
            <a:miter/>
          </a:ln>
        </p:spPr>
      </p:sp>
      <p:sp>
        <p:nvSpPr>
          <p:cNvPr name="Freeform 3" id="3"/>
          <p:cNvSpPr/>
          <p:nvPr/>
        </p:nvSpPr>
        <p:spPr>
          <a:xfrm flipH="false" flipV="false" rot="-10151301">
            <a:off x="11214641" y="6982437"/>
            <a:ext cx="8535602" cy="7976908"/>
          </a:xfrm>
          <a:custGeom>
            <a:avLst/>
            <a:gdLst/>
            <a:ahLst/>
            <a:cxnLst/>
            <a:rect r="r" b="b" t="t" l="l"/>
            <a:pathLst>
              <a:path h="7976908" w="8535602">
                <a:moveTo>
                  <a:pt x="0" y="0"/>
                </a:moveTo>
                <a:lnTo>
                  <a:pt x="8535602" y="0"/>
                </a:lnTo>
                <a:lnTo>
                  <a:pt x="8535602" y="7976908"/>
                </a:lnTo>
                <a:lnTo>
                  <a:pt x="0" y="7976908"/>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a:ln cap="sq">
            <a:noFill/>
            <a:prstDash val="solid"/>
            <a:miter/>
          </a:ln>
        </p:spPr>
      </p:sp>
      <p:grpSp>
        <p:nvGrpSpPr>
          <p:cNvPr name="Group 4" id="4"/>
          <p:cNvGrpSpPr/>
          <p:nvPr/>
        </p:nvGrpSpPr>
        <p:grpSpPr>
          <a:xfrm rot="0">
            <a:off x="1309629" y="2550122"/>
            <a:ext cx="11224533" cy="7350019"/>
            <a:chOff x="0" y="0"/>
            <a:chExt cx="2501721" cy="1638170"/>
          </a:xfrm>
        </p:grpSpPr>
        <p:sp>
          <p:nvSpPr>
            <p:cNvPr name="Freeform 5" id="5"/>
            <p:cNvSpPr/>
            <p:nvPr/>
          </p:nvSpPr>
          <p:spPr>
            <a:xfrm flipH="false" flipV="false" rot="0">
              <a:off x="0" y="0"/>
              <a:ext cx="2501721" cy="1638170"/>
            </a:xfrm>
            <a:custGeom>
              <a:avLst/>
              <a:gdLst/>
              <a:ahLst/>
              <a:cxnLst/>
              <a:rect r="r" b="b" t="t" l="l"/>
              <a:pathLst>
                <a:path h="1638170" w="2501721">
                  <a:moveTo>
                    <a:pt x="40694" y="0"/>
                  </a:moveTo>
                  <a:lnTo>
                    <a:pt x="2461027" y="0"/>
                  </a:lnTo>
                  <a:cubicBezTo>
                    <a:pt x="2483502" y="0"/>
                    <a:pt x="2501721" y="18219"/>
                    <a:pt x="2501721" y="40694"/>
                  </a:cubicBezTo>
                  <a:lnTo>
                    <a:pt x="2501721" y="1597476"/>
                  </a:lnTo>
                  <a:cubicBezTo>
                    <a:pt x="2501721" y="1619951"/>
                    <a:pt x="2483502" y="1638170"/>
                    <a:pt x="2461027" y="1638170"/>
                  </a:cubicBezTo>
                  <a:lnTo>
                    <a:pt x="40694" y="1638170"/>
                  </a:lnTo>
                  <a:cubicBezTo>
                    <a:pt x="18219" y="1638170"/>
                    <a:pt x="0" y="1619951"/>
                    <a:pt x="0" y="1597476"/>
                  </a:cubicBezTo>
                  <a:lnTo>
                    <a:pt x="0" y="40694"/>
                  </a:lnTo>
                  <a:cubicBezTo>
                    <a:pt x="0" y="18219"/>
                    <a:pt x="18219" y="0"/>
                    <a:pt x="40694" y="0"/>
                  </a:cubicBezTo>
                  <a:close/>
                </a:path>
              </a:pathLst>
            </a:custGeom>
            <a:ln w="38100" cap="rnd">
              <a:solidFill>
                <a:srgbClr val="E3D8D4"/>
              </a:solidFill>
              <a:prstDash val="solid"/>
              <a:round/>
            </a:ln>
          </p:spPr>
        </p:sp>
        <p:sp>
          <p:nvSpPr>
            <p:cNvPr name="TextBox 6" id="6"/>
            <p:cNvSpPr txBox="true"/>
            <p:nvPr/>
          </p:nvSpPr>
          <p:spPr>
            <a:xfrm>
              <a:off x="0" y="9525"/>
              <a:ext cx="2501721" cy="1628645"/>
            </a:xfrm>
            <a:prstGeom prst="rect">
              <a:avLst/>
            </a:prstGeom>
          </p:spPr>
          <p:txBody>
            <a:bodyPr anchor="ctr" rtlCol="false" tIns="50800" lIns="50800" bIns="50800" rIns="50800"/>
            <a:lstStyle/>
            <a:p>
              <a:pPr algn="ctr">
                <a:lnSpc>
                  <a:spcPts val="2121"/>
                </a:lnSpc>
              </a:pPr>
            </a:p>
            <a:p>
              <a:pPr algn="ctr">
                <a:lnSpc>
                  <a:spcPts val="2121"/>
                </a:lnSpc>
              </a:pPr>
            </a:p>
            <a:p>
              <a:pPr algn="ctr">
                <a:lnSpc>
                  <a:spcPts val="2121"/>
                </a:lnSpc>
              </a:pPr>
            </a:p>
          </p:txBody>
        </p:sp>
      </p:grpSp>
      <p:sp>
        <p:nvSpPr>
          <p:cNvPr name="Freeform 7" id="7"/>
          <p:cNvSpPr/>
          <p:nvPr/>
        </p:nvSpPr>
        <p:spPr>
          <a:xfrm flipH="false" flipV="false" rot="-10800000">
            <a:off x="1595921" y="2684294"/>
            <a:ext cx="10651948" cy="1033825"/>
          </a:xfrm>
          <a:custGeom>
            <a:avLst/>
            <a:gdLst/>
            <a:ahLst/>
            <a:cxnLst/>
            <a:rect r="r" b="b" t="t" l="l"/>
            <a:pathLst>
              <a:path h="1033825" w="10651948">
                <a:moveTo>
                  <a:pt x="0" y="0"/>
                </a:moveTo>
                <a:lnTo>
                  <a:pt x="10651948" y="0"/>
                </a:lnTo>
                <a:lnTo>
                  <a:pt x="10651948" y="1033825"/>
                </a:lnTo>
                <a:lnTo>
                  <a:pt x="0" y="1033825"/>
                </a:lnTo>
                <a:lnTo>
                  <a:pt x="0" y="0"/>
                </a:lnTo>
                <a:close/>
              </a:path>
            </a:pathLst>
          </a:custGeom>
          <a:blipFill>
            <a:blip r:embed="rId4">
              <a:extLst>
                <a:ext uri="{96DAC541-7B7A-43D3-8B79-37D633B846F1}">
                  <asvg:svgBlip xmlns:asvg="http://schemas.microsoft.com/office/drawing/2016/SVG/main" r:embed="rId5"/>
                </a:ext>
              </a:extLst>
            </a:blip>
            <a:stretch>
              <a:fillRect l="-5375" t="-1263469" r="0" b="-75421"/>
            </a:stretch>
          </a:blipFill>
        </p:spPr>
      </p:sp>
      <p:grpSp>
        <p:nvGrpSpPr>
          <p:cNvPr name="Group 8" id="8"/>
          <p:cNvGrpSpPr/>
          <p:nvPr/>
        </p:nvGrpSpPr>
        <p:grpSpPr>
          <a:xfrm rot="0">
            <a:off x="1745442" y="3888509"/>
            <a:ext cx="10352906" cy="3368780"/>
            <a:chOff x="0" y="0"/>
            <a:chExt cx="1636794" cy="532604"/>
          </a:xfrm>
        </p:grpSpPr>
        <p:sp>
          <p:nvSpPr>
            <p:cNvPr name="Freeform 9" id="9"/>
            <p:cNvSpPr/>
            <p:nvPr/>
          </p:nvSpPr>
          <p:spPr>
            <a:xfrm flipH="false" flipV="false" rot="0">
              <a:off x="0" y="0"/>
              <a:ext cx="1636794" cy="532604"/>
            </a:xfrm>
            <a:custGeom>
              <a:avLst/>
              <a:gdLst/>
              <a:ahLst/>
              <a:cxnLst/>
              <a:rect r="r" b="b" t="t" l="l"/>
              <a:pathLst>
                <a:path h="532604" w="1636794">
                  <a:moveTo>
                    <a:pt x="19443" y="0"/>
                  </a:moveTo>
                  <a:lnTo>
                    <a:pt x="1617351" y="0"/>
                  </a:lnTo>
                  <a:cubicBezTo>
                    <a:pt x="1622508" y="0"/>
                    <a:pt x="1627453" y="2048"/>
                    <a:pt x="1631100" y="5695"/>
                  </a:cubicBezTo>
                  <a:cubicBezTo>
                    <a:pt x="1634746" y="9341"/>
                    <a:pt x="1636794" y="14286"/>
                    <a:pt x="1636794" y="19443"/>
                  </a:cubicBezTo>
                  <a:lnTo>
                    <a:pt x="1636794" y="513161"/>
                  </a:lnTo>
                  <a:cubicBezTo>
                    <a:pt x="1636794" y="518318"/>
                    <a:pt x="1634746" y="523263"/>
                    <a:pt x="1631100" y="526909"/>
                  </a:cubicBezTo>
                  <a:cubicBezTo>
                    <a:pt x="1627453" y="530556"/>
                    <a:pt x="1622508" y="532604"/>
                    <a:pt x="1617351" y="532604"/>
                  </a:cubicBezTo>
                  <a:lnTo>
                    <a:pt x="19443" y="532604"/>
                  </a:lnTo>
                  <a:cubicBezTo>
                    <a:pt x="14286" y="532604"/>
                    <a:pt x="9341" y="530556"/>
                    <a:pt x="5695" y="526909"/>
                  </a:cubicBezTo>
                  <a:cubicBezTo>
                    <a:pt x="2048" y="523263"/>
                    <a:pt x="0" y="518318"/>
                    <a:pt x="0" y="513161"/>
                  </a:cubicBezTo>
                  <a:lnTo>
                    <a:pt x="0" y="19443"/>
                  </a:lnTo>
                  <a:cubicBezTo>
                    <a:pt x="0" y="14286"/>
                    <a:pt x="2048" y="9341"/>
                    <a:pt x="5695" y="5695"/>
                  </a:cubicBezTo>
                  <a:cubicBezTo>
                    <a:pt x="9341" y="2048"/>
                    <a:pt x="14286" y="0"/>
                    <a:pt x="19443" y="0"/>
                  </a:cubicBezTo>
                  <a:close/>
                </a:path>
              </a:pathLst>
            </a:custGeom>
            <a:solidFill>
              <a:srgbClr val="EDE8E4"/>
            </a:solidFill>
          </p:spPr>
        </p:sp>
        <p:sp>
          <p:nvSpPr>
            <p:cNvPr name="TextBox 10" id="10"/>
            <p:cNvSpPr txBox="true"/>
            <p:nvPr/>
          </p:nvSpPr>
          <p:spPr>
            <a:xfrm>
              <a:off x="0" y="9525"/>
              <a:ext cx="1636794" cy="523079"/>
            </a:xfrm>
            <a:prstGeom prst="rect">
              <a:avLst/>
            </a:prstGeom>
          </p:spPr>
          <p:txBody>
            <a:bodyPr anchor="ctr" rtlCol="false" tIns="50800" lIns="50800" bIns="50800" rIns="50800"/>
            <a:lstStyle/>
            <a:p>
              <a:pPr algn="ctr">
                <a:lnSpc>
                  <a:spcPts val="2121"/>
                </a:lnSpc>
              </a:pPr>
            </a:p>
          </p:txBody>
        </p:sp>
      </p:grpSp>
      <p:grpSp>
        <p:nvGrpSpPr>
          <p:cNvPr name="Group 11" id="11"/>
          <p:cNvGrpSpPr/>
          <p:nvPr/>
        </p:nvGrpSpPr>
        <p:grpSpPr>
          <a:xfrm rot="0">
            <a:off x="12894216" y="2684294"/>
            <a:ext cx="5176453" cy="4572996"/>
            <a:chOff x="0" y="0"/>
            <a:chExt cx="818397" cy="722991"/>
          </a:xfrm>
        </p:grpSpPr>
        <p:sp>
          <p:nvSpPr>
            <p:cNvPr name="Freeform 12" id="12"/>
            <p:cNvSpPr/>
            <p:nvPr/>
          </p:nvSpPr>
          <p:spPr>
            <a:xfrm flipH="false" flipV="false" rot="0">
              <a:off x="0" y="0"/>
              <a:ext cx="818397" cy="722991"/>
            </a:xfrm>
            <a:custGeom>
              <a:avLst/>
              <a:gdLst/>
              <a:ahLst/>
              <a:cxnLst/>
              <a:rect r="r" b="b" t="t" l="l"/>
              <a:pathLst>
                <a:path h="722991" w="818397">
                  <a:moveTo>
                    <a:pt x="38886" y="0"/>
                  </a:moveTo>
                  <a:lnTo>
                    <a:pt x="779511" y="0"/>
                  </a:lnTo>
                  <a:cubicBezTo>
                    <a:pt x="800987" y="0"/>
                    <a:pt x="818397" y="17410"/>
                    <a:pt x="818397" y="38886"/>
                  </a:cubicBezTo>
                  <a:lnTo>
                    <a:pt x="818397" y="684105"/>
                  </a:lnTo>
                  <a:cubicBezTo>
                    <a:pt x="818397" y="705581"/>
                    <a:pt x="800987" y="722991"/>
                    <a:pt x="779511" y="722991"/>
                  </a:cubicBezTo>
                  <a:lnTo>
                    <a:pt x="38886" y="722991"/>
                  </a:lnTo>
                  <a:cubicBezTo>
                    <a:pt x="28573" y="722991"/>
                    <a:pt x="18682" y="718894"/>
                    <a:pt x="11389" y="711601"/>
                  </a:cubicBezTo>
                  <a:cubicBezTo>
                    <a:pt x="4097" y="704309"/>
                    <a:pt x="0" y="694418"/>
                    <a:pt x="0" y="684105"/>
                  </a:cubicBezTo>
                  <a:lnTo>
                    <a:pt x="0" y="38886"/>
                  </a:lnTo>
                  <a:cubicBezTo>
                    <a:pt x="0" y="17410"/>
                    <a:pt x="17410" y="0"/>
                    <a:pt x="38886" y="0"/>
                  </a:cubicBezTo>
                  <a:close/>
                </a:path>
              </a:pathLst>
            </a:custGeom>
            <a:solidFill>
              <a:srgbClr val="EDE8E4"/>
            </a:solidFill>
          </p:spPr>
        </p:sp>
        <p:sp>
          <p:nvSpPr>
            <p:cNvPr name="TextBox 13" id="13"/>
            <p:cNvSpPr txBox="true"/>
            <p:nvPr/>
          </p:nvSpPr>
          <p:spPr>
            <a:xfrm>
              <a:off x="0" y="9525"/>
              <a:ext cx="818397" cy="713466"/>
            </a:xfrm>
            <a:prstGeom prst="rect">
              <a:avLst/>
            </a:prstGeom>
          </p:spPr>
          <p:txBody>
            <a:bodyPr anchor="ctr" rtlCol="false" tIns="50800" lIns="50800" bIns="50800" rIns="50800"/>
            <a:lstStyle/>
            <a:p>
              <a:pPr algn="ctr">
                <a:lnSpc>
                  <a:spcPts val="2121"/>
                </a:lnSpc>
              </a:pPr>
            </a:p>
          </p:txBody>
        </p:sp>
      </p:grpSp>
      <p:sp>
        <p:nvSpPr>
          <p:cNvPr name="TextBox 14" id="14"/>
          <p:cNvSpPr txBox="true"/>
          <p:nvPr/>
        </p:nvSpPr>
        <p:spPr>
          <a:xfrm rot="0">
            <a:off x="2772438" y="225491"/>
            <a:ext cx="14255381" cy="1211565"/>
          </a:xfrm>
          <a:prstGeom prst="rect">
            <a:avLst/>
          </a:prstGeom>
        </p:spPr>
        <p:txBody>
          <a:bodyPr anchor="t" rtlCol="false" tIns="0" lIns="0" bIns="0" rIns="0">
            <a:spAutoFit/>
          </a:bodyPr>
          <a:lstStyle/>
          <a:p>
            <a:pPr algn="r">
              <a:lnSpc>
                <a:spcPts val="9841"/>
              </a:lnSpc>
            </a:pPr>
            <a:r>
              <a:rPr lang="en-US" sz="7029" spc="660">
                <a:solidFill>
                  <a:srgbClr val="EDE8E4"/>
                </a:solidFill>
                <a:latin typeface="Glacial Indifference"/>
                <a:ea typeface="Glacial Indifference"/>
                <a:cs typeface="Glacial Indifference"/>
                <a:sym typeface="Glacial Indifference"/>
              </a:rPr>
              <a:t>INFRAESTRUCTURA</a:t>
            </a:r>
          </a:p>
        </p:txBody>
      </p:sp>
      <p:sp>
        <p:nvSpPr>
          <p:cNvPr name="TextBox 15" id="15"/>
          <p:cNvSpPr txBox="true"/>
          <p:nvPr/>
        </p:nvSpPr>
        <p:spPr>
          <a:xfrm rot="0">
            <a:off x="2395212" y="2911515"/>
            <a:ext cx="9214488" cy="522233"/>
          </a:xfrm>
          <a:prstGeom prst="rect">
            <a:avLst/>
          </a:prstGeom>
        </p:spPr>
        <p:txBody>
          <a:bodyPr anchor="t" rtlCol="false" tIns="0" lIns="0" bIns="0" rIns="0">
            <a:spAutoFit/>
          </a:bodyPr>
          <a:lstStyle/>
          <a:p>
            <a:pPr algn="l">
              <a:lnSpc>
                <a:spcPts val="4290"/>
              </a:lnSpc>
            </a:pPr>
            <a:r>
              <a:rPr lang="en-US" sz="3064" spc="128" b="true">
                <a:solidFill>
                  <a:srgbClr val="253754"/>
                </a:solidFill>
                <a:latin typeface="Glacial Indifference Bold"/>
                <a:ea typeface="Glacial Indifference Bold"/>
                <a:cs typeface="Glacial Indifference Bold"/>
                <a:sym typeface="Glacial Indifference Bold"/>
              </a:rPr>
              <a:t>Infraestructura Cloud: Amazon Web Services</a:t>
            </a:r>
          </a:p>
        </p:txBody>
      </p:sp>
      <p:sp>
        <p:nvSpPr>
          <p:cNvPr name="TextBox 16" id="16"/>
          <p:cNvSpPr txBox="true"/>
          <p:nvPr/>
        </p:nvSpPr>
        <p:spPr>
          <a:xfrm rot="0">
            <a:off x="2077805" y="4003901"/>
            <a:ext cx="8625417" cy="472702"/>
          </a:xfrm>
          <a:prstGeom prst="rect">
            <a:avLst/>
          </a:prstGeom>
        </p:spPr>
        <p:txBody>
          <a:bodyPr anchor="t" rtlCol="false" tIns="0" lIns="0" bIns="0" rIns="0">
            <a:spAutoFit/>
          </a:bodyPr>
          <a:lstStyle/>
          <a:p>
            <a:pPr algn="l">
              <a:lnSpc>
                <a:spcPts val="3870"/>
              </a:lnSpc>
            </a:pPr>
            <a:r>
              <a:rPr lang="en-US" sz="2764" spc="116" b="true">
                <a:solidFill>
                  <a:srgbClr val="253754"/>
                </a:solidFill>
                <a:latin typeface="Glacial Indifference Bold"/>
                <a:ea typeface="Glacial Indifference Bold"/>
                <a:cs typeface="Glacial Indifference Bold"/>
                <a:sym typeface="Glacial Indifference Bold"/>
              </a:rPr>
              <a:t>Migración desde Servidores Tradicionales</a:t>
            </a:r>
          </a:p>
        </p:txBody>
      </p:sp>
      <p:sp>
        <p:nvSpPr>
          <p:cNvPr name="TextBox 17" id="17"/>
          <p:cNvSpPr txBox="true"/>
          <p:nvPr/>
        </p:nvSpPr>
        <p:spPr>
          <a:xfrm rot="0">
            <a:off x="2077805" y="4619421"/>
            <a:ext cx="9813549" cy="2511687"/>
          </a:xfrm>
          <a:prstGeom prst="rect">
            <a:avLst/>
          </a:prstGeom>
        </p:spPr>
        <p:txBody>
          <a:bodyPr anchor="t" rtlCol="false" tIns="0" lIns="0" bIns="0" rIns="0">
            <a:spAutoFit/>
          </a:bodyPr>
          <a:lstStyle/>
          <a:p>
            <a:pPr algn="ctr">
              <a:lnSpc>
                <a:spcPts val="3310"/>
              </a:lnSpc>
            </a:pPr>
            <a:r>
              <a:rPr lang="en-US" sz="2364" spc="99">
                <a:solidFill>
                  <a:srgbClr val="253754"/>
                </a:solidFill>
                <a:latin typeface="Glacial Indifference"/>
                <a:ea typeface="Glacial Indifference"/>
                <a:cs typeface="Glacial Indifference"/>
                <a:sym typeface="Glacial Indifference"/>
              </a:rPr>
              <a:t>Cinépolis migró desde servidores tradicionales en Morelia hacia AWS, convirtiéndose en uno</a:t>
            </a:r>
            <a:r>
              <a:rPr lang="en-US" sz="2364" spc="99">
                <a:solidFill>
                  <a:srgbClr val="253754"/>
                </a:solidFill>
                <a:latin typeface="Glacial Indifference"/>
                <a:ea typeface="Glacial Indifference"/>
                <a:cs typeface="Glacial Indifference"/>
                <a:sym typeface="Glacial Indifference"/>
              </a:rPr>
              <a:t> </a:t>
            </a:r>
            <a:r>
              <a:rPr lang="en-US" sz="2364" spc="99">
                <a:solidFill>
                  <a:srgbClr val="253754"/>
                </a:solidFill>
                <a:latin typeface="Glacial Indifference"/>
                <a:ea typeface="Glacial Indifference"/>
                <a:cs typeface="Glacial Indifference"/>
                <a:sym typeface="Glacial Indifference"/>
              </a:rPr>
              <a:t>de los clientes corporativos más importantes de AWS en México. </a:t>
            </a:r>
          </a:p>
          <a:p>
            <a:pPr algn="ctr">
              <a:lnSpc>
                <a:spcPts val="3310"/>
              </a:lnSpc>
            </a:pPr>
            <a:r>
              <a:rPr lang="en-US" sz="2364" spc="99">
                <a:solidFill>
                  <a:srgbClr val="253754"/>
                </a:solidFill>
                <a:latin typeface="Glacial Indifference"/>
                <a:ea typeface="Glacial Indifference"/>
                <a:cs typeface="Glacial Indifference"/>
                <a:sym typeface="Glacial Indifference"/>
              </a:rPr>
              <a:t>Esta migración habilitó el crecimiento a 19 países y permitió actualizar el sistema de inventario para adaptarse al modelo de e-commerce.</a:t>
            </a:r>
          </a:p>
        </p:txBody>
      </p:sp>
      <p:grpSp>
        <p:nvGrpSpPr>
          <p:cNvPr name="Group 18" id="18"/>
          <p:cNvGrpSpPr/>
          <p:nvPr/>
        </p:nvGrpSpPr>
        <p:grpSpPr>
          <a:xfrm rot="0">
            <a:off x="1745442" y="7457314"/>
            <a:ext cx="10352906" cy="2442826"/>
            <a:chOff x="0" y="0"/>
            <a:chExt cx="1636794" cy="386211"/>
          </a:xfrm>
        </p:grpSpPr>
        <p:sp>
          <p:nvSpPr>
            <p:cNvPr name="Freeform 19" id="19"/>
            <p:cNvSpPr/>
            <p:nvPr/>
          </p:nvSpPr>
          <p:spPr>
            <a:xfrm flipH="false" flipV="false" rot="0">
              <a:off x="0" y="0"/>
              <a:ext cx="1636794" cy="386211"/>
            </a:xfrm>
            <a:custGeom>
              <a:avLst/>
              <a:gdLst/>
              <a:ahLst/>
              <a:cxnLst/>
              <a:rect r="r" b="b" t="t" l="l"/>
              <a:pathLst>
                <a:path h="386211" w="1636794">
                  <a:moveTo>
                    <a:pt x="19443" y="0"/>
                  </a:moveTo>
                  <a:lnTo>
                    <a:pt x="1617351" y="0"/>
                  </a:lnTo>
                  <a:cubicBezTo>
                    <a:pt x="1622508" y="0"/>
                    <a:pt x="1627453" y="2048"/>
                    <a:pt x="1631100" y="5695"/>
                  </a:cubicBezTo>
                  <a:cubicBezTo>
                    <a:pt x="1634746" y="9341"/>
                    <a:pt x="1636794" y="14286"/>
                    <a:pt x="1636794" y="19443"/>
                  </a:cubicBezTo>
                  <a:lnTo>
                    <a:pt x="1636794" y="366768"/>
                  </a:lnTo>
                  <a:cubicBezTo>
                    <a:pt x="1636794" y="371924"/>
                    <a:pt x="1634746" y="376870"/>
                    <a:pt x="1631100" y="380516"/>
                  </a:cubicBezTo>
                  <a:cubicBezTo>
                    <a:pt x="1627453" y="384162"/>
                    <a:pt x="1622508" y="386211"/>
                    <a:pt x="1617351" y="386211"/>
                  </a:cubicBezTo>
                  <a:lnTo>
                    <a:pt x="19443" y="386211"/>
                  </a:lnTo>
                  <a:cubicBezTo>
                    <a:pt x="14286" y="386211"/>
                    <a:pt x="9341" y="384162"/>
                    <a:pt x="5695" y="380516"/>
                  </a:cubicBezTo>
                  <a:cubicBezTo>
                    <a:pt x="2048" y="376870"/>
                    <a:pt x="0" y="371924"/>
                    <a:pt x="0" y="366768"/>
                  </a:cubicBezTo>
                  <a:lnTo>
                    <a:pt x="0" y="19443"/>
                  </a:lnTo>
                  <a:cubicBezTo>
                    <a:pt x="0" y="14286"/>
                    <a:pt x="2048" y="9341"/>
                    <a:pt x="5695" y="5695"/>
                  </a:cubicBezTo>
                  <a:cubicBezTo>
                    <a:pt x="9341" y="2048"/>
                    <a:pt x="14286" y="0"/>
                    <a:pt x="19443" y="0"/>
                  </a:cubicBezTo>
                  <a:close/>
                </a:path>
              </a:pathLst>
            </a:custGeom>
            <a:solidFill>
              <a:srgbClr val="EDE8E4"/>
            </a:solidFill>
          </p:spPr>
        </p:sp>
        <p:sp>
          <p:nvSpPr>
            <p:cNvPr name="TextBox 20" id="20"/>
            <p:cNvSpPr txBox="true"/>
            <p:nvPr/>
          </p:nvSpPr>
          <p:spPr>
            <a:xfrm>
              <a:off x="0" y="9525"/>
              <a:ext cx="1636794" cy="376686"/>
            </a:xfrm>
            <a:prstGeom prst="rect">
              <a:avLst/>
            </a:prstGeom>
          </p:spPr>
          <p:txBody>
            <a:bodyPr anchor="ctr" rtlCol="false" tIns="50800" lIns="50800" bIns="50800" rIns="50800"/>
            <a:lstStyle/>
            <a:p>
              <a:pPr algn="ctr">
                <a:lnSpc>
                  <a:spcPts val="2121"/>
                </a:lnSpc>
              </a:pPr>
            </a:p>
          </p:txBody>
        </p:sp>
      </p:grpSp>
      <p:sp>
        <p:nvSpPr>
          <p:cNvPr name="TextBox 21" id="21"/>
          <p:cNvSpPr txBox="true"/>
          <p:nvPr/>
        </p:nvSpPr>
        <p:spPr>
          <a:xfrm rot="0">
            <a:off x="2077805" y="7543039"/>
            <a:ext cx="8625417" cy="472702"/>
          </a:xfrm>
          <a:prstGeom prst="rect">
            <a:avLst/>
          </a:prstGeom>
        </p:spPr>
        <p:txBody>
          <a:bodyPr anchor="t" rtlCol="false" tIns="0" lIns="0" bIns="0" rIns="0">
            <a:spAutoFit/>
          </a:bodyPr>
          <a:lstStyle/>
          <a:p>
            <a:pPr algn="l">
              <a:lnSpc>
                <a:spcPts val="3870"/>
              </a:lnSpc>
            </a:pPr>
            <a:r>
              <a:rPr lang="en-US" sz="2764" spc="116" b="true">
                <a:solidFill>
                  <a:srgbClr val="253754"/>
                </a:solidFill>
                <a:latin typeface="Glacial Indifference Bold"/>
                <a:ea typeface="Glacial Indifference Bold"/>
                <a:cs typeface="Glacial Indifference Bold"/>
                <a:sym typeface="Glacial Indifference Bold"/>
              </a:rPr>
              <a:t>Beneficios Clave</a:t>
            </a:r>
          </a:p>
        </p:txBody>
      </p:sp>
      <p:sp>
        <p:nvSpPr>
          <p:cNvPr name="TextBox 22" id="22"/>
          <p:cNvSpPr txBox="true"/>
          <p:nvPr/>
        </p:nvSpPr>
        <p:spPr>
          <a:xfrm rot="0">
            <a:off x="1796151" y="7973881"/>
            <a:ext cx="9813549" cy="1673487"/>
          </a:xfrm>
          <a:prstGeom prst="rect">
            <a:avLst/>
          </a:prstGeom>
        </p:spPr>
        <p:txBody>
          <a:bodyPr anchor="t" rtlCol="false" tIns="0" lIns="0" bIns="0" rIns="0">
            <a:spAutoFit/>
          </a:bodyPr>
          <a:lstStyle/>
          <a:p>
            <a:pPr algn="l" marL="510535" indent="-255267" lvl="1">
              <a:lnSpc>
                <a:spcPts val="3310"/>
              </a:lnSpc>
              <a:buFont typeface="Arial"/>
              <a:buChar char="•"/>
            </a:pPr>
            <a:r>
              <a:rPr lang="en-US" sz="2364" spc="99">
                <a:solidFill>
                  <a:srgbClr val="253754"/>
                </a:solidFill>
                <a:latin typeface="Glacial Indifference"/>
                <a:ea typeface="Glacial Indifference"/>
                <a:cs typeface="Glacial Indifference"/>
                <a:sym typeface="Glacial Indifference"/>
              </a:rPr>
              <a:t>Escalabilidad: Manejo de picos inesperados de demanda</a:t>
            </a:r>
          </a:p>
          <a:p>
            <a:pPr algn="l" marL="510535" indent="-255267" lvl="1">
              <a:lnSpc>
                <a:spcPts val="3310"/>
              </a:lnSpc>
              <a:buFont typeface="Arial"/>
              <a:buChar char="•"/>
            </a:pPr>
            <a:r>
              <a:rPr lang="en-US" b="true" sz="2364" spc="99">
                <a:solidFill>
                  <a:srgbClr val="253754"/>
                </a:solidFill>
                <a:latin typeface="Glacial Indifference Bold"/>
                <a:ea typeface="Glacial Indifference Bold"/>
                <a:cs typeface="Glacial Indifference Bold"/>
                <a:sym typeface="Glacial Indifference Bold"/>
              </a:rPr>
              <a:t>Seguridad:</a:t>
            </a:r>
            <a:r>
              <a:rPr lang="en-US" sz="2364" spc="99">
                <a:solidFill>
                  <a:srgbClr val="253754"/>
                </a:solidFill>
                <a:latin typeface="Glacial Indifference"/>
                <a:ea typeface="Glacial Indifference"/>
                <a:cs typeface="Glacial Indifference"/>
                <a:sym typeface="Glacial Indifference"/>
              </a:rPr>
              <a:t> Infraestructura global confiable</a:t>
            </a:r>
          </a:p>
          <a:p>
            <a:pPr algn="l" marL="510535" indent="-255267" lvl="1">
              <a:lnSpc>
                <a:spcPts val="3310"/>
              </a:lnSpc>
              <a:buFont typeface="Arial"/>
              <a:buChar char="•"/>
            </a:pPr>
            <a:r>
              <a:rPr lang="en-US" b="true" sz="2364" spc="99">
                <a:solidFill>
                  <a:srgbClr val="253754"/>
                </a:solidFill>
                <a:latin typeface="Glacial Indifference Bold"/>
                <a:ea typeface="Glacial Indifference Bold"/>
                <a:cs typeface="Glacial Indifference Bold"/>
                <a:sym typeface="Glacial Indifference Bold"/>
              </a:rPr>
              <a:t>Velocidad:</a:t>
            </a:r>
            <a:r>
              <a:rPr lang="en-US" sz="2364" spc="99">
                <a:solidFill>
                  <a:srgbClr val="253754"/>
                </a:solidFill>
                <a:latin typeface="Glacial Indifference"/>
                <a:ea typeface="Glacial Indifference"/>
                <a:cs typeface="Glacial Indifference"/>
                <a:sym typeface="Glacial Indifference"/>
              </a:rPr>
              <a:t> Edge Locations en México aceleran entrega</a:t>
            </a:r>
          </a:p>
          <a:p>
            <a:pPr algn="l" marL="510535" indent="-255267" lvl="1">
              <a:lnSpc>
                <a:spcPts val="3310"/>
              </a:lnSpc>
              <a:buFont typeface="Arial"/>
              <a:buChar char="•"/>
            </a:pPr>
            <a:r>
              <a:rPr lang="en-US" b="true" sz="2364" spc="99">
                <a:solidFill>
                  <a:srgbClr val="253754"/>
                </a:solidFill>
                <a:latin typeface="Glacial Indifference Bold"/>
                <a:ea typeface="Glacial Indifference Bold"/>
                <a:cs typeface="Glacial Indifference Bold"/>
                <a:sym typeface="Glacial Indifference Bold"/>
              </a:rPr>
              <a:t>Fiabilidad:</a:t>
            </a:r>
            <a:r>
              <a:rPr lang="en-US" sz="2364" spc="99">
                <a:solidFill>
                  <a:srgbClr val="253754"/>
                </a:solidFill>
                <a:latin typeface="Glacial Indifference"/>
                <a:ea typeface="Glacial Indifference"/>
                <a:cs typeface="Glacial Indifference"/>
                <a:sym typeface="Glacial Indifference"/>
              </a:rPr>
              <a:t> Cumplimiento de promesas a clientes</a:t>
            </a:r>
          </a:p>
        </p:txBody>
      </p:sp>
      <p:sp>
        <p:nvSpPr>
          <p:cNvPr name="TextBox 23" id="23"/>
          <p:cNvSpPr txBox="true"/>
          <p:nvPr/>
        </p:nvSpPr>
        <p:spPr>
          <a:xfrm rot="0">
            <a:off x="13119873" y="2961045"/>
            <a:ext cx="4725138" cy="472702"/>
          </a:xfrm>
          <a:prstGeom prst="rect">
            <a:avLst/>
          </a:prstGeom>
        </p:spPr>
        <p:txBody>
          <a:bodyPr anchor="t" rtlCol="false" tIns="0" lIns="0" bIns="0" rIns="0">
            <a:spAutoFit/>
          </a:bodyPr>
          <a:lstStyle/>
          <a:p>
            <a:pPr algn="ctr">
              <a:lnSpc>
                <a:spcPts val="3870"/>
              </a:lnSpc>
            </a:pPr>
            <a:r>
              <a:rPr lang="en-US" b="true" sz="2764" spc="116">
                <a:solidFill>
                  <a:srgbClr val="253754"/>
                </a:solidFill>
                <a:latin typeface="Glacial Indifference Bold"/>
                <a:ea typeface="Glacial Indifference Bold"/>
                <a:cs typeface="Glacial Indifference Bold"/>
                <a:sym typeface="Glacial Indifference Bold"/>
              </a:rPr>
              <a:t>Servicios AWS Utilizados</a:t>
            </a:r>
          </a:p>
        </p:txBody>
      </p:sp>
      <p:sp>
        <p:nvSpPr>
          <p:cNvPr name="TextBox 24" id="24"/>
          <p:cNvSpPr txBox="true"/>
          <p:nvPr/>
        </p:nvSpPr>
        <p:spPr>
          <a:xfrm rot="0">
            <a:off x="12894216" y="3824382"/>
            <a:ext cx="6390795" cy="1673487"/>
          </a:xfrm>
          <a:prstGeom prst="rect">
            <a:avLst/>
          </a:prstGeom>
        </p:spPr>
        <p:txBody>
          <a:bodyPr anchor="t" rtlCol="false" tIns="0" lIns="0" bIns="0" rIns="0">
            <a:spAutoFit/>
          </a:bodyPr>
          <a:lstStyle/>
          <a:p>
            <a:pPr algn="l" marL="510535" indent="-255267" lvl="1">
              <a:lnSpc>
                <a:spcPts val="3310"/>
              </a:lnSpc>
              <a:buFont typeface="Arial"/>
              <a:buChar char="•"/>
            </a:pPr>
            <a:r>
              <a:rPr lang="en-US" b="true" sz="2364" spc="99">
                <a:solidFill>
                  <a:srgbClr val="253754"/>
                </a:solidFill>
                <a:latin typeface="Glacial Indifference Bold"/>
                <a:ea typeface="Glacial Indifference Bold"/>
                <a:cs typeface="Glacial Indifference Bold"/>
                <a:sym typeface="Glacial Indifference Bold"/>
              </a:rPr>
              <a:t>Amazon S3</a:t>
            </a:r>
          </a:p>
          <a:p>
            <a:pPr algn="l" marL="510535" indent="-255267" lvl="1">
              <a:lnSpc>
                <a:spcPts val="3310"/>
              </a:lnSpc>
              <a:buFont typeface="Arial"/>
              <a:buChar char="•"/>
            </a:pPr>
            <a:r>
              <a:rPr lang="en-US" b="true" sz="2364" spc="99">
                <a:solidFill>
                  <a:srgbClr val="253754"/>
                </a:solidFill>
                <a:latin typeface="Glacial Indifference Bold"/>
                <a:ea typeface="Glacial Indifference Bold"/>
                <a:cs typeface="Glacial Indifference Bold"/>
                <a:sym typeface="Glacial Indifference Bold"/>
              </a:rPr>
              <a:t>CloudFront</a:t>
            </a:r>
          </a:p>
          <a:p>
            <a:pPr algn="l" marL="510535" indent="-255267" lvl="1">
              <a:lnSpc>
                <a:spcPts val="3310"/>
              </a:lnSpc>
              <a:buFont typeface="Arial"/>
              <a:buChar char="•"/>
            </a:pPr>
            <a:r>
              <a:rPr lang="en-US" b="true" sz="2364" spc="99">
                <a:solidFill>
                  <a:srgbClr val="253754"/>
                </a:solidFill>
                <a:latin typeface="Glacial Indifference Bold"/>
                <a:ea typeface="Glacial Indifference Bold"/>
                <a:cs typeface="Glacial Indifference Bold"/>
                <a:sym typeface="Glacial Indifference Bold"/>
              </a:rPr>
              <a:t>AWS Shield &amp; WAF</a:t>
            </a:r>
          </a:p>
          <a:p>
            <a:pPr algn="l" marL="510535" indent="-255267" lvl="1">
              <a:lnSpc>
                <a:spcPts val="3310"/>
              </a:lnSpc>
              <a:buFont typeface="Arial"/>
              <a:buChar char="•"/>
            </a:pPr>
            <a:r>
              <a:rPr lang="en-US" b="true" sz="2364" spc="99">
                <a:solidFill>
                  <a:srgbClr val="253754"/>
                </a:solidFill>
                <a:latin typeface="Glacial Indifference Bold"/>
                <a:ea typeface="Glacial Indifference Bold"/>
                <a:cs typeface="Glacial Indifference Bold"/>
                <a:sym typeface="Glacial Indifference Bold"/>
              </a:rPr>
              <a:t>Global Accelerator</a:t>
            </a:r>
          </a:p>
        </p:txBody>
      </p:sp>
    </p:spTree>
  </p:cSld>
  <p:clrMapOvr>
    <a:masterClrMapping/>
  </p:clrMapOvr>
</p:sld>
</file>

<file path=ppt/slides/slide21.xml><?xml version="1.0" encoding="utf-8"?>
<p:sld xmlns:p="http://schemas.openxmlformats.org/presentationml/2006/main" xmlns:a="http://schemas.openxmlformats.org/drawingml/2006/main" xmlns:r="http://schemas.openxmlformats.org/officeDocument/2006/relationships">
  <p:cSld>
    <p:bg>
      <p:bgPr>
        <a:solidFill>
          <a:srgbClr val="253754"/>
        </a:solidFill>
      </p:bgPr>
    </p:bg>
    <p:spTree>
      <p:nvGrpSpPr>
        <p:cNvPr id="1" name=""/>
        <p:cNvGrpSpPr/>
        <p:nvPr/>
      </p:nvGrpSpPr>
      <p:grpSpPr>
        <a:xfrm>
          <a:off x="0" y="0"/>
          <a:ext cx="0" cy="0"/>
          <a:chOff x="0" y="0"/>
          <a:chExt cx="0" cy="0"/>
        </a:xfrm>
      </p:grpSpPr>
      <p:sp>
        <p:nvSpPr>
          <p:cNvPr name="Freeform 2" id="2"/>
          <p:cNvSpPr/>
          <p:nvPr/>
        </p:nvSpPr>
        <p:spPr>
          <a:xfrm flipH="false" flipV="false" rot="0">
            <a:off x="-1680157" y="-3300337"/>
            <a:ext cx="6212126" cy="7976908"/>
          </a:xfrm>
          <a:custGeom>
            <a:avLst/>
            <a:gdLst/>
            <a:ahLst/>
            <a:cxnLst/>
            <a:rect r="r" b="b" t="t" l="l"/>
            <a:pathLst>
              <a:path h="7976908" w="6212126">
                <a:moveTo>
                  <a:pt x="0" y="0"/>
                </a:moveTo>
                <a:lnTo>
                  <a:pt x="6212127" y="0"/>
                </a:lnTo>
                <a:lnTo>
                  <a:pt x="6212127" y="7976908"/>
                </a:lnTo>
                <a:lnTo>
                  <a:pt x="0" y="7976908"/>
                </a:lnTo>
                <a:lnTo>
                  <a:pt x="0" y="0"/>
                </a:lnTo>
                <a:close/>
              </a:path>
            </a:pathLst>
          </a:custGeom>
          <a:blipFill>
            <a:blip r:embed="rId2">
              <a:extLst>
                <a:ext uri="{96DAC541-7B7A-43D3-8B79-37D633B846F1}">
                  <asvg:svgBlip xmlns:asvg="http://schemas.microsoft.com/office/drawing/2016/SVG/main" r:embed="rId3"/>
                </a:ext>
              </a:extLst>
            </a:blip>
            <a:stretch>
              <a:fillRect l="0" t="0" r="-37402" b="0"/>
            </a:stretch>
          </a:blipFill>
          <a:ln cap="sq">
            <a:noFill/>
            <a:prstDash val="solid"/>
            <a:miter/>
          </a:ln>
        </p:spPr>
      </p:sp>
      <p:sp>
        <p:nvSpPr>
          <p:cNvPr name="Freeform 3" id="3"/>
          <p:cNvSpPr/>
          <p:nvPr/>
        </p:nvSpPr>
        <p:spPr>
          <a:xfrm flipH="false" flipV="false" rot="-10151301">
            <a:off x="11214641" y="6982437"/>
            <a:ext cx="8535602" cy="7976908"/>
          </a:xfrm>
          <a:custGeom>
            <a:avLst/>
            <a:gdLst/>
            <a:ahLst/>
            <a:cxnLst/>
            <a:rect r="r" b="b" t="t" l="l"/>
            <a:pathLst>
              <a:path h="7976908" w="8535602">
                <a:moveTo>
                  <a:pt x="0" y="0"/>
                </a:moveTo>
                <a:lnTo>
                  <a:pt x="8535602" y="0"/>
                </a:lnTo>
                <a:lnTo>
                  <a:pt x="8535602" y="7976908"/>
                </a:lnTo>
                <a:lnTo>
                  <a:pt x="0" y="7976908"/>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a:ln cap="sq">
            <a:noFill/>
            <a:prstDash val="solid"/>
            <a:miter/>
          </a:ln>
        </p:spPr>
      </p:sp>
      <p:grpSp>
        <p:nvGrpSpPr>
          <p:cNvPr name="Group 4" id="4"/>
          <p:cNvGrpSpPr/>
          <p:nvPr/>
        </p:nvGrpSpPr>
        <p:grpSpPr>
          <a:xfrm rot="0">
            <a:off x="1309629" y="2550122"/>
            <a:ext cx="11224533" cy="7350019"/>
            <a:chOff x="0" y="0"/>
            <a:chExt cx="2501721" cy="1638170"/>
          </a:xfrm>
        </p:grpSpPr>
        <p:sp>
          <p:nvSpPr>
            <p:cNvPr name="Freeform 5" id="5"/>
            <p:cNvSpPr/>
            <p:nvPr/>
          </p:nvSpPr>
          <p:spPr>
            <a:xfrm flipH="false" flipV="false" rot="0">
              <a:off x="0" y="0"/>
              <a:ext cx="2501721" cy="1638170"/>
            </a:xfrm>
            <a:custGeom>
              <a:avLst/>
              <a:gdLst/>
              <a:ahLst/>
              <a:cxnLst/>
              <a:rect r="r" b="b" t="t" l="l"/>
              <a:pathLst>
                <a:path h="1638170" w="2501721">
                  <a:moveTo>
                    <a:pt x="40694" y="0"/>
                  </a:moveTo>
                  <a:lnTo>
                    <a:pt x="2461027" y="0"/>
                  </a:lnTo>
                  <a:cubicBezTo>
                    <a:pt x="2483502" y="0"/>
                    <a:pt x="2501721" y="18219"/>
                    <a:pt x="2501721" y="40694"/>
                  </a:cubicBezTo>
                  <a:lnTo>
                    <a:pt x="2501721" y="1597476"/>
                  </a:lnTo>
                  <a:cubicBezTo>
                    <a:pt x="2501721" y="1619951"/>
                    <a:pt x="2483502" y="1638170"/>
                    <a:pt x="2461027" y="1638170"/>
                  </a:cubicBezTo>
                  <a:lnTo>
                    <a:pt x="40694" y="1638170"/>
                  </a:lnTo>
                  <a:cubicBezTo>
                    <a:pt x="18219" y="1638170"/>
                    <a:pt x="0" y="1619951"/>
                    <a:pt x="0" y="1597476"/>
                  </a:cubicBezTo>
                  <a:lnTo>
                    <a:pt x="0" y="40694"/>
                  </a:lnTo>
                  <a:cubicBezTo>
                    <a:pt x="0" y="18219"/>
                    <a:pt x="18219" y="0"/>
                    <a:pt x="40694" y="0"/>
                  </a:cubicBezTo>
                  <a:close/>
                </a:path>
              </a:pathLst>
            </a:custGeom>
            <a:ln w="38100" cap="rnd">
              <a:solidFill>
                <a:srgbClr val="E3D8D4"/>
              </a:solidFill>
              <a:prstDash val="solid"/>
              <a:round/>
            </a:ln>
          </p:spPr>
        </p:sp>
        <p:sp>
          <p:nvSpPr>
            <p:cNvPr name="TextBox 6" id="6"/>
            <p:cNvSpPr txBox="true"/>
            <p:nvPr/>
          </p:nvSpPr>
          <p:spPr>
            <a:xfrm>
              <a:off x="0" y="9525"/>
              <a:ext cx="2501721" cy="1628645"/>
            </a:xfrm>
            <a:prstGeom prst="rect">
              <a:avLst/>
            </a:prstGeom>
          </p:spPr>
          <p:txBody>
            <a:bodyPr anchor="ctr" rtlCol="false" tIns="50800" lIns="50800" bIns="50800" rIns="50800"/>
            <a:lstStyle/>
            <a:p>
              <a:pPr algn="ctr">
                <a:lnSpc>
                  <a:spcPts val="2121"/>
                </a:lnSpc>
              </a:pPr>
            </a:p>
            <a:p>
              <a:pPr algn="ctr">
                <a:lnSpc>
                  <a:spcPts val="2121"/>
                </a:lnSpc>
              </a:pPr>
            </a:p>
            <a:p>
              <a:pPr algn="ctr">
                <a:lnSpc>
                  <a:spcPts val="2121"/>
                </a:lnSpc>
              </a:pPr>
            </a:p>
          </p:txBody>
        </p:sp>
      </p:grpSp>
      <p:sp>
        <p:nvSpPr>
          <p:cNvPr name="Freeform 7" id="7"/>
          <p:cNvSpPr/>
          <p:nvPr/>
        </p:nvSpPr>
        <p:spPr>
          <a:xfrm flipH="false" flipV="false" rot="-10800000">
            <a:off x="1595921" y="2684294"/>
            <a:ext cx="10651948" cy="1033825"/>
          </a:xfrm>
          <a:custGeom>
            <a:avLst/>
            <a:gdLst/>
            <a:ahLst/>
            <a:cxnLst/>
            <a:rect r="r" b="b" t="t" l="l"/>
            <a:pathLst>
              <a:path h="1033825" w="10651948">
                <a:moveTo>
                  <a:pt x="0" y="0"/>
                </a:moveTo>
                <a:lnTo>
                  <a:pt x="10651948" y="0"/>
                </a:lnTo>
                <a:lnTo>
                  <a:pt x="10651948" y="1033825"/>
                </a:lnTo>
                <a:lnTo>
                  <a:pt x="0" y="1033825"/>
                </a:lnTo>
                <a:lnTo>
                  <a:pt x="0" y="0"/>
                </a:lnTo>
                <a:close/>
              </a:path>
            </a:pathLst>
          </a:custGeom>
          <a:blipFill>
            <a:blip r:embed="rId4">
              <a:extLst>
                <a:ext uri="{96DAC541-7B7A-43D3-8B79-37D633B846F1}">
                  <asvg:svgBlip xmlns:asvg="http://schemas.microsoft.com/office/drawing/2016/SVG/main" r:embed="rId5"/>
                </a:ext>
              </a:extLst>
            </a:blip>
            <a:stretch>
              <a:fillRect l="-5375" t="-1263469" r="0" b="-75421"/>
            </a:stretch>
          </a:blipFill>
        </p:spPr>
      </p:sp>
      <p:grpSp>
        <p:nvGrpSpPr>
          <p:cNvPr name="Group 8" id="8"/>
          <p:cNvGrpSpPr/>
          <p:nvPr/>
        </p:nvGrpSpPr>
        <p:grpSpPr>
          <a:xfrm rot="0">
            <a:off x="1745442" y="3888509"/>
            <a:ext cx="10352906" cy="3368780"/>
            <a:chOff x="0" y="0"/>
            <a:chExt cx="1636794" cy="532604"/>
          </a:xfrm>
        </p:grpSpPr>
        <p:sp>
          <p:nvSpPr>
            <p:cNvPr name="Freeform 9" id="9"/>
            <p:cNvSpPr/>
            <p:nvPr/>
          </p:nvSpPr>
          <p:spPr>
            <a:xfrm flipH="false" flipV="false" rot="0">
              <a:off x="0" y="0"/>
              <a:ext cx="1636794" cy="532604"/>
            </a:xfrm>
            <a:custGeom>
              <a:avLst/>
              <a:gdLst/>
              <a:ahLst/>
              <a:cxnLst/>
              <a:rect r="r" b="b" t="t" l="l"/>
              <a:pathLst>
                <a:path h="532604" w="1636794">
                  <a:moveTo>
                    <a:pt x="19443" y="0"/>
                  </a:moveTo>
                  <a:lnTo>
                    <a:pt x="1617351" y="0"/>
                  </a:lnTo>
                  <a:cubicBezTo>
                    <a:pt x="1622508" y="0"/>
                    <a:pt x="1627453" y="2048"/>
                    <a:pt x="1631100" y="5695"/>
                  </a:cubicBezTo>
                  <a:cubicBezTo>
                    <a:pt x="1634746" y="9341"/>
                    <a:pt x="1636794" y="14286"/>
                    <a:pt x="1636794" y="19443"/>
                  </a:cubicBezTo>
                  <a:lnTo>
                    <a:pt x="1636794" y="513161"/>
                  </a:lnTo>
                  <a:cubicBezTo>
                    <a:pt x="1636794" y="518318"/>
                    <a:pt x="1634746" y="523263"/>
                    <a:pt x="1631100" y="526909"/>
                  </a:cubicBezTo>
                  <a:cubicBezTo>
                    <a:pt x="1627453" y="530556"/>
                    <a:pt x="1622508" y="532604"/>
                    <a:pt x="1617351" y="532604"/>
                  </a:cubicBezTo>
                  <a:lnTo>
                    <a:pt x="19443" y="532604"/>
                  </a:lnTo>
                  <a:cubicBezTo>
                    <a:pt x="14286" y="532604"/>
                    <a:pt x="9341" y="530556"/>
                    <a:pt x="5695" y="526909"/>
                  </a:cubicBezTo>
                  <a:cubicBezTo>
                    <a:pt x="2048" y="523263"/>
                    <a:pt x="0" y="518318"/>
                    <a:pt x="0" y="513161"/>
                  </a:cubicBezTo>
                  <a:lnTo>
                    <a:pt x="0" y="19443"/>
                  </a:lnTo>
                  <a:cubicBezTo>
                    <a:pt x="0" y="14286"/>
                    <a:pt x="2048" y="9341"/>
                    <a:pt x="5695" y="5695"/>
                  </a:cubicBezTo>
                  <a:cubicBezTo>
                    <a:pt x="9341" y="2048"/>
                    <a:pt x="14286" y="0"/>
                    <a:pt x="19443" y="0"/>
                  </a:cubicBezTo>
                  <a:close/>
                </a:path>
              </a:pathLst>
            </a:custGeom>
            <a:solidFill>
              <a:srgbClr val="EDE8E4"/>
            </a:solidFill>
          </p:spPr>
        </p:sp>
        <p:sp>
          <p:nvSpPr>
            <p:cNvPr name="TextBox 10" id="10"/>
            <p:cNvSpPr txBox="true"/>
            <p:nvPr/>
          </p:nvSpPr>
          <p:spPr>
            <a:xfrm>
              <a:off x="0" y="9525"/>
              <a:ext cx="1636794" cy="523079"/>
            </a:xfrm>
            <a:prstGeom prst="rect">
              <a:avLst/>
            </a:prstGeom>
          </p:spPr>
          <p:txBody>
            <a:bodyPr anchor="ctr" rtlCol="false" tIns="50800" lIns="50800" bIns="50800" rIns="50800"/>
            <a:lstStyle/>
            <a:p>
              <a:pPr algn="ctr">
                <a:lnSpc>
                  <a:spcPts val="2121"/>
                </a:lnSpc>
              </a:pPr>
            </a:p>
          </p:txBody>
        </p:sp>
      </p:grpSp>
      <p:grpSp>
        <p:nvGrpSpPr>
          <p:cNvPr name="Group 11" id="11"/>
          <p:cNvGrpSpPr/>
          <p:nvPr/>
        </p:nvGrpSpPr>
        <p:grpSpPr>
          <a:xfrm rot="0">
            <a:off x="12894216" y="2684294"/>
            <a:ext cx="5176453" cy="5123672"/>
            <a:chOff x="0" y="0"/>
            <a:chExt cx="818397" cy="810052"/>
          </a:xfrm>
        </p:grpSpPr>
        <p:sp>
          <p:nvSpPr>
            <p:cNvPr name="Freeform 12" id="12"/>
            <p:cNvSpPr/>
            <p:nvPr/>
          </p:nvSpPr>
          <p:spPr>
            <a:xfrm flipH="false" flipV="false" rot="0">
              <a:off x="0" y="0"/>
              <a:ext cx="818397" cy="810052"/>
            </a:xfrm>
            <a:custGeom>
              <a:avLst/>
              <a:gdLst/>
              <a:ahLst/>
              <a:cxnLst/>
              <a:rect r="r" b="b" t="t" l="l"/>
              <a:pathLst>
                <a:path h="810052" w="818397">
                  <a:moveTo>
                    <a:pt x="38886" y="0"/>
                  </a:moveTo>
                  <a:lnTo>
                    <a:pt x="779511" y="0"/>
                  </a:lnTo>
                  <a:cubicBezTo>
                    <a:pt x="800987" y="0"/>
                    <a:pt x="818397" y="17410"/>
                    <a:pt x="818397" y="38886"/>
                  </a:cubicBezTo>
                  <a:lnTo>
                    <a:pt x="818397" y="771167"/>
                  </a:lnTo>
                  <a:cubicBezTo>
                    <a:pt x="818397" y="792643"/>
                    <a:pt x="800987" y="810052"/>
                    <a:pt x="779511" y="810052"/>
                  </a:cubicBezTo>
                  <a:lnTo>
                    <a:pt x="38886" y="810052"/>
                  </a:lnTo>
                  <a:cubicBezTo>
                    <a:pt x="17410" y="810052"/>
                    <a:pt x="0" y="792643"/>
                    <a:pt x="0" y="771167"/>
                  </a:cubicBezTo>
                  <a:lnTo>
                    <a:pt x="0" y="38886"/>
                  </a:lnTo>
                  <a:cubicBezTo>
                    <a:pt x="0" y="17410"/>
                    <a:pt x="17410" y="0"/>
                    <a:pt x="38886" y="0"/>
                  </a:cubicBezTo>
                  <a:close/>
                </a:path>
              </a:pathLst>
            </a:custGeom>
            <a:solidFill>
              <a:srgbClr val="EDE8E4"/>
            </a:solidFill>
          </p:spPr>
        </p:sp>
        <p:sp>
          <p:nvSpPr>
            <p:cNvPr name="TextBox 13" id="13"/>
            <p:cNvSpPr txBox="true"/>
            <p:nvPr/>
          </p:nvSpPr>
          <p:spPr>
            <a:xfrm>
              <a:off x="0" y="9525"/>
              <a:ext cx="818397" cy="800527"/>
            </a:xfrm>
            <a:prstGeom prst="rect">
              <a:avLst/>
            </a:prstGeom>
          </p:spPr>
          <p:txBody>
            <a:bodyPr anchor="ctr" rtlCol="false" tIns="50800" lIns="50800" bIns="50800" rIns="50800"/>
            <a:lstStyle/>
            <a:p>
              <a:pPr algn="ctr">
                <a:lnSpc>
                  <a:spcPts val="2121"/>
                </a:lnSpc>
              </a:pPr>
            </a:p>
          </p:txBody>
        </p:sp>
      </p:grpSp>
      <p:sp>
        <p:nvSpPr>
          <p:cNvPr name="TextBox 14" id="14"/>
          <p:cNvSpPr txBox="true"/>
          <p:nvPr/>
        </p:nvSpPr>
        <p:spPr>
          <a:xfrm rot="0">
            <a:off x="2772438" y="225491"/>
            <a:ext cx="14255381" cy="1211565"/>
          </a:xfrm>
          <a:prstGeom prst="rect">
            <a:avLst/>
          </a:prstGeom>
        </p:spPr>
        <p:txBody>
          <a:bodyPr anchor="t" rtlCol="false" tIns="0" lIns="0" bIns="0" rIns="0">
            <a:spAutoFit/>
          </a:bodyPr>
          <a:lstStyle/>
          <a:p>
            <a:pPr algn="r">
              <a:lnSpc>
                <a:spcPts val="9841"/>
              </a:lnSpc>
            </a:pPr>
            <a:r>
              <a:rPr lang="en-US" sz="7029" spc="660">
                <a:solidFill>
                  <a:srgbClr val="EDE8E4"/>
                </a:solidFill>
                <a:latin typeface="Glacial Indifference"/>
                <a:ea typeface="Glacial Indifference"/>
                <a:cs typeface="Glacial Indifference"/>
                <a:sym typeface="Glacial Indifference"/>
              </a:rPr>
              <a:t>STREAMING</a:t>
            </a:r>
          </a:p>
        </p:txBody>
      </p:sp>
      <p:sp>
        <p:nvSpPr>
          <p:cNvPr name="TextBox 15" id="15"/>
          <p:cNvSpPr txBox="true"/>
          <p:nvPr/>
        </p:nvSpPr>
        <p:spPr>
          <a:xfrm rot="0">
            <a:off x="2395212" y="2911515"/>
            <a:ext cx="9214488" cy="522233"/>
          </a:xfrm>
          <a:prstGeom prst="rect">
            <a:avLst/>
          </a:prstGeom>
        </p:spPr>
        <p:txBody>
          <a:bodyPr anchor="t" rtlCol="false" tIns="0" lIns="0" bIns="0" rIns="0">
            <a:spAutoFit/>
          </a:bodyPr>
          <a:lstStyle/>
          <a:p>
            <a:pPr algn="l">
              <a:lnSpc>
                <a:spcPts val="4290"/>
              </a:lnSpc>
            </a:pPr>
            <a:r>
              <a:rPr lang="en-US" sz="3064" spc="128" b="true">
                <a:solidFill>
                  <a:srgbClr val="253754"/>
                </a:solidFill>
                <a:latin typeface="Glacial Indifference Bold"/>
                <a:ea typeface="Glacial Indifference Bold"/>
                <a:cs typeface="Glacial Indifference Bold"/>
                <a:sym typeface="Glacial Indifference Bold"/>
              </a:rPr>
              <a:t>Plataforma de Streaming: Cinépolis KLIC</a:t>
            </a:r>
          </a:p>
        </p:txBody>
      </p:sp>
      <p:sp>
        <p:nvSpPr>
          <p:cNvPr name="TextBox 16" id="16"/>
          <p:cNvSpPr txBox="true"/>
          <p:nvPr/>
        </p:nvSpPr>
        <p:spPr>
          <a:xfrm rot="0">
            <a:off x="2077805" y="4003901"/>
            <a:ext cx="8625417" cy="472702"/>
          </a:xfrm>
          <a:prstGeom prst="rect">
            <a:avLst/>
          </a:prstGeom>
        </p:spPr>
        <p:txBody>
          <a:bodyPr anchor="t" rtlCol="false" tIns="0" lIns="0" bIns="0" rIns="0">
            <a:spAutoFit/>
          </a:bodyPr>
          <a:lstStyle/>
          <a:p>
            <a:pPr algn="l">
              <a:lnSpc>
                <a:spcPts val="3870"/>
              </a:lnSpc>
            </a:pPr>
            <a:r>
              <a:rPr lang="en-US" sz="2764" spc="116" b="true">
                <a:solidFill>
                  <a:srgbClr val="253754"/>
                </a:solidFill>
                <a:latin typeface="Glacial Indifference Bold"/>
                <a:ea typeface="Glacial Indifference Bold"/>
                <a:cs typeface="Glacial Indifference Bold"/>
                <a:sym typeface="Glacial Indifference Bold"/>
              </a:rPr>
              <a:t>TVOD: Transactional Video-On-Demand</a:t>
            </a:r>
          </a:p>
        </p:txBody>
      </p:sp>
      <p:sp>
        <p:nvSpPr>
          <p:cNvPr name="TextBox 17" id="17"/>
          <p:cNvSpPr txBox="true"/>
          <p:nvPr/>
        </p:nvSpPr>
        <p:spPr>
          <a:xfrm rot="0">
            <a:off x="2077805" y="4619421"/>
            <a:ext cx="9813549" cy="2930787"/>
          </a:xfrm>
          <a:prstGeom prst="rect">
            <a:avLst/>
          </a:prstGeom>
        </p:spPr>
        <p:txBody>
          <a:bodyPr anchor="t" rtlCol="false" tIns="0" lIns="0" bIns="0" rIns="0">
            <a:spAutoFit/>
          </a:bodyPr>
          <a:lstStyle/>
          <a:p>
            <a:pPr algn="ctr">
              <a:lnSpc>
                <a:spcPts val="3310"/>
              </a:lnSpc>
            </a:pPr>
            <a:r>
              <a:rPr lang="en-US" sz="2364" spc="99">
                <a:solidFill>
                  <a:srgbClr val="253754"/>
                </a:solidFill>
                <a:latin typeface="Glacial Indifference"/>
                <a:ea typeface="Glacial Indifference"/>
                <a:cs typeface="Glacial Indifference"/>
                <a:sym typeface="Glacial Indifference"/>
              </a:rPr>
              <a:t>KLIC es el producto digital más visible de la transformación</a:t>
            </a:r>
            <a:r>
              <a:rPr lang="en-US" sz="2364" spc="99">
                <a:solidFill>
                  <a:srgbClr val="253754"/>
                </a:solidFill>
                <a:latin typeface="Glacial Indifference"/>
                <a:ea typeface="Glacial Indifference"/>
                <a:cs typeface="Glacial Indifference"/>
                <a:sym typeface="Glacial Indifference"/>
              </a:rPr>
              <a:t> </a:t>
            </a:r>
            <a:r>
              <a:rPr lang="en-US" sz="2364" spc="99">
                <a:solidFill>
                  <a:srgbClr val="253754"/>
                </a:solidFill>
                <a:latin typeface="Glacial Indifference"/>
                <a:ea typeface="Glacial Indifference"/>
                <a:cs typeface="Glacial Indifference"/>
                <a:sym typeface="Glacial Indifference"/>
              </a:rPr>
              <a:t>de Cinépolis. Es una plataforma de video bajo demanda transaccional que complementa el negocio físico, no lo canibaliza.</a:t>
            </a:r>
          </a:p>
          <a:p>
            <a:pPr algn="ctr">
              <a:lnSpc>
                <a:spcPts val="3310"/>
              </a:lnSpc>
            </a:pPr>
            <a:r>
              <a:rPr lang="en-US" sz="2364" spc="99">
                <a:solidFill>
                  <a:srgbClr val="253754"/>
                </a:solidFill>
                <a:latin typeface="Glacial Indifference"/>
                <a:ea typeface="Glacial Indifference"/>
                <a:cs typeface="Glacial Indifference"/>
                <a:sym typeface="Glacial Indifference"/>
              </a:rPr>
              <a:t>La estrategia comercial ofrece promociones creativas como rentas gratuitas desde KLIC a asistentes de cines, creando sinergia entre ambos canales.</a:t>
            </a:r>
          </a:p>
          <a:p>
            <a:pPr algn="ctr">
              <a:lnSpc>
                <a:spcPts val="3310"/>
              </a:lnSpc>
            </a:pPr>
          </a:p>
        </p:txBody>
      </p:sp>
      <p:grpSp>
        <p:nvGrpSpPr>
          <p:cNvPr name="Group 18" id="18"/>
          <p:cNvGrpSpPr/>
          <p:nvPr/>
        </p:nvGrpSpPr>
        <p:grpSpPr>
          <a:xfrm rot="0">
            <a:off x="1745442" y="7457314"/>
            <a:ext cx="10352906" cy="2442826"/>
            <a:chOff x="0" y="0"/>
            <a:chExt cx="1636794" cy="386211"/>
          </a:xfrm>
        </p:grpSpPr>
        <p:sp>
          <p:nvSpPr>
            <p:cNvPr name="Freeform 19" id="19"/>
            <p:cNvSpPr/>
            <p:nvPr/>
          </p:nvSpPr>
          <p:spPr>
            <a:xfrm flipH="false" flipV="false" rot="0">
              <a:off x="0" y="0"/>
              <a:ext cx="1636794" cy="386211"/>
            </a:xfrm>
            <a:custGeom>
              <a:avLst/>
              <a:gdLst/>
              <a:ahLst/>
              <a:cxnLst/>
              <a:rect r="r" b="b" t="t" l="l"/>
              <a:pathLst>
                <a:path h="386211" w="1636794">
                  <a:moveTo>
                    <a:pt x="19443" y="0"/>
                  </a:moveTo>
                  <a:lnTo>
                    <a:pt x="1617351" y="0"/>
                  </a:lnTo>
                  <a:cubicBezTo>
                    <a:pt x="1622508" y="0"/>
                    <a:pt x="1627453" y="2048"/>
                    <a:pt x="1631100" y="5695"/>
                  </a:cubicBezTo>
                  <a:cubicBezTo>
                    <a:pt x="1634746" y="9341"/>
                    <a:pt x="1636794" y="14286"/>
                    <a:pt x="1636794" y="19443"/>
                  </a:cubicBezTo>
                  <a:lnTo>
                    <a:pt x="1636794" y="366768"/>
                  </a:lnTo>
                  <a:cubicBezTo>
                    <a:pt x="1636794" y="371924"/>
                    <a:pt x="1634746" y="376870"/>
                    <a:pt x="1631100" y="380516"/>
                  </a:cubicBezTo>
                  <a:cubicBezTo>
                    <a:pt x="1627453" y="384162"/>
                    <a:pt x="1622508" y="386211"/>
                    <a:pt x="1617351" y="386211"/>
                  </a:cubicBezTo>
                  <a:lnTo>
                    <a:pt x="19443" y="386211"/>
                  </a:lnTo>
                  <a:cubicBezTo>
                    <a:pt x="14286" y="386211"/>
                    <a:pt x="9341" y="384162"/>
                    <a:pt x="5695" y="380516"/>
                  </a:cubicBezTo>
                  <a:cubicBezTo>
                    <a:pt x="2048" y="376870"/>
                    <a:pt x="0" y="371924"/>
                    <a:pt x="0" y="366768"/>
                  </a:cubicBezTo>
                  <a:lnTo>
                    <a:pt x="0" y="19443"/>
                  </a:lnTo>
                  <a:cubicBezTo>
                    <a:pt x="0" y="14286"/>
                    <a:pt x="2048" y="9341"/>
                    <a:pt x="5695" y="5695"/>
                  </a:cubicBezTo>
                  <a:cubicBezTo>
                    <a:pt x="9341" y="2048"/>
                    <a:pt x="14286" y="0"/>
                    <a:pt x="19443" y="0"/>
                  </a:cubicBezTo>
                  <a:close/>
                </a:path>
              </a:pathLst>
            </a:custGeom>
            <a:solidFill>
              <a:srgbClr val="EDE8E4"/>
            </a:solidFill>
          </p:spPr>
        </p:sp>
        <p:sp>
          <p:nvSpPr>
            <p:cNvPr name="TextBox 20" id="20"/>
            <p:cNvSpPr txBox="true"/>
            <p:nvPr/>
          </p:nvSpPr>
          <p:spPr>
            <a:xfrm>
              <a:off x="0" y="9525"/>
              <a:ext cx="1636794" cy="376686"/>
            </a:xfrm>
            <a:prstGeom prst="rect">
              <a:avLst/>
            </a:prstGeom>
          </p:spPr>
          <p:txBody>
            <a:bodyPr anchor="ctr" rtlCol="false" tIns="50800" lIns="50800" bIns="50800" rIns="50800"/>
            <a:lstStyle/>
            <a:p>
              <a:pPr algn="ctr">
                <a:lnSpc>
                  <a:spcPts val="2121"/>
                </a:lnSpc>
              </a:pPr>
            </a:p>
          </p:txBody>
        </p:sp>
      </p:grpSp>
      <p:sp>
        <p:nvSpPr>
          <p:cNvPr name="TextBox 21" id="21"/>
          <p:cNvSpPr txBox="true"/>
          <p:nvPr/>
        </p:nvSpPr>
        <p:spPr>
          <a:xfrm rot="0">
            <a:off x="2077805" y="7543039"/>
            <a:ext cx="8625417" cy="472702"/>
          </a:xfrm>
          <a:prstGeom prst="rect">
            <a:avLst/>
          </a:prstGeom>
        </p:spPr>
        <p:txBody>
          <a:bodyPr anchor="t" rtlCol="false" tIns="0" lIns="0" bIns="0" rIns="0">
            <a:spAutoFit/>
          </a:bodyPr>
          <a:lstStyle/>
          <a:p>
            <a:pPr algn="l">
              <a:lnSpc>
                <a:spcPts val="3870"/>
              </a:lnSpc>
            </a:pPr>
            <a:r>
              <a:rPr lang="en-US" sz="2764" spc="116" b="true">
                <a:solidFill>
                  <a:srgbClr val="253754"/>
                </a:solidFill>
                <a:latin typeface="Glacial Indifference Bold"/>
                <a:ea typeface="Glacial Indifference Bold"/>
                <a:cs typeface="Glacial Indifference Bold"/>
                <a:sym typeface="Glacial Indifference Bold"/>
              </a:rPr>
              <a:t>Tecnología de Procesamiento</a:t>
            </a:r>
          </a:p>
        </p:txBody>
      </p:sp>
      <p:sp>
        <p:nvSpPr>
          <p:cNvPr name="TextBox 22" id="22"/>
          <p:cNvSpPr txBox="true"/>
          <p:nvPr/>
        </p:nvSpPr>
        <p:spPr>
          <a:xfrm rot="0">
            <a:off x="1796151" y="7973881"/>
            <a:ext cx="9813549" cy="1673487"/>
          </a:xfrm>
          <a:prstGeom prst="rect">
            <a:avLst/>
          </a:prstGeom>
        </p:spPr>
        <p:txBody>
          <a:bodyPr anchor="t" rtlCol="false" tIns="0" lIns="0" bIns="0" rIns="0">
            <a:spAutoFit/>
          </a:bodyPr>
          <a:lstStyle/>
          <a:p>
            <a:pPr algn="l">
              <a:lnSpc>
                <a:spcPts val="3310"/>
              </a:lnSpc>
            </a:pPr>
            <a:r>
              <a:rPr lang="en-US" sz="2364" spc="99">
                <a:solidFill>
                  <a:srgbClr val="253754"/>
                </a:solidFill>
                <a:latin typeface="Glacial Indifference"/>
                <a:ea typeface="Glacial Indifference"/>
                <a:cs typeface="Glacial Indifference"/>
                <a:sym typeface="Glacial Indifference"/>
              </a:rPr>
              <a:t>Utiliza Elemental Cloud para procesar contenido de origen prov</a:t>
            </a:r>
            <a:r>
              <a:rPr lang="en-US" sz="2364" spc="99">
                <a:solidFill>
                  <a:srgbClr val="253754"/>
                </a:solidFill>
                <a:latin typeface="Glacial Indifference"/>
                <a:ea typeface="Glacial Indifference"/>
                <a:cs typeface="Glacial Indifference"/>
                <a:sym typeface="Glacial Indifference"/>
              </a:rPr>
              <a:t>e</a:t>
            </a:r>
            <a:r>
              <a:rPr lang="en-US" sz="2364" spc="99">
                <a:solidFill>
                  <a:srgbClr val="253754"/>
                </a:solidFill>
                <a:latin typeface="Glacial Indifference"/>
                <a:ea typeface="Glacial Indifference"/>
                <a:cs typeface="Glacial Indifference"/>
                <a:sym typeface="Glacial Indifference"/>
              </a:rPr>
              <a:t>n</a:t>
            </a:r>
            <a:r>
              <a:rPr lang="en-US" sz="2364" spc="99">
                <a:solidFill>
                  <a:srgbClr val="253754"/>
                </a:solidFill>
                <a:latin typeface="Glacial Indifference"/>
                <a:ea typeface="Glacial Indifference"/>
                <a:cs typeface="Glacial Indifference"/>
                <a:sym typeface="Glacial Indifference"/>
              </a:rPr>
              <a:t>i</a:t>
            </a:r>
            <a:r>
              <a:rPr lang="en-US" sz="2364" spc="99">
                <a:solidFill>
                  <a:srgbClr val="253754"/>
                </a:solidFill>
                <a:latin typeface="Glacial Indifference"/>
                <a:ea typeface="Glacial Indifference"/>
                <a:cs typeface="Glacial Indifference"/>
                <a:sym typeface="Glacial Indifference"/>
              </a:rPr>
              <a:t>ente </a:t>
            </a:r>
            <a:r>
              <a:rPr lang="en-US" sz="2364" spc="99">
                <a:solidFill>
                  <a:srgbClr val="253754"/>
                </a:solidFill>
                <a:latin typeface="Glacial Indifference"/>
                <a:ea typeface="Glacial Indifference"/>
                <a:cs typeface="Glacial Indifference"/>
                <a:sym typeface="Glacial Indifference"/>
              </a:rPr>
              <a:t>d</a:t>
            </a:r>
            <a:r>
              <a:rPr lang="en-US" sz="2364" spc="99">
                <a:solidFill>
                  <a:srgbClr val="253754"/>
                </a:solidFill>
                <a:latin typeface="Glacial Indifference"/>
                <a:ea typeface="Glacial Indifference"/>
                <a:cs typeface="Glacial Indifference"/>
                <a:sym typeface="Glacial Indifference"/>
              </a:rPr>
              <a:t>e estudios. El contenido se almacen</a:t>
            </a:r>
            <a:r>
              <a:rPr lang="en-US" sz="2364" spc="99">
                <a:solidFill>
                  <a:srgbClr val="253754"/>
                </a:solidFill>
                <a:latin typeface="Glacial Indifference"/>
                <a:ea typeface="Glacial Indifference"/>
                <a:cs typeface="Glacial Indifference"/>
                <a:sym typeface="Glacial Indifference"/>
              </a:rPr>
              <a:t>a</a:t>
            </a:r>
            <a:r>
              <a:rPr lang="en-US" sz="2364" spc="99">
                <a:solidFill>
                  <a:srgbClr val="253754"/>
                </a:solidFill>
                <a:latin typeface="Glacial Indifference"/>
                <a:ea typeface="Glacial Indifference"/>
                <a:cs typeface="Glacial Indifference"/>
                <a:sym typeface="Glacial Indifference"/>
              </a:rPr>
              <a:t> en Amazon S3 y se entrega med</a:t>
            </a:r>
            <a:r>
              <a:rPr lang="en-US" sz="2364" spc="99">
                <a:solidFill>
                  <a:srgbClr val="253754"/>
                </a:solidFill>
                <a:latin typeface="Glacial Indifference"/>
                <a:ea typeface="Glacial Indifference"/>
                <a:cs typeface="Glacial Indifference"/>
                <a:sym typeface="Glacial Indifference"/>
              </a:rPr>
              <a:t>ia</a:t>
            </a:r>
            <a:r>
              <a:rPr lang="en-US" sz="2364" spc="99">
                <a:solidFill>
                  <a:srgbClr val="253754"/>
                </a:solidFill>
                <a:latin typeface="Glacial Indifference"/>
                <a:ea typeface="Glacial Indifference"/>
                <a:cs typeface="Glacial Indifference"/>
                <a:sym typeface="Glacial Indifference"/>
              </a:rPr>
              <a:t>nte C</a:t>
            </a:r>
            <a:r>
              <a:rPr lang="en-US" sz="2364" spc="99">
                <a:solidFill>
                  <a:srgbClr val="253754"/>
                </a:solidFill>
                <a:latin typeface="Glacial Indifference"/>
                <a:ea typeface="Glacial Indifference"/>
                <a:cs typeface="Glacial Indifference"/>
                <a:sym typeface="Glacial Indifference"/>
              </a:rPr>
              <a:t>l</a:t>
            </a:r>
            <a:r>
              <a:rPr lang="en-US" sz="2364" spc="99">
                <a:solidFill>
                  <a:srgbClr val="253754"/>
                </a:solidFill>
                <a:latin typeface="Glacial Indifference"/>
                <a:ea typeface="Glacial Indifference"/>
                <a:cs typeface="Glacial Indifference"/>
                <a:sym typeface="Glacial Indifference"/>
              </a:rPr>
              <a:t>ou</a:t>
            </a:r>
            <a:r>
              <a:rPr lang="en-US" sz="2364" spc="99">
                <a:solidFill>
                  <a:srgbClr val="253754"/>
                </a:solidFill>
                <a:latin typeface="Glacial Indifference"/>
                <a:ea typeface="Glacial Indifference"/>
                <a:cs typeface="Glacial Indifference"/>
                <a:sym typeface="Glacial Indifference"/>
              </a:rPr>
              <a:t>d</a:t>
            </a:r>
            <a:r>
              <a:rPr lang="en-US" sz="2364" spc="99">
                <a:solidFill>
                  <a:srgbClr val="253754"/>
                </a:solidFill>
                <a:latin typeface="Glacial Indifference"/>
                <a:ea typeface="Glacial Indifference"/>
                <a:cs typeface="Glacial Indifference"/>
                <a:sym typeface="Glacial Indifference"/>
              </a:rPr>
              <a:t>Front </a:t>
            </a:r>
            <a:r>
              <a:rPr lang="en-US" sz="2364" spc="99">
                <a:solidFill>
                  <a:srgbClr val="253754"/>
                </a:solidFill>
                <a:latin typeface="Glacial Indifference"/>
                <a:ea typeface="Glacial Indifference"/>
                <a:cs typeface="Glacial Indifference"/>
                <a:sym typeface="Glacial Indifference"/>
              </a:rPr>
              <a:t>a</a:t>
            </a:r>
            <a:r>
              <a:rPr lang="en-US" sz="2364" spc="99">
                <a:solidFill>
                  <a:srgbClr val="253754"/>
                </a:solidFill>
                <a:latin typeface="Glacial Indifference"/>
                <a:ea typeface="Glacial Indifference"/>
                <a:cs typeface="Glacial Indifference"/>
                <a:sym typeface="Glacial Indifference"/>
              </a:rPr>
              <a:t> múltiples dispositivos conectados.</a:t>
            </a:r>
          </a:p>
          <a:p>
            <a:pPr algn="l">
              <a:lnSpc>
                <a:spcPts val="3310"/>
              </a:lnSpc>
            </a:pPr>
          </a:p>
        </p:txBody>
      </p:sp>
      <p:sp>
        <p:nvSpPr>
          <p:cNvPr name="TextBox 23" id="23"/>
          <p:cNvSpPr txBox="true"/>
          <p:nvPr/>
        </p:nvSpPr>
        <p:spPr>
          <a:xfrm rot="0">
            <a:off x="13119873" y="2961045"/>
            <a:ext cx="4950796" cy="1444252"/>
          </a:xfrm>
          <a:prstGeom prst="rect">
            <a:avLst/>
          </a:prstGeom>
        </p:spPr>
        <p:txBody>
          <a:bodyPr anchor="t" rtlCol="false" tIns="0" lIns="0" bIns="0" rIns="0">
            <a:spAutoFit/>
          </a:bodyPr>
          <a:lstStyle/>
          <a:p>
            <a:pPr algn="ctr">
              <a:lnSpc>
                <a:spcPts val="3870"/>
              </a:lnSpc>
            </a:pPr>
            <a:r>
              <a:rPr lang="en-US" b="true" sz="2764" spc="116">
                <a:solidFill>
                  <a:srgbClr val="253754"/>
                </a:solidFill>
                <a:latin typeface="Glacial Indifference Bold"/>
                <a:ea typeface="Glacial Indifference Bold"/>
                <a:cs typeface="Glacial Indifference Bold"/>
                <a:sym typeface="Glacial Indifference Bold"/>
              </a:rPr>
              <a:t>Disponibilidad Multiplataforma</a:t>
            </a:r>
          </a:p>
          <a:p>
            <a:pPr algn="ctr">
              <a:lnSpc>
                <a:spcPts val="3870"/>
              </a:lnSpc>
            </a:pPr>
          </a:p>
        </p:txBody>
      </p:sp>
      <p:sp>
        <p:nvSpPr>
          <p:cNvPr name="TextBox 24" id="24"/>
          <p:cNvSpPr txBox="true"/>
          <p:nvPr/>
        </p:nvSpPr>
        <p:spPr>
          <a:xfrm rot="0">
            <a:off x="12894216" y="4105473"/>
            <a:ext cx="6390795" cy="2511687"/>
          </a:xfrm>
          <a:prstGeom prst="rect">
            <a:avLst/>
          </a:prstGeom>
        </p:spPr>
        <p:txBody>
          <a:bodyPr anchor="t" rtlCol="false" tIns="0" lIns="0" bIns="0" rIns="0">
            <a:spAutoFit/>
          </a:bodyPr>
          <a:lstStyle/>
          <a:p>
            <a:pPr algn="l" marL="510535" indent="-255267" lvl="1">
              <a:lnSpc>
                <a:spcPts val="3310"/>
              </a:lnSpc>
              <a:buFont typeface="Arial"/>
              <a:buChar char="•"/>
            </a:pPr>
            <a:r>
              <a:rPr lang="en-US" b="true" sz="2364" spc="99">
                <a:solidFill>
                  <a:srgbClr val="253754"/>
                </a:solidFill>
                <a:latin typeface="Glacial Indifference Bold"/>
                <a:ea typeface="Glacial Indifference Bold"/>
                <a:cs typeface="Glacial Indifference Bold"/>
                <a:sym typeface="Glacial Indifference Bold"/>
              </a:rPr>
              <a:t>android</a:t>
            </a:r>
          </a:p>
          <a:p>
            <a:pPr algn="l" marL="510535" indent="-255267" lvl="1">
              <a:lnSpc>
                <a:spcPts val="3310"/>
              </a:lnSpc>
              <a:buFont typeface="Arial"/>
              <a:buChar char="•"/>
            </a:pPr>
            <a:r>
              <a:rPr lang="en-US" b="true" sz="2364" spc="99">
                <a:solidFill>
                  <a:srgbClr val="253754"/>
                </a:solidFill>
                <a:latin typeface="Glacial Indifference Bold"/>
                <a:ea typeface="Glacial Indifference Bold"/>
                <a:cs typeface="Glacial Indifference Bold"/>
                <a:sym typeface="Glacial Indifference Bold"/>
              </a:rPr>
              <a:t>IOs</a:t>
            </a:r>
          </a:p>
          <a:p>
            <a:pPr algn="l" marL="510535" indent="-255267" lvl="1">
              <a:lnSpc>
                <a:spcPts val="3310"/>
              </a:lnSpc>
              <a:buFont typeface="Arial"/>
              <a:buChar char="•"/>
            </a:pPr>
            <a:r>
              <a:rPr lang="en-US" b="true" sz="2364" spc="99">
                <a:solidFill>
                  <a:srgbClr val="253754"/>
                </a:solidFill>
                <a:latin typeface="Glacial Indifference Bold"/>
                <a:ea typeface="Glacial Indifference Bold"/>
                <a:cs typeface="Glacial Indifference Bold"/>
                <a:sym typeface="Glacial Indifference Bold"/>
              </a:rPr>
              <a:t>PS</a:t>
            </a:r>
          </a:p>
          <a:p>
            <a:pPr algn="l" marL="510535" indent="-255267" lvl="1">
              <a:lnSpc>
                <a:spcPts val="3310"/>
              </a:lnSpc>
              <a:buFont typeface="Arial"/>
              <a:buChar char="•"/>
            </a:pPr>
            <a:r>
              <a:rPr lang="en-US" b="true" sz="2364" spc="99">
                <a:solidFill>
                  <a:srgbClr val="253754"/>
                </a:solidFill>
                <a:latin typeface="Glacial Indifference Bold"/>
                <a:ea typeface="Glacial Indifference Bold"/>
                <a:cs typeface="Glacial Indifference Bold"/>
                <a:sym typeface="Glacial Indifference Bold"/>
              </a:rPr>
              <a:t>Roky</a:t>
            </a:r>
          </a:p>
          <a:p>
            <a:pPr algn="l" marL="510535" indent="-255267" lvl="1">
              <a:lnSpc>
                <a:spcPts val="3310"/>
              </a:lnSpc>
              <a:buFont typeface="Arial"/>
              <a:buChar char="•"/>
            </a:pPr>
            <a:r>
              <a:rPr lang="en-US" b="true" sz="2364" spc="99">
                <a:solidFill>
                  <a:srgbClr val="253754"/>
                </a:solidFill>
                <a:latin typeface="Glacial Indifference Bold"/>
                <a:ea typeface="Glacial Indifference Bold"/>
                <a:cs typeface="Glacial Indifference Bold"/>
                <a:sym typeface="Glacial Indifference Bold"/>
              </a:rPr>
              <a:t>stamrt TV</a:t>
            </a:r>
          </a:p>
          <a:p>
            <a:pPr algn="l" marL="510535" indent="-255267" lvl="1">
              <a:lnSpc>
                <a:spcPts val="3310"/>
              </a:lnSpc>
              <a:buFont typeface="Arial"/>
              <a:buChar char="•"/>
            </a:pPr>
            <a:r>
              <a:rPr lang="en-US" b="true" sz="2364" spc="99">
                <a:solidFill>
                  <a:srgbClr val="253754"/>
                </a:solidFill>
                <a:latin typeface="Glacial Indifference Bold"/>
                <a:ea typeface="Glacial Indifference Bold"/>
                <a:cs typeface="Glacial Indifference Bold"/>
                <a:sym typeface="Glacial Indifference Bold"/>
              </a:rPr>
              <a:t>etc..</a:t>
            </a:r>
          </a:p>
        </p:txBody>
      </p:sp>
      <p:sp>
        <p:nvSpPr>
          <p:cNvPr name="TextBox 25" id="25"/>
          <p:cNvSpPr txBox="true"/>
          <p:nvPr/>
        </p:nvSpPr>
        <p:spPr>
          <a:xfrm rot="0">
            <a:off x="13159731" y="6764902"/>
            <a:ext cx="4645422" cy="835287"/>
          </a:xfrm>
          <a:prstGeom prst="rect">
            <a:avLst/>
          </a:prstGeom>
        </p:spPr>
        <p:txBody>
          <a:bodyPr anchor="t" rtlCol="false" tIns="0" lIns="0" bIns="0" rIns="0">
            <a:spAutoFit/>
          </a:bodyPr>
          <a:lstStyle/>
          <a:p>
            <a:pPr algn="l">
              <a:lnSpc>
                <a:spcPts val="3310"/>
              </a:lnSpc>
            </a:pPr>
            <a:r>
              <a:rPr lang="en-US" sz="2364" spc="99" b="true">
                <a:solidFill>
                  <a:srgbClr val="253754"/>
                </a:solidFill>
                <a:latin typeface="Glacial Indifference Bold"/>
                <a:ea typeface="Glacial Indifference Bold"/>
                <a:cs typeface="Glacial Indifference Bold"/>
                <a:sym typeface="Glacial Indifference Bold"/>
              </a:rPr>
              <a:t>con precios flexibles desde </a:t>
            </a:r>
          </a:p>
          <a:p>
            <a:pPr algn="ctr">
              <a:lnSpc>
                <a:spcPts val="3310"/>
              </a:lnSpc>
            </a:pPr>
            <a:r>
              <a:rPr lang="en-US" sz="2364" spc="99">
                <a:solidFill>
                  <a:srgbClr val="253754"/>
                </a:solidFill>
                <a:latin typeface="Glacial Indifference"/>
                <a:ea typeface="Glacial Indifference"/>
                <a:cs typeface="Glacial Indifference"/>
                <a:sym typeface="Glacial Indifference"/>
              </a:rPr>
              <a:t>$20 → $199</a:t>
            </a:r>
          </a:p>
        </p:txBody>
      </p:sp>
    </p:spTree>
  </p:cSld>
  <p:clrMapOvr>
    <a:masterClrMapping/>
  </p:clrMapOvr>
</p:sld>
</file>

<file path=ppt/slides/slide22.xml><?xml version="1.0" encoding="utf-8"?>
<p:sld xmlns:p="http://schemas.openxmlformats.org/presentationml/2006/main" xmlns:a="http://schemas.openxmlformats.org/drawingml/2006/main" xmlns:r="http://schemas.openxmlformats.org/officeDocument/2006/relationships">
  <p:cSld>
    <p:bg>
      <p:bgPr>
        <a:solidFill>
          <a:srgbClr val="253754"/>
        </a:solidFill>
      </p:bgPr>
    </p:bg>
    <p:spTree>
      <p:nvGrpSpPr>
        <p:cNvPr id="1" name=""/>
        <p:cNvGrpSpPr/>
        <p:nvPr/>
      </p:nvGrpSpPr>
      <p:grpSpPr>
        <a:xfrm>
          <a:off x="0" y="0"/>
          <a:ext cx="0" cy="0"/>
          <a:chOff x="0" y="0"/>
          <a:chExt cx="0" cy="0"/>
        </a:xfrm>
      </p:grpSpPr>
      <p:sp>
        <p:nvSpPr>
          <p:cNvPr name="Freeform 2" id="2"/>
          <p:cNvSpPr/>
          <p:nvPr/>
        </p:nvSpPr>
        <p:spPr>
          <a:xfrm flipH="false" flipV="false" rot="0">
            <a:off x="-1680157" y="-3300337"/>
            <a:ext cx="6212126" cy="7976908"/>
          </a:xfrm>
          <a:custGeom>
            <a:avLst/>
            <a:gdLst/>
            <a:ahLst/>
            <a:cxnLst/>
            <a:rect r="r" b="b" t="t" l="l"/>
            <a:pathLst>
              <a:path h="7976908" w="6212126">
                <a:moveTo>
                  <a:pt x="0" y="0"/>
                </a:moveTo>
                <a:lnTo>
                  <a:pt x="6212127" y="0"/>
                </a:lnTo>
                <a:lnTo>
                  <a:pt x="6212127" y="7976908"/>
                </a:lnTo>
                <a:lnTo>
                  <a:pt x="0" y="7976908"/>
                </a:lnTo>
                <a:lnTo>
                  <a:pt x="0" y="0"/>
                </a:lnTo>
                <a:close/>
              </a:path>
            </a:pathLst>
          </a:custGeom>
          <a:blipFill>
            <a:blip r:embed="rId2">
              <a:extLst>
                <a:ext uri="{96DAC541-7B7A-43D3-8B79-37D633B846F1}">
                  <asvg:svgBlip xmlns:asvg="http://schemas.microsoft.com/office/drawing/2016/SVG/main" r:embed="rId3"/>
                </a:ext>
              </a:extLst>
            </a:blip>
            <a:stretch>
              <a:fillRect l="0" t="0" r="-37402" b="0"/>
            </a:stretch>
          </a:blipFill>
          <a:ln cap="sq">
            <a:noFill/>
            <a:prstDash val="solid"/>
            <a:miter/>
          </a:ln>
        </p:spPr>
      </p:sp>
      <p:sp>
        <p:nvSpPr>
          <p:cNvPr name="Freeform 3" id="3"/>
          <p:cNvSpPr/>
          <p:nvPr/>
        </p:nvSpPr>
        <p:spPr>
          <a:xfrm flipH="false" flipV="false" rot="-10151301">
            <a:off x="11214641" y="6982437"/>
            <a:ext cx="8535602" cy="7976908"/>
          </a:xfrm>
          <a:custGeom>
            <a:avLst/>
            <a:gdLst/>
            <a:ahLst/>
            <a:cxnLst/>
            <a:rect r="r" b="b" t="t" l="l"/>
            <a:pathLst>
              <a:path h="7976908" w="8535602">
                <a:moveTo>
                  <a:pt x="0" y="0"/>
                </a:moveTo>
                <a:lnTo>
                  <a:pt x="8535602" y="0"/>
                </a:lnTo>
                <a:lnTo>
                  <a:pt x="8535602" y="7976908"/>
                </a:lnTo>
                <a:lnTo>
                  <a:pt x="0" y="7976908"/>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a:ln cap="sq">
            <a:noFill/>
            <a:prstDash val="solid"/>
            <a:miter/>
          </a:ln>
        </p:spPr>
      </p:sp>
      <p:grpSp>
        <p:nvGrpSpPr>
          <p:cNvPr name="Group 4" id="4"/>
          <p:cNvGrpSpPr/>
          <p:nvPr/>
        </p:nvGrpSpPr>
        <p:grpSpPr>
          <a:xfrm rot="0">
            <a:off x="1309629" y="2550122"/>
            <a:ext cx="11224533" cy="7350019"/>
            <a:chOff x="0" y="0"/>
            <a:chExt cx="2501721" cy="1638170"/>
          </a:xfrm>
        </p:grpSpPr>
        <p:sp>
          <p:nvSpPr>
            <p:cNvPr name="Freeform 5" id="5"/>
            <p:cNvSpPr/>
            <p:nvPr/>
          </p:nvSpPr>
          <p:spPr>
            <a:xfrm flipH="false" flipV="false" rot="0">
              <a:off x="0" y="0"/>
              <a:ext cx="2501721" cy="1638170"/>
            </a:xfrm>
            <a:custGeom>
              <a:avLst/>
              <a:gdLst/>
              <a:ahLst/>
              <a:cxnLst/>
              <a:rect r="r" b="b" t="t" l="l"/>
              <a:pathLst>
                <a:path h="1638170" w="2501721">
                  <a:moveTo>
                    <a:pt x="40694" y="0"/>
                  </a:moveTo>
                  <a:lnTo>
                    <a:pt x="2461027" y="0"/>
                  </a:lnTo>
                  <a:cubicBezTo>
                    <a:pt x="2483502" y="0"/>
                    <a:pt x="2501721" y="18219"/>
                    <a:pt x="2501721" y="40694"/>
                  </a:cubicBezTo>
                  <a:lnTo>
                    <a:pt x="2501721" y="1597476"/>
                  </a:lnTo>
                  <a:cubicBezTo>
                    <a:pt x="2501721" y="1619951"/>
                    <a:pt x="2483502" y="1638170"/>
                    <a:pt x="2461027" y="1638170"/>
                  </a:cubicBezTo>
                  <a:lnTo>
                    <a:pt x="40694" y="1638170"/>
                  </a:lnTo>
                  <a:cubicBezTo>
                    <a:pt x="18219" y="1638170"/>
                    <a:pt x="0" y="1619951"/>
                    <a:pt x="0" y="1597476"/>
                  </a:cubicBezTo>
                  <a:lnTo>
                    <a:pt x="0" y="40694"/>
                  </a:lnTo>
                  <a:cubicBezTo>
                    <a:pt x="0" y="18219"/>
                    <a:pt x="18219" y="0"/>
                    <a:pt x="40694" y="0"/>
                  </a:cubicBezTo>
                  <a:close/>
                </a:path>
              </a:pathLst>
            </a:custGeom>
            <a:ln w="38100" cap="rnd">
              <a:solidFill>
                <a:srgbClr val="E3D8D4"/>
              </a:solidFill>
              <a:prstDash val="solid"/>
              <a:round/>
            </a:ln>
          </p:spPr>
        </p:sp>
        <p:sp>
          <p:nvSpPr>
            <p:cNvPr name="TextBox 6" id="6"/>
            <p:cNvSpPr txBox="true"/>
            <p:nvPr/>
          </p:nvSpPr>
          <p:spPr>
            <a:xfrm>
              <a:off x="0" y="9525"/>
              <a:ext cx="2501721" cy="1628645"/>
            </a:xfrm>
            <a:prstGeom prst="rect">
              <a:avLst/>
            </a:prstGeom>
          </p:spPr>
          <p:txBody>
            <a:bodyPr anchor="ctr" rtlCol="false" tIns="50800" lIns="50800" bIns="50800" rIns="50800"/>
            <a:lstStyle/>
            <a:p>
              <a:pPr algn="ctr">
                <a:lnSpc>
                  <a:spcPts val="2121"/>
                </a:lnSpc>
              </a:pPr>
            </a:p>
            <a:p>
              <a:pPr algn="ctr">
                <a:lnSpc>
                  <a:spcPts val="2121"/>
                </a:lnSpc>
              </a:pPr>
            </a:p>
            <a:p>
              <a:pPr algn="ctr">
                <a:lnSpc>
                  <a:spcPts val="2121"/>
                </a:lnSpc>
              </a:pPr>
            </a:p>
          </p:txBody>
        </p:sp>
      </p:grpSp>
      <p:sp>
        <p:nvSpPr>
          <p:cNvPr name="Freeform 7" id="7"/>
          <p:cNvSpPr/>
          <p:nvPr/>
        </p:nvSpPr>
        <p:spPr>
          <a:xfrm flipH="false" flipV="false" rot="-10800000">
            <a:off x="1595921" y="2684294"/>
            <a:ext cx="10651948" cy="1033825"/>
          </a:xfrm>
          <a:custGeom>
            <a:avLst/>
            <a:gdLst/>
            <a:ahLst/>
            <a:cxnLst/>
            <a:rect r="r" b="b" t="t" l="l"/>
            <a:pathLst>
              <a:path h="1033825" w="10651948">
                <a:moveTo>
                  <a:pt x="0" y="0"/>
                </a:moveTo>
                <a:lnTo>
                  <a:pt x="10651948" y="0"/>
                </a:lnTo>
                <a:lnTo>
                  <a:pt x="10651948" y="1033825"/>
                </a:lnTo>
                <a:lnTo>
                  <a:pt x="0" y="1033825"/>
                </a:lnTo>
                <a:lnTo>
                  <a:pt x="0" y="0"/>
                </a:lnTo>
                <a:close/>
              </a:path>
            </a:pathLst>
          </a:custGeom>
          <a:blipFill>
            <a:blip r:embed="rId4">
              <a:extLst>
                <a:ext uri="{96DAC541-7B7A-43D3-8B79-37D633B846F1}">
                  <asvg:svgBlip xmlns:asvg="http://schemas.microsoft.com/office/drawing/2016/SVG/main" r:embed="rId5"/>
                </a:ext>
              </a:extLst>
            </a:blip>
            <a:stretch>
              <a:fillRect l="-5375" t="-1263469" r="0" b="-75421"/>
            </a:stretch>
          </a:blipFill>
        </p:spPr>
      </p:sp>
      <p:grpSp>
        <p:nvGrpSpPr>
          <p:cNvPr name="Group 8" id="8"/>
          <p:cNvGrpSpPr/>
          <p:nvPr/>
        </p:nvGrpSpPr>
        <p:grpSpPr>
          <a:xfrm rot="0">
            <a:off x="1745442" y="3888509"/>
            <a:ext cx="10352906" cy="3368780"/>
            <a:chOff x="0" y="0"/>
            <a:chExt cx="1636794" cy="532604"/>
          </a:xfrm>
        </p:grpSpPr>
        <p:sp>
          <p:nvSpPr>
            <p:cNvPr name="Freeform 9" id="9"/>
            <p:cNvSpPr/>
            <p:nvPr/>
          </p:nvSpPr>
          <p:spPr>
            <a:xfrm flipH="false" flipV="false" rot="0">
              <a:off x="0" y="0"/>
              <a:ext cx="1636794" cy="532604"/>
            </a:xfrm>
            <a:custGeom>
              <a:avLst/>
              <a:gdLst/>
              <a:ahLst/>
              <a:cxnLst/>
              <a:rect r="r" b="b" t="t" l="l"/>
              <a:pathLst>
                <a:path h="532604" w="1636794">
                  <a:moveTo>
                    <a:pt x="19443" y="0"/>
                  </a:moveTo>
                  <a:lnTo>
                    <a:pt x="1617351" y="0"/>
                  </a:lnTo>
                  <a:cubicBezTo>
                    <a:pt x="1622508" y="0"/>
                    <a:pt x="1627453" y="2048"/>
                    <a:pt x="1631100" y="5695"/>
                  </a:cubicBezTo>
                  <a:cubicBezTo>
                    <a:pt x="1634746" y="9341"/>
                    <a:pt x="1636794" y="14286"/>
                    <a:pt x="1636794" y="19443"/>
                  </a:cubicBezTo>
                  <a:lnTo>
                    <a:pt x="1636794" y="513161"/>
                  </a:lnTo>
                  <a:cubicBezTo>
                    <a:pt x="1636794" y="518318"/>
                    <a:pt x="1634746" y="523263"/>
                    <a:pt x="1631100" y="526909"/>
                  </a:cubicBezTo>
                  <a:cubicBezTo>
                    <a:pt x="1627453" y="530556"/>
                    <a:pt x="1622508" y="532604"/>
                    <a:pt x="1617351" y="532604"/>
                  </a:cubicBezTo>
                  <a:lnTo>
                    <a:pt x="19443" y="532604"/>
                  </a:lnTo>
                  <a:cubicBezTo>
                    <a:pt x="14286" y="532604"/>
                    <a:pt x="9341" y="530556"/>
                    <a:pt x="5695" y="526909"/>
                  </a:cubicBezTo>
                  <a:cubicBezTo>
                    <a:pt x="2048" y="523263"/>
                    <a:pt x="0" y="518318"/>
                    <a:pt x="0" y="513161"/>
                  </a:cubicBezTo>
                  <a:lnTo>
                    <a:pt x="0" y="19443"/>
                  </a:lnTo>
                  <a:cubicBezTo>
                    <a:pt x="0" y="14286"/>
                    <a:pt x="2048" y="9341"/>
                    <a:pt x="5695" y="5695"/>
                  </a:cubicBezTo>
                  <a:cubicBezTo>
                    <a:pt x="9341" y="2048"/>
                    <a:pt x="14286" y="0"/>
                    <a:pt x="19443" y="0"/>
                  </a:cubicBezTo>
                  <a:close/>
                </a:path>
              </a:pathLst>
            </a:custGeom>
            <a:solidFill>
              <a:srgbClr val="EDE8E4"/>
            </a:solidFill>
          </p:spPr>
        </p:sp>
        <p:sp>
          <p:nvSpPr>
            <p:cNvPr name="TextBox 10" id="10"/>
            <p:cNvSpPr txBox="true"/>
            <p:nvPr/>
          </p:nvSpPr>
          <p:spPr>
            <a:xfrm>
              <a:off x="0" y="9525"/>
              <a:ext cx="1636794" cy="523079"/>
            </a:xfrm>
            <a:prstGeom prst="rect">
              <a:avLst/>
            </a:prstGeom>
          </p:spPr>
          <p:txBody>
            <a:bodyPr anchor="ctr" rtlCol="false" tIns="50800" lIns="50800" bIns="50800" rIns="50800"/>
            <a:lstStyle/>
            <a:p>
              <a:pPr algn="ctr">
                <a:lnSpc>
                  <a:spcPts val="2121"/>
                </a:lnSpc>
              </a:pPr>
            </a:p>
          </p:txBody>
        </p:sp>
      </p:grpSp>
      <p:grpSp>
        <p:nvGrpSpPr>
          <p:cNvPr name="Group 11" id="11"/>
          <p:cNvGrpSpPr/>
          <p:nvPr/>
        </p:nvGrpSpPr>
        <p:grpSpPr>
          <a:xfrm rot="0">
            <a:off x="12894216" y="2684294"/>
            <a:ext cx="5176453" cy="5123672"/>
            <a:chOff x="0" y="0"/>
            <a:chExt cx="818397" cy="810052"/>
          </a:xfrm>
        </p:grpSpPr>
        <p:sp>
          <p:nvSpPr>
            <p:cNvPr name="Freeform 12" id="12"/>
            <p:cNvSpPr/>
            <p:nvPr/>
          </p:nvSpPr>
          <p:spPr>
            <a:xfrm flipH="false" flipV="false" rot="0">
              <a:off x="0" y="0"/>
              <a:ext cx="818397" cy="810052"/>
            </a:xfrm>
            <a:custGeom>
              <a:avLst/>
              <a:gdLst/>
              <a:ahLst/>
              <a:cxnLst/>
              <a:rect r="r" b="b" t="t" l="l"/>
              <a:pathLst>
                <a:path h="810052" w="818397">
                  <a:moveTo>
                    <a:pt x="38886" y="0"/>
                  </a:moveTo>
                  <a:lnTo>
                    <a:pt x="779511" y="0"/>
                  </a:lnTo>
                  <a:cubicBezTo>
                    <a:pt x="800987" y="0"/>
                    <a:pt x="818397" y="17410"/>
                    <a:pt x="818397" y="38886"/>
                  </a:cubicBezTo>
                  <a:lnTo>
                    <a:pt x="818397" y="771167"/>
                  </a:lnTo>
                  <a:cubicBezTo>
                    <a:pt x="818397" y="792643"/>
                    <a:pt x="800987" y="810052"/>
                    <a:pt x="779511" y="810052"/>
                  </a:cubicBezTo>
                  <a:lnTo>
                    <a:pt x="38886" y="810052"/>
                  </a:lnTo>
                  <a:cubicBezTo>
                    <a:pt x="17410" y="810052"/>
                    <a:pt x="0" y="792643"/>
                    <a:pt x="0" y="771167"/>
                  </a:cubicBezTo>
                  <a:lnTo>
                    <a:pt x="0" y="38886"/>
                  </a:lnTo>
                  <a:cubicBezTo>
                    <a:pt x="0" y="17410"/>
                    <a:pt x="17410" y="0"/>
                    <a:pt x="38886" y="0"/>
                  </a:cubicBezTo>
                  <a:close/>
                </a:path>
              </a:pathLst>
            </a:custGeom>
            <a:solidFill>
              <a:srgbClr val="EDE8E4"/>
            </a:solidFill>
          </p:spPr>
        </p:sp>
        <p:sp>
          <p:nvSpPr>
            <p:cNvPr name="TextBox 13" id="13"/>
            <p:cNvSpPr txBox="true"/>
            <p:nvPr/>
          </p:nvSpPr>
          <p:spPr>
            <a:xfrm>
              <a:off x="0" y="9525"/>
              <a:ext cx="818397" cy="800527"/>
            </a:xfrm>
            <a:prstGeom prst="rect">
              <a:avLst/>
            </a:prstGeom>
          </p:spPr>
          <p:txBody>
            <a:bodyPr anchor="ctr" rtlCol="false" tIns="50800" lIns="50800" bIns="50800" rIns="50800"/>
            <a:lstStyle/>
            <a:p>
              <a:pPr algn="ctr">
                <a:lnSpc>
                  <a:spcPts val="2121"/>
                </a:lnSpc>
              </a:pPr>
            </a:p>
          </p:txBody>
        </p:sp>
      </p:grpSp>
      <p:sp>
        <p:nvSpPr>
          <p:cNvPr name="TextBox 14" id="14"/>
          <p:cNvSpPr txBox="true"/>
          <p:nvPr/>
        </p:nvSpPr>
        <p:spPr>
          <a:xfrm rot="0">
            <a:off x="2772438" y="225491"/>
            <a:ext cx="14255381" cy="2458803"/>
          </a:xfrm>
          <a:prstGeom prst="rect">
            <a:avLst/>
          </a:prstGeom>
        </p:spPr>
        <p:txBody>
          <a:bodyPr anchor="t" rtlCol="false" tIns="0" lIns="0" bIns="0" rIns="0">
            <a:spAutoFit/>
          </a:bodyPr>
          <a:lstStyle/>
          <a:p>
            <a:pPr algn="r">
              <a:lnSpc>
                <a:spcPts val="9841"/>
              </a:lnSpc>
            </a:pPr>
            <a:r>
              <a:rPr lang="en-US" sz="7029" spc="660">
                <a:solidFill>
                  <a:srgbClr val="EDE8E4"/>
                </a:solidFill>
                <a:latin typeface="Glacial Indifference"/>
                <a:ea typeface="Glacial Indifference"/>
                <a:cs typeface="Glacial Indifference"/>
                <a:sym typeface="Glacial Indifference"/>
              </a:rPr>
              <a:t>ECOSISTEMA DIGITAL OMNICANAL</a:t>
            </a:r>
          </a:p>
        </p:txBody>
      </p:sp>
      <p:sp>
        <p:nvSpPr>
          <p:cNvPr name="TextBox 15" id="15"/>
          <p:cNvSpPr txBox="true"/>
          <p:nvPr/>
        </p:nvSpPr>
        <p:spPr>
          <a:xfrm rot="0">
            <a:off x="2395212" y="2911515"/>
            <a:ext cx="9214488" cy="522233"/>
          </a:xfrm>
          <a:prstGeom prst="rect">
            <a:avLst/>
          </a:prstGeom>
        </p:spPr>
        <p:txBody>
          <a:bodyPr anchor="t" rtlCol="false" tIns="0" lIns="0" bIns="0" rIns="0">
            <a:spAutoFit/>
          </a:bodyPr>
          <a:lstStyle/>
          <a:p>
            <a:pPr algn="l">
              <a:lnSpc>
                <a:spcPts val="4290"/>
              </a:lnSpc>
            </a:pPr>
            <a:r>
              <a:rPr lang="en-US" sz="3064" spc="128" b="true">
                <a:solidFill>
                  <a:srgbClr val="253754"/>
                </a:solidFill>
                <a:latin typeface="Glacial Indifference Bold"/>
                <a:ea typeface="Glacial Indifference Bold"/>
                <a:cs typeface="Glacial Indifference Bold"/>
                <a:sym typeface="Glacial Indifference Bold"/>
              </a:rPr>
              <a:t>Canales de Contacto Digitales</a:t>
            </a:r>
          </a:p>
        </p:txBody>
      </p:sp>
      <p:sp>
        <p:nvSpPr>
          <p:cNvPr name="TextBox 16" id="16"/>
          <p:cNvSpPr txBox="true"/>
          <p:nvPr/>
        </p:nvSpPr>
        <p:spPr>
          <a:xfrm rot="0">
            <a:off x="2095682" y="4105473"/>
            <a:ext cx="9813549" cy="1254387"/>
          </a:xfrm>
          <a:prstGeom prst="rect">
            <a:avLst/>
          </a:prstGeom>
        </p:spPr>
        <p:txBody>
          <a:bodyPr anchor="t" rtlCol="false" tIns="0" lIns="0" bIns="0" rIns="0">
            <a:spAutoFit/>
          </a:bodyPr>
          <a:lstStyle/>
          <a:p>
            <a:pPr algn="ctr">
              <a:lnSpc>
                <a:spcPts val="3310"/>
              </a:lnSpc>
            </a:pPr>
            <a:r>
              <a:rPr lang="en-US" sz="2364" spc="99">
                <a:solidFill>
                  <a:srgbClr val="253754"/>
                </a:solidFill>
                <a:latin typeface="Glacial Indifference"/>
                <a:ea typeface="Glacial Indifference"/>
                <a:cs typeface="Glacial Indifference"/>
                <a:sym typeface="Glacial Indifference"/>
              </a:rPr>
              <a:t>El ecosistema digital ha eliminado las largas filas en taquilla y dulcería. Un porcentaje significativo de ventas de boletos y alimentos se realiza a través de canales digitales.</a:t>
            </a:r>
          </a:p>
        </p:txBody>
      </p:sp>
      <p:grpSp>
        <p:nvGrpSpPr>
          <p:cNvPr name="Group 17" id="17"/>
          <p:cNvGrpSpPr/>
          <p:nvPr/>
        </p:nvGrpSpPr>
        <p:grpSpPr>
          <a:xfrm rot="0">
            <a:off x="1745442" y="7457314"/>
            <a:ext cx="10352906" cy="2442826"/>
            <a:chOff x="0" y="0"/>
            <a:chExt cx="1636794" cy="386211"/>
          </a:xfrm>
        </p:grpSpPr>
        <p:sp>
          <p:nvSpPr>
            <p:cNvPr name="Freeform 18" id="18"/>
            <p:cNvSpPr/>
            <p:nvPr/>
          </p:nvSpPr>
          <p:spPr>
            <a:xfrm flipH="false" flipV="false" rot="0">
              <a:off x="0" y="0"/>
              <a:ext cx="1636794" cy="386211"/>
            </a:xfrm>
            <a:custGeom>
              <a:avLst/>
              <a:gdLst/>
              <a:ahLst/>
              <a:cxnLst/>
              <a:rect r="r" b="b" t="t" l="l"/>
              <a:pathLst>
                <a:path h="386211" w="1636794">
                  <a:moveTo>
                    <a:pt x="19443" y="0"/>
                  </a:moveTo>
                  <a:lnTo>
                    <a:pt x="1617351" y="0"/>
                  </a:lnTo>
                  <a:cubicBezTo>
                    <a:pt x="1622508" y="0"/>
                    <a:pt x="1627453" y="2048"/>
                    <a:pt x="1631100" y="5695"/>
                  </a:cubicBezTo>
                  <a:cubicBezTo>
                    <a:pt x="1634746" y="9341"/>
                    <a:pt x="1636794" y="14286"/>
                    <a:pt x="1636794" y="19443"/>
                  </a:cubicBezTo>
                  <a:lnTo>
                    <a:pt x="1636794" y="366768"/>
                  </a:lnTo>
                  <a:cubicBezTo>
                    <a:pt x="1636794" y="371924"/>
                    <a:pt x="1634746" y="376870"/>
                    <a:pt x="1631100" y="380516"/>
                  </a:cubicBezTo>
                  <a:cubicBezTo>
                    <a:pt x="1627453" y="384162"/>
                    <a:pt x="1622508" y="386211"/>
                    <a:pt x="1617351" y="386211"/>
                  </a:cubicBezTo>
                  <a:lnTo>
                    <a:pt x="19443" y="386211"/>
                  </a:lnTo>
                  <a:cubicBezTo>
                    <a:pt x="14286" y="386211"/>
                    <a:pt x="9341" y="384162"/>
                    <a:pt x="5695" y="380516"/>
                  </a:cubicBezTo>
                  <a:cubicBezTo>
                    <a:pt x="2048" y="376870"/>
                    <a:pt x="0" y="371924"/>
                    <a:pt x="0" y="366768"/>
                  </a:cubicBezTo>
                  <a:lnTo>
                    <a:pt x="0" y="19443"/>
                  </a:lnTo>
                  <a:cubicBezTo>
                    <a:pt x="0" y="14286"/>
                    <a:pt x="2048" y="9341"/>
                    <a:pt x="5695" y="5695"/>
                  </a:cubicBezTo>
                  <a:cubicBezTo>
                    <a:pt x="9341" y="2048"/>
                    <a:pt x="14286" y="0"/>
                    <a:pt x="19443" y="0"/>
                  </a:cubicBezTo>
                  <a:close/>
                </a:path>
              </a:pathLst>
            </a:custGeom>
            <a:solidFill>
              <a:srgbClr val="EDE8E4"/>
            </a:solidFill>
          </p:spPr>
        </p:sp>
        <p:sp>
          <p:nvSpPr>
            <p:cNvPr name="TextBox 19" id="19"/>
            <p:cNvSpPr txBox="true"/>
            <p:nvPr/>
          </p:nvSpPr>
          <p:spPr>
            <a:xfrm>
              <a:off x="0" y="9525"/>
              <a:ext cx="1636794" cy="376686"/>
            </a:xfrm>
            <a:prstGeom prst="rect">
              <a:avLst/>
            </a:prstGeom>
          </p:spPr>
          <p:txBody>
            <a:bodyPr anchor="ctr" rtlCol="false" tIns="50800" lIns="50800" bIns="50800" rIns="50800"/>
            <a:lstStyle/>
            <a:p>
              <a:pPr algn="ctr">
                <a:lnSpc>
                  <a:spcPts val="2121"/>
                </a:lnSpc>
              </a:pPr>
            </a:p>
          </p:txBody>
        </p:sp>
      </p:grpSp>
      <p:sp>
        <p:nvSpPr>
          <p:cNvPr name="TextBox 20" id="20"/>
          <p:cNvSpPr txBox="true"/>
          <p:nvPr/>
        </p:nvSpPr>
        <p:spPr>
          <a:xfrm rot="0">
            <a:off x="2077805" y="7543039"/>
            <a:ext cx="8625417" cy="472702"/>
          </a:xfrm>
          <a:prstGeom prst="rect">
            <a:avLst/>
          </a:prstGeom>
        </p:spPr>
        <p:txBody>
          <a:bodyPr anchor="t" rtlCol="false" tIns="0" lIns="0" bIns="0" rIns="0">
            <a:spAutoFit/>
          </a:bodyPr>
          <a:lstStyle/>
          <a:p>
            <a:pPr algn="l">
              <a:lnSpc>
                <a:spcPts val="3870"/>
              </a:lnSpc>
            </a:pPr>
            <a:r>
              <a:rPr lang="en-US" sz="2764" spc="116" b="true">
                <a:solidFill>
                  <a:srgbClr val="253754"/>
                </a:solidFill>
                <a:latin typeface="Glacial Indifference Bold"/>
                <a:ea typeface="Glacial Indifference Bold"/>
                <a:cs typeface="Glacial Indifference Bold"/>
                <a:sym typeface="Glacial Indifference Bold"/>
              </a:rPr>
              <a:t>Aliados Tecnológicos</a:t>
            </a:r>
          </a:p>
        </p:txBody>
      </p:sp>
      <p:sp>
        <p:nvSpPr>
          <p:cNvPr name="TextBox 21" id="21"/>
          <p:cNvSpPr txBox="true"/>
          <p:nvPr/>
        </p:nvSpPr>
        <p:spPr>
          <a:xfrm rot="0">
            <a:off x="1796151" y="7973881"/>
            <a:ext cx="9813549" cy="1673487"/>
          </a:xfrm>
          <a:prstGeom prst="rect">
            <a:avLst/>
          </a:prstGeom>
        </p:spPr>
        <p:txBody>
          <a:bodyPr anchor="t" rtlCol="false" tIns="0" lIns="0" bIns="0" rIns="0">
            <a:spAutoFit/>
          </a:bodyPr>
          <a:lstStyle/>
          <a:p>
            <a:pPr algn="l">
              <a:lnSpc>
                <a:spcPts val="3310"/>
              </a:lnSpc>
            </a:pPr>
            <a:r>
              <a:rPr lang="en-US" sz="2364" spc="99">
                <a:solidFill>
                  <a:srgbClr val="253754"/>
                </a:solidFill>
                <a:latin typeface="Glacial Indifference"/>
                <a:ea typeface="Glacial Indifference"/>
                <a:cs typeface="Glacial Indifference"/>
                <a:sym typeface="Glacial Indifference"/>
              </a:rPr>
              <a:t>Cinépolis se apoya en aliados como </a:t>
            </a:r>
            <a:r>
              <a:rPr lang="en-US" sz="2364" spc="99" b="true">
                <a:solidFill>
                  <a:srgbClr val="253754"/>
                </a:solidFill>
                <a:latin typeface="Glacial Indifference Bold"/>
                <a:ea typeface="Glacial Indifference Bold"/>
                <a:cs typeface="Glacial Indifference Bold"/>
                <a:sym typeface="Glacial Indifference Bold"/>
              </a:rPr>
              <a:t>Ho1a</a:t>
            </a:r>
            <a:r>
              <a:rPr lang="en-US" sz="2364" spc="99">
                <a:solidFill>
                  <a:srgbClr val="253754"/>
                </a:solidFill>
                <a:latin typeface="Glacial Indifference"/>
                <a:ea typeface="Glacial Indifference"/>
                <a:cs typeface="Glacial Indifference"/>
                <a:sym typeface="Glacial Indifference"/>
              </a:rPr>
              <a:t> para infraestructura telefónica que eficientiza proc</a:t>
            </a:r>
            <a:r>
              <a:rPr lang="en-US" sz="2364" spc="99">
                <a:solidFill>
                  <a:srgbClr val="253754"/>
                </a:solidFill>
                <a:latin typeface="Glacial Indifference"/>
                <a:ea typeface="Glacial Indifference"/>
                <a:cs typeface="Glacial Indifference"/>
                <a:sym typeface="Glacial Indifference"/>
              </a:rPr>
              <a:t>esos</a:t>
            </a:r>
            <a:r>
              <a:rPr lang="en-US" sz="2364" spc="99">
                <a:solidFill>
                  <a:srgbClr val="253754"/>
                </a:solidFill>
                <a:latin typeface="Glacial Indifference"/>
                <a:ea typeface="Glacial Indifference"/>
                <a:cs typeface="Glacial Indifference"/>
                <a:sym typeface="Glacial Indifference"/>
              </a:rPr>
              <a:t> </a:t>
            </a:r>
            <a:r>
              <a:rPr lang="en-US" sz="2364" spc="99">
                <a:solidFill>
                  <a:srgbClr val="253754"/>
                </a:solidFill>
                <a:latin typeface="Glacial Indifference"/>
                <a:ea typeface="Glacial Indifference"/>
                <a:cs typeface="Glacial Indifference"/>
                <a:sym typeface="Glacial Indifference"/>
              </a:rPr>
              <a:t>d</a:t>
            </a:r>
            <a:r>
              <a:rPr lang="en-US" sz="2364" spc="99">
                <a:solidFill>
                  <a:srgbClr val="253754"/>
                </a:solidFill>
                <a:latin typeface="Glacial Indifference"/>
                <a:ea typeface="Glacial Indifference"/>
                <a:cs typeface="Glacial Indifference"/>
                <a:sym typeface="Glacial Indifference"/>
              </a:rPr>
              <a:t>e atención, gestionando hasta </a:t>
            </a:r>
            <a:r>
              <a:rPr lang="en-US" sz="2364" spc="99" b="true">
                <a:solidFill>
                  <a:srgbClr val="253754"/>
                </a:solidFill>
                <a:latin typeface="Glacial Indifference Bold"/>
                <a:ea typeface="Glacial Indifference Bold"/>
                <a:cs typeface="Glacial Indifference Bold"/>
                <a:sym typeface="Glacial Indifference Bold"/>
              </a:rPr>
              <a:t>15,000 llamada</a:t>
            </a:r>
            <a:r>
              <a:rPr lang="en-US" sz="2364" spc="99">
                <a:solidFill>
                  <a:srgbClr val="253754"/>
                </a:solidFill>
                <a:latin typeface="Glacial Indifference"/>
                <a:ea typeface="Glacial Indifference"/>
                <a:cs typeface="Glacial Indifference"/>
                <a:sym typeface="Glacial Indifference"/>
              </a:rPr>
              <a:t>s</a:t>
            </a:r>
            <a:r>
              <a:rPr lang="en-US" sz="2364" spc="99">
                <a:solidFill>
                  <a:srgbClr val="253754"/>
                </a:solidFill>
                <a:latin typeface="Glacial Indifference"/>
                <a:ea typeface="Glacial Indifference"/>
                <a:cs typeface="Glacial Indifference"/>
                <a:sym typeface="Glacial Indifference"/>
              </a:rPr>
              <a:t> diarias en estrenos importantes.</a:t>
            </a:r>
          </a:p>
          <a:p>
            <a:pPr algn="l">
              <a:lnSpc>
                <a:spcPts val="3310"/>
              </a:lnSpc>
            </a:pPr>
          </a:p>
        </p:txBody>
      </p:sp>
      <p:sp>
        <p:nvSpPr>
          <p:cNvPr name="TextBox 22" id="22"/>
          <p:cNvSpPr txBox="true"/>
          <p:nvPr/>
        </p:nvSpPr>
        <p:spPr>
          <a:xfrm rot="0">
            <a:off x="13119873" y="2961045"/>
            <a:ext cx="4950796" cy="472702"/>
          </a:xfrm>
          <a:prstGeom prst="rect">
            <a:avLst/>
          </a:prstGeom>
        </p:spPr>
        <p:txBody>
          <a:bodyPr anchor="t" rtlCol="false" tIns="0" lIns="0" bIns="0" rIns="0">
            <a:spAutoFit/>
          </a:bodyPr>
          <a:lstStyle/>
          <a:p>
            <a:pPr algn="ctr">
              <a:lnSpc>
                <a:spcPts val="3870"/>
              </a:lnSpc>
            </a:pPr>
            <a:r>
              <a:rPr lang="en-US" b="true" sz="2764" spc="116">
                <a:solidFill>
                  <a:srgbClr val="253754"/>
                </a:solidFill>
                <a:latin typeface="Glacial Indifference Bold"/>
                <a:ea typeface="Glacial Indifference Bold"/>
                <a:cs typeface="Glacial Indifference Bold"/>
                <a:sym typeface="Glacial Indifference Bold"/>
              </a:rPr>
              <a:t>metricas de exito</a:t>
            </a:r>
          </a:p>
        </p:txBody>
      </p:sp>
      <p:sp>
        <p:nvSpPr>
          <p:cNvPr name="TextBox 23" id="23"/>
          <p:cNvSpPr txBox="true"/>
          <p:nvPr/>
        </p:nvSpPr>
        <p:spPr>
          <a:xfrm rot="0">
            <a:off x="1796151" y="5515749"/>
            <a:ext cx="9813549" cy="1673487"/>
          </a:xfrm>
          <a:prstGeom prst="rect">
            <a:avLst/>
          </a:prstGeom>
        </p:spPr>
        <p:txBody>
          <a:bodyPr anchor="t" rtlCol="false" tIns="0" lIns="0" bIns="0" rIns="0">
            <a:spAutoFit/>
          </a:bodyPr>
          <a:lstStyle/>
          <a:p>
            <a:pPr algn="l" marL="510535" indent="-255267" lvl="1">
              <a:lnSpc>
                <a:spcPts val="3310"/>
              </a:lnSpc>
              <a:buFont typeface="Arial"/>
              <a:buChar char="•"/>
            </a:pPr>
            <a:r>
              <a:rPr lang="en-US" b="true" sz="2364" spc="99">
                <a:solidFill>
                  <a:srgbClr val="253754"/>
                </a:solidFill>
                <a:latin typeface="Glacial Indifference Bold"/>
                <a:ea typeface="Glacial Indifference Bold"/>
                <a:cs typeface="Glacial Indifference Bold"/>
                <a:sym typeface="Glacial Indifference Bold"/>
              </a:rPr>
              <a:t>app movil: </a:t>
            </a:r>
            <a:r>
              <a:rPr lang="en-US" sz="2364" spc="99">
                <a:solidFill>
                  <a:srgbClr val="253754"/>
                </a:solidFill>
                <a:latin typeface="Glacial Indifference"/>
                <a:ea typeface="Glacial Indifference"/>
                <a:cs typeface="Glacial Indifference"/>
                <a:sym typeface="Glacial Indifference"/>
              </a:rPr>
              <a:t>Compra de boletos y dulcería</a:t>
            </a:r>
          </a:p>
          <a:p>
            <a:pPr algn="l" marL="510535" indent="-255267" lvl="1">
              <a:lnSpc>
                <a:spcPts val="3310"/>
              </a:lnSpc>
              <a:buFont typeface="Arial"/>
              <a:buChar char="•"/>
            </a:pPr>
            <a:r>
              <a:rPr lang="en-US" b="true" sz="2364" spc="99">
                <a:solidFill>
                  <a:srgbClr val="253754"/>
                </a:solidFill>
                <a:latin typeface="Glacial Indifference Bold"/>
                <a:ea typeface="Glacial Indifference Bold"/>
                <a:cs typeface="Glacial Indifference Bold"/>
                <a:sym typeface="Glacial Indifference Bold"/>
              </a:rPr>
              <a:t>Sitio Web: </a:t>
            </a:r>
            <a:r>
              <a:rPr lang="en-US" sz="2364" spc="99">
                <a:solidFill>
                  <a:srgbClr val="253754"/>
                </a:solidFill>
                <a:latin typeface="Glacial Indifference"/>
                <a:ea typeface="Glacial Indifference"/>
                <a:cs typeface="Glacial Indifference"/>
                <a:sym typeface="Glacial Indifference"/>
              </a:rPr>
              <a:t>CineTicket integrado</a:t>
            </a:r>
          </a:p>
          <a:p>
            <a:pPr algn="l" marL="510535" indent="-255267" lvl="1">
              <a:lnSpc>
                <a:spcPts val="3310"/>
              </a:lnSpc>
              <a:buFont typeface="Arial"/>
              <a:buChar char="•"/>
            </a:pPr>
            <a:r>
              <a:rPr lang="en-US" b="true" sz="2364" spc="99">
                <a:solidFill>
                  <a:srgbClr val="253754"/>
                </a:solidFill>
                <a:latin typeface="Glacial Indifference Bold"/>
                <a:ea typeface="Glacial Indifference Bold"/>
                <a:cs typeface="Glacial Indifference Bold"/>
                <a:sym typeface="Glacial Indifference Bold"/>
              </a:rPr>
              <a:t>Kioscos: </a:t>
            </a:r>
            <a:r>
              <a:rPr lang="en-US" sz="2364" spc="99">
                <a:solidFill>
                  <a:srgbClr val="253754"/>
                </a:solidFill>
                <a:latin typeface="Glacial Indifference"/>
                <a:ea typeface="Glacial Indifference"/>
                <a:cs typeface="Glacial Indifference"/>
                <a:sym typeface="Glacial Indifference"/>
              </a:rPr>
              <a:t>Taquillas automáticas en cines</a:t>
            </a:r>
          </a:p>
          <a:p>
            <a:pPr algn="l" marL="510535" indent="-255267" lvl="1">
              <a:lnSpc>
                <a:spcPts val="3310"/>
              </a:lnSpc>
              <a:buFont typeface="Arial"/>
              <a:buChar char="•"/>
            </a:pPr>
            <a:r>
              <a:rPr lang="en-US" b="true" sz="2364" spc="99">
                <a:solidFill>
                  <a:srgbClr val="253754"/>
                </a:solidFill>
                <a:latin typeface="Glacial Indifference Bold"/>
                <a:ea typeface="Glacial Indifference Bold"/>
                <a:cs typeface="Glacial Indifference Bold"/>
                <a:sym typeface="Glacial Indifference Bold"/>
              </a:rPr>
              <a:t>Call Center: </a:t>
            </a:r>
            <a:r>
              <a:rPr lang="en-US" sz="2364" spc="99">
                <a:solidFill>
                  <a:srgbClr val="253754"/>
                </a:solidFill>
                <a:latin typeface="Glacial Indifference"/>
                <a:ea typeface="Glacial Indifference"/>
                <a:cs typeface="Glacial Indifference"/>
                <a:sym typeface="Glacial Indifference"/>
              </a:rPr>
              <a:t>Atención telefónica integrada</a:t>
            </a:r>
          </a:p>
        </p:txBody>
      </p:sp>
    </p:spTree>
  </p:cSld>
  <p:clrMapOvr>
    <a:masterClrMapping/>
  </p:clrMapOvr>
</p:sld>
</file>

<file path=ppt/slides/slide23.xml><?xml version="1.0" encoding="utf-8"?>
<p:sld xmlns:p="http://schemas.openxmlformats.org/presentationml/2006/main" xmlns:a="http://schemas.openxmlformats.org/drawingml/2006/main" xmlns:r="http://schemas.openxmlformats.org/officeDocument/2006/relationships">
  <p:cSld>
    <p:bg>
      <p:bgPr>
        <a:solidFill>
          <a:srgbClr val="EDE8E4"/>
        </a:solidFill>
      </p:bgPr>
    </p:bg>
    <p:spTree>
      <p:nvGrpSpPr>
        <p:cNvPr id="1" name=""/>
        <p:cNvGrpSpPr/>
        <p:nvPr/>
      </p:nvGrpSpPr>
      <p:grpSpPr>
        <a:xfrm>
          <a:off x="0" y="0"/>
          <a:ext cx="0" cy="0"/>
          <a:chOff x="0" y="0"/>
          <a:chExt cx="0" cy="0"/>
        </a:xfrm>
      </p:grpSpPr>
      <p:sp>
        <p:nvSpPr>
          <p:cNvPr name="TextBox 2" id="2"/>
          <p:cNvSpPr txBox="true"/>
          <p:nvPr/>
        </p:nvSpPr>
        <p:spPr>
          <a:xfrm rot="0">
            <a:off x="4235367" y="1559064"/>
            <a:ext cx="9817265" cy="1252164"/>
          </a:xfrm>
          <a:prstGeom prst="rect">
            <a:avLst/>
          </a:prstGeom>
        </p:spPr>
        <p:txBody>
          <a:bodyPr anchor="t" rtlCol="false" tIns="0" lIns="0" bIns="0" rIns="0">
            <a:spAutoFit/>
          </a:bodyPr>
          <a:lstStyle/>
          <a:p>
            <a:pPr algn="ctr" marL="0" indent="0" lvl="0">
              <a:lnSpc>
                <a:spcPts val="10258"/>
              </a:lnSpc>
              <a:spcBef>
                <a:spcPct val="0"/>
              </a:spcBef>
            </a:pPr>
            <a:r>
              <a:rPr lang="en-US" b="true" sz="7327" spc="688" strike="noStrike" u="none">
                <a:solidFill>
                  <a:srgbClr val="152540"/>
                </a:solidFill>
                <a:latin typeface="Glacial Indifference Bold"/>
                <a:ea typeface="Glacial Indifference Bold"/>
                <a:cs typeface="Glacial Indifference Bold"/>
                <a:sym typeface="Glacial Indifference Bold"/>
              </a:rPr>
              <a:t>PLAN DE ACCIÓN</a:t>
            </a:r>
          </a:p>
        </p:txBody>
      </p:sp>
      <p:sp>
        <p:nvSpPr>
          <p:cNvPr name="Freeform 3" id="3"/>
          <p:cNvSpPr/>
          <p:nvPr/>
        </p:nvSpPr>
        <p:spPr>
          <a:xfrm flipH="false" flipV="false" rot="0">
            <a:off x="-290950" y="-2033784"/>
            <a:ext cx="5544196" cy="5181303"/>
          </a:xfrm>
          <a:custGeom>
            <a:avLst/>
            <a:gdLst/>
            <a:ahLst/>
            <a:cxnLst/>
            <a:rect r="r" b="b" t="t" l="l"/>
            <a:pathLst>
              <a:path h="5181303" w="5544196">
                <a:moveTo>
                  <a:pt x="0" y="0"/>
                </a:moveTo>
                <a:lnTo>
                  <a:pt x="5544196" y="0"/>
                </a:lnTo>
                <a:lnTo>
                  <a:pt x="5544196" y="5181303"/>
                </a:lnTo>
                <a:lnTo>
                  <a:pt x="0" y="5181303"/>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a:ln cap="sq">
            <a:noFill/>
            <a:prstDash val="solid"/>
            <a:miter/>
          </a:ln>
        </p:spPr>
      </p:sp>
      <p:sp>
        <p:nvSpPr>
          <p:cNvPr name="Freeform 4" id="4"/>
          <p:cNvSpPr/>
          <p:nvPr/>
        </p:nvSpPr>
        <p:spPr>
          <a:xfrm flipH="false" flipV="false" rot="-9354559">
            <a:off x="12207201" y="5475509"/>
            <a:ext cx="8367389" cy="7819705"/>
          </a:xfrm>
          <a:custGeom>
            <a:avLst/>
            <a:gdLst/>
            <a:ahLst/>
            <a:cxnLst/>
            <a:rect r="r" b="b" t="t" l="l"/>
            <a:pathLst>
              <a:path h="7819705" w="8367389">
                <a:moveTo>
                  <a:pt x="0" y="0"/>
                </a:moveTo>
                <a:lnTo>
                  <a:pt x="8367389" y="0"/>
                </a:lnTo>
                <a:lnTo>
                  <a:pt x="8367389" y="7819705"/>
                </a:lnTo>
                <a:lnTo>
                  <a:pt x="0" y="7819705"/>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a:ln cap="sq">
            <a:noFill/>
            <a:prstDash val="solid"/>
            <a:miter/>
          </a:ln>
        </p:spPr>
      </p:sp>
      <p:sp>
        <p:nvSpPr>
          <p:cNvPr name="Freeform 5" id="5"/>
          <p:cNvSpPr/>
          <p:nvPr/>
        </p:nvSpPr>
        <p:spPr>
          <a:xfrm flipH="false" flipV="false" rot="5400000">
            <a:off x="13112837" y="-1659911"/>
            <a:ext cx="6556116" cy="6126988"/>
          </a:xfrm>
          <a:custGeom>
            <a:avLst/>
            <a:gdLst/>
            <a:ahLst/>
            <a:cxnLst/>
            <a:rect r="r" b="b" t="t" l="l"/>
            <a:pathLst>
              <a:path h="6126988" w="6556116">
                <a:moveTo>
                  <a:pt x="0" y="0"/>
                </a:moveTo>
                <a:lnTo>
                  <a:pt x="6556116" y="0"/>
                </a:lnTo>
                <a:lnTo>
                  <a:pt x="6556116" y="6126988"/>
                </a:lnTo>
                <a:lnTo>
                  <a:pt x="0" y="6126988"/>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a:ln cap="sq">
            <a:noFill/>
            <a:prstDash val="solid"/>
            <a:miter/>
          </a:ln>
        </p:spPr>
      </p:sp>
      <p:sp>
        <p:nvSpPr>
          <p:cNvPr name="Freeform 6" id="6"/>
          <p:cNvSpPr/>
          <p:nvPr/>
        </p:nvSpPr>
        <p:spPr>
          <a:xfrm flipH="false" flipV="false" rot="-5521968">
            <a:off x="-1614569" y="6194806"/>
            <a:ext cx="6556116" cy="6126988"/>
          </a:xfrm>
          <a:custGeom>
            <a:avLst/>
            <a:gdLst/>
            <a:ahLst/>
            <a:cxnLst/>
            <a:rect r="r" b="b" t="t" l="l"/>
            <a:pathLst>
              <a:path h="6126988" w="6556116">
                <a:moveTo>
                  <a:pt x="0" y="0"/>
                </a:moveTo>
                <a:lnTo>
                  <a:pt x="6556116" y="0"/>
                </a:lnTo>
                <a:lnTo>
                  <a:pt x="6556116" y="6126988"/>
                </a:lnTo>
                <a:lnTo>
                  <a:pt x="0" y="6126988"/>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a:ln cap="sq">
            <a:noFill/>
            <a:prstDash val="solid"/>
            <a:miter/>
          </a:ln>
        </p:spPr>
      </p:sp>
      <p:sp>
        <p:nvSpPr>
          <p:cNvPr name="Freeform 7" id="7"/>
          <p:cNvSpPr/>
          <p:nvPr/>
        </p:nvSpPr>
        <p:spPr>
          <a:xfrm flipH="false" flipV="false" rot="0">
            <a:off x="2464786" y="5359472"/>
            <a:ext cx="1075359" cy="1178182"/>
          </a:xfrm>
          <a:custGeom>
            <a:avLst/>
            <a:gdLst/>
            <a:ahLst/>
            <a:cxnLst/>
            <a:rect r="r" b="b" t="t" l="l"/>
            <a:pathLst>
              <a:path h="1178182" w="1075359">
                <a:moveTo>
                  <a:pt x="0" y="0"/>
                </a:moveTo>
                <a:lnTo>
                  <a:pt x="1075359" y="0"/>
                </a:lnTo>
                <a:lnTo>
                  <a:pt x="1075359" y="1178181"/>
                </a:lnTo>
                <a:lnTo>
                  <a:pt x="0" y="1178181"/>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a:ln cap="sq">
            <a:noFill/>
            <a:prstDash val="solid"/>
            <a:miter/>
          </a:ln>
        </p:spPr>
      </p:sp>
      <p:grpSp>
        <p:nvGrpSpPr>
          <p:cNvPr name="Group 8" id="8"/>
          <p:cNvGrpSpPr/>
          <p:nvPr/>
        </p:nvGrpSpPr>
        <p:grpSpPr>
          <a:xfrm rot="0">
            <a:off x="1663489" y="6701972"/>
            <a:ext cx="2677953" cy="601913"/>
            <a:chOff x="0" y="0"/>
            <a:chExt cx="812800" cy="182690"/>
          </a:xfrm>
        </p:grpSpPr>
        <p:sp>
          <p:nvSpPr>
            <p:cNvPr name="Freeform 9" id="9"/>
            <p:cNvSpPr/>
            <p:nvPr/>
          </p:nvSpPr>
          <p:spPr>
            <a:xfrm flipH="false" flipV="false" rot="0">
              <a:off x="0" y="0"/>
              <a:ext cx="812800" cy="182690"/>
            </a:xfrm>
            <a:custGeom>
              <a:avLst/>
              <a:gdLst/>
              <a:ahLst/>
              <a:cxnLst/>
              <a:rect r="r" b="b" t="t" l="l"/>
              <a:pathLst>
                <a:path h="182690" w="812800">
                  <a:moveTo>
                    <a:pt x="91345" y="0"/>
                  </a:moveTo>
                  <a:lnTo>
                    <a:pt x="721455" y="0"/>
                  </a:lnTo>
                  <a:cubicBezTo>
                    <a:pt x="745681" y="0"/>
                    <a:pt x="768915" y="9624"/>
                    <a:pt x="786046" y="26754"/>
                  </a:cubicBezTo>
                  <a:cubicBezTo>
                    <a:pt x="803176" y="43885"/>
                    <a:pt x="812800" y="67119"/>
                    <a:pt x="812800" y="91345"/>
                  </a:cubicBezTo>
                  <a:lnTo>
                    <a:pt x="812800" y="91345"/>
                  </a:lnTo>
                  <a:cubicBezTo>
                    <a:pt x="812800" y="141793"/>
                    <a:pt x="771903" y="182690"/>
                    <a:pt x="721455" y="182690"/>
                  </a:cubicBezTo>
                  <a:lnTo>
                    <a:pt x="91345" y="182690"/>
                  </a:lnTo>
                  <a:cubicBezTo>
                    <a:pt x="67119" y="182690"/>
                    <a:pt x="43885" y="173066"/>
                    <a:pt x="26754" y="155936"/>
                  </a:cubicBezTo>
                  <a:cubicBezTo>
                    <a:pt x="9624" y="138805"/>
                    <a:pt x="0" y="115571"/>
                    <a:pt x="0" y="91345"/>
                  </a:cubicBezTo>
                  <a:lnTo>
                    <a:pt x="0" y="91345"/>
                  </a:lnTo>
                  <a:cubicBezTo>
                    <a:pt x="0" y="67119"/>
                    <a:pt x="9624" y="43885"/>
                    <a:pt x="26754" y="26754"/>
                  </a:cubicBezTo>
                  <a:cubicBezTo>
                    <a:pt x="43885" y="9624"/>
                    <a:pt x="67119" y="0"/>
                    <a:pt x="91345" y="0"/>
                  </a:cubicBezTo>
                  <a:close/>
                </a:path>
              </a:pathLst>
            </a:custGeom>
            <a:ln w="47625" cap="rnd">
              <a:solidFill>
                <a:srgbClr val="253754"/>
              </a:solidFill>
              <a:prstDash val="solid"/>
              <a:round/>
            </a:ln>
          </p:spPr>
        </p:sp>
        <p:sp>
          <p:nvSpPr>
            <p:cNvPr name="TextBox 10" id="10"/>
            <p:cNvSpPr txBox="true"/>
            <p:nvPr/>
          </p:nvSpPr>
          <p:spPr>
            <a:xfrm>
              <a:off x="0" y="-47625"/>
              <a:ext cx="812800" cy="230315"/>
            </a:xfrm>
            <a:prstGeom prst="rect">
              <a:avLst/>
            </a:prstGeom>
          </p:spPr>
          <p:txBody>
            <a:bodyPr anchor="ctr" rtlCol="false" tIns="0" lIns="0" bIns="0" rIns="0"/>
            <a:lstStyle/>
            <a:p>
              <a:pPr algn="ctr">
                <a:lnSpc>
                  <a:spcPts val="3548"/>
                </a:lnSpc>
                <a:spcBef>
                  <a:spcPct val="0"/>
                </a:spcBef>
              </a:pPr>
              <a:r>
                <a:rPr lang="en-US" sz="2534">
                  <a:solidFill>
                    <a:srgbClr val="253754"/>
                  </a:solidFill>
                  <a:latin typeface="Glacial Indifference"/>
                  <a:ea typeface="Glacial Indifference"/>
                  <a:cs typeface="Glacial Indifference"/>
                  <a:sym typeface="Glacial Indifference"/>
                </a:rPr>
                <a:t>Investigación</a:t>
              </a:r>
            </a:p>
          </p:txBody>
        </p:sp>
      </p:grpSp>
      <p:grpSp>
        <p:nvGrpSpPr>
          <p:cNvPr name="Group 11" id="11"/>
          <p:cNvGrpSpPr/>
          <p:nvPr/>
        </p:nvGrpSpPr>
        <p:grpSpPr>
          <a:xfrm rot="0">
            <a:off x="7688216" y="6701972"/>
            <a:ext cx="2677953" cy="601913"/>
            <a:chOff x="0" y="0"/>
            <a:chExt cx="812800" cy="182690"/>
          </a:xfrm>
        </p:grpSpPr>
        <p:sp>
          <p:nvSpPr>
            <p:cNvPr name="Freeform 12" id="12"/>
            <p:cNvSpPr/>
            <p:nvPr/>
          </p:nvSpPr>
          <p:spPr>
            <a:xfrm flipH="false" flipV="false" rot="0">
              <a:off x="0" y="0"/>
              <a:ext cx="812800" cy="182690"/>
            </a:xfrm>
            <a:custGeom>
              <a:avLst/>
              <a:gdLst/>
              <a:ahLst/>
              <a:cxnLst/>
              <a:rect r="r" b="b" t="t" l="l"/>
              <a:pathLst>
                <a:path h="182690" w="812800">
                  <a:moveTo>
                    <a:pt x="91345" y="0"/>
                  </a:moveTo>
                  <a:lnTo>
                    <a:pt x="721455" y="0"/>
                  </a:lnTo>
                  <a:cubicBezTo>
                    <a:pt x="745681" y="0"/>
                    <a:pt x="768915" y="9624"/>
                    <a:pt x="786046" y="26754"/>
                  </a:cubicBezTo>
                  <a:cubicBezTo>
                    <a:pt x="803176" y="43885"/>
                    <a:pt x="812800" y="67119"/>
                    <a:pt x="812800" y="91345"/>
                  </a:cubicBezTo>
                  <a:lnTo>
                    <a:pt x="812800" y="91345"/>
                  </a:lnTo>
                  <a:cubicBezTo>
                    <a:pt x="812800" y="141793"/>
                    <a:pt x="771903" y="182690"/>
                    <a:pt x="721455" y="182690"/>
                  </a:cubicBezTo>
                  <a:lnTo>
                    <a:pt x="91345" y="182690"/>
                  </a:lnTo>
                  <a:cubicBezTo>
                    <a:pt x="67119" y="182690"/>
                    <a:pt x="43885" y="173066"/>
                    <a:pt x="26754" y="155936"/>
                  </a:cubicBezTo>
                  <a:cubicBezTo>
                    <a:pt x="9624" y="138805"/>
                    <a:pt x="0" y="115571"/>
                    <a:pt x="0" y="91345"/>
                  </a:cubicBezTo>
                  <a:lnTo>
                    <a:pt x="0" y="91345"/>
                  </a:lnTo>
                  <a:cubicBezTo>
                    <a:pt x="0" y="67119"/>
                    <a:pt x="9624" y="43885"/>
                    <a:pt x="26754" y="26754"/>
                  </a:cubicBezTo>
                  <a:cubicBezTo>
                    <a:pt x="43885" y="9624"/>
                    <a:pt x="67119" y="0"/>
                    <a:pt x="91345" y="0"/>
                  </a:cubicBezTo>
                  <a:close/>
                </a:path>
              </a:pathLst>
            </a:custGeom>
            <a:ln w="47625" cap="rnd">
              <a:solidFill>
                <a:srgbClr val="253754"/>
              </a:solidFill>
              <a:prstDash val="solid"/>
              <a:round/>
            </a:ln>
          </p:spPr>
        </p:sp>
        <p:sp>
          <p:nvSpPr>
            <p:cNvPr name="TextBox 13" id="13"/>
            <p:cNvSpPr txBox="true"/>
            <p:nvPr/>
          </p:nvSpPr>
          <p:spPr>
            <a:xfrm>
              <a:off x="0" y="-47625"/>
              <a:ext cx="812800" cy="230315"/>
            </a:xfrm>
            <a:prstGeom prst="rect">
              <a:avLst/>
            </a:prstGeom>
          </p:spPr>
          <p:txBody>
            <a:bodyPr anchor="ctr" rtlCol="false" tIns="0" lIns="0" bIns="0" rIns="0"/>
            <a:lstStyle/>
            <a:p>
              <a:pPr algn="ctr">
                <a:lnSpc>
                  <a:spcPts val="3548"/>
                </a:lnSpc>
                <a:spcBef>
                  <a:spcPct val="0"/>
                </a:spcBef>
              </a:pPr>
              <a:r>
                <a:rPr lang="en-US" sz="2534">
                  <a:solidFill>
                    <a:srgbClr val="253754"/>
                  </a:solidFill>
                  <a:latin typeface="Glacial Indifference"/>
                  <a:ea typeface="Glacial Indifference"/>
                  <a:cs typeface="Glacial Indifference"/>
                  <a:sym typeface="Glacial Indifference"/>
                </a:rPr>
                <a:t>Diseño</a:t>
              </a:r>
            </a:p>
          </p:txBody>
        </p:sp>
      </p:grpSp>
      <p:grpSp>
        <p:nvGrpSpPr>
          <p:cNvPr name="Group 14" id="14"/>
          <p:cNvGrpSpPr/>
          <p:nvPr/>
        </p:nvGrpSpPr>
        <p:grpSpPr>
          <a:xfrm rot="0">
            <a:off x="13712942" y="6701972"/>
            <a:ext cx="2677953" cy="601913"/>
            <a:chOff x="0" y="0"/>
            <a:chExt cx="812800" cy="182690"/>
          </a:xfrm>
        </p:grpSpPr>
        <p:sp>
          <p:nvSpPr>
            <p:cNvPr name="Freeform 15" id="15"/>
            <p:cNvSpPr/>
            <p:nvPr/>
          </p:nvSpPr>
          <p:spPr>
            <a:xfrm flipH="false" flipV="false" rot="0">
              <a:off x="0" y="0"/>
              <a:ext cx="812800" cy="182690"/>
            </a:xfrm>
            <a:custGeom>
              <a:avLst/>
              <a:gdLst/>
              <a:ahLst/>
              <a:cxnLst/>
              <a:rect r="r" b="b" t="t" l="l"/>
              <a:pathLst>
                <a:path h="182690" w="812800">
                  <a:moveTo>
                    <a:pt x="91345" y="0"/>
                  </a:moveTo>
                  <a:lnTo>
                    <a:pt x="721455" y="0"/>
                  </a:lnTo>
                  <a:cubicBezTo>
                    <a:pt x="745681" y="0"/>
                    <a:pt x="768915" y="9624"/>
                    <a:pt x="786046" y="26754"/>
                  </a:cubicBezTo>
                  <a:cubicBezTo>
                    <a:pt x="803176" y="43885"/>
                    <a:pt x="812800" y="67119"/>
                    <a:pt x="812800" y="91345"/>
                  </a:cubicBezTo>
                  <a:lnTo>
                    <a:pt x="812800" y="91345"/>
                  </a:lnTo>
                  <a:cubicBezTo>
                    <a:pt x="812800" y="141793"/>
                    <a:pt x="771903" y="182690"/>
                    <a:pt x="721455" y="182690"/>
                  </a:cubicBezTo>
                  <a:lnTo>
                    <a:pt x="91345" y="182690"/>
                  </a:lnTo>
                  <a:cubicBezTo>
                    <a:pt x="67119" y="182690"/>
                    <a:pt x="43885" y="173066"/>
                    <a:pt x="26754" y="155936"/>
                  </a:cubicBezTo>
                  <a:cubicBezTo>
                    <a:pt x="9624" y="138805"/>
                    <a:pt x="0" y="115571"/>
                    <a:pt x="0" y="91345"/>
                  </a:cubicBezTo>
                  <a:lnTo>
                    <a:pt x="0" y="91345"/>
                  </a:lnTo>
                  <a:cubicBezTo>
                    <a:pt x="0" y="67119"/>
                    <a:pt x="9624" y="43885"/>
                    <a:pt x="26754" y="26754"/>
                  </a:cubicBezTo>
                  <a:cubicBezTo>
                    <a:pt x="43885" y="9624"/>
                    <a:pt x="67119" y="0"/>
                    <a:pt x="91345" y="0"/>
                  </a:cubicBezTo>
                  <a:close/>
                </a:path>
              </a:pathLst>
            </a:custGeom>
            <a:ln w="47625" cap="rnd">
              <a:solidFill>
                <a:srgbClr val="253754"/>
              </a:solidFill>
              <a:prstDash val="solid"/>
              <a:round/>
            </a:ln>
          </p:spPr>
        </p:sp>
        <p:sp>
          <p:nvSpPr>
            <p:cNvPr name="TextBox 16" id="16"/>
            <p:cNvSpPr txBox="true"/>
            <p:nvPr/>
          </p:nvSpPr>
          <p:spPr>
            <a:xfrm>
              <a:off x="0" y="-47625"/>
              <a:ext cx="812800" cy="230315"/>
            </a:xfrm>
            <a:prstGeom prst="rect">
              <a:avLst/>
            </a:prstGeom>
          </p:spPr>
          <p:txBody>
            <a:bodyPr anchor="ctr" rtlCol="false" tIns="0" lIns="0" bIns="0" rIns="0"/>
            <a:lstStyle/>
            <a:p>
              <a:pPr algn="ctr">
                <a:lnSpc>
                  <a:spcPts val="3548"/>
                </a:lnSpc>
                <a:spcBef>
                  <a:spcPct val="0"/>
                </a:spcBef>
              </a:pPr>
              <a:r>
                <a:rPr lang="en-US" sz="2534">
                  <a:solidFill>
                    <a:srgbClr val="253754"/>
                  </a:solidFill>
                  <a:latin typeface="Glacial Indifference"/>
                  <a:ea typeface="Glacial Indifference"/>
                  <a:cs typeface="Glacial Indifference"/>
                  <a:sym typeface="Glacial Indifference"/>
                </a:rPr>
                <a:t>Ventas</a:t>
              </a:r>
            </a:p>
          </p:txBody>
        </p:sp>
      </p:grpSp>
      <p:grpSp>
        <p:nvGrpSpPr>
          <p:cNvPr name="Group 17" id="17"/>
          <p:cNvGrpSpPr/>
          <p:nvPr/>
        </p:nvGrpSpPr>
        <p:grpSpPr>
          <a:xfrm rot="0">
            <a:off x="4676888" y="6701972"/>
            <a:ext cx="2677953" cy="601913"/>
            <a:chOff x="0" y="0"/>
            <a:chExt cx="812800" cy="182690"/>
          </a:xfrm>
        </p:grpSpPr>
        <p:sp>
          <p:nvSpPr>
            <p:cNvPr name="Freeform 18" id="18"/>
            <p:cNvSpPr/>
            <p:nvPr/>
          </p:nvSpPr>
          <p:spPr>
            <a:xfrm flipH="false" flipV="false" rot="0">
              <a:off x="0" y="0"/>
              <a:ext cx="812800" cy="182690"/>
            </a:xfrm>
            <a:custGeom>
              <a:avLst/>
              <a:gdLst/>
              <a:ahLst/>
              <a:cxnLst/>
              <a:rect r="r" b="b" t="t" l="l"/>
              <a:pathLst>
                <a:path h="182690" w="812800">
                  <a:moveTo>
                    <a:pt x="91345" y="0"/>
                  </a:moveTo>
                  <a:lnTo>
                    <a:pt x="721455" y="0"/>
                  </a:lnTo>
                  <a:cubicBezTo>
                    <a:pt x="745681" y="0"/>
                    <a:pt x="768915" y="9624"/>
                    <a:pt x="786046" y="26754"/>
                  </a:cubicBezTo>
                  <a:cubicBezTo>
                    <a:pt x="803176" y="43885"/>
                    <a:pt x="812800" y="67119"/>
                    <a:pt x="812800" y="91345"/>
                  </a:cubicBezTo>
                  <a:lnTo>
                    <a:pt x="812800" y="91345"/>
                  </a:lnTo>
                  <a:cubicBezTo>
                    <a:pt x="812800" y="141793"/>
                    <a:pt x="771903" y="182690"/>
                    <a:pt x="721455" y="182690"/>
                  </a:cubicBezTo>
                  <a:lnTo>
                    <a:pt x="91345" y="182690"/>
                  </a:lnTo>
                  <a:cubicBezTo>
                    <a:pt x="67119" y="182690"/>
                    <a:pt x="43885" y="173066"/>
                    <a:pt x="26754" y="155936"/>
                  </a:cubicBezTo>
                  <a:cubicBezTo>
                    <a:pt x="9624" y="138805"/>
                    <a:pt x="0" y="115571"/>
                    <a:pt x="0" y="91345"/>
                  </a:cubicBezTo>
                  <a:lnTo>
                    <a:pt x="0" y="91345"/>
                  </a:lnTo>
                  <a:cubicBezTo>
                    <a:pt x="0" y="67119"/>
                    <a:pt x="9624" y="43885"/>
                    <a:pt x="26754" y="26754"/>
                  </a:cubicBezTo>
                  <a:cubicBezTo>
                    <a:pt x="43885" y="9624"/>
                    <a:pt x="67119" y="0"/>
                    <a:pt x="91345" y="0"/>
                  </a:cubicBezTo>
                  <a:close/>
                </a:path>
              </a:pathLst>
            </a:custGeom>
            <a:ln w="47625" cap="rnd">
              <a:solidFill>
                <a:srgbClr val="253754"/>
              </a:solidFill>
              <a:prstDash val="solid"/>
              <a:round/>
            </a:ln>
          </p:spPr>
        </p:sp>
        <p:sp>
          <p:nvSpPr>
            <p:cNvPr name="TextBox 19" id="19"/>
            <p:cNvSpPr txBox="true"/>
            <p:nvPr/>
          </p:nvSpPr>
          <p:spPr>
            <a:xfrm>
              <a:off x="0" y="-47625"/>
              <a:ext cx="812800" cy="230315"/>
            </a:xfrm>
            <a:prstGeom prst="rect">
              <a:avLst/>
            </a:prstGeom>
          </p:spPr>
          <p:txBody>
            <a:bodyPr anchor="ctr" rtlCol="false" tIns="0" lIns="0" bIns="0" rIns="0"/>
            <a:lstStyle/>
            <a:p>
              <a:pPr algn="ctr">
                <a:lnSpc>
                  <a:spcPts val="3548"/>
                </a:lnSpc>
                <a:spcBef>
                  <a:spcPct val="0"/>
                </a:spcBef>
              </a:pPr>
              <a:r>
                <a:rPr lang="en-US" sz="2534">
                  <a:solidFill>
                    <a:srgbClr val="253754"/>
                  </a:solidFill>
                  <a:latin typeface="Glacial Indifference"/>
                  <a:ea typeface="Glacial Indifference"/>
                  <a:cs typeface="Glacial Indifference"/>
                  <a:sym typeface="Glacial Indifference"/>
                </a:rPr>
                <a:t>Análisis</a:t>
              </a:r>
            </a:p>
          </p:txBody>
        </p:sp>
      </p:grpSp>
      <p:grpSp>
        <p:nvGrpSpPr>
          <p:cNvPr name="Group 20" id="20"/>
          <p:cNvGrpSpPr/>
          <p:nvPr/>
        </p:nvGrpSpPr>
        <p:grpSpPr>
          <a:xfrm rot="0">
            <a:off x="10701614" y="6701972"/>
            <a:ext cx="2677953" cy="601913"/>
            <a:chOff x="0" y="0"/>
            <a:chExt cx="812800" cy="182690"/>
          </a:xfrm>
        </p:grpSpPr>
        <p:sp>
          <p:nvSpPr>
            <p:cNvPr name="Freeform 21" id="21"/>
            <p:cNvSpPr/>
            <p:nvPr/>
          </p:nvSpPr>
          <p:spPr>
            <a:xfrm flipH="false" flipV="false" rot="0">
              <a:off x="0" y="0"/>
              <a:ext cx="812800" cy="182690"/>
            </a:xfrm>
            <a:custGeom>
              <a:avLst/>
              <a:gdLst/>
              <a:ahLst/>
              <a:cxnLst/>
              <a:rect r="r" b="b" t="t" l="l"/>
              <a:pathLst>
                <a:path h="182690" w="812800">
                  <a:moveTo>
                    <a:pt x="91345" y="0"/>
                  </a:moveTo>
                  <a:lnTo>
                    <a:pt x="721455" y="0"/>
                  </a:lnTo>
                  <a:cubicBezTo>
                    <a:pt x="745681" y="0"/>
                    <a:pt x="768915" y="9624"/>
                    <a:pt x="786046" y="26754"/>
                  </a:cubicBezTo>
                  <a:cubicBezTo>
                    <a:pt x="803176" y="43885"/>
                    <a:pt x="812800" y="67119"/>
                    <a:pt x="812800" y="91345"/>
                  </a:cubicBezTo>
                  <a:lnTo>
                    <a:pt x="812800" y="91345"/>
                  </a:lnTo>
                  <a:cubicBezTo>
                    <a:pt x="812800" y="141793"/>
                    <a:pt x="771903" y="182690"/>
                    <a:pt x="721455" y="182690"/>
                  </a:cubicBezTo>
                  <a:lnTo>
                    <a:pt x="91345" y="182690"/>
                  </a:lnTo>
                  <a:cubicBezTo>
                    <a:pt x="67119" y="182690"/>
                    <a:pt x="43885" y="173066"/>
                    <a:pt x="26754" y="155936"/>
                  </a:cubicBezTo>
                  <a:cubicBezTo>
                    <a:pt x="9624" y="138805"/>
                    <a:pt x="0" y="115571"/>
                    <a:pt x="0" y="91345"/>
                  </a:cubicBezTo>
                  <a:lnTo>
                    <a:pt x="0" y="91345"/>
                  </a:lnTo>
                  <a:cubicBezTo>
                    <a:pt x="0" y="67119"/>
                    <a:pt x="9624" y="43885"/>
                    <a:pt x="26754" y="26754"/>
                  </a:cubicBezTo>
                  <a:cubicBezTo>
                    <a:pt x="43885" y="9624"/>
                    <a:pt x="67119" y="0"/>
                    <a:pt x="91345" y="0"/>
                  </a:cubicBezTo>
                  <a:close/>
                </a:path>
              </a:pathLst>
            </a:custGeom>
            <a:ln w="47625" cap="rnd">
              <a:solidFill>
                <a:srgbClr val="253754"/>
              </a:solidFill>
              <a:prstDash val="solid"/>
              <a:round/>
            </a:ln>
          </p:spPr>
        </p:sp>
        <p:sp>
          <p:nvSpPr>
            <p:cNvPr name="TextBox 22" id="22"/>
            <p:cNvSpPr txBox="true"/>
            <p:nvPr/>
          </p:nvSpPr>
          <p:spPr>
            <a:xfrm>
              <a:off x="0" y="-47625"/>
              <a:ext cx="812800" cy="230315"/>
            </a:xfrm>
            <a:prstGeom prst="rect">
              <a:avLst/>
            </a:prstGeom>
          </p:spPr>
          <p:txBody>
            <a:bodyPr anchor="ctr" rtlCol="false" tIns="0" lIns="0" bIns="0" rIns="0"/>
            <a:lstStyle/>
            <a:p>
              <a:pPr algn="ctr">
                <a:lnSpc>
                  <a:spcPts val="3548"/>
                </a:lnSpc>
                <a:spcBef>
                  <a:spcPct val="0"/>
                </a:spcBef>
              </a:pPr>
              <a:r>
                <a:rPr lang="en-US" sz="2534">
                  <a:solidFill>
                    <a:srgbClr val="253754"/>
                  </a:solidFill>
                  <a:latin typeface="Glacial Indifference"/>
                  <a:ea typeface="Glacial Indifference"/>
                  <a:cs typeface="Glacial Indifference"/>
                  <a:sym typeface="Glacial Indifference"/>
                </a:rPr>
                <a:t>Implementación</a:t>
              </a:r>
            </a:p>
          </p:txBody>
        </p:sp>
      </p:grpSp>
      <p:sp>
        <p:nvSpPr>
          <p:cNvPr name="Freeform 23" id="23"/>
          <p:cNvSpPr/>
          <p:nvPr/>
        </p:nvSpPr>
        <p:spPr>
          <a:xfrm flipH="false" flipV="false" rot="0">
            <a:off x="5500678" y="5359472"/>
            <a:ext cx="1030373" cy="1178182"/>
          </a:xfrm>
          <a:custGeom>
            <a:avLst/>
            <a:gdLst/>
            <a:ahLst/>
            <a:cxnLst/>
            <a:rect r="r" b="b" t="t" l="l"/>
            <a:pathLst>
              <a:path h="1178182" w="1030373">
                <a:moveTo>
                  <a:pt x="0" y="0"/>
                </a:moveTo>
                <a:lnTo>
                  <a:pt x="1030373" y="0"/>
                </a:lnTo>
                <a:lnTo>
                  <a:pt x="1030373" y="1178181"/>
                </a:lnTo>
                <a:lnTo>
                  <a:pt x="0" y="1178181"/>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a:ln cap="sq">
            <a:noFill/>
            <a:prstDash val="solid"/>
            <a:miter/>
          </a:ln>
        </p:spPr>
      </p:sp>
      <p:sp>
        <p:nvSpPr>
          <p:cNvPr name="Freeform 24" id="24"/>
          <p:cNvSpPr/>
          <p:nvPr/>
        </p:nvSpPr>
        <p:spPr>
          <a:xfrm flipH="false" flipV="false" rot="0">
            <a:off x="14507593" y="5449002"/>
            <a:ext cx="1088652" cy="1088652"/>
          </a:xfrm>
          <a:custGeom>
            <a:avLst/>
            <a:gdLst/>
            <a:ahLst/>
            <a:cxnLst/>
            <a:rect r="r" b="b" t="t" l="l"/>
            <a:pathLst>
              <a:path h="1088652" w="1088652">
                <a:moveTo>
                  <a:pt x="0" y="0"/>
                </a:moveTo>
                <a:lnTo>
                  <a:pt x="1088652" y="0"/>
                </a:lnTo>
                <a:lnTo>
                  <a:pt x="1088652" y="1088651"/>
                </a:lnTo>
                <a:lnTo>
                  <a:pt x="0" y="1088651"/>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a:ln cap="sq">
            <a:noFill/>
            <a:prstDash val="solid"/>
            <a:miter/>
          </a:ln>
        </p:spPr>
      </p:sp>
      <p:sp>
        <p:nvSpPr>
          <p:cNvPr name="Freeform 25" id="25"/>
          <p:cNvSpPr/>
          <p:nvPr/>
        </p:nvSpPr>
        <p:spPr>
          <a:xfrm flipH="false" flipV="false" rot="0">
            <a:off x="11472752" y="5401976"/>
            <a:ext cx="1135677" cy="1135677"/>
          </a:xfrm>
          <a:custGeom>
            <a:avLst/>
            <a:gdLst/>
            <a:ahLst/>
            <a:cxnLst/>
            <a:rect r="r" b="b" t="t" l="l"/>
            <a:pathLst>
              <a:path h="1135677" w="1135677">
                <a:moveTo>
                  <a:pt x="0" y="0"/>
                </a:moveTo>
                <a:lnTo>
                  <a:pt x="1135677" y="0"/>
                </a:lnTo>
                <a:lnTo>
                  <a:pt x="1135677" y="1135677"/>
                </a:lnTo>
                <a:lnTo>
                  <a:pt x="0" y="1135677"/>
                </a:lnTo>
                <a:lnTo>
                  <a:pt x="0" y="0"/>
                </a:lnTo>
                <a:close/>
              </a:path>
            </a:pathLst>
          </a:custGeom>
          <a:blipFill>
            <a:blip r:embed="rId12">
              <a:extLst>
                <a:ext uri="{96DAC541-7B7A-43D3-8B79-37D633B846F1}">
                  <asvg:svgBlip xmlns:asvg="http://schemas.microsoft.com/office/drawing/2016/SVG/main" r:embed="rId13"/>
                </a:ext>
              </a:extLst>
            </a:blip>
            <a:stretch>
              <a:fillRect l="0" t="0" r="0" b="0"/>
            </a:stretch>
          </a:blipFill>
          <a:ln cap="sq">
            <a:noFill/>
            <a:prstDash val="solid"/>
            <a:miter/>
          </a:ln>
        </p:spPr>
      </p:sp>
      <p:sp>
        <p:nvSpPr>
          <p:cNvPr name="Freeform 26" id="26"/>
          <p:cNvSpPr/>
          <p:nvPr/>
        </p:nvSpPr>
        <p:spPr>
          <a:xfrm flipH="false" flipV="false" rot="0">
            <a:off x="8434063" y="5401976"/>
            <a:ext cx="1135677" cy="1135677"/>
          </a:xfrm>
          <a:custGeom>
            <a:avLst/>
            <a:gdLst/>
            <a:ahLst/>
            <a:cxnLst/>
            <a:rect r="r" b="b" t="t" l="l"/>
            <a:pathLst>
              <a:path h="1135677" w="1135677">
                <a:moveTo>
                  <a:pt x="0" y="0"/>
                </a:moveTo>
                <a:lnTo>
                  <a:pt x="1135677" y="0"/>
                </a:lnTo>
                <a:lnTo>
                  <a:pt x="1135677" y="1135677"/>
                </a:lnTo>
                <a:lnTo>
                  <a:pt x="0" y="1135677"/>
                </a:lnTo>
                <a:lnTo>
                  <a:pt x="0" y="0"/>
                </a:lnTo>
                <a:close/>
              </a:path>
            </a:pathLst>
          </a:custGeom>
          <a:blipFill>
            <a:blip r:embed="rId14">
              <a:extLst>
                <a:ext uri="{96DAC541-7B7A-43D3-8B79-37D633B846F1}">
                  <asvg:svgBlip xmlns:asvg="http://schemas.microsoft.com/office/drawing/2016/SVG/main" r:embed="rId15"/>
                </a:ext>
              </a:extLst>
            </a:blip>
            <a:stretch>
              <a:fillRect l="0" t="0" r="0" b="0"/>
            </a:stretch>
          </a:blipFill>
          <a:ln cap="sq">
            <a:noFill/>
            <a:prstDash val="solid"/>
            <a:miter/>
          </a:ln>
        </p:spPr>
      </p:sp>
      <p:sp>
        <p:nvSpPr>
          <p:cNvPr name="TextBox 27" id="27"/>
          <p:cNvSpPr txBox="true"/>
          <p:nvPr/>
        </p:nvSpPr>
        <p:spPr>
          <a:xfrm rot="0">
            <a:off x="3437152" y="2744553"/>
            <a:ext cx="11413697" cy="1769850"/>
          </a:xfrm>
          <a:prstGeom prst="rect">
            <a:avLst/>
          </a:prstGeom>
        </p:spPr>
        <p:txBody>
          <a:bodyPr anchor="t" rtlCol="false" tIns="0" lIns="0" bIns="0" rIns="0">
            <a:spAutoFit/>
          </a:bodyPr>
          <a:lstStyle/>
          <a:p>
            <a:pPr algn="ctr">
              <a:lnSpc>
                <a:spcPts val="4734"/>
              </a:lnSpc>
            </a:pPr>
            <a:r>
              <a:rPr lang="en-US" sz="3382" spc="74" strike="noStrike" u="none">
                <a:solidFill>
                  <a:srgbClr val="152540"/>
                </a:solidFill>
                <a:latin typeface="Glacial Indifference"/>
                <a:ea typeface="Glacial Indifference"/>
                <a:cs typeface="Glacial Indifference"/>
                <a:sym typeface="Glacial Indifference"/>
              </a:rPr>
              <a:t>Lorem ipsum dolor sit amet, consectetur adipiscing elit. Duis vulputate nulla at ante rhoncus, vel efficitur felis condimentum. Proin odio odio.</a:t>
            </a:r>
          </a:p>
        </p:txBody>
      </p:sp>
    </p:spTree>
  </p:cSld>
  <p:clrMapOvr>
    <a:masterClrMapping/>
  </p:clrMapOvr>
</p:sld>
</file>

<file path=ppt/slides/slide24.xml><?xml version="1.0" encoding="utf-8"?>
<p:sld xmlns:p="http://schemas.openxmlformats.org/presentationml/2006/main" xmlns:a="http://schemas.openxmlformats.org/drawingml/2006/main" xmlns:r="http://schemas.openxmlformats.org/officeDocument/2006/relationships">
  <p:cSld>
    <p:bg>
      <p:bgPr>
        <a:solidFill>
          <a:srgbClr val="EDE8E4"/>
        </a:solidFill>
      </p:bgPr>
    </p:bg>
    <p:spTree>
      <p:nvGrpSpPr>
        <p:cNvPr id="1" name=""/>
        <p:cNvGrpSpPr/>
        <p:nvPr/>
      </p:nvGrpSpPr>
      <p:grpSpPr>
        <a:xfrm>
          <a:off x="0" y="0"/>
          <a:ext cx="0" cy="0"/>
          <a:chOff x="0" y="0"/>
          <a:chExt cx="0" cy="0"/>
        </a:xfrm>
      </p:grpSpPr>
      <p:sp>
        <p:nvSpPr>
          <p:cNvPr name="Freeform 2" id="2"/>
          <p:cNvSpPr/>
          <p:nvPr/>
        </p:nvSpPr>
        <p:spPr>
          <a:xfrm flipH="false" flipV="false" rot="0">
            <a:off x="1028700" y="3640243"/>
            <a:ext cx="7397737" cy="3782705"/>
          </a:xfrm>
          <a:custGeom>
            <a:avLst/>
            <a:gdLst/>
            <a:ahLst/>
            <a:cxnLst/>
            <a:rect r="r" b="b" t="t" l="l"/>
            <a:pathLst>
              <a:path h="3782705" w="7397737">
                <a:moveTo>
                  <a:pt x="0" y="0"/>
                </a:moveTo>
                <a:lnTo>
                  <a:pt x="7397737" y="0"/>
                </a:lnTo>
                <a:lnTo>
                  <a:pt x="7397737" y="3782704"/>
                </a:lnTo>
                <a:lnTo>
                  <a:pt x="0" y="3782704"/>
                </a:lnTo>
                <a:lnTo>
                  <a:pt x="0" y="0"/>
                </a:lnTo>
                <a:close/>
              </a:path>
            </a:pathLst>
          </a:custGeom>
          <a:blipFill>
            <a:blip r:embed="rId2"/>
            <a:stretch>
              <a:fillRect l="0" t="-15026" r="0" b="-15026"/>
            </a:stretch>
          </a:blipFill>
        </p:spPr>
      </p:sp>
      <p:sp>
        <p:nvSpPr>
          <p:cNvPr name="Freeform 3" id="3"/>
          <p:cNvSpPr/>
          <p:nvPr/>
        </p:nvSpPr>
        <p:spPr>
          <a:xfrm flipH="false" flipV="false" rot="-8798399">
            <a:off x="13156923" y="1016610"/>
            <a:ext cx="9798172" cy="13143890"/>
          </a:xfrm>
          <a:custGeom>
            <a:avLst/>
            <a:gdLst/>
            <a:ahLst/>
            <a:cxnLst/>
            <a:rect r="r" b="b" t="t" l="l"/>
            <a:pathLst>
              <a:path h="13143890" w="9798172">
                <a:moveTo>
                  <a:pt x="0" y="0"/>
                </a:moveTo>
                <a:lnTo>
                  <a:pt x="9798173" y="0"/>
                </a:lnTo>
                <a:lnTo>
                  <a:pt x="9798173" y="13143890"/>
                </a:lnTo>
                <a:lnTo>
                  <a:pt x="0" y="13143890"/>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a:ln cap="sq">
            <a:noFill/>
            <a:prstDash val="solid"/>
            <a:miter/>
          </a:ln>
        </p:spPr>
      </p:sp>
      <p:sp>
        <p:nvSpPr>
          <p:cNvPr name="Freeform 4" id="4"/>
          <p:cNvSpPr/>
          <p:nvPr/>
        </p:nvSpPr>
        <p:spPr>
          <a:xfrm flipH="false" flipV="false" rot="-8798399">
            <a:off x="-2994864" y="-8645988"/>
            <a:ext cx="9798172" cy="13143890"/>
          </a:xfrm>
          <a:custGeom>
            <a:avLst/>
            <a:gdLst/>
            <a:ahLst/>
            <a:cxnLst/>
            <a:rect r="r" b="b" t="t" l="l"/>
            <a:pathLst>
              <a:path h="13143890" w="9798172">
                <a:moveTo>
                  <a:pt x="0" y="0"/>
                </a:moveTo>
                <a:lnTo>
                  <a:pt x="9798173" y="0"/>
                </a:lnTo>
                <a:lnTo>
                  <a:pt x="9798173" y="13143890"/>
                </a:lnTo>
                <a:lnTo>
                  <a:pt x="0" y="13143890"/>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a:ln cap="sq">
            <a:noFill/>
            <a:prstDash val="solid"/>
            <a:miter/>
          </a:ln>
        </p:spPr>
      </p:sp>
      <p:sp>
        <p:nvSpPr>
          <p:cNvPr name="Freeform 5" id="5"/>
          <p:cNvSpPr/>
          <p:nvPr/>
        </p:nvSpPr>
        <p:spPr>
          <a:xfrm flipH="false" flipV="false" rot="0">
            <a:off x="9144000" y="3640243"/>
            <a:ext cx="7397737" cy="3782705"/>
          </a:xfrm>
          <a:custGeom>
            <a:avLst/>
            <a:gdLst/>
            <a:ahLst/>
            <a:cxnLst/>
            <a:rect r="r" b="b" t="t" l="l"/>
            <a:pathLst>
              <a:path h="3782705" w="7397737">
                <a:moveTo>
                  <a:pt x="0" y="0"/>
                </a:moveTo>
                <a:lnTo>
                  <a:pt x="7397737" y="0"/>
                </a:lnTo>
                <a:lnTo>
                  <a:pt x="7397737" y="3782704"/>
                </a:lnTo>
                <a:lnTo>
                  <a:pt x="0" y="3782704"/>
                </a:lnTo>
                <a:lnTo>
                  <a:pt x="0" y="0"/>
                </a:lnTo>
                <a:close/>
              </a:path>
            </a:pathLst>
          </a:custGeom>
          <a:blipFill>
            <a:blip r:embed="rId5"/>
            <a:stretch>
              <a:fillRect l="0" t="-15148" r="0" b="-15148"/>
            </a:stretch>
          </a:blipFill>
          <a:ln cap="rnd">
            <a:noFill/>
            <a:prstDash val="solid"/>
            <a:round/>
          </a:ln>
        </p:spPr>
      </p:sp>
      <p:grpSp>
        <p:nvGrpSpPr>
          <p:cNvPr name="Group 6" id="6"/>
          <p:cNvGrpSpPr/>
          <p:nvPr/>
        </p:nvGrpSpPr>
        <p:grpSpPr>
          <a:xfrm rot="0">
            <a:off x="1611236" y="6518076"/>
            <a:ext cx="6232665" cy="2740224"/>
            <a:chOff x="0" y="0"/>
            <a:chExt cx="2019680" cy="887963"/>
          </a:xfrm>
        </p:grpSpPr>
        <p:sp>
          <p:nvSpPr>
            <p:cNvPr name="Freeform 7" id="7"/>
            <p:cNvSpPr/>
            <p:nvPr/>
          </p:nvSpPr>
          <p:spPr>
            <a:xfrm flipH="false" flipV="false" rot="0">
              <a:off x="0" y="0"/>
              <a:ext cx="2019680" cy="887963"/>
            </a:xfrm>
            <a:custGeom>
              <a:avLst/>
              <a:gdLst/>
              <a:ahLst/>
              <a:cxnLst/>
              <a:rect r="r" b="b" t="t" l="l"/>
              <a:pathLst>
                <a:path h="887963" w="2019680">
                  <a:moveTo>
                    <a:pt x="48444" y="0"/>
                  </a:moveTo>
                  <a:lnTo>
                    <a:pt x="1971236" y="0"/>
                  </a:lnTo>
                  <a:cubicBezTo>
                    <a:pt x="1984084" y="0"/>
                    <a:pt x="1996406" y="5104"/>
                    <a:pt x="2005491" y="14189"/>
                  </a:cubicBezTo>
                  <a:cubicBezTo>
                    <a:pt x="2014576" y="23274"/>
                    <a:pt x="2019680" y="35596"/>
                    <a:pt x="2019680" y="48444"/>
                  </a:cubicBezTo>
                  <a:lnTo>
                    <a:pt x="2019680" y="839519"/>
                  </a:lnTo>
                  <a:cubicBezTo>
                    <a:pt x="2019680" y="866274"/>
                    <a:pt x="1997991" y="887963"/>
                    <a:pt x="1971236" y="887963"/>
                  </a:cubicBezTo>
                  <a:lnTo>
                    <a:pt x="48444" y="887963"/>
                  </a:lnTo>
                  <a:cubicBezTo>
                    <a:pt x="21689" y="887963"/>
                    <a:pt x="0" y="866274"/>
                    <a:pt x="0" y="839519"/>
                  </a:cubicBezTo>
                  <a:lnTo>
                    <a:pt x="0" y="48444"/>
                  </a:lnTo>
                  <a:cubicBezTo>
                    <a:pt x="0" y="21689"/>
                    <a:pt x="21689" y="0"/>
                    <a:pt x="48444" y="0"/>
                  </a:cubicBezTo>
                  <a:close/>
                </a:path>
              </a:pathLst>
            </a:custGeom>
            <a:solidFill>
              <a:srgbClr val="253754"/>
            </a:solidFill>
            <a:ln cap="rnd">
              <a:noFill/>
              <a:prstDash val="solid"/>
              <a:round/>
            </a:ln>
          </p:spPr>
        </p:sp>
        <p:sp>
          <p:nvSpPr>
            <p:cNvPr name="TextBox 8" id="8"/>
            <p:cNvSpPr txBox="true"/>
            <p:nvPr/>
          </p:nvSpPr>
          <p:spPr>
            <a:xfrm>
              <a:off x="0" y="9525"/>
              <a:ext cx="2019680" cy="878438"/>
            </a:xfrm>
            <a:prstGeom prst="rect">
              <a:avLst/>
            </a:prstGeom>
          </p:spPr>
          <p:txBody>
            <a:bodyPr anchor="ctr" rtlCol="false" tIns="50800" lIns="50800" bIns="50800" rIns="50800"/>
            <a:lstStyle/>
            <a:p>
              <a:pPr algn="ctr">
                <a:lnSpc>
                  <a:spcPts val="2121"/>
                </a:lnSpc>
              </a:pPr>
            </a:p>
          </p:txBody>
        </p:sp>
      </p:grpSp>
      <p:grpSp>
        <p:nvGrpSpPr>
          <p:cNvPr name="Group 9" id="9"/>
          <p:cNvGrpSpPr/>
          <p:nvPr/>
        </p:nvGrpSpPr>
        <p:grpSpPr>
          <a:xfrm rot="0">
            <a:off x="9726536" y="6608510"/>
            <a:ext cx="6232665" cy="2649790"/>
            <a:chOff x="0" y="0"/>
            <a:chExt cx="2019680" cy="858658"/>
          </a:xfrm>
        </p:grpSpPr>
        <p:sp>
          <p:nvSpPr>
            <p:cNvPr name="Freeform 10" id="10"/>
            <p:cNvSpPr/>
            <p:nvPr/>
          </p:nvSpPr>
          <p:spPr>
            <a:xfrm flipH="false" flipV="false" rot="0">
              <a:off x="0" y="0"/>
              <a:ext cx="2019680" cy="858658"/>
            </a:xfrm>
            <a:custGeom>
              <a:avLst/>
              <a:gdLst/>
              <a:ahLst/>
              <a:cxnLst/>
              <a:rect r="r" b="b" t="t" l="l"/>
              <a:pathLst>
                <a:path h="858658" w="2019680">
                  <a:moveTo>
                    <a:pt x="48444" y="0"/>
                  </a:moveTo>
                  <a:lnTo>
                    <a:pt x="1971236" y="0"/>
                  </a:lnTo>
                  <a:cubicBezTo>
                    <a:pt x="1984084" y="0"/>
                    <a:pt x="1996406" y="5104"/>
                    <a:pt x="2005491" y="14189"/>
                  </a:cubicBezTo>
                  <a:cubicBezTo>
                    <a:pt x="2014576" y="23274"/>
                    <a:pt x="2019680" y="35596"/>
                    <a:pt x="2019680" y="48444"/>
                  </a:cubicBezTo>
                  <a:lnTo>
                    <a:pt x="2019680" y="810214"/>
                  </a:lnTo>
                  <a:cubicBezTo>
                    <a:pt x="2019680" y="836969"/>
                    <a:pt x="1997991" y="858658"/>
                    <a:pt x="1971236" y="858658"/>
                  </a:cubicBezTo>
                  <a:lnTo>
                    <a:pt x="48444" y="858658"/>
                  </a:lnTo>
                  <a:cubicBezTo>
                    <a:pt x="21689" y="858658"/>
                    <a:pt x="0" y="836969"/>
                    <a:pt x="0" y="810214"/>
                  </a:cubicBezTo>
                  <a:lnTo>
                    <a:pt x="0" y="48444"/>
                  </a:lnTo>
                  <a:cubicBezTo>
                    <a:pt x="0" y="21689"/>
                    <a:pt x="21689" y="0"/>
                    <a:pt x="48444" y="0"/>
                  </a:cubicBezTo>
                  <a:close/>
                </a:path>
              </a:pathLst>
            </a:custGeom>
            <a:solidFill>
              <a:srgbClr val="253754"/>
            </a:solidFill>
            <a:ln cap="rnd">
              <a:noFill/>
              <a:prstDash val="solid"/>
              <a:round/>
            </a:ln>
          </p:spPr>
        </p:sp>
        <p:sp>
          <p:nvSpPr>
            <p:cNvPr name="TextBox 11" id="11"/>
            <p:cNvSpPr txBox="true"/>
            <p:nvPr/>
          </p:nvSpPr>
          <p:spPr>
            <a:xfrm>
              <a:off x="0" y="9525"/>
              <a:ext cx="2019680" cy="849133"/>
            </a:xfrm>
            <a:prstGeom prst="rect">
              <a:avLst/>
            </a:prstGeom>
          </p:spPr>
          <p:txBody>
            <a:bodyPr anchor="ctr" rtlCol="false" tIns="50800" lIns="50800" bIns="50800" rIns="50800"/>
            <a:lstStyle/>
            <a:p>
              <a:pPr algn="ctr">
                <a:lnSpc>
                  <a:spcPts val="2121"/>
                </a:lnSpc>
              </a:pPr>
            </a:p>
          </p:txBody>
        </p:sp>
      </p:grpSp>
      <p:sp>
        <p:nvSpPr>
          <p:cNvPr name="TextBox 12" id="12"/>
          <p:cNvSpPr txBox="true"/>
          <p:nvPr/>
        </p:nvSpPr>
        <p:spPr>
          <a:xfrm rot="0">
            <a:off x="1904222" y="7365797"/>
            <a:ext cx="5651059" cy="1679056"/>
          </a:xfrm>
          <a:prstGeom prst="rect">
            <a:avLst/>
          </a:prstGeom>
        </p:spPr>
        <p:txBody>
          <a:bodyPr anchor="t" rtlCol="false" tIns="0" lIns="0" bIns="0" rIns="0">
            <a:spAutoFit/>
          </a:bodyPr>
          <a:lstStyle/>
          <a:p>
            <a:pPr algn="ctr">
              <a:lnSpc>
                <a:spcPts val="3339"/>
              </a:lnSpc>
            </a:pPr>
            <a:r>
              <a:rPr lang="en-US" sz="2385" spc="52" strike="noStrike" u="none">
                <a:solidFill>
                  <a:srgbClr val="EDE8E4"/>
                </a:solidFill>
                <a:latin typeface="Glacial Indifference"/>
                <a:ea typeface="Glacial Indifference"/>
                <a:cs typeface="Glacial Indifference"/>
                <a:sym typeface="Glacial Indifference"/>
              </a:rPr>
              <a:t>Lorem ipsum dolor sit amet, consectetur adipiscing elit. Duis vulputate nulla at ante rhoncus, vel efficitur felis condimentum. Proin odio odio.</a:t>
            </a:r>
          </a:p>
        </p:txBody>
      </p:sp>
      <p:sp>
        <p:nvSpPr>
          <p:cNvPr name="Freeform 13" id="13"/>
          <p:cNvSpPr/>
          <p:nvPr/>
        </p:nvSpPr>
        <p:spPr>
          <a:xfrm flipH="false" flipV="false" rot="9961243">
            <a:off x="12217193" y="-3026777"/>
            <a:ext cx="10084214" cy="8727429"/>
          </a:xfrm>
          <a:custGeom>
            <a:avLst/>
            <a:gdLst/>
            <a:ahLst/>
            <a:cxnLst/>
            <a:rect r="r" b="b" t="t" l="l"/>
            <a:pathLst>
              <a:path h="8727429" w="10084214">
                <a:moveTo>
                  <a:pt x="0" y="0"/>
                </a:moveTo>
                <a:lnTo>
                  <a:pt x="10084214" y="0"/>
                </a:lnTo>
                <a:lnTo>
                  <a:pt x="10084214" y="8727429"/>
                </a:lnTo>
                <a:lnTo>
                  <a:pt x="0" y="8727429"/>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a:ln cap="sq">
            <a:noFill/>
            <a:prstDash val="solid"/>
            <a:miter/>
          </a:ln>
        </p:spPr>
      </p:sp>
      <p:sp>
        <p:nvSpPr>
          <p:cNvPr name="Freeform 14" id="14"/>
          <p:cNvSpPr/>
          <p:nvPr/>
        </p:nvSpPr>
        <p:spPr>
          <a:xfrm flipH="false" flipV="false" rot="-976001">
            <a:off x="-4614341" y="5979010"/>
            <a:ext cx="9228681" cy="7987004"/>
          </a:xfrm>
          <a:custGeom>
            <a:avLst/>
            <a:gdLst/>
            <a:ahLst/>
            <a:cxnLst/>
            <a:rect r="r" b="b" t="t" l="l"/>
            <a:pathLst>
              <a:path h="7987004" w="9228681">
                <a:moveTo>
                  <a:pt x="0" y="0"/>
                </a:moveTo>
                <a:lnTo>
                  <a:pt x="9228682" y="0"/>
                </a:lnTo>
                <a:lnTo>
                  <a:pt x="9228682" y="7987004"/>
                </a:lnTo>
                <a:lnTo>
                  <a:pt x="0" y="7987004"/>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a:ln cap="sq">
            <a:noFill/>
            <a:prstDash val="solid"/>
            <a:miter/>
          </a:ln>
        </p:spPr>
      </p:sp>
      <p:sp>
        <p:nvSpPr>
          <p:cNvPr name="TextBox 15" id="15"/>
          <p:cNvSpPr txBox="true"/>
          <p:nvPr/>
        </p:nvSpPr>
        <p:spPr>
          <a:xfrm rot="0">
            <a:off x="1028700" y="2161477"/>
            <a:ext cx="8324690" cy="1259324"/>
          </a:xfrm>
          <a:prstGeom prst="rect">
            <a:avLst/>
          </a:prstGeom>
        </p:spPr>
        <p:txBody>
          <a:bodyPr anchor="t" rtlCol="false" tIns="0" lIns="0" bIns="0" rIns="0">
            <a:spAutoFit/>
          </a:bodyPr>
          <a:lstStyle/>
          <a:p>
            <a:pPr algn="l">
              <a:lnSpc>
                <a:spcPts val="10258"/>
              </a:lnSpc>
            </a:pPr>
            <a:r>
              <a:rPr lang="en-US" b="true" sz="7327" spc="688">
                <a:solidFill>
                  <a:srgbClr val="152540"/>
                </a:solidFill>
                <a:latin typeface="Glacial Indifference Bold"/>
                <a:ea typeface="Glacial Indifference Bold"/>
                <a:cs typeface="Glacial Indifference Bold"/>
                <a:sym typeface="Glacial Indifference Bold"/>
              </a:rPr>
              <a:t>PROYECTO</a:t>
            </a:r>
          </a:p>
        </p:txBody>
      </p:sp>
      <p:sp>
        <p:nvSpPr>
          <p:cNvPr name="TextBox 16" id="16"/>
          <p:cNvSpPr txBox="true"/>
          <p:nvPr/>
        </p:nvSpPr>
        <p:spPr>
          <a:xfrm rot="0">
            <a:off x="1028700" y="1331740"/>
            <a:ext cx="6460548" cy="966389"/>
          </a:xfrm>
          <a:prstGeom prst="rect">
            <a:avLst/>
          </a:prstGeom>
        </p:spPr>
        <p:txBody>
          <a:bodyPr anchor="t" rtlCol="false" tIns="0" lIns="0" bIns="0" rIns="0">
            <a:spAutoFit/>
          </a:bodyPr>
          <a:lstStyle/>
          <a:p>
            <a:pPr algn="l">
              <a:lnSpc>
                <a:spcPts val="7961"/>
              </a:lnSpc>
            </a:pPr>
            <a:r>
              <a:rPr lang="en-US" sz="5686" spc="534">
                <a:solidFill>
                  <a:srgbClr val="152540"/>
                </a:solidFill>
                <a:latin typeface="Glacial Indifference"/>
                <a:ea typeface="Glacial Indifference"/>
                <a:cs typeface="Glacial Indifference"/>
                <a:sym typeface="Glacial Indifference"/>
              </a:rPr>
              <a:t>RESUMEN DEL</a:t>
            </a:r>
          </a:p>
        </p:txBody>
      </p:sp>
      <p:sp>
        <p:nvSpPr>
          <p:cNvPr name="TextBox 17" id="17"/>
          <p:cNvSpPr txBox="true"/>
          <p:nvPr/>
        </p:nvSpPr>
        <p:spPr>
          <a:xfrm rot="0">
            <a:off x="10019522" y="7365797"/>
            <a:ext cx="5651059" cy="1679056"/>
          </a:xfrm>
          <a:prstGeom prst="rect">
            <a:avLst/>
          </a:prstGeom>
        </p:spPr>
        <p:txBody>
          <a:bodyPr anchor="t" rtlCol="false" tIns="0" lIns="0" bIns="0" rIns="0">
            <a:spAutoFit/>
          </a:bodyPr>
          <a:lstStyle/>
          <a:p>
            <a:pPr algn="ctr">
              <a:lnSpc>
                <a:spcPts val="3339"/>
              </a:lnSpc>
            </a:pPr>
            <a:r>
              <a:rPr lang="en-US" sz="2385" spc="52" strike="noStrike" u="none">
                <a:solidFill>
                  <a:srgbClr val="EDE8E4"/>
                </a:solidFill>
                <a:latin typeface="Glacial Indifference"/>
                <a:ea typeface="Glacial Indifference"/>
                <a:cs typeface="Glacial Indifference"/>
                <a:sym typeface="Glacial Indifference"/>
              </a:rPr>
              <a:t>Lorem ipsum dolor sit amet, consectetur adipiscing elit. Duis vulputate nulla at ante rhoncus, vel efficitur felis condimentum. Proin odio odio.</a:t>
            </a:r>
          </a:p>
        </p:txBody>
      </p:sp>
      <p:sp>
        <p:nvSpPr>
          <p:cNvPr name="TextBox 18" id="18"/>
          <p:cNvSpPr txBox="true"/>
          <p:nvPr/>
        </p:nvSpPr>
        <p:spPr>
          <a:xfrm rot="0">
            <a:off x="1968680" y="6686502"/>
            <a:ext cx="5522143" cy="555515"/>
          </a:xfrm>
          <a:prstGeom prst="rect">
            <a:avLst/>
          </a:prstGeom>
        </p:spPr>
        <p:txBody>
          <a:bodyPr anchor="t" rtlCol="false" tIns="0" lIns="0" bIns="0" rIns="0">
            <a:spAutoFit/>
          </a:bodyPr>
          <a:lstStyle/>
          <a:p>
            <a:pPr algn="ctr">
              <a:lnSpc>
                <a:spcPts val="4556"/>
              </a:lnSpc>
            </a:pPr>
            <a:r>
              <a:rPr lang="en-US" b="true" sz="3254" spc="136">
                <a:solidFill>
                  <a:srgbClr val="EDE8E4"/>
                </a:solidFill>
                <a:latin typeface="Glacial Indifference Bold"/>
                <a:ea typeface="Glacial Indifference Bold"/>
                <a:cs typeface="Glacial Indifference Bold"/>
                <a:sym typeface="Glacial Indifference Bold"/>
              </a:rPr>
              <a:t>Diseño de interiores</a:t>
            </a:r>
          </a:p>
        </p:txBody>
      </p:sp>
      <p:sp>
        <p:nvSpPr>
          <p:cNvPr name="TextBox 19" id="19"/>
          <p:cNvSpPr txBox="true"/>
          <p:nvPr/>
        </p:nvSpPr>
        <p:spPr>
          <a:xfrm rot="0">
            <a:off x="10564401" y="6722764"/>
            <a:ext cx="4561302" cy="555515"/>
          </a:xfrm>
          <a:prstGeom prst="rect">
            <a:avLst/>
          </a:prstGeom>
        </p:spPr>
        <p:txBody>
          <a:bodyPr anchor="t" rtlCol="false" tIns="0" lIns="0" bIns="0" rIns="0">
            <a:spAutoFit/>
          </a:bodyPr>
          <a:lstStyle/>
          <a:p>
            <a:pPr algn="ctr">
              <a:lnSpc>
                <a:spcPts val="4556"/>
              </a:lnSpc>
            </a:pPr>
            <a:r>
              <a:rPr lang="en-US" b="true" sz="3254" spc="136">
                <a:solidFill>
                  <a:srgbClr val="EDE8E4"/>
                </a:solidFill>
                <a:latin typeface="Glacial Indifference Bold"/>
                <a:ea typeface="Glacial Indifference Bold"/>
                <a:cs typeface="Glacial Indifference Bold"/>
                <a:sym typeface="Glacial Indifference Bold"/>
              </a:rPr>
              <a:t>Decoración</a:t>
            </a:r>
          </a:p>
        </p:txBody>
      </p:sp>
    </p:spTree>
  </p:cSld>
  <p:clrMapOvr>
    <a:masterClrMapping/>
  </p:clrMapOvr>
</p:sld>
</file>

<file path=ppt/slides/slide25.xml><?xml version="1.0" encoding="utf-8"?>
<p:sld xmlns:p="http://schemas.openxmlformats.org/presentationml/2006/main" xmlns:a="http://schemas.openxmlformats.org/drawingml/2006/main" xmlns:r="http://schemas.openxmlformats.org/officeDocument/2006/relationships">
  <p:cSld>
    <p:bg>
      <p:bgPr>
        <a:solidFill>
          <a:srgbClr val="EDE8E4"/>
        </a:solidFill>
      </p:bgPr>
    </p:bg>
    <p:spTree>
      <p:nvGrpSpPr>
        <p:cNvPr id="1" name=""/>
        <p:cNvGrpSpPr/>
        <p:nvPr/>
      </p:nvGrpSpPr>
      <p:grpSpPr>
        <a:xfrm>
          <a:off x="0" y="0"/>
          <a:ext cx="0" cy="0"/>
          <a:chOff x="0" y="0"/>
          <a:chExt cx="0" cy="0"/>
        </a:xfrm>
      </p:grpSpPr>
      <p:grpSp>
        <p:nvGrpSpPr>
          <p:cNvPr name="Group 2" id="2"/>
          <p:cNvGrpSpPr/>
          <p:nvPr/>
        </p:nvGrpSpPr>
        <p:grpSpPr>
          <a:xfrm rot="0">
            <a:off x="-514350" y="-1580379"/>
            <a:ext cx="19050326" cy="5975359"/>
            <a:chOff x="0" y="0"/>
            <a:chExt cx="5017370" cy="1573757"/>
          </a:xfrm>
        </p:grpSpPr>
        <p:sp>
          <p:nvSpPr>
            <p:cNvPr name="Freeform 3" id="3"/>
            <p:cNvSpPr/>
            <p:nvPr/>
          </p:nvSpPr>
          <p:spPr>
            <a:xfrm flipH="false" flipV="false" rot="0">
              <a:off x="0" y="0"/>
              <a:ext cx="5017370" cy="1573757"/>
            </a:xfrm>
            <a:custGeom>
              <a:avLst/>
              <a:gdLst/>
              <a:ahLst/>
              <a:cxnLst/>
              <a:rect r="r" b="b" t="t" l="l"/>
              <a:pathLst>
                <a:path h="1573757" w="5017370">
                  <a:moveTo>
                    <a:pt x="0" y="0"/>
                  </a:moveTo>
                  <a:lnTo>
                    <a:pt x="5017370" y="0"/>
                  </a:lnTo>
                  <a:lnTo>
                    <a:pt x="5017370" y="1573757"/>
                  </a:lnTo>
                  <a:lnTo>
                    <a:pt x="0" y="1573757"/>
                  </a:lnTo>
                  <a:close/>
                </a:path>
              </a:pathLst>
            </a:custGeom>
            <a:solidFill>
              <a:srgbClr val="253754"/>
            </a:solidFill>
            <a:ln cap="sq">
              <a:noFill/>
              <a:prstDash val="solid"/>
              <a:miter/>
            </a:ln>
          </p:spPr>
        </p:sp>
        <p:sp>
          <p:nvSpPr>
            <p:cNvPr name="TextBox 4" id="4"/>
            <p:cNvSpPr txBox="true"/>
            <p:nvPr/>
          </p:nvSpPr>
          <p:spPr>
            <a:xfrm>
              <a:off x="0" y="9525"/>
              <a:ext cx="5017370" cy="1564232"/>
            </a:xfrm>
            <a:prstGeom prst="rect">
              <a:avLst/>
            </a:prstGeom>
          </p:spPr>
          <p:txBody>
            <a:bodyPr anchor="ctr" rtlCol="false" tIns="50800" lIns="50800" bIns="50800" rIns="50800"/>
            <a:lstStyle/>
            <a:p>
              <a:pPr algn="ctr">
                <a:lnSpc>
                  <a:spcPts val="2121"/>
                </a:lnSpc>
              </a:pPr>
            </a:p>
          </p:txBody>
        </p:sp>
      </p:grpSp>
      <p:sp>
        <p:nvSpPr>
          <p:cNvPr name="Freeform 5" id="5"/>
          <p:cNvSpPr/>
          <p:nvPr/>
        </p:nvSpPr>
        <p:spPr>
          <a:xfrm flipH="false" flipV="false" rot="-10719458">
            <a:off x="-508769" y="3878032"/>
            <a:ext cx="19305539" cy="3249078"/>
          </a:xfrm>
          <a:custGeom>
            <a:avLst/>
            <a:gdLst/>
            <a:ahLst/>
            <a:cxnLst/>
            <a:rect r="r" b="b" t="t" l="l"/>
            <a:pathLst>
              <a:path h="3249078" w="19305539">
                <a:moveTo>
                  <a:pt x="0" y="0"/>
                </a:moveTo>
                <a:lnTo>
                  <a:pt x="19305538" y="0"/>
                </a:lnTo>
                <a:lnTo>
                  <a:pt x="19305538" y="3249078"/>
                </a:lnTo>
                <a:lnTo>
                  <a:pt x="0" y="3249078"/>
                </a:lnTo>
                <a:lnTo>
                  <a:pt x="0" y="0"/>
                </a:lnTo>
                <a:close/>
              </a:path>
            </a:pathLst>
          </a:custGeom>
          <a:blipFill>
            <a:blip r:embed="rId2">
              <a:extLst>
                <a:ext uri="{96DAC541-7B7A-43D3-8B79-37D633B846F1}">
                  <asvg:svgBlip xmlns:asvg="http://schemas.microsoft.com/office/drawing/2016/SVG/main" r:embed="rId3"/>
                </a:ext>
              </a:extLst>
            </a:blip>
            <a:stretch>
              <a:fillRect l="0" t="-493104" r="0" b="0"/>
            </a:stretch>
          </a:blipFill>
          <a:ln cap="sq">
            <a:noFill/>
            <a:prstDash val="solid"/>
            <a:miter/>
          </a:ln>
        </p:spPr>
      </p:sp>
      <p:grpSp>
        <p:nvGrpSpPr>
          <p:cNvPr name="Group 6" id="6"/>
          <p:cNvGrpSpPr/>
          <p:nvPr/>
        </p:nvGrpSpPr>
        <p:grpSpPr>
          <a:xfrm rot="0">
            <a:off x="1867003" y="4129243"/>
            <a:ext cx="3130788" cy="3130788"/>
            <a:chOff x="0" y="0"/>
            <a:chExt cx="812800" cy="812800"/>
          </a:xfrm>
        </p:grpSpPr>
        <p:sp>
          <p:nvSpPr>
            <p:cNvPr name="Freeform 7" id="7"/>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blipFill>
              <a:blip r:embed="rId4"/>
              <a:stretch>
                <a:fillRect l="0" t="-24906" r="0" b="-24906"/>
              </a:stretch>
            </a:blipFill>
            <a:ln w="95250" cap="sq">
              <a:solidFill>
                <a:srgbClr val="D89C6C"/>
              </a:solidFill>
              <a:prstDash val="solid"/>
              <a:miter/>
            </a:ln>
          </p:spPr>
        </p:sp>
      </p:grpSp>
      <p:grpSp>
        <p:nvGrpSpPr>
          <p:cNvPr name="Group 8" id="8"/>
          <p:cNvGrpSpPr/>
          <p:nvPr/>
        </p:nvGrpSpPr>
        <p:grpSpPr>
          <a:xfrm rot="0">
            <a:off x="9482137" y="4129243"/>
            <a:ext cx="3130788" cy="3130788"/>
            <a:chOff x="0" y="0"/>
            <a:chExt cx="812800" cy="812800"/>
          </a:xfrm>
        </p:grpSpPr>
        <p:sp>
          <p:nvSpPr>
            <p:cNvPr name="Freeform 9" id="9"/>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blipFill>
              <a:blip r:embed="rId5"/>
              <a:stretch>
                <a:fillRect l="-33111" t="-75727" r="-34116" b="-75271"/>
              </a:stretch>
            </a:blipFill>
            <a:ln w="95250" cap="sq">
              <a:solidFill>
                <a:srgbClr val="D89C6C"/>
              </a:solidFill>
              <a:prstDash val="solid"/>
              <a:miter/>
            </a:ln>
          </p:spPr>
        </p:sp>
      </p:grpSp>
      <p:grpSp>
        <p:nvGrpSpPr>
          <p:cNvPr name="Group 10" id="10"/>
          <p:cNvGrpSpPr/>
          <p:nvPr/>
        </p:nvGrpSpPr>
        <p:grpSpPr>
          <a:xfrm rot="0">
            <a:off x="5675075" y="4129243"/>
            <a:ext cx="3130788" cy="3130788"/>
            <a:chOff x="0" y="0"/>
            <a:chExt cx="812800" cy="812800"/>
          </a:xfrm>
        </p:grpSpPr>
        <p:sp>
          <p:nvSpPr>
            <p:cNvPr name="Freeform 11" id="11"/>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blipFill>
              <a:blip r:embed="rId6"/>
              <a:stretch>
                <a:fillRect l="0" t="0" r="-49812" b="0"/>
              </a:stretch>
            </a:blipFill>
            <a:ln w="95250" cap="sq">
              <a:solidFill>
                <a:srgbClr val="D89C6C"/>
              </a:solidFill>
              <a:prstDash val="solid"/>
              <a:miter/>
            </a:ln>
          </p:spPr>
        </p:sp>
      </p:grpSp>
      <p:grpSp>
        <p:nvGrpSpPr>
          <p:cNvPr name="Group 12" id="12"/>
          <p:cNvGrpSpPr/>
          <p:nvPr/>
        </p:nvGrpSpPr>
        <p:grpSpPr>
          <a:xfrm rot="0">
            <a:off x="13290209" y="4129243"/>
            <a:ext cx="3130788" cy="3130788"/>
            <a:chOff x="0" y="0"/>
            <a:chExt cx="812800" cy="812800"/>
          </a:xfrm>
        </p:grpSpPr>
        <p:sp>
          <p:nvSpPr>
            <p:cNvPr name="Freeform 13" id="13"/>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blipFill>
              <a:blip r:embed="rId7"/>
              <a:stretch>
                <a:fillRect l="-8784" t="-24326" r="-41610" b="-101407"/>
              </a:stretch>
            </a:blipFill>
            <a:ln w="95250" cap="sq">
              <a:solidFill>
                <a:srgbClr val="D89C6C"/>
              </a:solidFill>
              <a:prstDash val="solid"/>
              <a:miter/>
            </a:ln>
          </p:spPr>
        </p:sp>
      </p:grpSp>
      <p:sp>
        <p:nvSpPr>
          <p:cNvPr name="TextBox 14" id="14"/>
          <p:cNvSpPr txBox="true"/>
          <p:nvPr/>
        </p:nvSpPr>
        <p:spPr>
          <a:xfrm rot="0">
            <a:off x="4981655" y="1613958"/>
            <a:ext cx="8324690" cy="1252164"/>
          </a:xfrm>
          <a:prstGeom prst="rect">
            <a:avLst/>
          </a:prstGeom>
        </p:spPr>
        <p:txBody>
          <a:bodyPr anchor="t" rtlCol="false" tIns="0" lIns="0" bIns="0" rIns="0">
            <a:spAutoFit/>
          </a:bodyPr>
          <a:lstStyle/>
          <a:p>
            <a:pPr algn="ctr">
              <a:lnSpc>
                <a:spcPts val="10258"/>
              </a:lnSpc>
            </a:pPr>
            <a:r>
              <a:rPr lang="en-US" b="true" sz="7327" spc="688">
                <a:solidFill>
                  <a:srgbClr val="EDE8E4"/>
                </a:solidFill>
                <a:latin typeface="Glacial Indifference Bold"/>
                <a:ea typeface="Glacial Indifference Bold"/>
                <a:cs typeface="Glacial Indifference Bold"/>
                <a:sym typeface="Glacial Indifference Bold"/>
              </a:rPr>
              <a:t>EL EQUIPO</a:t>
            </a:r>
          </a:p>
        </p:txBody>
      </p:sp>
      <p:sp>
        <p:nvSpPr>
          <p:cNvPr name="TextBox 15" id="15"/>
          <p:cNvSpPr txBox="true"/>
          <p:nvPr/>
        </p:nvSpPr>
        <p:spPr>
          <a:xfrm rot="0">
            <a:off x="1930502" y="7295644"/>
            <a:ext cx="3003789" cy="465276"/>
          </a:xfrm>
          <a:prstGeom prst="rect">
            <a:avLst/>
          </a:prstGeom>
        </p:spPr>
        <p:txBody>
          <a:bodyPr anchor="t" rtlCol="false" tIns="0" lIns="0" bIns="0" rIns="0">
            <a:spAutoFit/>
          </a:bodyPr>
          <a:lstStyle/>
          <a:p>
            <a:pPr algn="ctr">
              <a:lnSpc>
                <a:spcPts val="3754"/>
              </a:lnSpc>
            </a:pPr>
            <a:r>
              <a:rPr lang="en-US" b="true" sz="2682" spc="59">
                <a:solidFill>
                  <a:srgbClr val="152540"/>
                </a:solidFill>
                <a:latin typeface="Glacial Indifference Bold"/>
                <a:ea typeface="Glacial Indifference Bold"/>
                <a:cs typeface="Glacial Indifference Bold"/>
                <a:sym typeface="Glacial Indifference Bold"/>
              </a:rPr>
              <a:t>Alicia Ortiz</a:t>
            </a:r>
          </a:p>
        </p:txBody>
      </p:sp>
      <p:sp>
        <p:nvSpPr>
          <p:cNvPr name="TextBox 16" id="16"/>
          <p:cNvSpPr txBox="true"/>
          <p:nvPr/>
        </p:nvSpPr>
        <p:spPr>
          <a:xfrm rot="0">
            <a:off x="5675075" y="7295644"/>
            <a:ext cx="3003789" cy="465276"/>
          </a:xfrm>
          <a:prstGeom prst="rect">
            <a:avLst/>
          </a:prstGeom>
        </p:spPr>
        <p:txBody>
          <a:bodyPr anchor="t" rtlCol="false" tIns="0" lIns="0" bIns="0" rIns="0">
            <a:spAutoFit/>
          </a:bodyPr>
          <a:lstStyle/>
          <a:p>
            <a:pPr algn="ctr">
              <a:lnSpc>
                <a:spcPts val="3754"/>
              </a:lnSpc>
            </a:pPr>
            <a:r>
              <a:rPr lang="en-US" b="true" sz="2682" spc="59">
                <a:solidFill>
                  <a:srgbClr val="152540"/>
                </a:solidFill>
                <a:latin typeface="Glacial Indifference Bold"/>
                <a:ea typeface="Glacial Indifference Bold"/>
                <a:cs typeface="Glacial Indifference Bold"/>
                <a:sym typeface="Glacial Indifference Bold"/>
              </a:rPr>
              <a:t>Pablo Martín</a:t>
            </a:r>
          </a:p>
        </p:txBody>
      </p:sp>
      <p:sp>
        <p:nvSpPr>
          <p:cNvPr name="TextBox 17" id="17"/>
          <p:cNvSpPr txBox="true"/>
          <p:nvPr/>
        </p:nvSpPr>
        <p:spPr>
          <a:xfrm rot="0">
            <a:off x="9545637" y="7295644"/>
            <a:ext cx="3003789" cy="465276"/>
          </a:xfrm>
          <a:prstGeom prst="rect">
            <a:avLst/>
          </a:prstGeom>
        </p:spPr>
        <p:txBody>
          <a:bodyPr anchor="t" rtlCol="false" tIns="0" lIns="0" bIns="0" rIns="0">
            <a:spAutoFit/>
          </a:bodyPr>
          <a:lstStyle/>
          <a:p>
            <a:pPr algn="ctr">
              <a:lnSpc>
                <a:spcPts val="3754"/>
              </a:lnSpc>
            </a:pPr>
            <a:r>
              <a:rPr lang="en-US" b="true" sz="2682" spc="59">
                <a:solidFill>
                  <a:srgbClr val="152540"/>
                </a:solidFill>
                <a:latin typeface="Glacial Indifference Bold"/>
                <a:ea typeface="Glacial Indifference Bold"/>
                <a:cs typeface="Glacial Indifference Bold"/>
                <a:sym typeface="Glacial Indifference Bold"/>
              </a:rPr>
              <a:t>Carlos Méndez</a:t>
            </a:r>
          </a:p>
        </p:txBody>
      </p:sp>
      <p:sp>
        <p:nvSpPr>
          <p:cNvPr name="TextBox 18" id="18"/>
          <p:cNvSpPr txBox="true"/>
          <p:nvPr/>
        </p:nvSpPr>
        <p:spPr>
          <a:xfrm rot="0">
            <a:off x="13290209" y="7312154"/>
            <a:ext cx="3003789" cy="465276"/>
          </a:xfrm>
          <a:prstGeom prst="rect">
            <a:avLst/>
          </a:prstGeom>
        </p:spPr>
        <p:txBody>
          <a:bodyPr anchor="t" rtlCol="false" tIns="0" lIns="0" bIns="0" rIns="0">
            <a:spAutoFit/>
          </a:bodyPr>
          <a:lstStyle/>
          <a:p>
            <a:pPr algn="ctr">
              <a:lnSpc>
                <a:spcPts val="3754"/>
              </a:lnSpc>
            </a:pPr>
            <a:r>
              <a:rPr lang="en-US" b="true" sz="2682" spc="59">
                <a:solidFill>
                  <a:srgbClr val="152540"/>
                </a:solidFill>
                <a:latin typeface="Glacial Indifference Bold"/>
                <a:ea typeface="Glacial Indifference Bold"/>
                <a:cs typeface="Glacial Indifference Bold"/>
                <a:sym typeface="Glacial Indifference Bold"/>
              </a:rPr>
              <a:t>Rosa Martínez</a:t>
            </a:r>
          </a:p>
        </p:txBody>
      </p:sp>
      <p:sp>
        <p:nvSpPr>
          <p:cNvPr name="TextBox 19" id="19"/>
          <p:cNvSpPr txBox="true"/>
          <p:nvPr/>
        </p:nvSpPr>
        <p:spPr>
          <a:xfrm rot="0">
            <a:off x="1930502" y="7713296"/>
            <a:ext cx="3003789" cy="422731"/>
          </a:xfrm>
          <a:prstGeom prst="rect">
            <a:avLst/>
          </a:prstGeom>
        </p:spPr>
        <p:txBody>
          <a:bodyPr anchor="t" rtlCol="false" tIns="0" lIns="0" bIns="0" rIns="0">
            <a:spAutoFit/>
          </a:bodyPr>
          <a:lstStyle/>
          <a:p>
            <a:pPr algn="ctr">
              <a:lnSpc>
                <a:spcPts val="3474"/>
              </a:lnSpc>
            </a:pPr>
            <a:r>
              <a:rPr lang="en-US" sz="2482" spc="54">
                <a:solidFill>
                  <a:srgbClr val="152540"/>
                </a:solidFill>
                <a:latin typeface="Glacial Indifference"/>
                <a:ea typeface="Glacial Indifference"/>
                <a:cs typeface="Glacial Indifference"/>
                <a:sym typeface="Glacial Indifference"/>
              </a:rPr>
              <a:t>Gerente</a:t>
            </a:r>
          </a:p>
        </p:txBody>
      </p:sp>
      <p:sp>
        <p:nvSpPr>
          <p:cNvPr name="TextBox 20" id="20"/>
          <p:cNvSpPr txBox="true"/>
          <p:nvPr/>
        </p:nvSpPr>
        <p:spPr>
          <a:xfrm rot="0">
            <a:off x="5675075" y="7713296"/>
            <a:ext cx="3003789" cy="422731"/>
          </a:xfrm>
          <a:prstGeom prst="rect">
            <a:avLst/>
          </a:prstGeom>
        </p:spPr>
        <p:txBody>
          <a:bodyPr anchor="t" rtlCol="false" tIns="0" lIns="0" bIns="0" rIns="0">
            <a:spAutoFit/>
          </a:bodyPr>
          <a:lstStyle/>
          <a:p>
            <a:pPr algn="ctr">
              <a:lnSpc>
                <a:spcPts val="3474"/>
              </a:lnSpc>
            </a:pPr>
            <a:r>
              <a:rPr lang="en-US" sz="2482" spc="54">
                <a:solidFill>
                  <a:srgbClr val="152540"/>
                </a:solidFill>
                <a:latin typeface="Glacial Indifference"/>
                <a:ea typeface="Glacial Indifference"/>
                <a:cs typeface="Glacial Indifference"/>
                <a:sym typeface="Glacial Indifference"/>
              </a:rPr>
              <a:t>Diseño de interiores</a:t>
            </a:r>
          </a:p>
        </p:txBody>
      </p:sp>
      <p:sp>
        <p:nvSpPr>
          <p:cNvPr name="TextBox 21" id="21"/>
          <p:cNvSpPr txBox="true"/>
          <p:nvPr/>
        </p:nvSpPr>
        <p:spPr>
          <a:xfrm rot="0">
            <a:off x="9545637" y="7713296"/>
            <a:ext cx="3003789" cy="422731"/>
          </a:xfrm>
          <a:prstGeom prst="rect">
            <a:avLst/>
          </a:prstGeom>
        </p:spPr>
        <p:txBody>
          <a:bodyPr anchor="t" rtlCol="false" tIns="0" lIns="0" bIns="0" rIns="0">
            <a:spAutoFit/>
          </a:bodyPr>
          <a:lstStyle/>
          <a:p>
            <a:pPr algn="ctr">
              <a:lnSpc>
                <a:spcPts val="3474"/>
              </a:lnSpc>
            </a:pPr>
            <a:r>
              <a:rPr lang="en-US" sz="2482" spc="54">
                <a:solidFill>
                  <a:srgbClr val="152540"/>
                </a:solidFill>
                <a:latin typeface="Glacial Indifference"/>
                <a:ea typeface="Glacial Indifference"/>
                <a:cs typeface="Glacial Indifference"/>
                <a:sym typeface="Glacial Indifference"/>
              </a:rPr>
              <a:t>Ilustrador</a:t>
            </a:r>
          </a:p>
        </p:txBody>
      </p:sp>
      <p:sp>
        <p:nvSpPr>
          <p:cNvPr name="TextBox 22" id="22"/>
          <p:cNvSpPr txBox="true"/>
          <p:nvPr/>
        </p:nvSpPr>
        <p:spPr>
          <a:xfrm rot="0">
            <a:off x="13290209" y="7729806"/>
            <a:ext cx="3003789" cy="422731"/>
          </a:xfrm>
          <a:prstGeom prst="rect">
            <a:avLst/>
          </a:prstGeom>
        </p:spPr>
        <p:txBody>
          <a:bodyPr anchor="t" rtlCol="false" tIns="0" lIns="0" bIns="0" rIns="0">
            <a:spAutoFit/>
          </a:bodyPr>
          <a:lstStyle/>
          <a:p>
            <a:pPr algn="ctr">
              <a:lnSpc>
                <a:spcPts val="3474"/>
              </a:lnSpc>
            </a:pPr>
            <a:r>
              <a:rPr lang="en-US" sz="2482" spc="54">
                <a:solidFill>
                  <a:srgbClr val="152540"/>
                </a:solidFill>
                <a:latin typeface="Glacial Indifference"/>
                <a:ea typeface="Glacial Indifference"/>
                <a:cs typeface="Glacial Indifference"/>
                <a:sym typeface="Glacial Indifference"/>
              </a:rPr>
              <a:t>Ventas</a:t>
            </a:r>
          </a:p>
        </p:txBody>
      </p:sp>
      <p:sp>
        <p:nvSpPr>
          <p:cNvPr name="Freeform 23" id="23"/>
          <p:cNvSpPr/>
          <p:nvPr/>
        </p:nvSpPr>
        <p:spPr>
          <a:xfrm flipH="false" flipV="false" rot="0">
            <a:off x="284248" y="-713185"/>
            <a:ext cx="1488904" cy="1931362"/>
          </a:xfrm>
          <a:custGeom>
            <a:avLst/>
            <a:gdLst/>
            <a:ahLst/>
            <a:cxnLst/>
            <a:rect r="r" b="b" t="t" l="l"/>
            <a:pathLst>
              <a:path h="1931362" w="1488904">
                <a:moveTo>
                  <a:pt x="0" y="0"/>
                </a:moveTo>
                <a:lnTo>
                  <a:pt x="1488904" y="0"/>
                </a:lnTo>
                <a:lnTo>
                  <a:pt x="1488904" y="1931362"/>
                </a:lnTo>
                <a:lnTo>
                  <a:pt x="0" y="1931362"/>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24" id="24"/>
          <p:cNvSpPr/>
          <p:nvPr/>
        </p:nvSpPr>
        <p:spPr>
          <a:xfrm flipH="false" flipV="false" rot="0">
            <a:off x="-744452" y="252496"/>
            <a:ext cx="1488904" cy="1931362"/>
          </a:xfrm>
          <a:custGeom>
            <a:avLst/>
            <a:gdLst/>
            <a:ahLst/>
            <a:cxnLst/>
            <a:rect r="r" b="b" t="t" l="l"/>
            <a:pathLst>
              <a:path h="1931362" w="1488904">
                <a:moveTo>
                  <a:pt x="0" y="0"/>
                </a:moveTo>
                <a:lnTo>
                  <a:pt x="1488904" y="0"/>
                </a:lnTo>
                <a:lnTo>
                  <a:pt x="1488904" y="1931362"/>
                </a:lnTo>
                <a:lnTo>
                  <a:pt x="0" y="1931362"/>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25" id="25"/>
          <p:cNvSpPr/>
          <p:nvPr/>
        </p:nvSpPr>
        <p:spPr>
          <a:xfrm flipH="false" flipV="false" rot="0">
            <a:off x="16293998" y="8734875"/>
            <a:ext cx="2476208" cy="3212062"/>
          </a:xfrm>
          <a:custGeom>
            <a:avLst/>
            <a:gdLst/>
            <a:ahLst/>
            <a:cxnLst/>
            <a:rect r="r" b="b" t="t" l="l"/>
            <a:pathLst>
              <a:path h="3212062" w="2476208">
                <a:moveTo>
                  <a:pt x="0" y="0"/>
                </a:moveTo>
                <a:lnTo>
                  <a:pt x="2476208" y="0"/>
                </a:lnTo>
                <a:lnTo>
                  <a:pt x="2476208" y="3212061"/>
                </a:lnTo>
                <a:lnTo>
                  <a:pt x="0" y="3212061"/>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a:ln cap="sq">
            <a:noFill/>
            <a:prstDash val="solid"/>
            <a:miter/>
          </a:ln>
        </p:spPr>
      </p:sp>
    </p:spTree>
  </p:cSld>
  <p:clrMapOvr>
    <a:masterClrMapping/>
  </p:clrMapOvr>
</p:sld>
</file>

<file path=ppt/slides/slide26.xml><?xml version="1.0" encoding="utf-8"?>
<p:sld xmlns:p="http://schemas.openxmlformats.org/presentationml/2006/main" xmlns:a="http://schemas.openxmlformats.org/drawingml/2006/main" xmlns:r="http://schemas.openxmlformats.org/officeDocument/2006/relationships">
  <p:cSld>
    <p:bg>
      <p:bgPr>
        <a:solidFill>
          <a:srgbClr val="253754"/>
        </a:solidFill>
      </p:bgPr>
    </p:bg>
    <p:spTree>
      <p:nvGrpSpPr>
        <p:cNvPr id="1" name=""/>
        <p:cNvGrpSpPr/>
        <p:nvPr/>
      </p:nvGrpSpPr>
      <p:grpSpPr>
        <a:xfrm>
          <a:off x="0" y="0"/>
          <a:ext cx="0" cy="0"/>
          <a:chOff x="0" y="0"/>
          <a:chExt cx="0" cy="0"/>
        </a:xfrm>
      </p:grpSpPr>
      <p:sp>
        <p:nvSpPr>
          <p:cNvPr name="Freeform 2" id="2"/>
          <p:cNvSpPr/>
          <p:nvPr/>
        </p:nvSpPr>
        <p:spPr>
          <a:xfrm flipH="false" flipV="false" rot="0">
            <a:off x="1954302" y="1776600"/>
            <a:ext cx="694498" cy="848831"/>
          </a:xfrm>
          <a:custGeom>
            <a:avLst/>
            <a:gdLst/>
            <a:ahLst/>
            <a:cxnLst/>
            <a:rect r="r" b="b" t="t" l="l"/>
            <a:pathLst>
              <a:path h="848831" w="694498">
                <a:moveTo>
                  <a:pt x="0" y="0"/>
                </a:moveTo>
                <a:lnTo>
                  <a:pt x="694498" y="0"/>
                </a:lnTo>
                <a:lnTo>
                  <a:pt x="694498" y="848831"/>
                </a:lnTo>
                <a:lnTo>
                  <a:pt x="0" y="848831"/>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a:ln cap="sq">
            <a:noFill/>
            <a:prstDash val="solid"/>
            <a:miter/>
          </a:ln>
        </p:spPr>
      </p:sp>
      <p:sp>
        <p:nvSpPr>
          <p:cNvPr name="TextBox 3" id="3"/>
          <p:cNvSpPr txBox="true"/>
          <p:nvPr/>
        </p:nvSpPr>
        <p:spPr>
          <a:xfrm rot="0">
            <a:off x="2829571" y="1776600"/>
            <a:ext cx="1385325" cy="920468"/>
          </a:xfrm>
          <a:prstGeom prst="rect">
            <a:avLst/>
          </a:prstGeom>
        </p:spPr>
        <p:txBody>
          <a:bodyPr anchor="t" rtlCol="false" tIns="0" lIns="0" bIns="0" rIns="0">
            <a:spAutoFit/>
          </a:bodyPr>
          <a:lstStyle/>
          <a:p>
            <a:pPr algn="l">
              <a:lnSpc>
                <a:spcPts val="3645"/>
              </a:lnSpc>
              <a:spcBef>
                <a:spcPct val="0"/>
              </a:spcBef>
            </a:pPr>
            <a:r>
              <a:rPr lang="en-US" sz="3063" spc="-61">
                <a:solidFill>
                  <a:srgbClr val="EDE8E4"/>
                </a:solidFill>
                <a:latin typeface="Glacial Indifference"/>
                <a:ea typeface="Glacial Indifference"/>
                <a:cs typeface="Glacial Indifference"/>
                <a:sym typeface="Glacial Indifference"/>
              </a:rPr>
              <a:t>Estudio Shonos</a:t>
            </a:r>
          </a:p>
        </p:txBody>
      </p:sp>
      <p:sp>
        <p:nvSpPr>
          <p:cNvPr name="TextBox 4" id="4"/>
          <p:cNvSpPr txBox="true"/>
          <p:nvPr/>
        </p:nvSpPr>
        <p:spPr>
          <a:xfrm rot="0">
            <a:off x="1954302" y="2932240"/>
            <a:ext cx="5127156" cy="2547564"/>
          </a:xfrm>
          <a:prstGeom prst="rect">
            <a:avLst/>
          </a:prstGeom>
        </p:spPr>
        <p:txBody>
          <a:bodyPr anchor="t" rtlCol="false" tIns="0" lIns="0" bIns="0" rIns="0">
            <a:spAutoFit/>
          </a:bodyPr>
          <a:lstStyle/>
          <a:p>
            <a:pPr algn="l">
              <a:lnSpc>
                <a:spcPts val="10258"/>
              </a:lnSpc>
            </a:pPr>
            <a:r>
              <a:rPr lang="en-US" b="true" sz="7327" spc="688">
                <a:solidFill>
                  <a:srgbClr val="EDE8E4"/>
                </a:solidFill>
                <a:latin typeface="Glacial Indifference Bold"/>
                <a:ea typeface="Glacial Indifference Bold"/>
                <a:cs typeface="Glacial Indifference Bold"/>
                <a:sym typeface="Glacial Indifference Bold"/>
              </a:rPr>
              <a:t>MUCHAS GRACIAS</a:t>
            </a:r>
          </a:p>
        </p:txBody>
      </p:sp>
      <p:sp>
        <p:nvSpPr>
          <p:cNvPr name="AutoShape 5" id="5"/>
          <p:cNvSpPr/>
          <p:nvPr/>
        </p:nvSpPr>
        <p:spPr>
          <a:xfrm flipV="true">
            <a:off x="1478627" y="1685723"/>
            <a:ext cx="0" cy="6915554"/>
          </a:xfrm>
          <a:prstGeom prst="line">
            <a:avLst/>
          </a:prstGeom>
          <a:ln cap="flat" w="66675">
            <a:solidFill>
              <a:srgbClr val="E3D8D4"/>
            </a:solidFill>
            <a:prstDash val="solid"/>
            <a:headEnd type="none" len="sm" w="sm"/>
            <a:tailEnd type="none" len="sm" w="sm"/>
          </a:ln>
        </p:spPr>
      </p:sp>
      <p:sp>
        <p:nvSpPr>
          <p:cNvPr name="TextBox 6" id="6"/>
          <p:cNvSpPr txBox="true"/>
          <p:nvPr/>
        </p:nvSpPr>
        <p:spPr>
          <a:xfrm rot="0">
            <a:off x="1904222" y="5636540"/>
            <a:ext cx="9034884" cy="1590300"/>
          </a:xfrm>
          <a:prstGeom prst="rect">
            <a:avLst/>
          </a:prstGeom>
        </p:spPr>
        <p:txBody>
          <a:bodyPr anchor="t" rtlCol="false" tIns="0" lIns="0" bIns="0" rIns="0">
            <a:spAutoFit/>
          </a:bodyPr>
          <a:lstStyle/>
          <a:p>
            <a:pPr algn="l">
              <a:lnSpc>
                <a:spcPts val="4278"/>
              </a:lnSpc>
            </a:pPr>
            <a:r>
              <a:rPr lang="en-US" sz="3056" spc="67" strike="noStrike" u="none">
                <a:solidFill>
                  <a:srgbClr val="EDE8E4"/>
                </a:solidFill>
                <a:latin typeface="Glacial Indifference"/>
                <a:ea typeface="Glacial Indifference"/>
                <a:cs typeface="Glacial Indifference"/>
                <a:sym typeface="Glacial Indifference"/>
              </a:rPr>
              <a:t>Lorem ipsum dolor sit amet, consectetur adipiscing elit. Duis vulputate nulla at ante rhoncus, vel efficitur felis condimentum. Proin odio odio.</a:t>
            </a:r>
          </a:p>
        </p:txBody>
      </p:sp>
      <p:sp>
        <p:nvSpPr>
          <p:cNvPr name="Freeform 7" id="7"/>
          <p:cNvSpPr/>
          <p:nvPr/>
        </p:nvSpPr>
        <p:spPr>
          <a:xfrm flipH="false" flipV="false" rot="0">
            <a:off x="5428331" y="7731813"/>
            <a:ext cx="641574" cy="641862"/>
          </a:xfrm>
          <a:custGeom>
            <a:avLst/>
            <a:gdLst/>
            <a:ahLst/>
            <a:cxnLst/>
            <a:rect r="r" b="b" t="t" l="l"/>
            <a:pathLst>
              <a:path h="641862" w="641574">
                <a:moveTo>
                  <a:pt x="0" y="0"/>
                </a:moveTo>
                <a:lnTo>
                  <a:pt x="641574" y="0"/>
                </a:lnTo>
                <a:lnTo>
                  <a:pt x="641574" y="641862"/>
                </a:lnTo>
                <a:lnTo>
                  <a:pt x="0" y="641862"/>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a:ln cap="sq">
            <a:noFill/>
            <a:prstDash val="solid"/>
            <a:miter/>
          </a:ln>
        </p:spPr>
      </p:sp>
      <p:sp>
        <p:nvSpPr>
          <p:cNvPr name="Freeform 8" id="8"/>
          <p:cNvSpPr/>
          <p:nvPr/>
        </p:nvSpPr>
        <p:spPr>
          <a:xfrm flipH="false" flipV="false" rot="0">
            <a:off x="2006938" y="7731813"/>
            <a:ext cx="641862" cy="641862"/>
          </a:xfrm>
          <a:custGeom>
            <a:avLst/>
            <a:gdLst/>
            <a:ahLst/>
            <a:cxnLst/>
            <a:rect r="r" b="b" t="t" l="l"/>
            <a:pathLst>
              <a:path h="641862" w="641862">
                <a:moveTo>
                  <a:pt x="0" y="0"/>
                </a:moveTo>
                <a:lnTo>
                  <a:pt x="641862" y="0"/>
                </a:lnTo>
                <a:lnTo>
                  <a:pt x="641862" y="641862"/>
                </a:lnTo>
                <a:lnTo>
                  <a:pt x="0" y="641862"/>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TextBox 9" id="9"/>
          <p:cNvSpPr txBox="true"/>
          <p:nvPr/>
        </p:nvSpPr>
        <p:spPr>
          <a:xfrm rot="0">
            <a:off x="6146105" y="7762943"/>
            <a:ext cx="4634804" cy="522452"/>
          </a:xfrm>
          <a:prstGeom prst="rect">
            <a:avLst/>
          </a:prstGeom>
        </p:spPr>
        <p:txBody>
          <a:bodyPr anchor="t" rtlCol="false" tIns="0" lIns="0" bIns="0" rIns="0">
            <a:spAutoFit/>
          </a:bodyPr>
          <a:lstStyle/>
          <a:p>
            <a:pPr algn="l" marL="0" indent="0" lvl="1">
              <a:lnSpc>
                <a:spcPts val="4278"/>
              </a:lnSpc>
              <a:spcBef>
                <a:spcPct val="0"/>
              </a:spcBef>
            </a:pPr>
            <a:r>
              <a:rPr lang="en-US" sz="3056" spc="67" strike="noStrike" u="none">
                <a:solidFill>
                  <a:srgbClr val="EDE8E4"/>
                </a:solidFill>
                <a:latin typeface="Glacial Indifference"/>
                <a:ea typeface="Glacial Indifference"/>
                <a:cs typeface="Glacial Indifference"/>
                <a:sym typeface="Glacial Indifference"/>
              </a:rPr>
              <a:t>www.unsitiogenial.es </a:t>
            </a:r>
          </a:p>
        </p:txBody>
      </p:sp>
      <p:sp>
        <p:nvSpPr>
          <p:cNvPr name="TextBox 10" id="10"/>
          <p:cNvSpPr txBox="true"/>
          <p:nvPr/>
        </p:nvSpPr>
        <p:spPr>
          <a:xfrm rot="0">
            <a:off x="2726303" y="7790449"/>
            <a:ext cx="2496958" cy="522452"/>
          </a:xfrm>
          <a:prstGeom prst="rect">
            <a:avLst/>
          </a:prstGeom>
        </p:spPr>
        <p:txBody>
          <a:bodyPr anchor="t" rtlCol="false" tIns="0" lIns="0" bIns="0" rIns="0">
            <a:spAutoFit/>
          </a:bodyPr>
          <a:lstStyle/>
          <a:p>
            <a:pPr algn="l" marL="0" indent="0" lvl="1">
              <a:lnSpc>
                <a:spcPts val="4278"/>
              </a:lnSpc>
              <a:spcBef>
                <a:spcPct val="0"/>
              </a:spcBef>
            </a:pPr>
            <a:r>
              <a:rPr lang="en-US" sz="3056" spc="67" strike="noStrike" u="none">
                <a:solidFill>
                  <a:srgbClr val="EDE8E4"/>
                </a:solidFill>
                <a:latin typeface="Glacial Indifference"/>
                <a:ea typeface="Glacial Indifference"/>
                <a:cs typeface="Glacial Indifference"/>
                <a:sym typeface="Glacial Indifference"/>
              </a:rPr>
              <a:t>911-234-5678</a:t>
            </a:r>
          </a:p>
        </p:txBody>
      </p:sp>
      <p:sp>
        <p:nvSpPr>
          <p:cNvPr name="Freeform 11" id="11"/>
          <p:cNvSpPr/>
          <p:nvPr/>
        </p:nvSpPr>
        <p:spPr>
          <a:xfrm flipH="false" flipV="false" rot="5400000">
            <a:off x="8502801" y="331078"/>
            <a:ext cx="10116277" cy="9454121"/>
          </a:xfrm>
          <a:custGeom>
            <a:avLst/>
            <a:gdLst/>
            <a:ahLst/>
            <a:cxnLst/>
            <a:rect r="r" b="b" t="t" l="l"/>
            <a:pathLst>
              <a:path h="9454121" w="10116277">
                <a:moveTo>
                  <a:pt x="0" y="0"/>
                </a:moveTo>
                <a:lnTo>
                  <a:pt x="10116277" y="0"/>
                </a:lnTo>
                <a:lnTo>
                  <a:pt x="10116277" y="9454121"/>
                </a:lnTo>
                <a:lnTo>
                  <a:pt x="0" y="9454121"/>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a:ln cap="sq">
            <a:noFill/>
            <a:prstDash val="solid"/>
            <a:miter/>
          </a:ln>
        </p:spPr>
      </p:sp>
    </p:spTree>
  </p:cSld>
  <p:clrMapOvr>
    <a:masterClrMapping/>
  </p:clrMapOvr>
</p:sld>
</file>

<file path=ppt/slides/slide27.xml><?xml version="1.0" encoding="utf-8"?>
<p:sld xmlns:p="http://schemas.openxmlformats.org/presentationml/2006/main" xmlns:a="http://schemas.openxmlformats.org/drawingml/2006/main" xmlns:r="http://schemas.openxmlformats.org/officeDocument/2006/relationships">
  <p:cSld>
    <p:bg>
      <p:bgPr>
        <a:solidFill>
          <a:srgbClr val="EDE8E4"/>
        </a:solidFill>
      </p:bgPr>
    </p:bg>
    <p:spTree>
      <p:nvGrpSpPr>
        <p:cNvPr id="1" name=""/>
        <p:cNvGrpSpPr/>
        <p:nvPr/>
      </p:nvGrpSpPr>
      <p:grpSpPr>
        <a:xfrm>
          <a:off x="0" y="0"/>
          <a:ext cx="0" cy="0"/>
          <a:chOff x="0" y="0"/>
          <a:chExt cx="0" cy="0"/>
        </a:xfrm>
      </p:grpSpPr>
      <p:sp>
        <p:nvSpPr>
          <p:cNvPr name="Freeform 2" id="2"/>
          <p:cNvSpPr/>
          <p:nvPr/>
        </p:nvSpPr>
        <p:spPr>
          <a:xfrm flipH="false" flipV="false" rot="0">
            <a:off x="12851985" y="8038428"/>
            <a:ext cx="940429" cy="940429"/>
          </a:xfrm>
          <a:custGeom>
            <a:avLst/>
            <a:gdLst/>
            <a:ahLst/>
            <a:cxnLst/>
            <a:rect r="r" b="b" t="t" l="l"/>
            <a:pathLst>
              <a:path h="940429" w="940429">
                <a:moveTo>
                  <a:pt x="0" y="0"/>
                </a:moveTo>
                <a:lnTo>
                  <a:pt x="940429" y="0"/>
                </a:lnTo>
                <a:lnTo>
                  <a:pt x="940429" y="940429"/>
                </a:lnTo>
                <a:lnTo>
                  <a:pt x="0" y="940429"/>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5965591" y="4474660"/>
            <a:ext cx="1042814" cy="940429"/>
          </a:xfrm>
          <a:custGeom>
            <a:avLst/>
            <a:gdLst/>
            <a:ahLst/>
            <a:cxnLst/>
            <a:rect r="r" b="b" t="t" l="l"/>
            <a:pathLst>
              <a:path h="940429" w="1042814">
                <a:moveTo>
                  <a:pt x="0" y="0"/>
                </a:moveTo>
                <a:lnTo>
                  <a:pt x="1042814" y="0"/>
                </a:lnTo>
                <a:lnTo>
                  <a:pt x="1042814" y="940429"/>
                </a:lnTo>
                <a:lnTo>
                  <a:pt x="0" y="940429"/>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4" id="4"/>
          <p:cNvSpPr/>
          <p:nvPr/>
        </p:nvSpPr>
        <p:spPr>
          <a:xfrm flipH="false" flipV="false" rot="0">
            <a:off x="4730396" y="4394900"/>
            <a:ext cx="571097" cy="940429"/>
          </a:xfrm>
          <a:custGeom>
            <a:avLst/>
            <a:gdLst/>
            <a:ahLst/>
            <a:cxnLst/>
            <a:rect r="r" b="b" t="t" l="l"/>
            <a:pathLst>
              <a:path h="940429" w="571097">
                <a:moveTo>
                  <a:pt x="0" y="0"/>
                </a:moveTo>
                <a:lnTo>
                  <a:pt x="571097" y="0"/>
                </a:lnTo>
                <a:lnTo>
                  <a:pt x="571097" y="940429"/>
                </a:lnTo>
                <a:lnTo>
                  <a:pt x="0" y="940429"/>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5" id="5"/>
          <p:cNvSpPr/>
          <p:nvPr/>
        </p:nvSpPr>
        <p:spPr>
          <a:xfrm flipH="false" flipV="false" rot="0">
            <a:off x="11544477" y="8038624"/>
            <a:ext cx="940429" cy="940429"/>
          </a:xfrm>
          <a:custGeom>
            <a:avLst/>
            <a:gdLst/>
            <a:ahLst/>
            <a:cxnLst/>
            <a:rect r="r" b="b" t="t" l="l"/>
            <a:pathLst>
              <a:path h="940429" w="940429">
                <a:moveTo>
                  <a:pt x="0" y="0"/>
                </a:moveTo>
                <a:lnTo>
                  <a:pt x="940429" y="0"/>
                </a:lnTo>
                <a:lnTo>
                  <a:pt x="940429" y="940429"/>
                </a:lnTo>
                <a:lnTo>
                  <a:pt x="0" y="940429"/>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6" id="6"/>
          <p:cNvSpPr/>
          <p:nvPr/>
        </p:nvSpPr>
        <p:spPr>
          <a:xfrm flipH="false" flipV="false" rot="0">
            <a:off x="4495586" y="3207861"/>
            <a:ext cx="1040716" cy="940429"/>
          </a:xfrm>
          <a:custGeom>
            <a:avLst/>
            <a:gdLst/>
            <a:ahLst/>
            <a:cxnLst/>
            <a:rect r="r" b="b" t="t" l="l"/>
            <a:pathLst>
              <a:path h="940429" w="1040716">
                <a:moveTo>
                  <a:pt x="0" y="0"/>
                </a:moveTo>
                <a:lnTo>
                  <a:pt x="1040716" y="0"/>
                </a:lnTo>
                <a:lnTo>
                  <a:pt x="1040716" y="940429"/>
                </a:lnTo>
                <a:lnTo>
                  <a:pt x="0" y="940429"/>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
        <p:nvSpPr>
          <p:cNvPr name="Freeform 7" id="7"/>
          <p:cNvSpPr/>
          <p:nvPr/>
        </p:nvSpPr>
        <p:spPr>
          <a:xfrm flipH="false" flipV="false" rot="0">
            <a:off x="11554427" y="3204779"/>
            <a:ext cx="1014188" cy="940429"/>
          </a:xfrm>
          <a:custGeom>
            <a:avLst/>
            <a:gdLst/>
            <a:ahLst/>
            <a:cxnLst/>
            <a:rect r="r" b="b" t="t" l="l"/>
            <a:pathLst>
              <a:path h="940429" w="1014188">
                <a:moveTo>
                  <a:pt x="0" y="0"/>
                </a:moveTo>
                <a:lnTo>
                  <a:pt x="1014188" y="0"/>
                </a:lnTo>
                <a:lnTo>
                  <a:pt x="1014188" y="940429"/>
                </a:lnTo>
                <a:lnTo>
                  <a:pt x="0" y="940429"/>
                </a:lnTo>
                <a:lnTo>
                  <a:pt x="0" y="0"/>
                </a:lnTo>
                <a:close/>
              </a:path>
            </a:pathLst>
          </a:custGeom>
          <a:blipFill>
            <a:blip r:embed="rId12">
              <a:extLst>
                <a:ext uri="{96DAC541-7B7A-43D3-8B79-37D633B846F1}">
                  <asvg:svgBlip xmlns:asvg="http://schemas.microsoft.com/office/drawing/2016/SVG/main" r:embed="rId13"/>
                </a:ext>
              </a:extLst>
            </a:blip>
            <a:stretch>
              <a:fillRect l="0" t="0" r="0" b="0"/>
            </a:stretch>
          </a:blipFill>
        </p:spPr>
      </p:sp>
      <p:sp>
        <p:nvSpPr>
          <p:cNvPr name="Freeform 8" id="8"/>
          <p:cNvSpPr/>
          <p:nvPr/>
        </p:nvSpPr>
        <p:spPr>
          <a:xfrm flipH="false" flipV="false" rot="0">
            <a:off x="10243468" y="8038820"/>
            <a:ext cx="940429" cy="940429"/>
          </a:xfrm>
          <a:custGeom>
            <a:avLst/>
            <a:gdLst/>
            <a:ahLst/>
            <a:cxnLst/>
            <a:rect r="r" b="b" t="t" l="l"/>
            <a:pathLst>
              <a:path h="940429" w="940429">
                <a:moveTo>
                  <a:pt x="0" y="0"/>
                </a:moveTo>
                <a:lnTo>
                  <a:pt x="940429" y="0"/>
                </a:lnTo>
                <a:lnTo>
                  <a:pt x="940429" y="940428"/>
                </a:lnTo>
                <a:lnTo>
                  <a:pt x="0" y="940428"/>
                </a:lnTo>
                <a:lnTo>
                  <a:pt x="0" y="0"/>
                </a:lnTo>
                <a:close/>
              </a:path>
            </a:pathLst>
          </a:custGeom>
          <a:blipFill>
            <a:blip r:embed="rId14">
              <a:extLst>
                <a:ext uri="{96DAC541-7B7A-43D3-8B79-37D633B846F1}">
                  <asvg:svgBlip xmlns:asvg="http://schemas.microsoft.com/office/drawing/2016/SVG/main" r:embed="rId15"/>
                </a:ext>
              </a:extLst>
            </a:blip>
            <a:stretch>
              <a:fillRect l="0" t="0" r="0" b="0"/>
            </a:stretch>
          </a:blipFill>
        </p:spPr>
      </p:sp>
      <p:sp>
        <p:nvSpPr>
          <p:cNvPr name="Freeform 9" id="9"/>
          <p:cNvSpPr/>
          <p:nvPr/>
        </p:nvSpPr>
        <p:spPr>
          <a:xfrm flipH="false" flipV="false" rot="0">
            <a:off x="8861125" y="8039015"/>
            <a:ext cx="940429" cy="940429"/>
          </a:xfrm>
          <a:custGeom>
            <a:avLst/>
            <a:gdLst/>
            <a:ahLst/>
            <a:cxnLst/>
            <a:rect r="r" b="b" t="t" l="l"/>
            <a:pathLst>
              <a:path h="940429" w="940429">
                <a:moveTo>
                  <a:pt x="0" y="0"/>
                </a:moveTo>
                <a:lnTo>
                  <a:pt x="940428" y="0"/>
                </a:lnTo>
                <a:lnTo>
                  <a:pt x="940428" y="940429"/>
                </a:lnTo>
                <a:lnTo>
                  <a:pt x="0" y="940429"/>
                </a:lnTo>
                <a:lnTo>
                  <a:pt x="0" y="0"/>
                </a:lnTo>
                <a:close/>
              </a:path>
            </a:pathLst>
          </a:custGeom>
          <a:blipFill>
            <a:blip r:embed="rId16">
              <a:extLst>
                <a:ext uri="{96DAC541-7B7A-43D3-8B79-37D633B846F1}">
                  <asvg:svgBlip xmlns:asvg="http://schemas.microsoft.com/office/drawing/2016/SVG/main" r:embed="rId17"/>
                </a:ext>
              </a:extLst>
            </a:blip>
            <a:stretch>
              <a:fillRect l="0" t="0" r="0" b="0"/>
            </a:stretch>
          </a:blipFill>
        </p:spPr>
      </p:sp>
      <p:sp>
        <p:nvSpPr>
          <p:cNvPr name="Freeform 10" id="10"/>
          <p:cNvSpPr/>
          <p:nvPr/>
        </p:nvSpPr>
        <p:spPr>
          <a:xfrm flipH="false" flipV="false" rot="0">
            <a:off x="7399289" y="8039211"/>
            <a:ext cx="940429" cy="940429"/>
          </a:xfrm>
          <a:custGeom>
            <a:avLst/>
            <a:gdLst/>
            <a:ahLst/>
            <a:cxnLst/>
            <a:rect r="r" b="b" t="t" l="l"/>
            <a:pathLst>
              <a:path h="940429" w="940429">
                <a:moveTo>
                  <a:pt x="0" y="0"/>
                </a:moveTo>
                <a:lnTo>
                  <a:pt x="940428" y="0"/>
                </a:lnTo>
                <a:lnTo>
                  <a:pt x="940428" y="940429"/>
                </a:lnTo>
                <a:lnTo>
                  <a:pt x="0" y="940429"/>
                </a:lnTo>
                <a:lnTo>
                  <a:pt x="0" y="0"/>
                </a:lnTo>
                <a:close/>
              </a:path>
            </a:pathLst>
          </a:custGeom>
          <a:blipFill>
            <a:blip r:embed="rId18">
              <a:extLst>
                <a:ext uri="{96DAC541-7B7A-43D3-8B79-37D633B846F1}">
                  <asvg:svgBlip xmlns:asvg="http://schemas.microsoft.com/office/drawing/2016/SVG/main" r:embed="rId19"/>
                </a:ext>
              </a:extLst>
            </a:blip>
            <a:stretch>
              <a:fillRect l="0" t="0" r="0" b="0"/>
            </a:stretch>
          </a:blipFill>
        </p:spPr>
      </p:sp>
      <p:sp>
        <p:nvSpPr>
          <p:cNvPr name="Freeform 11" id="11"/>
          <p:cNvSpPr/>
          <p:nvPr/>
        </p:nvSpPr>
        <p:spPr>
          <a:xfrm flipH="false" flipV="false" rot="0">
            <a:off x="6016783" y="8039407"/>
            <a:ext cx="940429" cy="940429"/>
          </a:xfrm>
          <a:custGeom>
            <a:avLst/>
            <a:gdLst/>
            <a:ahLst/>
            <a:cxnLst/>
            <a:rect r="r" b="b" t="t" l="l"/>
            <a:pathLst>
              <a:path h="940429" w="940429">
                <a:moveTo>
                  <a:pt x="0" y="0"/>
                </a:moveTo>
                <a:lnTo>
                  <a:pt x="940429" y="0"/>
                </a:lnTo>
                <a:lnTo>
                  <a:pt x="940429" y="940429"/>
                </a:lnTo>
                <a:lnTo>
                  <a:pt x="0" y="940429"/>
                </a:lnTo>
                <a:lnTo>
                  <a:pt x="0" y="0"/>
                </a:lnTo>
                <a:close/>
              </a:path>
            </a:pathLst>
          </a:custGeom>
          <a:blipFill>
            <a:blip r:embed="rId20">
              <a:extLst>
                <a:ext uri="{96DAC541-7B7A-43D3-8B79-37D633B846F1}">
                  <asvg:svgBlip xmlns:asvg="http://schemas.microsoft.com/office/drawing/2016/SVG/main" r:embed="rId21"/>
                </a:ext>
              </a:extLst>
            </a:blip>
            <a:stretch>
              <a:fillRect l="0" t="0" r="0" b="0"/>
            </a:stretch>
          </a:blipFill>
        </p:spPr>
      </p:sp>
      <p:sp>
        <p:nvSpPr>
          <p:cNvPr name="Freeform 12" id="12"/>
          <p:cNvSpPr/>
          <p:nvPr/>
        </p:nvSpPr>
        <p:spPr>
          <a:xfrm flipH="false" flipV="false" rot="0">
            <a:off x="7377211" y="3217106"/>
            <a:ext cx="571097" cy="940429"/>
          </a:xfrm>
          <a:custGeom>
            <a:avLst/>
            <a:gdLst/>
            <a:ahLst/>
            <a:cxnLst/>
            <a:rect r="r" b="b" t="t" l="l"/>
            <a:pathLst>
              <a:path h="940429" w="571097">
                <a:moveTo>
                  <a:pt x="0" y="0"/>
                </a:moveTo>
                <a:lnTo>
                  <a:pt x="571096" y="0"/>
                </a:lnTo>
                <a:lnTo>
                  <a:pt x="571096" y="940429"/>
                </a:lnTo>
                <a:lnTo>
                  <a:pt x="0" y="940429"/>
                </a:lnTo>
                <a:lnTo>
                  <a:pt x="0" y="0"/>
                </a:lnTo>
                <a:close/>
              </a:path>
            </a:pathLst>
          </a:custGeom>
          <a:blipFill>
            <a:blip r:embed="rId22">
              <a:extLst>
                <a:ext uri="{96DAC541-7B7A-43D3-8B79-37D633B846F1}">
                  <asvg:svgBlip xmlns:asvg="http://schemas.microsoft.com/office/drawing/2016/SVG/main" r:embed="rId23"/>
                </a:ext>
              </a:extLst>
            </a:blip>
            <a:stretch>
              <a:fillRect l="0" t="0" r="0" b="0"/>
            </a:stretch>
          </a:blipFill>
        </p:spPr>
      </p:sp>
      <p:sp>
        <p:nvSpPr>
          <p:cNvPr name="Freeform 13" id="13"/>
          <p:cNvSpPr/>
          <p:nvPr/>
        </p:nvSpPr>
        <p:spPr>
          <a:xfrm flipH="false" flipV="false" rot="0">
            <a:off x="4526921" y="8039603"/>
            <a:ext cx="940429" cy="940429"/>
          </a:xfrm>
          <a:custGeom>
            <a:avLst/>
            <a:gdLst/>
            <a:ahLst/>
            <a:cxnLst/>
            <a:rect r="r" b="b" t="t" l="l"/>
            <a:pathLst>
              <a:path h="940429" w="940429">
                <a:moveTo>
                  <a:pt x="0" y="0"/>
                </a:moveTo>
                <a:lnTo>
                  <a:pt x="940429" y="0"/>
                </a:lnTo>
                <a:lnTo>
                  <a:pt x="940429" y="940429"/>
                </a:lnTo>
                <a:lnTo>
                  <a:pt x="0" y="940429"/>
                </a:lnTo>
                <a:lnTo>
                  <a:pt x="0" y="0"/>
                </a:lnTo>
                <a:close/>
              </a:path>
            </a:pathLst>
          </a:custGeom>
          <a:blipFill>
            <a:blip r:embed="rId24">
              <a:extLst>
                <a:ext uri="{96DAC541-7B7A-43D3-8B79-37D633B846F1}">
                  <asvg:svgBlip xmlns:asvg="http://schemas.microsoft.com/office/drawing/2016/SVG/main" r:embed="rId25"/>
                </a:ext>
              </a:extLst>
            </a:blip>
            <a:stretch>
              <a:fillRect l="0" t="0" r="0" b="0"/>
            </a:stretch>
          </a:blipFill>
        </p:spPr>
      </p:sp>
      <p:sp>
        <p:nvSpPr>
          <p:cNvPr name="Freeform 14" id="14"/>
          <p:cNvSpPr/>
          <p:nvPr/>
        </p:nvSpPr>
        <p:spPr>
          <a:xfrm flipH="false" flipV="false" rot="0">
            <a:off x="12851985" y="6847892"/>
            <a:ext cx="940429" cy="940429"/>
          </a:xfrm>
          <a:custGeom>
            <a:avLst/>
            <a:gdLst/>
            <a:ahLst/>
            <a:cxnLst/>
            <a:rect r="r" b="b" t="t" l="l"/>
            <a:pathLst>
              <a:path h="940429" w="940429">
                <a:moveTo>
                  <a:pt x="0" y="0"/>
                </a:moveTo>
                <a:lnTo>
                  <a:pt x="940429" y="0"/>
                </a:lnTo>
                <a:lnTo>
                  <a:pt x="940429" y="940429"/>
                </a:lnTo>
                <a:lnTo>
                  <a:pt x="0" y="940429"/>
                </a:lnTo>
                <a:lnTo>
                  <a:pt x="0" y="0"/>
                </a:lnTo>
                <a:close/>
              </a:path>
            </a:pathLst>
          </a:custGeom>
          <a:blipFill>
            <a:blip r:embed="rId26">
              <a:extLst>
                <a:ext uri="{96DAC541-7B7A-43D3-8B79-37D633B846F1}">
                  <asvg:svgBlip xmlns:asvg="http://schemas.microsoft.com/office/drawing/2016/SVG/main" r:embed="rId27"/>
                </a:ext>
              </a:extLst>
            </a:blip>
            <a:stretch>
              <a:fillRect l="0" t="0" r="0" b="0"/>
            </a:stretch>
          </a:blipFill>
        </p:spPr>
      </p:sp>
      <p:sp>
        <p:nvSpPr>
          <p:cNvPr name="Freeform 15" id="15"/>
          <p:cNvSpPr/>
          <p:nvPr/>
        </p:nvSpPr>
        <p:spPr>
          <a:xfrm flipH="false" flipV="false" rot="0">
            <a:off x="11544477" y="6848088"/>
            <a:ext cx="940429" cy="940429"/>
          </a:xfrm>
          <a:custGeom>
            <a:avLst/>
            <a:gdLst/>
            <a:ahLst/>
            <a:cxnLst/>
            <a:rect r="r" b="b" t="t" l="l"/>
            <a:pathLst>
              <a:path h="940429" w="940429">
                <a:moveTo>
                  <a:pt x="0" y="0"/>
                </a:moveTo>
                <a:lnTo>
                  <a:pt x="940429" y="0"/>
                </a:lnTo>
                <a:lnTo>
                  <a:pt x="940429" y="940429"/>
                </a:lnTo>
                <a:lnTo>
                  <a:pt x="0" y="940429"/>
                </a:lnTo>
                <a:lnTo>
                  <a:pt x="0" y="0"/>
                </a:lnTo>
                <a:close/>
              </a:path>
            </a:pathLst>
          </a:custGeom>
          <a:blipFill>
            <a:blip r:embed="rId28">
              <a:extLst>
                <a:ext uri="{96DAC541-7B7A-43D3-8B79-37D633B846F1}">
                  <asvg:svgBlip xmlns:asvg="http://schemas.microsoft.com/office/drawing/2016/SVG/main" r:embed="rId29"/>
                </a:ext>
              </a:extLst>
            </a:blip>
            <a:stretch>
              <a:fillRect l="0" t="0" r="0" b="0"/>
            </a:stretch>
          </a:blipFill>
        </p:spPr>
      </p:sp>
      <p:sp>
        <p:nvSpPr>
          <p:cNvPr name="Freeform 16" id="16"/>
          <p:cNvSpPr/>
          <p:nvPr/>
        </p:nvSpPr>
        <p:spPr>
          <a:xfrm flipH="false" flipV="false" rot="0">
            <a:off x="8339717" y="3204779"/>
            <a:ext cx="1042814" cy="940429"/>
          </a:xfrm>
          <a:custGeom>
            <a:avLst/>
            <a:gdLst/>
            <a:ahLst/>
            <a:cxnLst/>
            <a:rect r="r" b="b" t="t" l="l"/>
            <a:pathLst>
              <a:path h="940429" w="1042814">
                <a:moveTo>
                  <a:pt x="0" y="0"/>
                </a:moveTo>
                <a:lnTo>
                  <a:pt x="1042815" y="0"/>
                </a:lnTo>
                <a:lnTo>
                  <a:pt x="1042815" y="940429"/>
                </a:lnTo>
                <a:lnTo>
                  <a:pt x="0" y="940429"/>
                </a:lnTo>
                <a:lnTo>
                  <a:pt x="0" y="0"/>
                </a:lnTo>
                <a:close/>
              </a:path>
            </a:pathLst>
          </a:custGeom>
          <a:blipFill>
            <a:blip r:embed="rId30">
              <a:extLst>
                <a:ext uri="{96DAC541-7B7A-43D3-8B79-37D633B846F1}">
                  <asvg:svgBlip xmlns:asvg="http://schemas.microsoft.com/office/drawing/2016/SVG/main" r:embed="rId31"/>
                </a:ext>
              </a:extLst>
            </a:blip>
            <a:stretch>
              <a:fillRect l="0" t="0" r="0" b="0"/>
            </a:stretch>
          </a:blipFill>
        </p:spPr>
      </p:sp>
      <p:sp>
        <p:nvSpPr>
          <p:cNvPr name="Freeform 17" id="17"/>
          <p:cNvSpPr/>
          <p:nvPr/>
        </p:nvSpPr>
        <p:spPr>
          <a:xfrm flipH="false" flipV="false" rot="0">
            <a:off x="10035873" y="6848284"/>
            <a:ext cx="940429" cy="940429"/>
          </a:xfrm>
          <a:custGeom>
            <a:avLst/>
            <a:gdLst/>
            <a:ahLst/>
            <a:cxnLst/>
            <a:rect r="r" b="b" t="t" l="l"/>
            <a:pathLst>
              <a:path h="940429" w="940429">
                <a:moveTo>
                  <a:pt x="0" y="0"/>
                </a:moveTo>
                <a:lnTo>
                  <a:pt x="940429" y="0"/>
                </a:lnTo>
                <a:lnTo>
                  <a:pt x="940429" y="940428"/>
                </a:lnTo>
                <a:lnTo>
                  <a:pt x="0" y="940428"/>
                </a:lnTo>
                <a:lnTo>
                  <a:pt x="0" y="0"/>
                </a:lnTo>
                <a:close/>
              </a:path>
            </a:pathLst>
          </a:custGeom>
          <a:blipFill>
            <a:blip r:embed="rId32">
              <a:extLst>
                <a:ext uri="{96DAC541-7B7A-43D3-8B79-37D633B846F1}">
                  <asvg:svgBlip xmlns:asvg="http://schemas.microsoft.com/office/drawing/2016/SVG/main" r:embed="rId33"/>
                </a:ext>
              </a:extLst>
            </a:blip>
            <a:stretch>
              <a:fillRect l="0" t="0" r="0" b="0"/>
            </a:stretch>
          </a:blipFill>
        </p:spPr>
      </p:sp>
      <p:sp>
        <p:nvSpPr>
          <p:cNvPr name="Freeform 18" id="18"/>
          <p:cNvSpPr/>
          <p:nvPr/>
        </p:nvSpPr>
        <p:spPr>
          <a:xfrm flipH="false" flipV="false" rot="0">
            <a:off x="8842886" y="6852835"/>
            <a:ext cx="933332" cy="933332"/>
          </a:xfrm>
          <a:custGeom>
            <a:avLst/>
            <a:gdLst/>
            <a:ahLst/>
            <a:cxnLst/>
            <a:rect r="r" b="b" t="t" l="l"/>
            <a:pathLst>
              <a:path h="933332" w="933332">
                <a:moveTo>
                  <a:pt x="0" y="0"/>
                </a:moveTo>
                <a:lnTo>
                  <a:pt x="933332" y="0"/>
                </a:lnTo>
                <a:lnTo>
                  <a:pt x="933332" y="933332"/>
                </a:lnTo>
                <a:lnTo>
                  <a:pt x="0" y="933332"/>
                </a:lnTo>
                <a:lnTo>
                  <a:pt x="0" y="0"/>
                </a:lnTo>
                <a:close/>
              </a:path>
            </a:pathLst>
          </a:custGeom>
          <a:blipFill>
            <a:blip r:embed="rId34">
              <a:extLst>
                <a:ext uri="{96DAC541-7B7A-43D3-8B79-37D633B846F1}">
                  <asvg:svgBlip xmlns:asvg="http://schemas.microsoft.com/office/drawing/2016/SVG/main" r:embed="rId35"/>
                </a:ext>
              </a:extLst>
            </a:blip>
            <a:stretch>
              <a:fillRect l="0" t="0" r="0" b="0"/>
            </a:stretch>
          </a:blipFill>
        </p:spPr>
      </p:sp>
      <p:sp>
        <p:nvSpPr>
          <p:cNvPr name="Freeform 19" id="19"/>
          <p:cNvSpPr/>
          <p:nvPr/>
        </p:nvSpPr>
        <p:spPr>
          <a:xfrm flipH="false" flipV="false" rot="0">
            <a:off x="7399289" y="6848479"/>
            <a:ext cx="940429" cy="940429"/>
          </a:xfrm>
          <a:custGeom>
            <a:avLst/>
            <a:gdLst/>
            <a:ahLst/>
            <a:cxnLst/>
            <a:rect r="r" b="b" t="t" l="l"/>
            <a:pathLst>
              <a:path h="940429" w="940429">
                <a:moveTo>
                  <a:pt x="0" y="0"/>
                </a:moveTo>
                <a:lnTo>
                  <a:pt x="940428" y="0"/>
                </a:lnTo>
                <a:lnTo>
                  <a:pt x="940428" y="940429"/>
                </a:lnTo>
                <a:lnTo>
                  <a:pt x="0" y="940429"/>
                </a:lnTo>
                <a:lnTo>
                  <a:pt x="0" y="0"/>
                </a:lnTo>
                <a:close/>
              </a:path>
            </a:pathLst>
          </a:custGeom>
          <a:blipFill>
            <a:blip r:embed="rId36">
              <a:extLst>
                <a:ext uri="{96DAC541-7B7A-43D3-8B79-37D633B846F1}">
                  <asvg:svgBlip xmlns:asvg="http://schemas.microsoft.com/office/drawing/2016/SVG/main" r:embed="rId37"/>
                </a:ext>
              </a:extLst>
            </a:blip>
            <a:stretch>
              <a:fillRect l="0" t="0" r="0" b="0"/>
            </a:stretch>
          </a:blipFill>
        </p:spPr>
      </p:sp>
      <p:sp>
        <p:nvSpPr>
          <p:cNvPr name="Freeform 20" id="20"/>
          <p:cNvSpPr/>
          <p:nvPr/>
        </p:nvSpPr>
        <p:spPr>
          <a:xfrm flipH="false" flipV="false" rot="0">
            <a:off x="6084589" y="6851220"/>
            <a:ext cx="747213" cy="940429"/>
          </a:xfrm>
          <a:custGeom>
            <a:avLst/>
            <a:gdLst/>
            <a:ahLst/>
            <a:cxnLst/>
            <a:rect r="r" b="b" t="t" l="l"/>
            <a:pathLst>
              <a:path h="940429" w="747213">
                <a:moveTo>
                  <a:pt x="0" y="0"/>
                </a:moveTo>
                <a:lnTo>
                  <a:pt x="747214" y="0"/>
                </a:lnTo>
                <a:lnTo>
                  <a:pt x="747214" y="940429"/>
                </a:lnTo>
                <a:lnTo>
                  <a:pt x="0" y="940429"/>
                </a:lnTo>
                <a:lnTo>
                  <a:pt x="0" y="0"/>
                </a:lnTo>
                <a:close/>
              </a:path>
            </a:pathLst>
          </a:custGeom>
          <a:blipFill>
            <a:blip r:embed="rId38">
              <a:extLst>
                <a:ext uri="{96DAC541-7B7A-43D3-8B79-37D633B846F1}">
                  <asvg:svgBlip xmlns:asvg="http://schemas.microsoft.com/office/drawing/2016/SVG/main" r:embed="rId39"/>
                </a:ext>
              </a:extLst>
            </a:blip>
            <a:stretch>
              <a:fillRect l="0" t="0" r="0" b="0"/>
            </a:stretch>
          </a:blipFill>
        </p:spPr>
      </p:sp>
      <p:sp>
        <p:nvSpPr>
          <p:cNvPr name="Freeform 21" id="21"/>
          <p:cNvSpPr/>
          <p:nvPr/>
        </p:nvSpPr>
        <p:spPr>
          <a:xfrm flipH="false" flipV="false" rot="0">
            <a:off x="4495586" y="6848675"/>
            <a:ext cx="940429" cy="940429"/>
          </a:xfrm>
          <a:custGeom>
            <a:avLst/>
            <a:gdLst/>
            <a:ahLst/>
            <a:cxnLst/>
            <a:rect r="r" b="b" t="t" l="l"/>
            <a:pathLst>
              <a:path h="940429" w="940429">
                <a:moveTo>
                  <a:pt x="0" y="0"/>
                </a:moveTo>
                <a:lnTo>
                  <a:pt x="940429" y="0"/>
                </a:lnTo>
                <a:lnTo>
                  <a:pt x="940429" y="940429"/>
                </a:lnTo>
                <a:lnTo>
                  <a:pt x="0" y="940429"/>
                </a:lnTo>
                <a:lnTo>
                  <a:pt x="0" y="0"/>
                </a:lnTo>
                <a:close/>
              </a:path>
            </a:pathLst>
          </a:custGeom>
          <a:blipFill>
            <a:blip r:embed="rId40">
              <a:extLst>
                <a:ext uri="{96DAC541-7B7A-43D3-8B79-37D633B846F1}">
                  <asvg:svgBlip xmlns:asvg="http://schemas.microsoft.com/office/drawing/2016/SVG/main" r:embed="rId41"/>
                </a:ext>
              </a:extLst>
            </a:blip>
            <a:stretch>
              <a:fillRect l="0" t="0" r="0" b="0"/>
            </a:stretch>
          </a:blipFill>
        </p:spPr>
      </p:sp>
      <p:sp>
        <p:nvSpPr>
          <p:cNvPr name="Freeform 22" id="22"/>
          <p:cNvSpPr/>
          <p:nvPr/>
        </p:nvSpPr>
        <p:spPr>
          <a:xfrm flipH="false" flipV="false" rot="0">
            <a:off x="12851985" y="5658472"/>
            <a:ext cx="940429" cy="940429"/>
          </a:xfrm>
          <a:custGeom>
            <a:avLst/>
            <a:gdLst/>
            <a:ahLst/>
            <a:cxnLst/>
            <a:rect r="r" b="b" t="t" l="l"/>
            <a:pathLst>
              <a:path h="940429" w="940429">
                <a:moveTo>
                  <a:pt x="0" y="0"/>
                </a:moveTo>
                <a:lnTo>
                  <a:pt x="940429" y="0"/>
                </a:lnTo>
                <a:lnTo>
                  <a:pt x="940429" y="940429"/>
                </a:lnTo>
                <a:lnTo>
                  <a:pt x="0" y="940429"/>
                </a:lnTo>
                <a:lnTo>
                  <a:pt x="0" y="0"/>
                </a:lnTo>
                <a:close/>
              </a:path>
            </a:pathLst>
          </a:custGeom>
          <a:blipFill>
            <a:blip r:embed="rId42">
              <a:extLst>
                <a:ext uri="{96DAC541-7B7A-43D3-8B79-37D633B846F1}">
                  <asvg:svgBlip xmlns:asvg="http://schemas.microsoft.com/office/drawing/2016/SVG/main" r:embed="rId43"/>
                </a:ext>
              </a:extLst>
            </a:blip>
            <a:stretch>
              <a:fillRect l="0" t="0" r="0" b="0"/>
            </a:stretch>
          </a:blipFill>
        </p:spPr>
      </p:sp>
      <p:sp>
        <p:nvSpPr>
          <p:cNvPr name="Freeform 23" id="23"/>
          <p:cNvSpPr/>
          <p:nvPr/>
        </p:nvSpPr>
        <p:spPr>
          <a:xfrm flipH="false" flipV="false" rot="0">
            <a:off x="11392964" y="5658668"/>
            <a:ext cx="940429" cy="940429"/>
          </a:xfrm>
          <a:custGeom>
            <a:avLst/>
            <a:gdLst/>
            <a:ahLst/>
            <a:cxnLst/>
            <a:rect r="r" b="b" t="t" l="l"/>
            <a:pathLst>
              <a:path h="940429" w="940429">
                <a:moveTo>
                  <a:pt x="0" y="0"/>
                </a:moveTo>
                <a:lnTo>
                  <a:pt x="940429" y="0"/>
                </a:lnTo>
                <a:lnTo>
                  <a:pt x="940429" y="940429"/>
                </a:lnTo>
                <a:lnTo>
                  <a:pt x="0" y="940429"/>
                </a:lnTo>
                <a:lnTo>
                  <a:pt x="0" y="0"/>
                </a:lnTo>
                <a:close/>
              </a:path>
            </a:pathLst>
          </a:custGeom>
          <a:blipFill>
            <a:blip r:embed="rId44">
              <a:extLst>
                <a:ext uri="{96DAC541-7B7A-43D3-8B79-37D633B846F1}">
                  <asvg:svgBlip xmlns:asvg="http://schemas.microsoft.com/office/drawing/2016/SVG/main" r:embed="rId45"/>
                </a:ext>
              </a:extLst>
            </a:blip>
            <a:stretch>
              <a:fillRect l="0" t="0" r="0" b="0"/>
            </a:stretch>
          </a:blipFill>
        </p:spPr>
      </p:sp>
      <p:sp>
        <p:nvSpPr>
          <p:cNvPr name="Freeform 24" id="24"/>
          <p:cNvSpPr/>
          <p:nvPr/>
        </p:nvSpPr>
        <p:spPr>
          <a:xfrm flipH="false" flipV="false" rot="0">
            <a:off x="10035873" y="5658864"/>
            <a:ext cx="940429" cy="940429"/>
          </a:xfrm>
          <a:custGeom>
            <a:avLst/>
            <a:gdLst/>
            <a:ahLst/>
            <a:cxnLst/>
            <a:rect r="r" b="b" t="t" l="l"/>
            <a:pathLst>
              <a:path h="940429" w="940429">
                <a:moveTo>
                  <a:pt x="0" y="0"/>
                </a:moveTo>
                <a:lnTo>
                  <a:pt x="940429" y="0"/>
                </a:lnTo>
                <a:lnTo>
                  <a:pt x="940429" y="940429"/>
                </a:lnTo>
                <a:lnTo>
                  <a:pt x="0" y="940429"/>
                </a:lnTo>
                <a:lnTo>
                  <a:pt x="0" y="0"/>
                </a:lnTo>
                <a:close/>
              </a:path>
            </a:pathLst>
          </a:custGeom>
          <a:blipFill>
            <a:blip r:embed="rId46">
              <a:extLst>
                <a:ext uri="{96DAC541-7B7A-43D3-8B79-37D633B846F1}">
                  <asvg:svgBlip xmlns:asvg="http://schemas.microsoft.com/office/drawing/2016/SVG/main" r:embed="rId47"/>
                </a:ext>
              </a:extLst>
            </a:blip>
            <a:stretch>
              <a:fillRect l="0" t="0" r="0" b="0"/>
            </a:stretch>
          </a:blipFill>
        </p:spPr>
      </p:sp>
      <p:sp>
        <p:nvSpPr>
          <p:cNvPr name="Freeform 25" id="25"/>
          <p:cNvSpPr/>
          <p:nvPr/>
        </p:nvSpPr>
        <p:spPr>
          <a:xfrm flipH="false" flipV="false" rot="0">
            <a:off x="8676958" y="5659060"/>
            <a:ext cx="940429" cy="940429"/>
          </a:xfrm>
          <a:custGeom>
            <a:avLst/>
            <a:gdLst/>
            <a:ahLst/>
            <a:cxnLst/>
            <a:rect r="r" b="b" t="t" l="l"/>
            <a:pathLst>
              <a:path h="940429" w="940429">
                <a:moveTo>
                  <a:pt x="0" y="0"/>
                </a:moveTo>
                <a:lnTo>
                  <a:pt x="940429" y="0"/>
                </a:lnTo>
                <a:lnTo>
                  <a:pt x="940429" y="940428"/>
                </a:lnTo>
                <a:lnTo>
                  <a:pt x="0" y="940428"/>
                </a:lnTo>
                <a:lnTo>
                  <a:pt x="0" y="0"/>
                </a:lnTo>
                <a:close/>
              </a:path>
            </a:pathLst>
          </a:custGeom>
          <a:blipFill>
            <a:blip r:embed="rId48">
              <a:extLst>
                <a:ext uri="{96DAC541-7B7A-43D3-8B79-37D633B846F1}">
                  <asvg:svgBlip xmlns:asvg="http://schemas.microsoft.com/office/drawing/2016/SVG/main" r:embed="rId49"/>
                </a:ext>
              </a:extLst>
            </a:blip>
            <a:stretch>
              <a:fillRect l="0" t="0" r="0" b="0"/>
            </a:stretch>
          </a:blipFill>
        </p:spPr>
      </p:sp>
      <p:sp>
        <p:nvSpPr>
          <p:cNvPr name="Freeform 26" id="26"/>
          <p:cNvSpPr/>
          <p:nvPr/>
        </p:nvSpPr>
        <p:spPr>
          <a:xfrm flipH="false" flipV="false" rot="0">
            <a:off x="7343991" y="5661017"/>
            <a:ext cx="973648" cy="973648"/>
          </a:xfrm>
          <a:custGeom>
            <a:avLst/>
            <a:gdLst/>
            <a:ahLst/>
            <a:cxnLst/>
            <a:rect r="r" b="b" t="t" l="l"/>
            <a:pathLst>
              <a:path h="973648" w="973648">
                <a:moveTo>
                  <a:pt x="0" y="0"/>
                </a:moveTo>
                <a:lnTo>
                  <a:pt x="973649" y="0"/>
                </a:lnTo>
                <a:lnTo>
                  <a:pt x="973649" y="973649"/>
                </a:lnTo>
                <a:lnTo>
                  <a:pt x="0" y="973649"/>
                </a:lnTo>
                <a:lnTo>
                  <a:pt x="0" y="0"/>
                </a:lnTo>
                <a:close/>
              </a:path>
            </a:pathLst>
          </a:custGeom>
          <a:blipFill>
            <a:blip r:embed="rId50">
              <a:extLst>
                <a:ext uri="{96DAC541-7B7A-43D3-8B79-37D633B846F1}">
                  <asvg:svgBlip xmlns:asvg="http://schemas.microsoft.com/office/drawing/2016/SVG/main" r:embed="rId51"/>
                </a:ext>
              </a:extLst>
            </a:blip>
            <a:stretch>
              <a:fillRect l="0" t="0" r="0" b="0"/>
            </a:stretch>
          </a:blipFill>
        </p:spPr>
      </p:sp>
      <p:sp>
        <p:nvSpPr>
          <p:cNvPr name="Freeform 27" id="27"/>
          <p:cNvSpPr/>
          <p:nvPr/>
        </p:nvSpPr>
        <p:spPr>
          <a:xfrm flipH="false" flipV="false" rot="0">
            <a:off x="6086469" y="5694433"/>
            <a:ext cx="921936" cy="1010089"/>
          </a:xfrm>
          <a:custGeom>
            <a:avLst/>
            <a:gdLst/>
            <a:ahLst/>
            <a:cxnLst/>
            <a:rect r="r" b="b" t="t" l="l"/>
            <a:pathLst>
              <a:path h="1010089" w="921936">
                <a:moveTo>
                  <a:pt x="0" y="0"/>
                </a:moveTo>
                <a:lnTo>
                  <a:pt x="921936" y="0"/>
                </a:lnTo>
                <a:lnTo>
                  <a:pt x="921936" y="1010088"/>
                </a:lnTo>
                <a:lnTo>
                  <a:pt x="0" y="1010088"/>
                </a:lnTo>
                <a:lnTo>
                  <a:pt x="0" y="0"/>
                </a:lnTo>
                <a:close/>
              </a:path>
            </a:pathLst>
          </a:custGeom>
          <a:blipFill>
            <a:blip r:embed="rId52">
              <a:extLst>
                <a:ext uri="{96DAC541-7B7A-43D3-8B79-37D633B846F1}">
                  <asvg:svgBlip xmlns:asvg="http://schemas.microsoft.com/office/drawing/2016/SVG/main" r:embed="rId53"/>
                </a:ext>
              </a:extLst>
            </a:blip>
            <a:stretch>
              <a:fillRect l="0" t="0" r="0" b="0"/>
            </a:stretch>
          </a:blipFill>
        </p:spPr>
      </p:sp>
      <p:sp>
        <p:nvSpPr>
          <p:cNvPr name="Freeform 28" id="28"/>
          <p:cNvSpPr/>
          <p:nvPr/>
        </p:nvSpPr>
        <p:spPr>
          <a:xfrm flipH="false" flipV="false" rot="0">
            <a:off x="4564538" y="5660039"/>
            <a:ext cx="902812" cy="940429"/>
          </a:xfrm>
          <a:custGeom>
            <a:avLst/>
            <a:gdLst/>
            <a:ahLst/>
            <a:cxnLst/>
            <a:rect r="r" b="b" t="t" l="l"/>
            <a:pathLst>
              <a:path h="940429" w="902812">
                <a:moveTo>
                  <a:pt x="0" y="0"/>
                </a:moveTo>
                <a:lnTo>
                  <a:pt x="902812" y="0"/>
                </a:lnTo>
                <a:lnTo>
                  <a:pt x="902812" y="940428"/>
                </a:lnTo>
                <a:lnTo>
                  <a:pt x="0" y="940428"/>
                </a:lnTo>
                <a:lnTo>
                  <a:pt x="0" y="0"/>
                </a:lnTo>
                <a:close/>
              </a:path>
            </a:pathLst>
          </a:custGeom>
          <a:blipFill>
            <a:blip r:embed="rId54">
              <a:extLst>
                <a:ext uri="{96DAC541-7B7A-43D3-8B79-37D633B846F1}">
                  <asvg:svgBlip xmlns:asvg="http://schemas.microsoft.com/office/drawing/2016/SVG/main" r:embed="rId55"/>
                </a:ext>
              </a:extLst>
            </a:blip>
            <a:stretch>
              <a:fillRect l="0" t="0" r="0" b="0"/>
            </a:stretch>
          </a:blipFill>
        </p:spPr>
      </p:sp>
      <p:sp>
        <p:nvSpPr>
          <p:cNvPr name="Freeform 29" id="29"/>
          <p:cNvSpPr/>
          <p:nvPr/>
        </p:nvSpPr>
        <p:spPr>
          <a:xfrm flipH="false" flipV="false" rot="0">
            <a:off x="12812527" y="4388586"/>
            <a:ext cx="945587" cy="940429"/>
          </a:xfrm>
          <a:custGeom>
            <a:avLst/>
            <a:gdLst/>
            <a:ahLst/>
            <a:cxnLst/>
            <a:rect r="r" b="b" t="t" l="l"/>
            <a:pathLst>
              <a:path h="940429" w="945587">
                <a:moveTo>
                  <a:pt x="0" y="0"/>
                </a:moveTo>
                <a:lnTo>
                  <a:pt x="945586" y="0"/>
                </a:lnTo>
                <a:lnTo>
                  <a:pt x="945586" y="940429"/>
                </a:lnTo>
                <a:lnTo>
                  <a:pt x="0" y="940429"/>
                </a:lnTo>
                <a:lnTo>
                  <a:pt x="0" y="0"/>
                </a:lnTo>
                <a:close/>
              </a:path>
            </a:pathLst>
          </a:custGeom>
          <a:blipFill>
            <a:blip r:embed="rId56">
              <a:extLst>
                <a:ext uri="{96DAC541-7B7A-43D3-8B79-37D633B846F1}">
                  <asvg:svgBlip xmlns:asvg="http://schemas.microsoft.com/office/drawing/2016/SVG/main" r:embed="rId57"/>
                </a:ext>
              </a:extLst>
            </a:blip>
            <a:stretch>
              <a:fillRect l="0" t="0" r="0" b="0"/>
            </a:stretch>
          </a:blipFill>
        </p:spPr>
      </p:sp>
      <p:sp>
        <p:nvSpPr>
          <p:cNvPr name="Freeform 30" id="30"/>
          <p:cNvSpPr/>
          <p:nvPr/>
        </p:nvSpPr>
        <p:spPr>
          <a:xfrm flipH="false" flipV="false" rot="0">
            <a:off x="11275651" y="4361680"/>
            <a:ext cx="973648" cy="973648"/>
          </a:xfrm>
          <a:custGeom>
            <a:avLst/>
            <a:gdLst/>
            <a:ahLst/>
            <a:cxnLst/>
            <a:rect r="r" b="b" t="t" l="l"/>
            <a:pathLst>
              <a:path h="973648" w="973648">
                <a:moveTo>
                  <a:pt x="0" y="0"/>
                </a:moveTo>
                <a:lnTo>
                  <a:pt x="973648" y="0"/>
                </a:lnTo>
                <a:lnTo>
                  <a:pt x="973648" y="973649"/>
                </a:lnTo>
                <a:lnTo>
                  <a:pt x="0" y="973649"/>
                </a:lnTo>
                <a:lnTo>
                  <a:pt x="0" y="0"/>
                </a:lnTo>
                <a:close/>
              </a:path>
            </a:pathLst>
          </a:custGeom>
          <a:blipFill>
            <a:blip r:embed="rId58">
              <a:extLst>
                <a:ext uri="{96DAC541-7B7A-43D3-8B79-37D633B846F1}">
                  <asvg:svgBlip xmlns:asvg="http://schemas.microsoft.com/office/drawing/2016/SVG/main" r:embed="rId59"/>
                </a:ext>
              </a:extLst>
            </a:blip>
            <a:stretch>
              <a:fillRect l="0" t="0" r="0" b="0"/>
            </a:stretch>
          </a:blipFill>
        </p:spPr>
      </p:sp>
      <p:sp>
        <p:nvSpPr>
          <p:cNvPr name="Freeform 31" id="31"/>
          <p:cNvSpPr/>
          <p:nvPr/>
        </p:nvSpPr>
        <p:spPr>
          <a:xfrm flipH="false" flipV="false" rot="0">
            <a:off x="10035873" y="4391915"/>
            <a:ext cx="940429" cy="940429"/>
          </a:xfrm>
          <a:custGeom>
            <a:avLst/>
            <a:gdLst/>
            <a:ahLst/>
            <a:cxnLst/>
            <a:rect r="r" b="b" t="t" l="l"/>
            <a:pathLst>
              <a:path h="940429" w="940429">
                <a:moveTo>
                  <a:pt x="0" y="0"/>
                </a:moveTo>
                <a:lnTo>
                  <a:pt x="940429" y="0"/>
                </a:lnTo>
                <a:lnTo>
                  <a:pt x="940429" y="940429"/>
                </a:lnTo>
                <a:lnTo>
                  <a:pt x="0" y="940429"/>
                </a:lnTo>
                <a:lnTo>
                  <a:pt x="0" y="0"/>
                </a:lnTo>
                <a:close/>
              </a:path>
            </a:pathLst>
          </a:custGeom>
          <a:blipFill>
            <a:blip r:embed="rId60">
              <a:extLst>
                <a:ext uri="{96DAC541-7B7A-43D3-8B79-37D633B846F1}">
                  <asvg:svgBlip xmlns:asvg="http://schemas.microsoft.com/office/drawing/2016/SVG/main" r:embed="rId61"/>
                </a:ext>
              </a:extLst>
            </a:blip>
            <a:stretch>
              <a:fillRect l="0" t="0" r="0" b="0"/>
            </a:stretch>
          </a:blipFill>
        </p:spPr>
      </p:sp>
      <p:sp>
        <p:nvSpPr>
          <p:cNvPr name="Freeform 32" id="32"/>
          <p:cNvSpPr/>
          <p:nvPr/>
        </p:nvSpPr>
        <p:spPr>
          <a:xfrm flipH="false" flipV="false" rot="0">
            <a:off x="8683797" y="4392502"/>
            <a:ext cx="933589" cy="940429"/>
          </a:xfrm>
          <a:custGeom>
            <a:avLst/>
            <a:gdLst/>
            <a:ahLst/>
            <a:cxnLst/>
            <a:rect r="r" b="b" t="t" l="l"/>
            <a:pathLst>
              <a:path h="940429" w="933589">
                <a:moveTo>
                  <a:pt x="0" y="0"/>
                </a:moveTo>
                <a:lnTo>
                  <a:pt x="933590" y="0"/>
                </a:lnTo>
                <a:lnTo>
                  <a:pt x="933590" y="940429"/>
                </a:lnTo>
                <a:lnTo>
                  <a:pt x="0" y="940429"/>
                </a:lnTo>
                <a:lnTo>
                  <a:pt x="0" y="0"/>
                </a:lnTo>
                <a:close/>
              </a:path>
            </a:pathLst>
          </a:custGeom>
          <a:blipFill>
            <a:blip r:embed="rId62">
              <a:extLst>
                <a:ext uri="{96DAC541-7B7A-43D3-8B79-37D633B846F1}">
                  <asvg:svgBlip xmlns:asvg="http://schemas.microsoft.com/office/drawing/2016/SVG/main" r:embed="rId63"/>
                </a:ext>
              </a:extLst>
            </a:blip>
            <a:stretch>
              <a:fillRect l="0" t="0" r="0" b="0"/>
            </a:stretch>
          </a:blipFill>
        </p:spPr>
      </p:sp>
      <p:sp>
        <p:nvSpPr>
          <p:cNvPr name="Freeform 33" id="33"/>
          <p:cNvSpPr/>
          <p:nvPr/>
        </p:nvSpPr>
        <p:spPr>
          <a:xfrm flipH="false" flipV="false" rot="0">
            <a:off x="7377211" y="4392111"/>
            <a:ext cx="940429" cy="940429"/>
          </a:xfrm>
          <a:custGeom>
            <a:avLst/>
            <a:gdLst/>
            <a:ahLst/>
            <a:cxnLst/>
            <a:rect r="r" b="b" t="t" l="l"/>
            <a:pathLst>
              <a:path h="940429" w="940429">
                <a:moveTo>
                  <a:pt x="0" y="0"/>
                </a:moveTo>
                <a:lnTo>
                  <a:pt x="940429" y="0"/>
                </a:lnTo>
                <a:lnTo>
                  <a:pt x="940429" y="940428"/>
                </a:lnTo>
                <a:lnTo>
                  <a:pt x="0" y="940428"/>
                </a:lnTo>
                <a:lnTo>
                  <a:pt x="0" y="0"/>
                </a:lnTo>
                <a:close/>
              </a:path>
            </a:pathLst>
          </a:custGeom>
          <a:blipFill>
            <a:blip r:embed="rId64">
              <a:extLst>
                <a:ext uri="{96DAC541-7B7A-43D3-8B79-37D633B846F1}">
                  <asvg:svgBlip xmlns:asvg="http://schemas.microsoft.com/office/drawing/2016/SVG/main" r:embed="rId65"/>
                </a:ext>
              </a:extLst>
            </a:blip>
            <a:stretch>
              <a:fillRect l="0" t="0" r="0" b="0"/>
            </a:stretch>
          </a:blipFill>
        </p:spPr>
      </p:sp>
      <p:sp>
        <p:nvSpPr>
          <p:cNvPr name="Freeform 34" id="34"/>
          <p:cNvSpPr/>
          <p:nvPr/>
        </p:nvSpPr>
        <p:spPr>
          <a:xfrm flipH="false" flipV="false" rot="0">
            <a:off x="5965591" y="3229583"/>
            <a:ext cx="985211" cy="940429"/>
          </a:xfrm>
          <a:custGeom>
            <a:avLst/>
            <a:gdLst/>
            <a:ahLst/>
            <a:cxnLst/>
            <a:rect r="r" b="b" t="t" l="l"/>
            <a:pathLst>
              <a:path h="940429" w="985211">
                <a:moveTo>
                  <a:pt x="0" y="0"/>
                </a:moveTo>
                <a:lnTo>
                  <a:pt x="985211" y="0"/>
                </a:lnTo>
                <a:lnTo>
                  <a:pt x="985211" y="940429"/>
                </a:lnTo>
                <a:lnTo>
                  <a:pt x="0" y="940429"/>
                </a:lnTo>
                <a:lnTo>
                  <a:pt x="0" y="0"/>
                </a:lnTo>
                <a:close/>
              </a:path>
            </a:pathLst>
          </a:custGeom>
          <a:blipFill>
            <a:blip r:embed="rId66">
              <a:extLst>
                <a:ext uri="{96DAC541-7B7A-43D3-8B79-37D633B846F1}">
                  <asvg:svgBlip xmlns:asvg="http://schemas.microsoft.com/office/drawing/2016/SVG/main" r:embed="rId67"/>
                </a:ext>
              </a:extLst>
            </a:blip>
            <a:stretch>
              <a:fillRect l="0" t="0" r="0" b="0"/>
            </a:stretch>
          </a:blipFill>
        </p:spPr>
      </p:sp>
      <p:sp>
        <p:nvSpPr>
          <p:cNvPr name="Freeform 35" id="35"/>
          <p:cNvSpPr/>
          <p:nvPr/>
        </p:nvSpPr>
        <p:spPr>
          <a:xfrm flipH="false" flipV="false" rot="0">
            <a:off x="9982686" y="3195534"/>
            <a:ext cx="1042814" cy="940429"/>
          </a:xfrm>
          <a:custGeom>
            <a:avLst/>
            <a:gdLst/>
            <a:ahLst/>
            <a:cxnLst/>
            <a:rect r="r" b="b" t="t" l="l"/>
            <a:pathLst>
              <a:path h="940429" w="1042814">
                <a:moveTo>
                  <a:pt x="0" y="0"/>
                </a:moveTo>
                <a:lnTo>
                  <a:pt x="1042814" y="0"/>
                </a:lnTo>
                <a:lnTo>
                  <a:pt x="1042814" y="940429"/>
                </a:lnTo>
                <a:lnTo>
                  <a:pt x="0" y="940429"/>
                </a:lnTo>
                <a:lnTo>
                  <a:pt x="0" y="0"/>
                </a:lnTo>
                <a:close/>
              </a:path>
            </a:pathLst>
          </a:custGeom>
          <a:blipFill>
            <a:blip r:embed="rId68">
              <a:extLst>
                <a:ext uri="{96DAC541-7B7A-43D3-8B79-37D633B846F1}">
                  <asvg:svgBlip xmlns:asvg="http://schemas.microsoft.com/office/drawing/2016/SVG/main" r:embed="rId69"/>
                </a:ext>
              </a:extLst>
            </a:blip>
            <a:stretch>
              <a:fillRect l="0" t="0" r="0" b="0"/>
            </a:stretch>
          </a:blipFill>
        </p:spPr>
      </p:sp>
      <p:sp>
        <p:nvSpPr>
          <p:cNvPr name="TextBox 36" id="36"/>
          <p:cNvSpPr txBox="true"/>
          <p:nvPr/>
        </p:nvSpPr>
        <p:spPr>
          <a:xfrm rot="0">
            <a:off x="2616802" y="1452021"/>
            <a:ext cx="13054396" cy="1252164"/>
          </a:xfrm>
          <a:prstGeom prst="rect">
            <a:avLst/>
          </a:prstGeom>
        </p:spPr>
        <p:txBody>
          <a:bodyPr anchor="t" rtlCol="false" tIns="0" lIns="0" bIns="0" rIns="0">
            <a:spAutoFit/>
          </a:bodyPr>
          <a:lstStyle/>
          <a:p>
            <a:pPr algn="ctr">
              <a:lnSpc>
                <a:spcPts val="10258"/>
              </a:lnSpc>
            </a:pPr>
            <a:r>
              <a:rPr lang="en-US" b="true" sz="7327" spc="688">
                <a:solidFill>
                  <a:srgbClr val="152540"/>
                </a:solidFill>
                <a:latin typeface="Glacial Indifference Bold"/>
                <a:ea typeface="Glacial Indifference Bold"/>
                <a:cs typeface="Glacial Indifference Bold"/>
                <a:sym typeface="Glacial Indifference Bold"/>
              </a:rPr>
              <a:t>Página de Recursos</a:t>
            </a:r>
          </a:p>
        </p:txBody>
      </p:sp>
    </p:spTree>
  </p:cSld>
  <p:clrMapOvr>
    <a:masterClrMapping/>
  </p:clrMapOvr>
</p:sld>
</file>

<file path=ppt/slides/slide28.xml><?xml version="1.0" encoding="utf-8"?>
<p:sld xmlns:p="http://schemas.openxmlformats.org/presentationml/2006/main" xmlns:a="http://schemas.openxmlformats.org/drawingml/2006/main" xmlns:r="http://schemas.openxmlformats.org/officeDocument/2006/relationships">
  <p:cSld>
    <p:bg>
      <p:bgPr>
        <a:solidFill>
          <a:srgbClr val="EDE8E4"/>
        </a:solidFill>
      </p:bgPr>
    </p:bg>
    <p:spTree>
      <p:nvGrpSpPr>
        <p:cNvPr id="1" name=""/>
        <p:cNvGrpSpPr/>
        <p:nvPr/>
      </p:nvGrpSpPr>
      <p:grpSpPr>
        <a:xfrm>
          <a:off x="0" y="0"/>
          <a:ext cx="0" cy="0"/>
          <a:chOff x="0" y="0"/>
          <a:chExt cx="0" cy="0"/>
        </a:xfrm>
      </p:grpSpPr>
      <p:sp>
        <p:nvSpPr>
          <p:cNvPr name="Freeform 2" id="2"/>
          <p:cNvSpPr/>
          <p:nvPr/>
        </p:nvSpPr>
        <p:spPr>
          <a:xfrm flipH="false" flipV="false" rot="-445925">
            <a:off x="3142738" y="-769394"/>
            <a:ext cx="9798172" cy="13143890"/>
          </a:xfrm>
          <a:custGeom>
            <a:avLst/>
            <a:gdLst/>
            <a:ahLst/>
            <a:cxnLst/>
            <a:rect r="r" b="b" t="t" l="l"/>
            <a:pathLst>
              <a:path h="13143890" w="9798172">
                <a:moveTo>
                  <a:pt x="0" y="0"/>
                </a:moveTo>
                <a:lnTo>
                  <a:pt x="9798173" y="0"/>
                </a:lnTo>
                <a:lnTo>
                  <a:pt x="9798173" y="13143890"/>
                </a:lnTo>
                <a:lnTo>
                  <a:pt x="0" y="1314389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a:ln cap="sq">
            <a:noFill/>
            <a:prstDash val="solid"/>
            <a:miter/>
          </a:ln>
        </p:spPr>
      </p:sp>
      <p:sp>
        <p:nvSpPr>
          <p:cNvPr name="Freeform 3" id="3"/>
          <p:cNvSpPr/>
          <p:nvPr/>
        </p:nvSpPr>
        <p:spPr>
          <a:xfrm flipH="false" flipV="false" rot="-8798399">
            <a:off x="8466276" y="-9590538"/>
            <a:ext cx="9798172" cy="13143890"/>
          </a:xfrm>
          <a:custGeom>
            <a:avLst/>
            <a:gdLst/>
            <a:ahLst/>
            <a:cxnLst/>
            <a:rect r="r" b="b" t="t" l="l"/>
            <a:pathLst>
              <a:path h="13143890" w="9798172">
                <a:moveTo>
                  <a:pt x="0" y="0"/>
                </a:moveTo>
                <a:lnTo>
                  <a:pt x="9798173" y="0"/>
                </a:lnTo>
                <a:lnTo>
                  <a:pt x="9798173" y="13143890"/>
                </a:lnTo>
                <a:lnTo>
                  <a:pt x="0" y="13143890"/>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a:ln cap="sq">
            <a:noFill/>
            <a:prstDash val="solid"/>
            <a:miter/>
          </a:ln>
        </p:spPr>
      </p:sp>
      <p:sp>
        <p:nvSpPr>
          <p:cNvPr name="Freeform 4" id="4"/>
          <p:cNvSpPr/>
          <p:nvPr/>
        </p:nvSpPr>
        <p:spPr>
          <a:xfrm flipH="false" flipV="false" rot="3283157">
            <a:off x="-1501206" y="7329841"/>
            <a:ext cx="5624862" cy="7545546"/>
          </a:xfrm>
          <a:custGeom>
            <a:avLst/>
            <a:gdLst/>
            <a:ahLst/>
            <a:cxnLst/>
            <a:rect r="r" b="b" t="t" l="l"/>
            <a:pathLst>
              <a:path h="7545546" w="5624862">
                <a:moveTo>
                  <a:pt x="0" y="0"/>
                </a:moveTo>
                <a:lnTo>
                  <a:pt x="5624862" y="0"/>
                </a:lnTo>
                <a:lnTo>
                  <a:pt x="5624862" y="7545546"/>
                </a:lnTo>
                <a:lnTo>
                  <a:pt x="0" y="7545546"/>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a:ln cap="sq">
            <a:noFill/>
            <a:prstDash val="solid"/>
            <a:miter/>
          </a:ln>
        </p:spPr>
      </p:sp>
      <p:sp>
        <p:nvSpPr>
          <p:cNvPr name="Freeform 5" id="5"/>
          <p:cNvSpPr/>
          <p:nvPr/>
        </p:nvSpPr>
        <p:spPr>
          <a:xfrm flipH="false" flipV="false" rot="2770156">
            <a:off x="-2577184" y="-2165857"/>
            <a:ext cx="5154368" cy="4995052"/>
          </a:xfrm>
          <a:custGeom>
            <a:avLst/>
            <a:gdLst/>
            <a:ahLst/>
            <a:cxnLst/>
            <a:rect r="r" b="b" t="t" l="l"/>
            <a:pathLst>
              <a:path h="4995052" w="5154368">
                <a:moveTo>
                  <a:pt x="0" y="0"/>
                </a:moveTo>
                <a:lnTo>
                  <a:pt x="5154368" y="0"/>
                </a:lnTo>
                <a:lnTo>
                  <a:pt x="5154368" y="4995051"/>
                </a:lnTo>
                <a:lnTo>
                  <a:pt x="0" y="4995051"/>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a:ln cap="sq">
            <a:noFill/>
            <a:prstDash val="solid"/>
            <a:miter/>
          </a:ln>
        </p:spPr>
      </p:sp>
      <p:sp>
        <p:nvSpPr>
          <p:cNvPr name="Freeform 6" id="6"/>
          <p:cNvSpPr/>
          <p:nvPr/>
        </p:nvSpPr>
        <p:spPr>
          <a:xfrm flipH="false" flipV="false" rot="2770156">
            <a:off x="15710816" y="8522875"/>
            <a:ext cx="5154368" cy="4995052"/>
          </a:xfrm>
          <a:custGeom>
            <a:avLst/>
            <a:gdLst/>
            <a:ahLst/>
            <a:cxnLst/>
            <a:rect r="r" b="b" t="t" l="l"/>
            <a:pathLst>
              <a:path h="4995052" w="5154368">
                <a:moveTo>
                  <a:pt x="0" y="0"/>
                </a:moveTo>
                <a:lnTo>
                  <a:pt x="5154368" y="0"/>
                </a:lnTo>
                <a:lnTo>
                  <a:pt x="5154368" y="4995052"/>
                </a:lnTo>
                <a:lnTo>
                  <a:pt x="0" y="4995052"/>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a:ln cap="sq">
            <a:noFill/>
            <a:prstDash val="solid"/>
            <a:miter/>
          </a:ln>
        </p:spPr>
      </p:sp>
      <p:sp>
        <p:nvSpPr>
          <p:cNvPr name="TextBox 7" id="7"/>
          <p:cNvSpPr txBox="true"/>
          <p:nvPr/>
        </p:nvSpPr>
        <p:spPr>
          <a:xfrm rot="0">
            <a:off x="1904222" y="4082358"/>
            <a:ext cx="15058776" cy="5794108"/>
          </a:xfrm>
          <a:prstGeom prst="rect">
            <a:avLst/>
          </a:prstGeom>
        </p:spPr>
        <p:txBody>
          <a:bodyPr anchor="t" rtlCol="false" tIns="0" lIns="0" bIns="0" rIns="0">
            <a:spAutoFit/>
          </a:bodyPr>
          <a:lstStyle/>
          <a:p>
            <a:pPr algn="l" marL="642746" indent="-321373" lvl="1">
              <a:lnSpc>
                <a:spcPts val="4167"/>
              </a:lnSpc>
              <a:buFont typeface="Arial"/>
              <a:buChar char="•"/>
            </a:pPr>
            <a:r>
              <a:rPr lang="en-US" sz="2977" spc="65">
                <a:solidFill>
                  <a:srgbClr val="152540"/>
                </a:solidFill>
                <a:latin typeface="Glacial Indifference"/>
                <a:ea typeface="Glacial Indifference"/>
                <a:cs typeface="Glacial Indifference"/>
                <a:sym typeface="Glacial Indifference"/>
              </a:rPr>
              <a:t>https://dplnews.com/cinepolis-evoluciona-la-experiencia-del-cine-con-la-nube/</a:t>
            </a:r>
          </a:p>
          <a:p>
            <a:pPr algn="l" marL="642746" indent="-321373" lvl="1">
              <a:lnSpc>
                <a:spcPts val="4167"/>
              </a:lnSpc>
              <a:buFont typeface="Arial"/>
              <a:buChar char="•"/>
            </a:pPr>
            <a:r>
              <a:rPr lang="en-US" sz="2977" spc="65">
                <a:solidFill>
                  <a:srgbClr val="152540"/>
                </a:solidFill>
                <a:latin typeface="Glacial Indifference"/>
                <a:ea typeface="Glacial Indifference"/>
                <a:cs typeface="Glacial Indifference"/>
                <a:sym typeface="Glacial Indifference"/>
              </a:rPr>
              <a:t>https://www.ia.com.mx/clientes/cinepolis/</a:t>
            </a:r>
          </a:p>
          <a:p>
            <a:pPr algn="l" marL="642746" indent="-321373" lvl="1">
              <a:lnSpc>
                <a:spcPts val="4167"/>
              </a:lnSpc>
              <a:buFont typeface="Arial"/>
              <a:buChar char="•"/>
            </a:pPr>
            <a:r>
              <a:rPr lang="en-US" sz="2977" spc="65">
                <a:solidFill>
                  <a:srgbClr val="152540"/>
                </a:solidFill>
                <a:latin typeface="Glacial Indifference"/>
                <a:ea typeface="Glacial Indifference"/>
                <a:cs typeface="Glacial Indifference"/>
                <a:sym typeface="Glacial Indifference"/>
              </a:rPr>
              <a:t>https://www.descartes.com/es/resources/blog/empresas-data-driven-que-son-y-cuales-son-sus-caracteristicas</a:t>
            </a:r>
          </a:p>
          <a:p>
            <a:pPr algn="l" marL="642746" indent="-321373" lvl="1">
              <a:lnSpc>
                <a:spcPts val="4167"/>
              </a:lnSpc>
              <a:buFont typeface="Arial"/>
              <a:buChar char="•"/>
            </a:pPr>
            <a:r>
              <a:rPr lang="en-US" sz="2977" spc="65">
                <a:solidFill>
                  <a:srgbClr val="152540"/>
                </a:solidFill>
                <a:latin typeface="Glacial Indifference"/>
                <a:ea typeface="Glacial Indifference"/>
                <a:cs typeface="Glacial Indifference"/>
                <a:sym typeface="Glacial Indifference"/>
              </a:rPr>
              <a:t>https://expansion.mx/tecnologia/2022/11/30/cinepolis-prueba-en-espana-algunos-servicios-digitales-que-veras-en-mexico</a:t>
            </a:r>
          </a:p>
          <a:p>
            <a:pPr algn="l" marL="642746" indent="-321373" lvl="1">
              <a:lnSpc>
                <a:spcPts val="4167"/>
              </a:lnSpc>
              <a:buFont typeface="Arial"/>
              <a:buChar char="•"/>
            </a:pPr>
            <a:r>
              <a:rPr lang="en-US" sz="2977" spc="65">
                <a:solidFill>
                  <a:srgbClr val="152540"/>
                </a:solidFill>
                <a:latin typeface="Glacial Indifference"/>
                <a:ea typeface="Glacial Indifference"/>
                <a:cs typeface="Glacial Indifference"/>
                <a:sym typeface="Glacial Indifference"/>
              </a:rPr>
              <a:t>https://www.okta.com/es-mx/customers/cinepolis/</a:t>
            </a:r>
          </a:p>
          <a:p>
            <a:pPr algn="l" marL="642746" indent="-321373" lvl="1">
              <a:lnSpc>
                <a:spcPts val="4167"/>
              </a:lnSpc>
              <a:buFont typeface="Arial"/>
              <a:buChar char="•"/>
            </a:pPr>
            <a:r>
              <a:rPr lang="en-US" sz="2977" spc="65">
                <a:solidFill>
                  <a:srgbClr val="152540"/>
                </a:solidFill>
                <a:latin typeface="Glacial Indifference"/>
                <a:ea typeface="Glacial Indifference"/>
                <a:cs typeface="Glacial Indifference"/>
                <a:sym typeface="Glacial Indifference"/>
              </a:rPr>
              <a:t>https://www.merca20.com/exhiben-precios-dinamicos-en-dulceria-de-cinepolis/</a:t>
            </a:r>
          </a:p>
          <a:p>
            <a:pPr algn="l" marL="642746" indent="-321373" lvl="1">
              <a:lnSpc>
                <a:spcPts val="4167"/>
              </a:lnSpc>
              <a:buFont typeface="Arial"/>
              <a:buChar char="•"/>
            </a:pPr>
            <a:r>
              <a:rPr lang="en-US" sz="2977" spc="65">
                <a:solidFill>
                  <a:srgbClr val="152540"/>
                </a:solidFill>
                <a:latin typeface="Glacial Indifference"/>
                <a:ea typeface="Glacial Indifference"/>
                <a:cs typeface="Glacial Indifference"/>
                <a:sym typeface="Glacial Indifference"/>
              </a:rPr>
              <a:t>https://cic.itesm.mx/DocumentosPrincipalAlumno/76c938b2-5eb0-9242-e8e3-fd81b4cfa205.pdf</a:t>
            </a:r>
          </a:p>
          <a:p>
            <a:pPr algn="l" marL="642746" indent="-321373" lvl="1">
              <a:lnSpc>
                <a:spcPts val="4167"/>
              </a:lnSpc>
              <a:buFont typeface="Arial"/>
              <a:buChar char="•"/>
            </a:pPr>
            <a:r>
              <a:rPr lang="en-US" sz="2977" spc="65">
                <a:solidFill>
                  <a:srgbClr val="152540"/>
                </a:solidFill>
                <a:latin typeface="Glacial Indifference"/>
                <a:ea typeface="Glacial Indifference"/>
                <a:cs typeface="Glacial Indifference"/>
                <a:sym typeface="Glacial Indifference"/>
              </a:rPr>
              <a:t>https://conoce-cinepolis.webnode.es/ways/</a:t>
            </a:r>
          </a:p>
        </p:txBody>
      </p:sp>
      <p:sp>
        <p:nvSpPr>
          <p:cNvPr name="TextBox 8" id="8"/>
          <p:cNvSpPr txBox="true"/>
          <p:nvPr/>
        </p:nvSpPr>
        <p:spPr>
          <a:xfrm rot="0">
            <a:off x="1853128" y="1497079"/>
            <a:ext cx="8324690" cy="1259355"/>
          </a:xfrm>
          <a:prstGeom prst="rect">
            <a:avLst/>
          </a:prstGeom>
        </p:spPr>
        <p:txBody>
          <a:bodyPr anchor="t" rtlCol="false" tIns="0" lIns="0" bIns="0" rIns="0">
            <a:spAutoFit/>
          </a:bodyPr>
          <a:lstStyle/>
          <a:p>
            <a:pPr algn="l">
              <a:lnSpc>
                <a:spcPts val="10258"/>
              </a:lnSpc>
            </a:pPr>
            <a:r>
              <a:rPr lang="en-US" b="true" sz="7327" spc="688">
                <a:solidFill>
                  <a:srgbClr val="152540"/>
                </a:solidFill>
                <a:latin typeface="Glacial Indifference Bold"/>
                <a:ea typeface="Glacial Indifference Bold"/>
                <a:cs typeface="Glacial Indifference Bold"/>
                <a:sym typeface="Glacial Indifference Bold"/>
              </a:rPr>
              <a:t>BIBLIOGRAFIA</a:t>
            </a:r>
          </a:p>
        </p:txBody>
      </p:sp>
    </p:spTree>
  </p:cSld>
  <p:clrMapOvr>
    <a:masterClrMapping/>
  </p:clrMapOvr>
</p:sld>
</file>

<file path=ppt/slides/slide29.xml><?xml version="1.0" encoding="utf-8"?>
<p:sld xmlns:p="http://schemas.openxmlformats.org/presentationml/2006/main" xmlns:a="http://schemas.openxmlformats.org/drawingml/2006/main" xmlns:r="http://schemas.openxmlformats.org/officeDocument/2006/relationships">
  <p:cSld>
    <p:bg>
      <p:bgPr>
        <a:solidFill>
          <a:srgbClr val="EDE8E4"/>
        </a:solidFill>
      </p:bgPr>
    </p:bg>
    <p:spTree>
      <p:nvGrpSpPr>
        <p:cNvPr id="1" name=""/>
        <p:cNvGrpSpPr/>
        <p:nvPr/>
      </p:nvGrpSpPr>
      <p:grpSpPr>
        <a:xfrm>
          <a:off x="0" y="0"/>
          <a:ext cx="0" cy="0"/>
          <a:chOff x="0" y="0"/>
          <a:chExt cx="0" cy="0"/>
        </a:xfrm>
      </p:grpSpPr>
      <p:sp>
        <p:nvSpPr>
          <p:cNvPr name="Freeform 2" id="2"/>
          <p:cNvSpPr/>
          <p:nvPr/>
        </p:nvSpPr>
        <p:spPr>
          <a:xfrm flipH="false" flipV="false" rot="-445925">
            <a:off x="3142738" y="-769394"/>
            <a:ext cx="9798172" cy="13143890"/>
          </a:xfrm>
          <a:custGeom>
            <a:avLst/>
            <a:gdLst/>
            <a:ahLst/>
            <a:cxnLst/>
            <a:rect r="r" b="b" t="t" l="l"/>
            <a:pathLst>
              <a:path h="13143890" w="9798172">
                <a:moveTo>
                  <a:pt x="0" y="0"/>
                </a:moveTo>
                <a:lnTo>
                  <a:pt x="9798173" y="0"/>
                </a:lnTo>
                <a:lnTo>
                  <a:pt x="9798173" y="13143890"/>
                </a:lnTo>
                <a:lnTo>
                  <a:pt x="0" y="1314389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a:ln cap="sq">
            <a:noFill/>
            <a:prstDash val="solid"/>
            <a:miter/>
          </a:ln>
        </p:spPr>
      </p:sp>
      <p:sp>
        <p:nvSpPr>
          <p:cNvPr name="Freeform 3" id="3"/>
          <p:cNvSpPr/>
          <p:nvPr/>
        </p:nvSpPr>
        <p:spPr>
          <a:xfrm flipH="false" flipV="false" rot="-8798399">
            <a:off x="8466276" y="-9590538"/>
            <a:ext cx="9798172" cy="13143890"/>
          </a:xfrm>
          <a:custGeom>
            <a:avLst/>
            <a:gdLst/>
            <a:ahLst/>
            <a:cxnLst/>
            <a:rect r="r" b="b" t="t" l="l"/>
            <a:pathLst>
              <a:path h="13143890" w="9798172">
                <a:moveTo>
                  <a:pt x="0" y="0"/>
                </a:moveTo>
                <a:lnTo>
                  <a:pt x="9798173" y="0"/>
                </a:lnTo>
                <a:lnTo>
                  <a:pt x="9798173" y="13143890"/>
                </a:lnTo>
                <a:lnTo>
                  <a:pt x="0" y="13143890"/>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a:ln cap="sq">
            <a:noFill/>
            <a:prstDash val="solid"/>
            <a:miter/>
          </a:ln>
        </p:spPr>
      </p:sp>
      <p:sp>
        <p:nvSpPr>
          <p:cNvPr name="Freeform 4" id="4"/>
          <p:cNvSpPr/>
          <p:nvPr/>
        </p:nvSpPr>
        <p:spPr>
          <a:xfrm flipH="false" flipV="false" rot="3283157">
            <a:off x="-1501206" y="7329841"/>
            <a:ext cx="5624862" cy="7545546"/>
          </a:xfrm>
          <a:custGeom>
            <a:avLst/>
            <a:gdLst/>
            <a:ahLst/>
            <a:cxnLst/>
            <a:rect r="r" b="b" t="t" l="l"/>
            <a:pathLst>
              <a:path h="7545546" w="5624862">
                <a:moveTo>
                  <a:pt x="0" y="0"/>
                </a:moveTo>
                <a:lnTo>
                  <a:pt x="5624862" y="0"/>
                </a:lnTo>
                <a:lnTo>
                  <a:pt x="5624862" y="7545546"/>
                </a:lnTo>
                <a:lnTo>
                  <a:pt x="0" y="7545546"/>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a:ln cap="sq">
            <a:noFill/>
            <a:prstDash val="solid"/>
            <a:miter/>
          </a:ln>
        </p:spPr>
      </p:sp>
      <p:sp>
        <p:nvSpPr>
          <p:cNvPr name="Freeform 5" id="5"/>
          <p:cNvSpPr/>
          <p:nvPr/>
        </p:nvSpPr>
        <p:spPr>
          <a:xfrm flipH="false" flipV="false" rot="2770156">
            <a:off x="-2577184" y="-2165857"/>
            <a:ext cx="5154368" cy="4995052"/>
          </a:xfrm>
          <a:custGeom>
            <a:avLst/>
            <a:gdLst/>
            <a:ahLst/>
            <a:cxnLst/>
            <a:rect r="r" b="b" t="t" l="l"/>
            <a:pathLst>
              <a:path h="4995052" w="5154368">
                <a:moveTo>
                  <a:pt x="0" y="0"/>
                </a:moveTo>
                <a:lnTo>
                  <a:pt x="5154368" y="0"/>
                </a:lnTo>
                <a:lnTo>
                  <a:pt x="5154368" y="4995051"/>
                </a:lnTo>
                <a:lnTo>
                  <a:pt x="0" y="4995051"/>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a:ln cap="sq">
            <a:noFill/>
            <a:prstDash val="solid"/>
            <a:miter/>
          </a:ln>
        </p:spPr>
      </p:sp>
      <p:sp>
        <p:nvSpPr>
          <p:cNvPr name="Freeform 6" id="6"/>
          <p:cNvSpPr/>
          <p:nvPr/>
        </p:nvSpPr>
        <p:spPr>
          <a:xfrm flipH="false" flipV="false" rot="2770156">
            <a:off x="15710816" y="8522875"/>
            <a:ext cx="5154368" cy="4995052"/>
          </a:xfrm>
          <a:custGeom>
            <a:avLst/>
            <a:gdLst/>
            <a:ahLst/>
            <a:cxnLst/>
            <a:rect r="r" b="b" t="t" l="l"/>
            <a:pathLst>
              <a:path h="4995052" w="5154368">
                <a:moveTo>
                  <a:pt x="0" y="0"/>
                </a:moveTo>
                <a:lnTo>
                  <a:pt x="5154368" y="0"/>
                </a:lnTo>
                <a:lnTo>
                  <a:pt x="5154368" y="4995052"/>
                </a:lnTo>
                <a:lnTo>
                  <a:pt x="0" y="4995052"/>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a:ln cap="sq">
            <a:noFill/>
            <a:prstDash val="solid"/>
            <a:miter/>
          </a:ln>
        </p:spPr>
      </p:sp>
      <p:sp>
        <p:nvSpPr>
          <p:cNvPr name="TextBox 7" id="7"/>
          <p:cNvSpPr txBox="true"/>
          <p:nvPr/>
        </p:nvSpPr>
        <p:spPr>
          <a:xfrm rot="0">
            <a:off x="1853128" y="2983079"/>
            <a:ext cx="15058776" cy="6850940"/>
          </a:xfrm>
          <a:prstGeom prst="rect">
            <a:avLst/>
          </a:prstGeom>
        </p:spPr>
        <p:txBody>
          <a:bodyPr anchor="t" rtlCol="false" tIns="0" lIns="0" bIns="0" rIns="0">
            <a:spAutoFit/>
          </a:bodyPr>
          <a:lstStyle/>
          <a:p>
            <a:pPr algn="l" marL="642746" indent="-321373" lvl="1">
              <a:lnSpc>
                <a:spcPts val="4167"/>
              </a:lnSpc>
              <a:buFont typeface="Arial"/>
              <a:buChar char="•"/>
            </a:pPr>
            <a:r>
              <a:rPr lang="en-US" sz="2977" spc="65">
                <a:solidFill>
                  <a:srgbClr val="152540"/>
                </a:solidFill>
                <a:latin typeface="Glacial Indifference"/>
                <a:ea typeface="Glacial Indifference"/>
                <a:cs typeface="Glacial Indifference"/>
                <a:sym typeface="Glacial Indifference"/>
              </a:rPr>
              <a:t>https://www.produ.com/tecnologia/noticias/cinepolis-klic-apoya-su-crecimiento-en-la-nube-con-aws/</a:t>
            </a:r>
          </a:p>
          <a:p>
            <a:pPr algn="l" marL="642746" indent="-321373" lvl="1">
              <a:lnSpc>
                <a:spcPts val="4167"/>
              </a:lnSpc>
              <a:buFont typeface="Arial"/>
              <a:buChar char="•"/>
            </a:pPr>
            <a:r>
              <a:rPr lang="en-US" sz="2977" spc="65">
                <a:solidFill>
                  <a:srgbClr val="152540"/>
                </a:solidFill>
                <a:latin typeface="Glacial Indifference"/>
                <a:ea typeface="Glacial Indifference"/>
                <a:cs typeface="Glacial Indifference"/>
                <a:sym typeface="Glacial Indifference"/>
              </a:rPr>
              <a:t>https://prezi.com/p/q1palmu93zed/cinepolis-planeacion-estrategica/</a:t>
            </a:r>
          </a:p>
          <a:p>
            <a:pPr algn="l" marL="642746" indent="-321373" lvl="1">
              <a:lnSpc>
                <a:spcPts val="4167"/>
              </a:lnSpc>
              <a:buFont typeface="Arial"/>
              <a:buChar char="•"/>
            </a:pPr>
            <a:r>
              <a:rPr lang="en-US" sz="2977" spc="65">
                <a:solidFill>
                  <a:srgbClr val="152540"/>
                </a:solidFill>
                <a:latin typeface="Glacial Indifference"/>
                <a:ea typeface="Glacial Indifference"/>
                <a:cs typeface="Glacial Indifference"/>
                <a:sym typeface="Glacial Indifference"/>
              </a:rPr>
              <a:t>https://cards.algoreducation.com/es/content/yJtalKXx/estrategias-exito-cinepolis</a:t>
            </a:r>
          </a:p>
          <a:p>
            <a:pPr algn="l" marL="642746" indent="-321373" lvl="1">
              <a:lnSpc>
                <a:spcPts val="4167"/>
              </a:lnSpc>
              <a:buFont typeface="Arial"/>
              <a:buChar char="•"/>
            </a:pPr>
            <a:r>
              <a:rPr lang="en-US" sz="2977" spc="65">
                <a:solidFill>
                  <a:srgbClr val="152540"/>
                </a:solidFill>
                <a:latin typeface="Glacial Indifference"/>
                <a:ea typeface="Glacial Indifference"/>
                <a:cs typeface="Glacial Indifference"/>
                <a:sym typeface="Glacial Indifference"/>
              </a:rPr>
              <a:t>https://www.studocu.com/es-mx/document/instituto-tecnologico-y-de-estudios-superiores-de-occidente/gestion-empresarial/ejemplo-de-mision-y-vision-de-cinepolis/5668075</a:t>
            </a:r>
          </a:p>
          <a:p>
            <a:pPr algn="l" marL="642746" indent="-321373" lvl="1">
              <a:lnSpc>
                <a:spcPts val="4167"/>
              </a:lnSpc>
              <a:buFont typeface="Arial"/>
              <a:buChar char="•"/>
            </a:pPr>
            <a:r>
              <a:rPr lang="en-US" sz="2977" spc="65">
                <a:solidFill>
                  <a:srgbClr val="152540"/>
                </a:solidFill>
                <a:latin typeface="Glacial Indifference"/>
                <a:ea typeface="Glacial Indifference"/>
                <a:cs typeface="Glacial Indifference"/>
                <a:sym typeface="Glacial Indifference"/>
              </a:rPr>
              <a:t>https://www.guerrasynavas.com/pdf/CLB-013-CH_Cinepolis_desarrollo.pdf</a:t>
            </a:r>
          </a:p>
          <a:p>
            <a:pPr algn="l" marL="642746" indent="-321373" lvl="1">
              <a:lnSpc>
                <a:spcPts val="4167"/>
              </a:lnSpc>
              <a:buFont typeface="Arial"/>
              <a:buChar char="•"/>
            </a:pPr>
            <a:r>
              <a:rPr lang="en-US" sz="2977" spc="65">
                <a:solidFill>
                  <a:srgbClr val="152540"/>
                </a:solidFill>
                <a:latin typeface="Glacial Indifference"/>
                <a:ea typeface="Glacial Indifference"/>
                <a:cs typeface="Glacial Indifference"/>
                <a:sym typeface="Glacial Indifference"/>
              </a:rPr>
              <a:t>https://www.rpjmconsultoria.com/post/la-clave-del-exito-de-cinepolis</a:t>
            </a:r>
          </a:p>
          <a:p>
            <a:pPr algn="l" marL="642746" indent="-321373" lvl="1">
              <a:lnSpc>
                <a:spcPts val="4167"/>
              </a:lnSpc>
              <a:buFont typeface="Arial"/>
              <a:buChar char="•"/>
            </a:pPr>
            <a:r>
              <a:rPr lang="en-US" sz="2977" spc="65">
                <a:solidFill>
                  <a:srgbClr val="152540"/>
                </a:solidFill>
                <a:latin typeface="Glacial Indifference"/>
                <a:ea typeface="Glacial Indifference"/>
                <a:cs typeface="Glacial Indifference"/>
                <a:sym typeface="Glacial Indifference"/>
              </a:rPr>
              <a:t>https://www.elfinanciero.com.mx/empresas/cinepolis-enfocara-su-crecimiento-y-expansion-en-paises-emergentes/</a:t>
            </a:r>
          </a:p>
          <a:p>
            <a:pPr algn="l" marL="642746" indent="-321373" lvl="1">
              <a:lnSpc>
                <a:spcPts val="4167"/>
              </a:lnSpc>
              <a:buFont typeface="Arial"/>
              <a:buChar char="•"/>
            </a:pPr>
            <a:r>
              <a:rPr lang="en-US" sz="2977" spc="65">
                <a:solidFill>
                  <a:srgbClr val="152540"/>
                </a:solidFill>
                <a:latin typeface="Glacial Indifference"/>
                <a:ea typeface="Glacial Indifference"/>
                <a:cs typeface="Glacial Indifference"/>
                <a:sym typeface="Glacial Indifference"/>
              </a:rPr>
              <a:t>https://static.cinepolis.com/resources/mx/documents/codigo_de_integridad_cinepolis.pdf</a:t>
            </a:r>
          </a:p>
        </p:txBody>
      </p:sp>
      <p:sp>
        <p:nvSpPr>
          <p:cNvPr name="TextBox 8" id="8"/>
          <p:cNvSpPr txBox="true"/>
          <p:nvPr/>
        </p:nvSpPr>
        <p:spPr>
          <a:xfrm rot="0">
            <a:off x="1853128" y="1497079"/>
            <a:ext cx="8324690" cy="1259355"/>
          </a:xfrm>
          <a:prstGeom prst="rect">
            <a:avLst/>
          </a:prstGeom>
        </p:spPr>
        <p:txBody>
          <a:bodyPr anchor="t" rtlCol="false" tIns="0" lIns="0" bIns="0" rIns="0">
            <a:spAutoFit/>
          </a:bodyPr>
          <a:lstStyle/>
          <a:p>
            <a:pPr algn="l">
              <a:lnSpc>
                <a:spcPts val="10258"/>
              </a:lnSpc>
            </a:pPr>
            <a:r>
              <a:rPr lang="en-US" b="true" sz="7327" spc="688">
                <a:solidFill>
                  <a:srgbClr val="152540"/>
                </a:solidFill>
                <a:latin typeface="Glacial Indifference Bold"/>
                <a:ea typeface="Glacial Indifference Bold"/>
                <a:cs typeface="Glacial Indifference Bold"/>
                <a:sym typeface="Glacial Indifference Bold"/>
              </a:rPr>
              <a:t>BIBLIOGRAFIA</a:t>
            </a:r>
          </a:p>
        </p:txBody>
      </p:sp>
    </p:spTree>
  </p:cSld>
  <p:clrMapOvr>
    <a:masterClrMapping/>
  </p:clrMapOvr>
</p:sld>
</file>

<file path=ppt/slides/slide30.xml><?xml version="1.0" encoding="utf-8"?>
<p:sld xmlns:p="http://schemas.openxmlformats.org/presentationml/2006/main" xmlns:a="http://schemas.openxmlformats.org/drawingml/2006/main" xmlns:r="http://schemas.openxmlformats.org/officeDocument/2006/relationships">
  <p:cSld>
    <p:bg>
      <p:bgPr>
        <a:solidFill>
          <a:srgbClr val="EDE8E4"/>
        </a:solidFill>
      </p:bgPr>
    </p:bg>
    <p:spTree>
      <p:nvGrpSpPr>
        <p:cNvPr id="1" name=""/>
        <p:cNvGrpSpPr/>
        <p:nvPr/>
      </p:nvGrpSpPr>
      <p:grpSpPr>
        <a:xfrm>
          <a:off x="0" y="0"/>
          <a:ext cx="0" cy="0"/>
          <a:chOff x="0" y="0"/>
          <a:chExt cx="0" cy="0"/>
        </a:xfrm>
      </p:grpSpPr>
      <p:sp>
        <p:nvSpPr>
          <p:cNvPr name="Freeform 2" id="2"/>
          <p:cNvSpPr/>
          <p:nvPr/>
        </p:nvSpPr>
        <p:spPr>
          <a:xfrm flipH="false" flipV="false" rot="-445925">
            <a:off x="3142738" y="-769394"/>
            <a:ext cx="9798172" cy="13143890"/>
          </a:xfrm>
          <a:custGeom>
            <a:avLst/>
            <a:gdLst/>
            <a:ahLst/>
            <a:cxnLst/>
            <a:rect r="r" b="b" t="t" l="l"/>
            <a:pathLst>
              <a:path h="13143890" w="9798172">
                <a:moveTo>
                  <a:pt x="0" y="0"/>
                </a:moveTo>
                <a:lnTo>
                  <a:pt x="9798173" y="0"/>
                </a:lnTo>
                <a:lnTo>
                  <a:pt x="9798173" y="13143890"/>
                </a:lnTo>
                <a:lnTo>
                  <a:pt x="0" y="1314389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a:ln cap="sq">
            <a:noFill/>
            <a:prstDash val="solid"/>
            <a:miter/>
          </a:ln>
        </p:spPr>
      </p:sp>
      <p:sp>
        <p:nvSpPr>
          <p:cNvPr name="Freeform 3" id="3"/>
          <p:cNvSpPr/>
          <p:nvPr/>
        </p:nvSpPr>
        <p:spPr>
          <a:xfrm flipH="false" flipV="false" rot="-8798399">
            <a:off x="8466276" y="-9590538"/>
            <a:ext cx="9798172" cy="13143890"/>
          </a:xfrm>
          <a:custGeom>
            <a:avLst/>
            <a:gdLst/>
            <a:ahLst/>
            <a:cxnLst/>
            <a:rect r="r" b="b" t="t" l="l"/>
            <a:pathLst>
              <a:path h="13143890" w="9798172">
                <a:moveTo>
                  <a:pt x="0" y="0"/>
                </a:moveTo>
                <a:lnTo>
                  <a:pt x="9798173" y="0"/>
                </a:lnTo>
                <a:lnTo>
                  <a:pt x="9798173" y="13143890"/>
                </a:lnTo>
                <a:lnTo>
                  <a:pt x="0" y="13143890"/>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a:ln cap="sq">
            <a:noFill/>
            <a:prstDash val="solid"/>
            <a:miter/>
          </a:ln>
        </p:spPr>
      </p:sp>
      <p:sp>
        <p:nvSpPr>
          <p:cNvPr name="Freeform 4" id="4"/>
          <p:cNvSpPr/>
          <p:nvPr/>
        </p:nvSpPr>
        <p:spPr>
          <a:xfrm flipH="false" flipV="false" rot="3283157">
            <a:off x="-1501206" y="7329841"/>
            <a:ext cx="5624862" cy="7545546"/>
          </a:xfrm>
          <a:custGeom>
            <a:avLst/>
            <a:gdLst/>
            <a:ahLst/>
            <a:cxnLst/>
            <a:rect r="r" b="b" t="t" l="l"/>
            <a:pathLst>
              <a:path h="7545546" w="5624862">
                <a:moveTo>
                  <a:pt x="0" y="0"/>
                </a:moveTo>
                <a:lnTo>
                  <a:pt x="5624862" y="0"/>
                </a:lnTo>
                <a:lnTo>
                  <a:pt x="5624862" y="7545546"/>
                </a:lnTo>
                <a:lnTo>
                  <a:pt x="0" y="7545546"/>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a:ln cap="sq">
            <a:noFill/>
            <a:prstDash val="solid"/>
            <a:miter/>
          </a:ln>
        </p:spPr>
      </p:sp>
      <p:sp>
        <p:nvSpPr>
          <p:cNvPr name="Freeform 5" id="5"/>
          <p:cNvSpPr/>
          <p:nvPr/>
        </p:nvSpPr>
        <p:spPr>
          <a:xfrm flipH="false" flipV="false" rot="2770156">
            <a:off x="-2577184" y="-2165857"/>
            <a:ext cx="5154368" cy="4995052"/>
          </a:xfrm>
          <a:custGeom>
            <a:avLst/>
            <a:gdLst/>
            <a:ahLst/>
            <a:cxnLst/>
            <a:rect r="r" b="b" t="t" l="l"/>
            <a:pathLst>
              <a:path h="4995052" w="5154368">
                <a:moveTo>
                  <a:pt x="0" y="0"/>
                </a:moveTo>
                <a:lnTo>
                  <a:pt x="5154368" y="0"/>
                </a:lnTo>
                <a:lnTo>
                  <a:pt x="5154368" y="4995051"/>
                </a:lnTo>
                <a:lnTo>
                  <a:pt x="0" y="4995051"/>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a:ln cap="sq">
            <a:noFill/>
            <a:prstDash val="solid"/>
            <a:miter/>
          </a:ln>
        </p:spPr>
      </p:sp>
      <p:sp>
        <p:nvSpPr>
          <p:cNvPr name="Freeform 6" id="6"/>
          <p:cNvSpPr/>
          <p:nvPr/>
        </p:nvSpPr>
        <p:spPr>
          <a:xfrm flipH="false" flipV="false" rot="2770156">
            <a:off x="15710816" y="8522875"/>
            <a:ext cx="5154368" cy="4995052"/>
          </a:xfrm>
          <a:custGeom>
            <a:avLst/>
            <a:gdLst/>
            <a:ahLst/>
            <a:cxnLst/>
            <a:rect r="r" b="b" t="t" l="l"/>
            <a:pathLst>
              <a:path h="4995052" w="5154368">
                <a:moveTo>
                  <a:pt x="0" y="0"/>
                </a:moveTo>
                <a:lnTo>
                  <a:pt x="5154368" y="0"/>
                </a:lnTo>
                <a:lnTo>
                  <a:pt x="5154368" y="4995052"/>
                </a:lnTo>
                <a:lnTo>
                  <a:pt x="0" y="4995052"/>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a:ln cap="sq">
            <a:noFill/>
            <a:prstDash val="solid"/>
            <a:miter/>
          </a:ln>
        </p:spPr>
      </p:sp>
      <p:sp>
        <p:nvSpPr>
          <p:cNvPr name="TextBox 7" id="7"/>
          <p:cNvSpPr txBox="true"/>
          <p:nvPr/>
        </p:nvSpPr>
        <p:spPr>
          <a:xfrm rot="0">
            <a:off x="1853128" y="2983079"/>
            <a:ext cx="15058776" cy="1566781"/>
          </a:xfrm>
          <a:prstGeom prst="rect">
            <a:avLst/>
          </a:prstGeom>
        </p:spPr>
        <p:txBody>
          <a:bodyPr anchor="t" rtlCol="false" tIns="0" lIns="0" bIns="0" rIns="0">
            <a:spAutoFit/>
          </a:bodyPr>
          <a:lstStyle/>
          <a:p>
            <a:pPr algn="l" marL="642746" indent="-321373" lvl="1">
              <a:lnSpc>
                <a:spcPts val="4167"/>
              </a:lnSpc>
              <a:buFont typeface="Arial"/>
              <a:buChar char="•"/>
            </a:pPr>
            <a:r>
              <a:rPr lang="en-US" sz="2977" spc="65">
                <a:solidFill>
                  <a:srgbClr val="152540"/>
                </a:solidFill>
                <a:latin typeface="Glacial Indifference"/>
                <a:ea typeface="Glacial Indifference"/>
                <a:cs typeface="Glacial Indifference"/>
                <a:sym typeface="Glacial Indifference"/>
              </a:rPr>
              <a:t>https://americaretail-malls.com/paises/colombia/cinepolis-apuesta-por-colombia-estrategias-y-desafios/</a:t>
            </a:r>
          </a:p>
          <a:p>
            <a:pPr algn="l" marL="642746" indent="-321373" lvl="1">
              <a:lnSpc>
                <a:spcPts val="4167"/>
              </a:lnSpc>
              <a:buFont typeface="Arial"/>
              <a:buChar char="•"/>
            </a:pPr>
          </a:p>
        </p:txBody>
      </p:sp>
      <p:sp>
        <p:nvSpPr>
          <p:cNvPr name="TextBox 8" id="8"/>
          <p:cNvSpPr txBox="true"/>
          <p:nvPr/>
        </p:nvSpPr>
        <p:spPr>
          <a:xfrm rot="0">
            <a:off x="1853128" y="1497079"/>
            <a:ext cx="8324690" cy="1259355"/>
          </a:xfrm>
          <a:prstGeom prst="rect">
            <a:avLst/>
          </a:prstGeom>
        </p:spPr>
        <p:txBody>
          <a:bodyPr anchor="t" rtlCol="false" tIns="0" lIns="0" bIns="0" rIns="0">
            <a:spAutoFit/>
          </a:bodyPr>
          <a:lstStyle/>
          <a:p>
            <a:pPr algn="l">
              <a:lnSpc>
                <a:spcPts val="10258"/>
              </a:lnSpc>
            </a:pPr>
            <a:r>
              <a:rPr lang="en-US" b="true" sz="7327" spc="688">
                <a:solidFill>
                  <a:srgbClr val="152540"/>
                </a:solidFill>
                <a:latin typeface="Glacial Indifference Bold"/>
                <a:ea typeface="Glacial Indifference Bold"/>
                <a:cs typeface="Glacial Indifference Bold"/>
                <a:sym typeface="Glacial Indifference Bold"/>
              </a:rPr>
              <a:t>BIBLIOGRAFIA</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DAHEc7O9tyM</dc:identifier>
  <dcterms:modified xsi:type="dcterms:W3CDTF">2011-08-01T06:04:30Z</dcterms:modified>
  <cp:revision>1</cp:revision>
  <dc:title>cinepolis</dc:title>
</cp:coreProperties>
</file>