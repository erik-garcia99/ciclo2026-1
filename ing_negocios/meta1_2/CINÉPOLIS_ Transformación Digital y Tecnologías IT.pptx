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Alimama ShuHeiTi" charset="-122" pitchFamily="34"/>
      <p:regular r:id="rId19"/>
    </p:embeddedFont>
    <p:embeddedFont>
      <p:font typeface="LXGW Bright" charset="-122" pitchFamily="34"/>
      <p:regular r:id="rId20"/>
    </p:embeddedFont>
    <p:embeddedFont>
      <p:font typeface="Mi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10f87e3c49cb8266884f825d5e0a70385d35f69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50914">
                  <a:alpha val="80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/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790575"/>
            <a:ext cx="2638425" cy="533400"/>
          </a:xfrm>
          <a:custGeom>
            <a:avLst/>
            <a:gdLst/>
            <a:ahLst/>
            <a:cxnLst/>
            <a:rect l="l" t="t" r="r" b="b"/>
            <a:pathLst>
              <a:path w="2638425" h="533400">
                <a:moveTo>
                  <a:pt x="76202" y="0"/>
                </a:moveTo>
                <a:lnTo>
                  <a:pt x="2562223" y="0"/>
                </a:lnTo>
                <a:cubicBezTo>
                  <a:pt x="2604308" y="0"/>
                  <a:pt x="2638425" y="34117"/>
                  <a:pt x="2638425" y="76202"/>
                </a:cubicBezTo>
                <a:lnTo>
                  <a:pt x="2638425" y="457198"/>
                </a:lnTo>
                <a:cubicBezTo>
                  <a:pt x="2638425" y="499283"/>
                  <a:pt x="2604308" y="533400"/>
                  <a:pt x="25622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938742"/>
            <a:ext cx="22990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spc="90" kern="0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CASO DE ESTUDIO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781043"/>
            <a:ext cx="79248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CINÉPOLIS: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C51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Transformación Digital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y Tecnologías IT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581393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Cómo la cadena cinematográfica líder en América Latina implementó tecnologías innovadoras para alcanzar sus objetivos estratégicos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1241" y="5781543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187523"/>
                </a:moveTo>
                <a:cubicBezTo>
                  <a:pt x="0" y="231893"/>
                  <a:pt x="35998" y="267891"/>
                  <a:pt x="80367" y="267891"/>
                </a:cubicBezTo>
                <a:lnTo>
                  <a:pt x="250031" y="267891"/>
                </a:lnTo>
                <a:cubicBezTo>
                  <a:pt x="289489" y="267891"/>
                  <a:pt x="321469" y="235911"/>
                  <a:pt x="321469" y="196453"/>
                </a:cubicBezTo>
                <a:cubicBezTo>
                  <a:pt x="321469" y="167655"/>
                  <a:pt x="304447" y="142819"/>
                  <a:pt x="279890" y="131545"/>
                </a:cubicBezTo>
                <a:cubicBezTo>
                  <a:pt x="283629" y="124234"/>
                  <a:pt x="285750" y="115919"/>
                  <a:pt x="285750" y="107156"/>
                </a:cubicBezTo>
                <a:cubicBezTo>
                  <a:pt x="285750" y="77577"/>
                  <a:pt x="261751" y="53578"/>
                  <a:pt x="232172" y="53578"/>
                </a:cubicBezTo>
                <a:cubicBezTo>
                  <a:pt x="222293" y="53578"/>
                  <a:pt x="213085" y="56257"/>
                  <a:pt x="205160" y="60889"/>
                </a:cubicBezTo>
                <a:cubicBezTo>
                  <a:pt x="191709" y="35328"/>
                  <a:pt x="164864" y="17859"/>
                  <a:pt x="133945" y="17859"/>
                </a:cubicBezTo>
                <a:cubicBezTo>
                  <a:pt x="89576" y="17859"/>
                  <a:pt x="53578" y="53857"/>
                  <a:pt x="53578" y="98227"/>
                </a:cubicBezTo>
                <a:cubicBezTo>
                  <a:pt x="53578" y="102691"/>
                  <a:pt x="53969" y="107100"/>
                  <a:pt x="54639" y="111342"/>
                </a:cubicBezTo>
                <a:cubicBezTo>
                  <a:pt x="22882" y="122058"/>
                  <a:pt x="0" y="152140"/>
                  <a:pt x="0" y="187523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9" name="Text 6"/>
          <p:cNvSpPr/>
          <p:nvPr/>
        </p:nvSpPr>
        <p:spPr>
          <a:xfrm>
            <a:off x="852488" y="5791068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AWS Cloud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049595" y="5781543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1" name="Text 8"/>
          <p:cNvSpPr/>
          <p:nvPr/>
        </p:nvSpPr>
        <p:spPr>
          <a:xfrm>
            <a:off x="2518701" y="5791068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91038" y="5781543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8930" y="35719"/>
                </a:moveTo>
                <a:cubicBezTo>
                  <a:pt x="8930" y="16018"/>
                  <a:pt x="24947" y="0"/>
                  <a:pt x="44648" y="0"/>
                </a:cubicBezTo>
                <a:lnTo>
                  <a:pt x="169664" y="0"/>
                </a:lnTo>
                <a:cubicBezTo>
                  <a:pt x="189365" y="0"/>
                  <a:pt x="205383" y="16018"/>
                  <a:pt x="205383" y="35719"/>
                </a:cubicBezTo>
                <a:lnTo>
                  <a:pt x="205383" y="250031"/>
                </a:lnTo>
                <a:cubicBezTo>
                  <a:pt x="205383" y="269732"/>
                  <a:pt x="189365" y="285750"/>
                  <a:pt x="169664" y="285750"/>
                </a:cubicBezTo>
                <a:lnTo>
                  <a:pt x="44648" y="285750"/>
                </a:lnTo>
                <a:cubicBezTo>
                  <a:pt x="24947" y="285750"/>
                  <a:pt x="8930" y="269732"/>
                  <a:pt x="8930" y="250031"/>
                </a:cubicBezTo>
                <a:lnTo>
                  <a:pt x="8930" y="35719"/>
                </a:lnTo>
                <a:close/>
                <a:moveTo>
                  <a:pt x="44648" y="35719"/>
                </a:moveTo>
                <a:lnTo>
                  <a:pt x="44648" y="205383"/>
                </a:lnTo>
                <a:lnTo>
                  <a:pt x="169664" y="205383"/>
                </a:lnTo>
                <a:lnTo>
                  <a:pt x="169664" y="35719"/>
                </a:lnTo>
                <a:lnTo>
                  <a:pt x="44648" y="35719"/>
                </a:lnTo>
                <a:close/>
                <a:moveTo>
                  <a:pt x="107156" y="263426"/>
                </a:moveTo>
                <a:cubicBezTo>
                  <a:pt x="117035" y="263426"/>
                  <a:pt x="125016" y="255445"/>
                  <a:pt x="125016" y="245566"/>
                </a:cubicBezTo>
                <a:cubicBezTo>
                  <a:pt x="125016" y="235688"/>
                  <a:pt x="117035" y="227707"/>
                  <a:pt x="107156" y="227707"/>
                </a:cubicBezTo>
                <a:cubicBezTo>
                  <a:pt x="97278" y="227707"/>
                  <a:pt x="89297" y="235688"/>
                  <a:pt x="89297" y="245566"/>
                </a:cubicBezTo>
                <a:cubicBezTo>
                  <a:pt x="89297" y="255445"/>
                  <a:pt x="97278" y="263426"/>
                  <a:pt x="107156" y="263426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3" name="Text 10"/>
          <p:cNvSpPr/>
          <p:nvPr/>
        </p:nvSpPr>
        <p:spPr>
          <a:xfrm>
            <a:off x="4888706" y="5791068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Omnicanalidad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397933" y="1295400"/>
            <a:ext cx="5541433" cy="952500"/>
          </a:xfrm>
          <a:custGeom>
            <a:avLst/>
            <a:gdLst/>
            <a:ahLst/>
            <a:cxnLst/>
            <a:rect l="l" t="t" r="r" b="b"/>
            <a:pathLst>
              <a:path w="5541433" h="952500">
                <a:moveTo>
                  <a:pt x="33867" y="0"/>
                </a:moveTo>
                <a:lnTo>
                  <a:pt x="5427133" y="0"/>
                </a:lnTo>
                <a:cubicBezTo>
                  <a:pt x="5490217" y="0"/>
                  <a:pt x="5541433" y="51216"/>
                  <a:pt x="5541433" y="114300"/>
                </a:cubicBezTo>
                <a:lnTo>
                  <a:pt x="5541433" y="838200"/>
                </a:lnTo>
                <a:cubicBezTo>
                  <a:pt x="5541433" y="901284"/>
                  <a:pt x="5490217" y="952500"/>
                  <a:pt x="5427133" y="952500"/>
                </a:cubicBez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97933" y="1295400"/>
            <a:ext cx="33867" cy="952500"/>
          </a:xfrm>
          <a:custGeom>
            <a:avLst/>
            <a:gdLst/>
            <a:ahLst/>
            <a:cxnLst/>
            <a:rect l="l" t="t" r="r" b="b"/>
            <a:pathLst>
              <a:path w="33867" h="952500">
                <a:moveTo>
                  <a:pt x="33867" y="0"/>
                </a:moveTo>
                <a:lnTo>
                  <a:pt x="33867" y="0"/>
                </a:lnTo>
                <a:lnTo>
                  <a:pt x="33867" y="952500"/>
                </a:ln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6" name="Shape 4"/>
          <p:cNvSpPr/>
          <p:nvPr/>
        </p:nvSpPr>
        <p:spPr>
          <a:xfrm>
            <a:off x="605367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548217" y="14859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1167" y="1485900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Contexto: La Necesidad de Transformación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1167" y="1828800"/>
            <a:ext cx="407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Presiones del mercado y cambios en hábitos de consumo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5333" y="1295400"/>
            <a:ext cx="5541433" cy="952500"/>
          </a:xfrm>
          <a:custGeom>
            <a:avLst/>
            <a:gdLst/>
            <a:ahLst/>
            <a:cxnLst/>
            <a:rect l="l" t="t" r="r" b="b"/>
            <a:pathLst>
              <a:path w="5541433" h="952500">
                <a:moveTo>
                  <a:pt x="33867" y="0"/>
                </a:moveTo>
                <a:lnTo>
                  <a:pt x="5427133" y="0"/>
                </a:lnTo>
                <a:cubicBezTo>
                  <a:pt x="5490217" y="0"/>
                  <a:pt x="5541433" y="51216"/>
                  <a:pt x="5541433" y="114300"/>
                </a:cubicBezTo>
                <a:lnTo>
                  <a:pt x="5541433" y="838200"/>
                </a:lnTo>
                <a:cubicBezTo>
                  <a:pt x="5541433" y="901284"/>
                  <a:pt x="5490217" y="952500"/>
                  <a:pt x="5427133" y="952500"/>
                </a:cubicBez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65333" y="1295400"/>
            <a:ext cx="33867" cy="952500"/>
          </a:xfrm>
          <a:custGeom>
            <a:avLst/>
            <a:gdLst/>
            <a:ahLst/>
            <a:cxnLst/>
            <a:rect l="l" t="t" r="r" b="b"/>
            <a:pathLst>
              <a:path w="33867" h="952500">
                <a:moveTo>
                  <a:pt x="33867" y="0"/>
                </a:moveTo>
                <a:lnTo>
                  <a:pt x="33867" y="0"/>
                </a:lnTo>
                <a:lnTo>
                  <a:pt x="33867" y="952500"/>
                </a:ln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2767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13" name="Text 11"/>
          <p:cNvSpPr/>
          <p:nvPr/>
        </p:nvSpPr>
        <p:spPr>
          <a:xfrm>
            <a:off x="6415617" y="14859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58567" y="1485900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Infraestructura Cloud con AWS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58567" y="1828800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Migración hacia la nube y servicios implementados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7933" y="2438400"/>
            <a:ext cx="5541433" cy="952500"/>
          </a:xfrm>
          <a:custGeom>
            <a:avLst/>
            <a:gdLst/>
            <a:ahLst/>
            <a:cxnLst/>
            <a:rect l="l" t="t" r="r" b="b"/>
            <a:pathLst>
              <a:path w="5541433" h="952500">
                <a:moveTo>
                  <a:pt x="33867" y="0"/>
                </a:moveTo>
                <a:lnTo>
                  <a:pt x="5427133" y="0"/>
                </a:lnTo>
                <a:cubicBezTo>
                  <a:pt x="5490217" y="0"/>
                  <a:pt x="5541433" y="51216"/>
                  <a:pt x="5541433" y="114300"/>
                </a:cubicBezTo>
                <a:lnTo>
                  <a:pt x="5541433" y="838200"/>
                </a:lnTo>
                <a:cubicBezTo>
                  <a:pt x="5541433" y="901284"/>
                  <a:pt x="5490217" y="952500"/>
                  <a:pt x="5427133" y="952500"/>
                </a:cubicBez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97933" y="2438400"/>
            <a:ext cx="33867" cy="952500"/>
          </a:xfrm>
          <a:custGeom>
            <a:avLst/>
            <a:gdLst/>
            <a:ahLst/>
            <a:cxnLst/>
            <a:rect l="l" t="t" r="r" b="b"/>
            <a:pathLst>
              <a:path w="33867" h="952500">
                <a:moveTo>
                  <a:pt x="33867" y="0"/>
                </a:moveTo>
                <a:lnTo>
                  <a:pt x="33867" y="0"/>
                </a:lnTo>
                <a:lnTo>
                  <a:pt x="33867" y="952500"/>
                </a:ln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18" name="Shape 16"/>
          <p:cNvSpPr/>
          <p:nvPr/>
        </p:nvSpPr>
        <p:spPr>
          <a:xfrm>
            <a:off x="605367" y="2628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217" y="26289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91167" y="2628900"/>
            <a:ext cx="3867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Plataforma de Streaming: Cinépolis KLIC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1167" y="2971800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TVOD y complementariedad con negocio físico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5333" y="2438400"/>
            <a:ext cx="5541433" cy="952500"/>
          </a:xfrm>
          <a:custGeom>
            <a:avLst/>
            <a:gdLst/>
            <a:ahLst/>
            <a:cxnLst/>
            <a:rect l="l" t="t" r="r" b="b"/>
            <a:pathLst>
              <a:path w="5541433" h="952500">
                <a:moveTo>
                  <a:pt x="33867" y="0"/>
                </a:moveTo>
                <a:lnTo>
                  <a:pt x="5427133" y="0"/>
                </a:lnTo>
                <a:cubicBezTo>
                  <a:pt x="5490217" y="0"/>
                  <a:pt x="5541433" y="51216"/>
                  <a:pt x="5541433" y="114300"/>
                </a:cubicBezTo>
                <a:lnTo>
                  <a:pt x="5541433" y="838200"/>
                </a:lnTo>
                <a:cubicBezTo>
                  <a:pt x="5541433" y="901284"/>
                  <a:pt x="5490217" y="952500"/>
                  <a:pt x="5427133" y="952500"/>
                </a:cubicBez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65333" y="2438400"/>
            <a:ext cx="33867" cy="952500"/>
          </a:xfrm>
          <a:custGeom>
            <a:avLst/>
            <a:gdLst/>
            <a:ahLst/>
            <a:cxnLst/>
            <a:rect l="l" t="t" r="r" b="b"/>
            <a:pathLst>
              <a:path w="33867" h="952500">
                <a:moveTo>
                  <a:pt x="33867" y="0"/>
                </a:moveTo>
                <a:lnTo>
                  <a:pt x="33867" y="0"/>
                </a:lnTo>
                <a:lnTo>
                  <a:pt x="33867" y="952500"/>
                </a:ln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2767" y="2628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25" name="Text 23"/>
          <p:cNvSpPr/>
          <p:nvPr/>
        </p:nvSpPr>
        <p:spPr>
          <a:xfrm>
            <a:off x="6415617" y="26289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58567" y="2628900"/>
            <a:ext cx="2847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Ecosistema Digital Omnicanal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58567" y="2971800"/>
            <a:ext cx="2828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App, web, kioscos y call center integrados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7933" y="3581400"/>
            <a:ext cx="5541433" cy="952500"/>
          </a:xfrm>
          <a:custGeom>
            <a:avLst/>
            <a:gdLst/>
            <a:ahLst/>
            <a:cxnLst/>
            <a:rect l="l" t="t" r="r" b="b"/>
            <a:pathLst>
              <a:path w="5541433" h="952500">
                <a:moveTo>
                  <a:pt x="33867" y="0"/>
                </a:moveTo>
                <a:lnTo>
                  <a:pt x="5427133" y="0"/>
                </a:lnTo>
                <a:cubicBezTo>
                  <a:pt x="5490217" y="0"/>
                  <a:pt x="5541433" y="51216"/>
                  <a:pt x="5541433" y="114300"/>
                </a:cubicBezTo>
                <a:lnTo>
                  <a:pt x="5541433" y="838200"/>
                </a:lnTo>
                <a:cubicBezTo>
                  <a:pt x="5541433" y="901284"/>
                  <a:pt x="5490217" y="952500"/>
                  <a:pt x="5427133" y="952500"/>
                </a:cubicBez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7933" y="3581400"/>
            <a:ext cx="33867" cy="952500"/>
          </a:xfrm>
          <a:custGeom>
            <a:avLst/>
            <a:gdLst/>
            <a:ahLst/>
            <a:cxnLst/>
            <a:rect l="l" t="t" r="r" b="b"/>
            <a:pathLst>
              <a:path w="33867" h="952500">
                <a:moveTo>
                  <a:pt x="33867" y="0"/>
                </a:moveTo>
                <a:lnTo>
                  <a:pt x="33867" y="0"/>
                </a:lnTo>
                <a:lnTo>
                  <a:pt x="33867" y="952500"/>
                </a:ln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30" name="Shape 28"/>
          <p:cNvSpPr/>
          <p:nvPr/>
        </p:nvSpPr>
        <p:spPr>
          <a:xfrm>
            <a:off x="605367" y="3771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31" name="Text 29"/>
          <p:cNvSpPr/>
          <p:nvPr/>
        </p:nvSpPr>
        <p:spPr>
          <a:xfrm>
            <a:off x="548217" y="37719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91167" y="3771900"/>
            <a:ext cx="2619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Club Cinépolis Digital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1167" y="4114800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Transformación del programa de lealtad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5333" y="3581400"/>
            <a:ext cx="5541433" cy="952500"/>
          </a:xfrm>
          <a:custGeom>
            <a:avLst/>
            <a:gdLst/>
            <a:ahLst/>
            <a:cxnLst/>
            <a:rect l="l" t="t" r="r" b="b"/>
            <a:pathLst>
              <a:path w="5541433" h="952500">
                <a:moveTo>
                  <a:pt x="33867" y="0"/>
                </a:moveTo>
                <a:lnTo>
                  <a:pt x="5427133" y="0"/>
                </a:lnTo>
                <a:cubicBezTo>
                  <a:pt x="5490217" y="0"/>
                  <a:pt x="5541433" y="51216"/>
                  <a:pt x="5541433" y="114300"/>
                </a:cubicBezTo>
                <a:lnTo>
                  <a:pt x="5541433" y="838200"/>
                </a:lnTo>
                <a:cubicBezTo>
                  <a:pt x="5541433" y="901284"/>
                  <a:pt x="5490217" y="952500"/>
                  <a:pt x="5427133" y="952500"/>
                </a:cubicBez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65333" y="3581400"/>
            <a:ext cx="33867" cy="952500"/>
          </a:xfrm>
          <a:custGeom>
            <a:avLst/>
            <a:gdLst/>
            <a:ahLst/>
            <a:cxnLst/>
            <a:rect l="l" t="t" r="r" b="b"/>
            <a:pathLst>
              <a:path w="33867" h="952500">
                <a:moveTo>
                  <a:pt x="33867" y="0"/>
                </a:moveTo>
                <a:lnTo>
                  <a:pt x="33867" y="0"/>
                </a:lnTo>
                <a:lnTo>
                  <a:pt x="33867" y="952500"/>
                </a:ln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36" name="Shape 34"/>
          <p:cNvSpPr/>
          <p:nvPr/>
        </p:nvSpPr>
        <p:spPr>
          <a:xfrm>
            <a:off x="6472767" y="3771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37" name="Text 35"/>
          <p:cNvSpPr/>
          <p:nvPr/>
        </p:nvSpPr>
        <p:spPr>
          <a:xfrm>
            <a:off x="6415617" y="37719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58567" y="3771900"/>
            <a:ext cx="2924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Inteligencia Artificial Aplicada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58567" y="411480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Chatbot y análisis predictivo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97933" y="4724400"/>
            <a:ext cx="5541433" cy="952500"/>
          </a:xfrm>
          <a:custGeom>
            <a:avLst/>
            <a:gdLst/>
            <a:ahLst/>
            <a:cxnLst/>
            <a:rect l="l" t="t" r="r" b="b"/>
            <a:pathLst>
              <a:path w="5541433" h="952500">
                <a:moveTo>
                  <a:pt x="33867" y="0"/>
                </a:moveTo>
                <a:lnTo>
                  <a:pt x="5427133" y="0"/>
                </a:lnTo>
                <a:cubicBezTo>
                  <a:pt x="5490217" y="0"/>
                  <a:pt x="5541433" y="51216"/>
                  <a:pt x="5541433" y="114300"/>
                </a:cubicBezTo>
                <a:lnTo>
                  <a:pt x="5541433" y="838200"/>
                </a:lnTo>
                <a:cubicBezTo>
                  <a:pt x="5541433" y="901284"/>
                  <a:pt x="5490217" y="952500"/>
                  <a:pt x="5427133" y="952500"/>
                </a:cubicBez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7933" y="4724400"/>
            <a:ext cx="33867" cy="952500"/>
          </a:xfrm>
          <a:custGeom>
            <a:avLst/>
            <a:gdLst/>
            <a:ahLst/>
            <a:cxnLst/>
            <a:rect l="l" t="t" r="r" b="b"/>
            <a:pathLst>
              <a:path w="33867" h="952500">
                <a:moveTo>
                  <a:pt x="33867" y="0"/>
                </a:moveTo>
                <a:lnTo>
                  <a:pt x="33867" y="0"/>
                </a:lnTo>
                <a:lnTo>
                  <a:pt x="33867" y="952500"/>
                </a:ln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42" name="Shape 40"/>
          <p:cNvSpPr/>
          <p:nvPr/>
        </p:nvSpPr>
        <p:spPr>
          <a:xfrm>
            <a:off x="605367" y="4914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43" name="Text 41"/>
          <p:cNvSpPr/>
          <p:nvPr/>
        </p:nvSpPr>
        <p:spPr>
          <a:xfrm>
            <a:off x="548217" y="49149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91167" y="4914900"/>
            <a:ext cx="2724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IoT en Operaciones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91167" y="525780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Mantenimiento predictivo de palomiteras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65333" y="4724400"/>
            <a:ext cx="5541433" cy="952500"/>
          </a:xfrm>
          <a:custGeom>
            <a:avLst/>
            <a:gdLst/>
            <a:ahLst/>
            <a:cxnLst/>
            <a:rect l="l" t="t" r="r" b="b"/>
            <a:pathLst>
              <a:path w="5541433" h="952500">
                <a:moveTo>
                  <a:pt x="33867" y="0"/>
                </a:moveTo>
                <a:lnTo>
                  <a:pt x="5427133" y="0"/>
                </a:lnTo>
                <a:cubicBezTo>
                  <a:pt x="5490217" y="0"/>
                  <a:pt x="5541433" y="51216"/>
                  <a:pt x="5541433" y="114300"/>
                </a:cubicBezTo>
                <a:lnTo>
                  <a:pt x="5541433" y="838200"/>
                </a:lnTo>
                <a:cubicBezTo>
                  <a:pt x="5541433" y="901284"/>
                  <a:pt x="5490217" y="952500"/>
                  <a:pt x="5427133" y="952500"/>
                </a:cubicBez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65333" y="4724400"/>
            <a:ext cx="33867" cy="952500"/>
          </a:xfrm>
          <a:custGeom>
            <a:avLst/>
            <a:gdLst/>
            <a:ahLst/>
            <a:cxnLst/>
            <a:rect l="l" t="t" r="r" b="b"/>
            <a:pathLst>
              <a:path w="33867" h="952500">
                <a:moveTo>
                  <a:pt x="33867" y="0"/>
                </a:moveTo>
                <a:lnTo>
                  <a:pt x="33867" y="0"/>
                </a:lnTo>
                <a:lnTo>
                  <a:pt x="33867" y="952500"/>
                </a:ln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48" name="Shape 46"/>
          <p:cNvSpPr/>
          <p:nvPr/>
        </p:nvSpPr>
        <p:spPr>
          <a:xfrm>
            <a:off x="6472767" y="4914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49" name="Text 47"/>
          <p:cNvSpPr/>
          <p:nvPr/>
        </p:nvSpPr>
        <p:spPr>
          <a:xfrm>
            <a:off x="6415617" y="49149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158567" y="4914900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IA Generativa en Marketing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158567" y="525780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Producción de contenido publicitario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97933" y="5867400"/>
            <a:ext cx="5541433" cy="952500"/>
          </a:xfrm>
          <a:custGeom>
            <a:avLst/>
            <a:gdLst/>
            <a:ahLst/>
            <a:cxnLst/>
            <a:rect l="l" t="t" r="r" b="b"/>
            <a:pathLst>
              <a:path w="5541433" h="952500">
                <a:moveTo>
                  <a:pt x="33867" y="0"/>
                </a:moveTo>
                <a:lnTo>
                  <a:pt x="5427133" y="0"/>
                </a:lnTo>
                <a:cubicBezTo>
                  <a:pt x="5490217" y="0"/>
                  <a:pt x="5541433" y="51216"/>
                  <a:pt x="5541433" y="114300"/>
                </a:cubicBezTo>
                <a:lnTo>
                  <a:pt x="5541433" y="838200"/>
                </a:lnTo>
                <a:cubicBezTo>
                  <a:pt x="5541433" y="901284"/>
                  <a:pt x="5490217" y="952500"/>
                  <a:pt x="5427133" y="952500"/>
                </a:cubicBez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97933" y="5867400"/>
            <a:ext cx="33867" cy="952500"/>
          </a:xfrm>
          <a:custGeom>
            <a:avLst/>
            <a:gdLst/>
            <a:ahLst/>
            <a:cxnLst/>
            <a:rect l="l" t="t" r="r" b="b"/>
            <a:pathLst>
              <a:path w="33867" h="952500">
                <a:moveTo>
                  <a:pt x="33867" y="0"/>
                </a:moveTo>
                <a:lnTo>
                  <a:pt x="33867" y="0"/>
                </a:lnTo>
                <a:lnTo>
                  <a:pt x="33867" y="952500"/>
                </a:ln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54" name="Shape 52"/>
          <p:cNvSpPr/>
          <p:nvPr/>
        </p:nvSpPr>
        <p:spPr>
          <a:xfrm>
            <a:off x="605367" y="6057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55" name="Text 53"/>
          <p:cNvSpPr/>
          <p:nvPr/>
        </p:nvSpPr>
        <p:spPr>
          <a:xfrm>
            <a:off x="548217" y="60579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09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291167" y="6057900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Impacto en Objetivos Estratégicos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291167" y="6400800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Conexión tecnologías-resultados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65333" y="5867400"/>
            <a:ext cx="5541433" cy="952500"/>
          </a:xfrm>
          <a:custGeom>
            <a:avLst/>
            <a:gdLst/>
            <a:ahLst/>
            <a:cxnLst/>
            <a:rect l="l" t="t" r="r" b="b"/>
            <a:pathLst>
              <a:path w="5541433" h="952500">
                <a:moveTo>
                  <a:pt x="33867" y="0"/>
                </a:moveTo>
                <a:lnTo>
                  <a:pt x="5427133" y="0"/>
                </a:lnTo>
                <a:cubicBezTo>
                  <a:pt x="5490217" y="0"/>
                  <a:pt x="5541433" y="51216"/>
                  <a:pt x="5541433" y="114300"/>
                </a:cubicBezTo>
                <a:lnTo>
                  <a:pt x="5541433" y="838200"/>
                </a:lnTo>
                <a:cubicBezTo>
                  <a:pt x="5541433" y="901284"/>
                  <a:pt x="5490217" y="952500"/>
                  <a:pt x="5427133" y="952500"/>
                </a:cubicBez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265333" y="5867400"/>
            <a:ext cx="33867" cy="952500"/>
          </a:xfrm>
          <a:custGeom>
            <a:avLst/>
            <a:gdLst/>
            <a:ahLst/>
            <a:cxnLst/>
            <a:rect l="l" t="t" r="r" b="b"/>
            <a:pathLst>
              <a:path w="33867" h="952500">
                <a:moveTo>
                  <a:pt x="33867" y="0"/>
                </a:moveTo>
                <a:lnTo>
                  <a:pt x="33867" y="0"/>
                </a:lnTo>
                <a:lnTo>
                  <a:pt x="33867" y="952500"/>
                </a:lnTo>
                <a:lnTo>
                  <a:pt x="33867" y="952500"/>
                </a:lnTo>
                <a:cubicBezTo>
                  <a:pt x="15163" y="952500"/>
                  <a:pt x="0" y="937337"/>
                  <a:pt x="0" y="9186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60" name="Shape 58"/>
          <p:cNvSpPr/>
          <p:nvPr/>
        </p:nvSpPr>
        <p:spPr>
          <a:xfrm>
            <a:off x="6472767" y="6057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61" name="Text 59"/>
          <p:cNvSpPr/>
          <p:nvPr/>
        </p:nvSpPr>
        <p:spPr>
          <a:xfrm>
            <a:off x="6415617" y="60579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10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158567" y="6057900"/>
            <a:ext cx="273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Conclusiones y Perspectivas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158567" y="6400800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Liderazgo tecnológico estratégico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406" y="380406"/>
            <a:ext cx="1493092" cy="389916"/>
          </a:xfrm>
          <a:custGeom>
            <a:avLst/>
            <a:gdLst/>
            <a:ahLst/>
            <a:cxnLst/>
            <a:rect l="l" t="t" r="r" b="b"/>
            <a:pathLst>
              <a:path w="1493092" h="389916">
                <a:moveTo>
                  <a:pt x="76080" y="0"/>
                </a:moveTo>
                <a:lnTo>
                  <a:pt x="1417012" y="0"/>
                </a:lnTo>
                <a:cubicBezTo>
                  <a:pt x="1459030" y="0"/>
                  <a:pt x="1493092" y="34062"/>
                  <a:pt x="1493092" y="76080"/>
                </a:cubicBezTo>
                <a:lnTo>
                  <a:pt x="1493092" y="313835"/>
                </a:lnTo>
                <a:cubicBezTo>
                  <a:pt x="1493092" y="355853"/>
                  <a:pt x="1459030" y="389916"/>
                  <a:pt x="1417012" y="389916"/>
                </a:cubicBezTo>
                <a:lnTo>
                  <a:pt x="76080" y="389916"/>
                </a:lnTo>
                <a:cubicBezTo>
                  <a:pt x="34090" y="389916"/>
                  <a:pt x="0" y="355825"/>
                  <a:pt x="0" y="313835"/>
                </a:cubicBezTo>
                <a:lnTo>
                  <a:pt x="0" y="76080"/>
                </a:lnTo>
                <a:cubicBezTo>
                  <a:pt x="0" y="34062"/>
                  <a:pt x="34062" y="0"/>
                  <a:pt x="76080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32568" y="498754"/>
            <a:ext cx="1262339" cy="15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spc="60" kern="0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01. CONTEXTO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0406" y="883387"/>
            <a:ext cx="11602371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6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¿Por Qué la Transformación Digital?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7313" y="1492036"/>
            <a:ext cx="7539428" cy="1217298"/>
          </a:xfrm>
          <a:custGeom>
            <a:avLst/>
            <a:gdLst/>
            <a:ahLst/>
            <a:cxnLst/>
            <a:rect l="l" t="t" r="r" b="b"/>
            <a:pathLst>
              <a:path w="7539428" h="1217298">
                <a:moveTo>
                  <a:pt x="33814" y="0"/>
                </a:moveTo>
                <a:lnTo>
                  <a:pt x="7425306" y="0"/>
                </a:lnTo>
                <a:cubicBezTo>
                  <a:pt x="7488334" y="0"/>
                  <a:pt x="7539428" y="51094"/>
                  <a:pt x="7539428" y="114122"/>
                </a:cubicBezTo>
                <a:lnTo>
                  <a:pt x="7539428" y="1103176"/>
                </a:lnTo>
                <a:cubicBezTo>
                  <a:pt x="7539428" y="1166204"/>
                  <a:pt x="7488334" y="1217298"/>
                  <a:pt x="7425306" y="1217298"/>
                </a:cubicBezTo>
                <a:lnTo>
                  <a:pt x="33814" y="1217298"/>
                </a:lnTo>
                <a:cubicBezTo>
                  <a:pt x="15139" y="1217298"/>
                  <a:pt x="0" y="1202159"/>
                  <a:pt x="0" y="1183484"/>
                </a:cubicBezTo>
                <a:lnTo>
                  <a:pt x="0" y="33814"/>
                </a:lnTo>
                <a:cubicBezTo>
                  <a:pt x="0" y="15151"/>
                  <a:pt x="15151" y="0"/>
                  <a:pt x="33814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97313" y="1492036"/>
            <a:ext cx="33814" cy="1217298"/>
          </a:xfrm>
          <a:custGeom>
            <a:avLst/>
            <a:gdLst/>
            <a:ahLst/>
            <a:cxnLst/>
            <a:rect l="l" t="t" r="r" b="b"/>
            <a:pathLst>
              <a:path w="33814" h="1217298">
                <a:moveTo>
                  <a:pt x="33814" y="0"/>
                </a:moveTo>
                <a:lnTo>
                  <a:pt x="33814" y="0"/>
                </a:lnTo>
                <a:lnTo>
                  <a:pt x="33814" y="1217298"/>
                </a:lnTo>
                <a:lnTo>
                  <a:pt x="33814" y="1217298"/>
                </a:lnTo>
                <a:cubicBezTo>
                  <a:pt x="15139" y="1217298"/>
                  <a:pt x="0" y="1202159"/>
                  <a:pt x="0" y="1183484"/>
                </a:cubicBezTo>
                <a:lnTo>
                  <a:pt x="0" y="33814"/>
                </a:lnTo>
                <a:cubicBezTo>
                  <a:pt x="0" y="15151"/>
                  <a:pt x="15151" y="0"/>
                  <a:pt x="33814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7" name="Shape 5"/>
          <p:cNvSpPr/>
          <p:nvPr/>
        </p:nvSpPr>
        <p:spPr>
          <a:xfrm>
            <a:off x="604422" y="1682238"/>
            <a:ext cx="532568" cy="532568"/>
          </a:xfrm>
          <a:custGeom>
            <a:avLst/>
            <a:gdLst/>
            <a:ahLst/>
            <a:cxnLst/>
            <a:rect l="l" t="t" r="r" b="b"/>
            <a:pathLst>
              <a:path w="532568" h="532568">
                <a:moveTo>
                  <a:pt x="266284" y="0"/>
                </a:moveTo>
                <a:lnTo>
                  <a:pt x="266284" y="0"/>
                </a:lnTo>
                <a:cubicBezTo>
                  <a:pt x="413250" y="0"/>
                  <a:pt x="532568" y="119318"/>
                  <a:pt x="532568" y="266284"/>
                </a:cubicBezTo>
                <a:lnTo>
                  <a:pt x="532568" y="266284"/>
                </a:lnTo>
                <a:cubicBezTo>
                  <a:pt x="532568" y="413250"/>
                  <a:pt x="413250" y="532568"/>
                  <a:pt x="266284" y="532568"/>
                </a:cubicBezTo>
                <a:lnTo>
                  <a:pt x="266284" y="532568"/>
                </a:lnTo>
                <a:cubicBezTo>
                  <a:pt x="119318" y="532568"/>
                  <a:pt x="0" y="413250"/>
                  <a:pt x="0" y="266284"/>
                </a:cubicBezTo>
                <a:lnTo>
                  <a:pt x="0" y="266284"/>
                </a:lnTo>
                <a:cubicBezTo>
                  <a:pt x="0" y="119318"/>
                  <a:pt x="119318" y="0"/>
                  <a:pt x="266284" y="0"/>
                </a:cubicBezTo>
                <a:close/>
              </a:path>
            </a:pathLst>
          </a:custGeom>
          <a:solidFill>
            <a:srgbClr val="E50914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2319" y="1834401"/>
            <a:ext cx="256774" cy="228243"/>
          </a:xfrm>
          <a:custGeom>
            <a:avLst/>
            <a:gdLst/>
            <a:ahLst/>
            <a:cxnLst/>
            <a:rect l="l" t="t" r="r" b="b"/>
            <a:pathLst>
              <a:path w="256774" h="228243">
                <a:moveTo>
                  <a:pt x="18277" y="-11100"/>
                </a:moveTo>
                <a:cubicBezTo>
                  <a:pt x="14087" y="-15291"/>
                  <a:pt x="7311" y="-15291"/>
                  <a:pt x="3165" y="-11100"/>
                </a:cubicBezTo>
                <a:cubicBezTo>
                  <a:pt x="-981" y="-6910"/>
                  <a:pt x="-1025" y="-134"/>
                  <a:pt x="3121" y="4057"/>
                </a:cubicBezTo>
                <a:lnTo>
                  <a:pt x="238496" y="239433"/>
                </a:lnTo>
                <a:cubicBezTo>
                  <a:pt x="242687" y="243623"/>
                  <a:pt x="249463" y="243623"/>
                  <a:pt x="253609" y="239433"/>
                </a:cubicBezTo>
                <a:cubicBezTo>
                  <a:pt x="257755" y="235242"/>
                  <a:pt x="257799" y="228466"/>
                  <a:pt x="253609" y="224320"/>
                </a:cubicBezTo>
                <a:lnTo>
                  <a:pt x="227486" y="198197"/>
                </a:lnTo>
                <a:cubicBezTo>
                  <a:pt x="227976" y="196414"/>
                  <a:pt x="228199" y="194542"/>
                  <a:pt x="228199" y="192625"/>
                </a:cubicBezTo>
                <a:lnTo>
                  <a:pt x="228199" y="125222"/>
                </a:lnTo>
                <a:cubicBezTo>
                  <a:pt x="222626" y="127272"/>
                  <a:pt x="216564" y="128431"/>
                  <a:pt x="210144" y="128431"/>
                </a:cubicBezTo>
                <a:cubicBezTo>
                  <a:pt x="206534" y="128431"/>
                  <a:pt x="203056" y="128075"/>
                  <a:pt x="199668" y="127362"/>
                </a:cubicBezTo>
                <a:lnTo>
                  <a:pt x="199668" y="156962"/>
                </a:lnTo>
                <a:lnTo>
                  <a:pt x="186206" y="156962"/>
                </a:lnTo>
                <a:lnTo>
                  <a:pt x="124910" y="95666"/>
                </a:lnTo>
                <a:cubicBezTo>
                  <a:pt x="126203" y="94061"/>
                  <a:pt x="127362" y="92367"/>
                  <a:pt x="128298" y="90540"/>
                </a:cubicBezTo>
                <a:cubicBezTo>
                  <a:pt x="133469" y="100347"/>
                  <a:pt x="143767" y="107034"/>
                  <a:pt x="155625" y="107034"/>
                </a:cubicBezTo>
                <a:cubicBezTo>
                  <a:pt x="167572" y="107034"/>
                  <a:pt x="177825" y="100302"/>
                  <a:pt x="182996" y="90495"/>
                </a:cubicBezTo>
                <a:cubicBezTo>
                  <a:pt x="188078" y="100347"/>
                  <a:pt x="198376" y="107034"/>
                  <a:pt x="210100" y="107034"/>
                </a:cubicBezTo>
                <a:cubicBezTo>
                  <a:pt x="230428" y="107034"/>
                  <a:pt x="245050" y="87553"/>
                  <a:pt x="239343" y="68027"/>
                </a:cubicBezTo>
                <a:lnTo>
                  <a:pt x="229046" y="32230"/>
                </a:lnTo>
                <a:cubicBezTo>
                  <a:pt x="225925" y="21576"/>
                  <a:pt x="216163" y="14265"/>
                  <a:pt x="205062" y="14265"/>
                </a:cubicBezTo>
                <a:lnTo>
                  <a:pt x="51711" y="14265"/>
                </a:lnTo>
                <a:cubicBezTo>
                  <a:pt x="49260" y="14265"/>
                  <a:pt x="46897" y="14622"/>
                  <a:pt x="44623" y="15291"/>
                </a:cubicBezTo>
                <a:lnTo>
                  <a:pt x="18277" y="-11100"/>
                </a:lnTo>
                <a:close/>
                <a:moveTo>
                  <a:pt x="67537" y="98653"/>
                </a:moveTo>
                <a:lnTo>
                  <a:pt x="21710" y="52870"/>
                </a:lnTo>
                <a:lnTo>
                  <a:pt x="17341" y="67983"/>
                </a:lnTo>
                <a:cubicBezTo>
                  <a:pt x="11635" y="87464"/>
                  <a:pt x="26257" y="106989"/>
                  <a:pt x="46585" y="106989"/>
                </a:cubicBezTo>
                <a:cubicBezTo>
                  <a:pt x="54654" y="106989"/>
                  <a:pt x="62054" y="103824"/>
                  <a:pt x="67537" y="98653"/>
                </a:cubicBezTo>
                <a:close/>
                <a:moveTo>
                  <a:pt x="182862" y="213978"/>
                </a:moveTo>
                <a:lnTo>
                  <a:pt x="125801" y="156917"/>
                </a:lnTo>
                <a:lnTo>
                  <a:pt x="57061" y="156917"/>
                </a:lnTo>
                <a:lnTo>
                  <a:pt x="57061" y="127317"/>
                </a:lnTo>
                <a:cubicBezTo>
                  <a:pt x="53673" y="128030"/>
                  <a:pt x="50151" y="128387"/>
                  <a:pt x="46585" y="128387"/>
                </a:cubicBezTo>
                <a:cubicBezTo>
                  <a:pt x="40165" y="128387"/>
                  <a:pt x="34103" y="127228"/>
                  <a:pt x="28530" y="125177"/>
                </a:cubicBezTo>
                <a:lnTo>
                  <a:pt x="28530" y="192580"/>
                </a:lnTo>
                <a:cubicBezTo>
                  <a:pt x="28530" y="204394"/>
                  <a:pt x="38115" y="213978"/>
                  <a:pt x="49928" y="213978"/>
                </a:cubicBezTo>
                <a:lnTo>
                  <a:pt x="182862" y="213978"/>
                </a:ln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9" name="Text 7"/>
          <p:cNvSpPr/>
          <p:nvPr/>
        </p:nvSpPr>
        <p:spPr>
          <a:xfrm>
            <a:off x="1289152" y="1682238"/>
            <a:ext cx="6552487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Saturación del Mercado Físico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9152" y="2024603"/>
            <a:ext cx="6533466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El crecimiento orgánico de salas tradicionales alcanzó límites en mercados maduros, requiriendo nuevos canales de ingresos.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7313" y="2861496"/>
            <a:ext cx="7539428" cy="1217298"/>
          </a:xfrm>
          <a:custGeom>
            <a:avLst/>
            <a:gdLst/>
            <a:ahLst/>
            <a:cxnLst/>
            <a:rect l="l" t="t" r="r" b="b"/>
            <a:pathLst>
              <a:path w="7539428" h="1217298">
                <a:moveTo>
                  <a:pt x="33814" y="0"/>
                </a:moveTo>
                <a:lnTo>
                  <a:pt x="7425306" y="0"/>
                </a:lnTo>
                <a:cubicBezTo>
                  <a:pt x="7488334" y="0"/>
                  <a:pt x="7539428" y="51094"/>
                  <a:pt x="7539428" y="114122"/>
                </a:cubicBezTo>
                <a:lnTo>
                  <a:pt x="7539428" y="1103176"/>
                </a:lnTo>
                <a:cubicBezTo>
                  <a:pt x="7539428" y="1166204"/>
                  <a:pt x="7488334" y="1217298"/>
                  <a:pt x="7425306" y="1217298"/>
                </a:cubicBezTo>
                <a:lnTo>
                  <a:pt x="33814" y="1217298"/>
                </a:lnTo>
                <a:cubicBezTo>
                  <a:pt x="15139" y="1217298"/>
                  <a:pt x="0" y="1202159"/>
                  <a:pt x="0" y="1183484"/>
                </a:cubicBezTo>
                <a:lnTo>
                  <a:pt x="0" y="33814"/>
                </a:lnTo>
                <a:cubicBezTo>
                  <a:pt x="0" y="15151"/>
                  <a:pt x="15151" y="0"/>
                  <a:pt x="33814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97313" y="2861496"/>
            <a:ext cx="33814" cy="1217298"/>
          </a:xfrm>
          <a:custGeom>
            <a:avLst/>
            <a:gdLst/>
            <a:ahLst/>
            <a:cxnLst/>
            <a:rect l="l" t="t" r="r" b="b"/>
            <a:pathLst>
              <a:path w="33814" h="1217298">
                <a:moveTo>
                  <a:pt x="33814" y="0"/>
                </a:moveTo>
                <a:lnTo>
                  <a:pt x="33814" y="0"/>
                </a:lnTo>
                <a:lnTo>
                  <a:pt x="33814" y="1217298"/>
                </a:lnTo>
                <a:lnTo>
                  <a:pt x="33814" y="1217298"/>
                </a:lnTo>
                <a:cubicBezTo>
                  <a:pt x="15139" y="1217298"/>
                  <a:pt x="0" y="1202159"/>
                  <a:pt x="0" y="1183484"/>
                </a:cubicBezTo>
                <a:lnTo>
                  <a:pt x="0" y="33814"/>
                </a:lnTo>
                <a:cubicBezTo>
                  <a:pt x="0" y="15151"/>
                  <a:pt x="15151" y="0"/>
                  <a:pt x="33814" y="0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3" name="Shape 11"/>
          <p:cNvSpPr/>
          <p:nvPr/>
        </p:nvSpPr>
        <p:spPr>
          <a:xfrm>
            <a:off x="604422" y="3051699"/>
            <a:ext cx="532568" cy="532568"/>
          </a:xfrm>
          <a:custGeom>
            <a:avLst/>
            <a:gdLst/>
            <a:ahLst/>
            <a:cxnLst/>
            <a:rect l="l" t="t" r="r" b="b"/>
            <a:pathLst>
              <a:path w="532568" h="532568">
                <a:moveTo>
                  <a:pt x="266284" y="0"/>
                </a:moveTo>
                <a:lnTo>
                  <a:pt x="266284" y="0"/>
                </a:lnTo>
                <a:cubicBezTo>
                  <a:pt x="413250" y="0"/>
                  <a:pt x="532568" y="119318"/>
                  <a:pt x="532568" y="266284"/>
                </a:cubicBezTo>
                <a:lnTo>
                  <a:pt x="532568" y="266284"/>
                </a:lnTo>
                <a:cubicBezTo>
                  <a:pt x="532568" y="413250"/>
                  <a:pt x="413250" y="532568"/>
                  <a:pt x="266284" y="532568"/>
                </a:cubicBezTo>
                <a:lnTo>
                  <a:pt x="266284" y="532568"/>
                </a:lnTo>
                <a:cubicBezTo>
                  <a:pt x="119318" y="532568"/>
                  <a:pt x="0" y="413250"/>
                  <a:pt x="0" y="266284"/>
                </a:cubicBezTo>
                <a:lnTo>
                  <a:pt x="0" y="266284"/>
                </a:lnTo>
                <a:cubicBezTo>
                  <a:pt x="0" y="119318"/>
                  <a:pt x="119318" y="0"/>
                  <a:pt x="266284" y="0"/>
                </a:cubicBezTo>
                <a:close/>
              </a:path>
            </a:pathLst>
          </a:custGeom>
          <a:solidFill>
            <a:srgbClr val="F5C518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6585" y="3203861"/>
            <a:ext cx="228243" cy="228243"/>
          </a:xfrm>
          <a:custGeom>
            <a:avLst/>
            <a:gdLst/>
            <a:ahLst/>
            <a:cxnLst/>
            <a:rect l="l" t="t" r="r" b="b"/>
            <a:pathLst>
              <a:path w="228243" h="228243">
                <a:moveTo>
                  <a:pt x="131953" y="17832"/>
                </a:moveTo>
                <a:cubicBezTo>
                  <a:pt x="131953" y="7980"/>
                  <a:pt x="123974" y="0"/>
                  <a:pt x="114122" y="0"/>
                </a:cubicBezTo>
                <a:cubicBezTo>
                  <a:pt x="104270" y="0"/>
                  <a:pt x="96290" y="7980"/>
                  <a:pt x="96290" y="17832"/>
                </a:cubicBezTo>
                <a:cubicBezTo>
                  <a:pt x="96290" y="37491"/>
                  <a:pt x="72530" y="47298"/>
                  <a:pt x="58621" y="33434"/>
                </a:cubicBezTo>
                <a:cubicBezTo>
                  <a:pt x="51667" y="26480"/>
                  <a:pt x="40388" y="26480"/>
                  <a:pt x="33390" y="33434"/>
                </a:cubicBezTo>
                <a:cubicBezTo>
                  <a:pt x="26391" y="40388"/>
                  <a:pt x="26435" y="51667"/>
                  <a:pt x="33390" y="58666"/>
                </a:cubicBezTo>
                <a:cubicBezTo>
                  <a:pt x="47298" y="72574"/>
                  <a:pt x="37446" y="96335"/>
                  <a:pt x="17787" y="96335"/>
                </a:cubicBezTo>
                <a:cubicBezTo>
                  <a:pt x="7935" y="96335"/>
                  <a:pt x="-45" y="104314"/>
                  <a:pt x="-45" y="114166"/>
                </a:cubicBezTo>
                <a:cubicBezTo>
                  <a:pt x="-45" y="124018"/>
                  <a:pt x="7935" y="131998"/>
                  <a:pt x="17787" y="131998"/>
                </a:cubicBezTo>
                <a:cubicBezTo>
                  <a:pt x="37446" y="131998"/>
                  <a:pt x="47254" y="155758"/>
                  <a:pt x="33390" y="169667"/>
                </a:cubicBezTo>
                <a:cubicBezTo>
                  <a:pt x="26435" y="176621"/>
                  <a:pt x="26435" y="187900"/>
                  <a:pt x="33390" y="194898"/>
                </a:cubicBezTo>
                <a:cubicBezTo>
                  <a:pt x="40344" y="201897"/>
                  <a:pt x="51622" y="201853"/>
                  <a:pt x="58621" y="194898"/>
                </a:cubicBezTo>
                <a:cubicBezTo>
                  <a:pt x="72530" y="180990"/>
                  <a:pt x="96290" y="190842"/>
                  <a:pt x="96290" y="210501"/>
                </a:cubicBezTo>
                <a:cubicBezTo>
                  <a:pt x="96290" y="220353"/>
                  <a:pt x="104270" y="228333"/>
                  <a:pt x="114122" y="228333"/>
                </a:cubicBezTo>
                <a:cubicBezTo>
                  <a:pt x="123974" y="228333"/>
                  <a:pt x="131953" y="220353"/>
                  <a:pt x="131953" y="210501"/>
                </a:cubicBezTo>
                <a:cubicBezTo>
                  <a:pt x="131953" y="190842"/>
                  <a:pt x="155714" y="181034"/>
                  <a:pt x="169622" y="194898"/>
                </a:cubicBezTo>
                <a:cubicBezTo>
                  <a:pt x="176577" y="201853"/>
                  <a:pt x="187855" y="201853"/>
                  <a:pt x="194854" y="194898"/>
                </a:cubicBezTo>
                <a:cubicBezTo>
                  <a:pt x="201853" y="187944"/>
                  <a:pt x="201808" y="176666"/>
                  <a:pt x="194854" y="169667"/>
                </a:cubicBezTo>
                <a:cubicBezTo>
                  <a:pt x="180945" y="155758"/>
                  <a:pt x="190797" y="131998"/>
                  <a:pt x="210456" y="131998"/>
                </a:cubicBezTo>
                <a:cubicBezTo>
                  <a:pt x="220308" y="131998"/>
                  <a:pt x="228288" y="124018"/>
                  <a:pt x="228288" y="114166"/>
                </a:cubicBezTo>
                <a:cubicBezTo>
                  <a:pt x="228288" y="104314"/>
                  <a:pt x="220308" y="96335"/>
                  <a:pt x="210456" y="96335"/>
                </a:cubicBezTo>
                <a:cubicBezTo>
                  <a:pt x="190797" y="96335"/>
                  <a:pt x="180990" y="72574"/>
                  <a:pt x="194854" y="58666"/>
                </a:cubicBezTo>
                <a:cubicBezTo>
                  <a:pt x="201808" y="51711"/>
                  <a:pt x="201808" y="40433"/>
                  <a:pt x="194854" y="33434"/>
                </a:cubicBezTo>
                <a:cubicBezTo>
                  <a:pt x="187900" y="26435"/>
                  <a:pt x="176621" y="26480"/>
                  <a:pt x="169622" y="33434"/>
                </a:cubicBezTo>
                <a:cubicBezTo>
                  <a:pt x="155714" y="47298"/>
                  <a:pt x="131953" y="37491"/>
                  <a:pt x="131953" y="17832"/>
                </a:cubicBezTo>
                <a:close/>
                <a:moveTo>
                  <a:pt x="71326" y="99856"/>
                </a:moveTo>
                <a:cubicBezTo>
                  <a:pt x="71326" y="91983"/>
                  <a:pt x="77718" y="85591"/>
                  <a:pt x="85591" y="85591"/>
                </a:cubicBezTo>
                <a:cubicBezTo>
                  <a:pt x="93464" y="85591"/>
                  <a:pt x="99856" y="91983"/>
                  <a:pt x="99856" y="99856"/>
                </a:cubicBezTo>
                <a:cubicBezTo>
                  <a:pt x="99856" y="107730"/>
                  <a:pt x="93464" y="114122"/>
                  <a:pt x="85591" y="114122"/>
                </a:cubicBezTo>
                <a:cubicBezTo>
                  <a:pt x="77718" y="114122"/>
                  <a:pt x="71326" y="107730"/>
                  <a:pt x="71326" y="99856"/>
                </a:cubicBezTo>
                <a:close/>
                <a:moveTo>
                  <a:pt x="142652" y="114122"/>
                </a:moveTo>
                <a:cubicBezTo>
                  <a:pt x="150525" y="114122"/>
                  <a:pt x="156917" y="120514"/>
                  <a:pt x="156917" y="128387"/>
                </a:cubicBezTo>
                <a:cubicBezTo>
                  <a:pt x="156917" y="136260"/>
                  <a:pt x="150525" y="142652"/>
                  <a:pt x="142652" y="142652"/>
                </a:cubicBezTo>
                <a:cubicBezTo>
                  <a:pt x="134779" y="142652"/>
                  <a:pt x="128387" y="136260"/>
                  <a:pt x="128387" y="128387"/>
                </a:cubicBezTo>
                <a:cubicBezTo>
                  <a:pt x="128387" y="120514"/>
                  <a:pt x="134779" y="114122"/>
                  <a:pt x="142652" y="114122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5" name="Text 13"/>
          <p:cNvSpPr/>
          <p:nvPr/>
        </p:nvSpPr>
        <p:spPr>
          <a:xfrm>
            <a:off x="1289152" y="3051699"/>
            <a:ext cx="6552487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Cambio en Hábitos de Consumo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9152" y="3394064"/>
            <a:ext cx="6533466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La pandemia de 2020 aceleró la adopción digital, con audiencias valorando accesibilidad, diversidad y personalización.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7313" y="4230956"/>
            <a:ext cx="7539428" cy="1217298"/>
          </a:xfrm>
          <a:custGeom>
            <a:avLst/>
            <a:gdLst/>
            <a:ahLst/>
            <a:cxnLst/>
            <a:rect l="l" t="t" r="r" b="b"/>
            <a:pathLst>
              <a:path w="7539428" h="1217298">
                <a:moveTo>
                  <a:pt x="33814" y="0"/>
                </a:moveTo>
                <a:lnTo>
                  <a:pt x="7425306" y="0"/>
                </a:lnTo>
                <a:cubicBezTo>
                  <a:pt x="7488334" y="0"/>
                  <a:pt x="7539428" y="51094"/>
                  <a:pt x="7539428" y="114122"/>
                </a:cubicBezTo>
                <a:lnTo>
                  <a:pt x="7539428" y="1103176"/>
                </a:lnTo>
                <a:cubicBezTo>
                  <a:pt x="7539428" y="1166204"/>
                  <a:pt x="7488334" y="1217298"/>
                  <a:pt x="7425306" y="1217298"/>
                </a:cubicBezTo>
                <a:lnTo>
                  <a:pt x="33814" y="1217298"/>
                </a:lnTo>
                <a:cubicBezTo>
                  <a:pt x="15139" y="1217298"/>
                  <a:pt x="0" y="1202159"/>
                  <a:pt x="0" y="1183484"/>
                </a:cubicBezTo>
                <a:lnTo>
                  <a:pt x="0" y="33814"/>
                </a:lnTo>
                <a:cubicBezTo>
                  <a:pt x="0" y="15151"/>
                  <a:pt x="15151" y="0"/>
                  <a:pt x="33814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97313" y="4230956"/>
            <a:ext cx="33814" cy="1217298"/>
          </a:xfrm>
          <a:custGeom>
            <a:avLst/>
            <a:gdLst/>
            <a:ahLst/>
            <a:cxnLst/>
            <a:rect l="l" t="t" r="r" b="b"/>
            <a:pathLst>
              <a:path w="33814" h="1217298">
                <a:moveTo>
                  <a:pt x="33814" y="0"/>
                </a:moveTo>
                <a:lnTo>
                  <a:pt x="33814" y="0"/>
                </a:lnTo>
                <a:lnTo>
                  <a:pt x="33814" y="1217298"/>
                </a:lnTo>
                <a:lnTo>
                  <a:pt x="33814" y="1217298"/>
                </a:lnTo>
                <a:cubicBezTo>
                  <a:pt x="15139" y="1217298"/>
                  <a:pt x="0" y="1202159"/>
                  <a:pt x="0" y="1183484"/>
                </a:cubicBezTo>
                <a:lnTo>
                  <a:pt x="0" y="33814"/>
                </a:lnTo>
                <a:cubicBezTo>
                  <a:pt x="0" y="15151"/>
                  <a:pt x="15151" y="0"/>
                  <a:pt x="33814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19" name="Shape 17"/>
          <p:cNvSpPr/>
          <p:nvPr/>
        </p:nvSpPr>
        <p:spPr>
          <a:xfrm>
            <a:off x="604422" y="4421159"/>
            <a:ext cx="532568" cy="532568"/>
          </a:xfrm>
          <a:custGeom>
            <a:avLst/>
            <a:gdLst/>
            <a:ahLst/>
            <a:cxnLst/>
            <a:rect l="l" t="t" r="r" b="b"/>
            <a:pathLst>
              <a:path w="532568" h="532568">
                <a:moveTo>
                  <a:pt x="266284" y="0"/>
                </a:moveTo>
                <a:lnTo>
                  <a:pt x="266284" y="0"/>
                </a:lnTo>
                <a:cubicBezTo>
                  <a:pt x="413250" y="0"/>
                  <a:pt x="532568" y="119318"/>
                  <a:pt x="532568" y="266284"/>
                </a:cubicBezTo>
                <a:lnTo>
                  <a:pt x="532568" y="266284"/>
                </a:lnTo>
                <a:cubicBezTo>
                  <a:pt x="532568" y="413250"/>
                  <a:pt x="413250" y="532568"/>
                  <a:pt x="266284" y="532568"/>
                </a:cubicBezTo>
                <a:lnTo>
                  <a:pt x="266284" y="532568"/>
                </a:lnTo>
                <a:cubicBezTo>
                  <a:pt x="119318" y="532568"/>
                  <a:pt x="0" y="413250"/>
                  <a:pt x="0" y="266284"/>
                </a:cubicBezTo>
                <a:lnTo>
                  <a:pt x="0" y="266284"/>
                </a:lnTo>
                <a:cubicBezTo>
                  <a:pt x="0" y="119318"/>
                  <a:pt x="119318" y="0"/>
                  <a:pt x="266284" y="0"/>
                </a:cubicBezTo>
                <a:close/>
              </a:path>
            </a:pathLst>
          </a:custGeom>
          <a:solidFill>
            <a:srgbClr val="E50914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2319" y="4573321"/>
            <a:ext cx="256774" cy="228243"/>
          </a:xfrm>
          <a:custGeom>
            <a:avLst/>
            <a:gdLst/>
            <a:ahLst/>
            <a:cxnLst/>
            <a:rect l="l" t="t" r="r" b="b"/>
            <a:pathLst>
              <a:path w="256774" h="228243">
                <a:moveTo>
                  <a:pt x="28530" y="42796"/>
                </a:moveTo>
                <a:lnTo>
                  <a:pt x="28530" y="149785"/>
                </a:lnTo>
                <a:lnTo>
                  <a:pt x="228243" y="149785"/>
                </a:lnTo>
                <a:lnTo>
                  <a:pt x="228243" y="42796"/>
                </a:lnTo>
                <a:lnTo>
                  <a:pt x="28530" y="42796"/>
                </a:lnTo>
                <a:close/>
                <a:moveTo>
                  <a:pt x="0" y="42796"/>
                </a:moveTo>
                <a:cubicBezTo>
                  <a:pt x="0" y="27059"/>
                  <a:pt x="12794" y="14265"/>
                  <a:pt x="28530" y="14265"/>
                </a:cubicBezTo>
                <a:lnTo>
                  <a:pt x="228243" y="14265"/>
                </a:lnTo>
                <a:cubicBezTo>
                  <a:pt x="243980" y="14265"/>
                  <a:pt x="256774" y="27059"/>
                  <a:pt x="256774" y="42796"/>
                </a:cubicBezTo>
                <a:lnTo>
                  <a:pt x="256774" y="149785"/>
                </a:lnTo>
                <a:cubicBezTo>
                  <a:pt x="256774" y="165521"/>
                  <a:pt x="243980" y="178315"/>
                  <a:pt x="228243" y="178315"/>
                </a:cubicBezTo>
                <a:lnTo>
                  <a:pt x="28530" y="178315"/>
                </a:lnTo>
                <a:cubicBezTo>
                  <a:pt x="12794" y="178315"/>
                  <a:pt x="0" y="165521"/>
                  <a:pt x="0" y="149785"/>
                </a:cubicBezTo>
                <a:lnTo>
                  <a:pt x="0" y="42796"/>
                </a:lnTo>
                <a:close/>
                <a:moveTo>
                  <a:pt x="71326" y="199713"/>
                </a:moveTo>
                <a:lnTo>
                  <a:pt x="185448" y="199713"/>
                </a:lnTo>
                <a:cubicBezTo>
                  <a:pt x="193338" y="199713"/>
                  <a:pt x="199713" y="206088"/>
                  <a:pt x="199713" y="213978"/>
                </a:cubicBezTo>
                <a:cubicBezTo>
                  <a:pt x="199713" y="221869"/>
                  <a:pt x="193338" y="228243"/>
                  <a:pt x="185448" y="228243"/>
                </a:cubicBezTo>
                <a:lnTo>
                  <a:pt x="71326" y="228243"/>
                </a:lnTo>
                <a:cubicBezTo>
                  <a:pt x="63436" y="228243"/>
                  <a:pt x="57061" y="221869"/>
                  <a:pt x="57061" y="213978"/>
                </a:cubicBezTo>
                <a:cubicBezTo>
                  <a:pt x="57061" y="206088"/>
                  <a:pt x="63436" y="199713"/>
                  <a:pt x="71326" y="199713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21" name="Text 19"/>
          <p:cNvSpPr/>
          <p:nvPr/>
        </p:nvSpPr>
        <p:spPr>
          <a:xfrm>
            <a:off x="1289152" y="4421159"/>
            <a:ext cx="6552487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Competencia de Streaming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9152" y="4763524"/>
            <a:ext cx="6533466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Plataformas como Netflix y Disney+ redefinieron la experiencia de entretenimiento en casa, amenazando el modelo tradicional de exhibición.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26547" y="1492036"/>
            <a:ext cx="3680424" cy="2054190"/>
          </a:xfrm>
          <a:custGeom>
            <a:avLst/>
            <a:gdLst/>
            <a:ahLst/>
            <a:cxnLst/>
            <a:rect l="l" t="t" r="r" b="b"/>
            <a:pathLst>
              <a:path w="3680424" h="2054190">
                <a:moveTo>
                  <a:pt x="114131" y="0"/>
                </a:moveTo>
                <a:lnTo>
                  <a:pt x="3566294" y="0"/>
                </a:lnTo>
                <a:cubicBezTo>
                  <a:pt x="3629326" y="0"/>
                  <a:pt x="3680424" y="51098"/>
                  <a:pt x="3680424" y="114131"/>
                </a:cubicBezTo>
                <a:lnTo>
                  <a:pt x="3680424" y="1940060"/>
                </a:lnTo>
                <a:cubicBezTo>
                  <a:pt x="3680424" y="2003092"/>
                  <a:pt x="3629326" y="2054190"/>
                  <a:pt x="3566294" y="2054190"/>
                </a:cubicBezTo>
                <a:lnTo>
                  <a:pt x="114131" y="2054190"/>
                </a:lnTo>
                <a:cubicBezTo>
                  <a:pt x="51098" y="2054190"/>
                  <a:pt x="0" y="2003092"/>
                  <a:pt x="0" y="1940060"/>
                </a:cubicBezTo>
                <a:lnTo>
                  <a:pt x="0" y="114131"/>
                </a:lnTo>
                <a:cubicBezTo>
                  <a:pt x="0" y="51140"/>
                  <a:pt x="51140" y="0"/>
                  <a:pt x="114131" y="0"/>
                </a:cubicBezTo>
                <a:close/>
              </a:path>
            </a:pathLst>
          </a:custGeom>
          <a:gradFill rotWithShape="1" flip="none">
            <a:gsLst>
              <a:gs pos="0">
                <a:srgbClr val="E50914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9825296" y="1720279"/>
            <a:ext cx="285304" cy="456487"/>
          </a:xfrm>
          <a:custGeom>
            <a:avLst/>
            <a:gdLst/>
            <a:ahLst/>
            <a:cxnLst/>
            <a:rect l="l" t="t" r="r" b="b"/>
            <a:pathLst>
              <a:path w="285304" h="456487">
                <a:moveTo>
                  <a:pt x="121254" y="21398"/>
                </a:moveTo>
                <a:cubicBezTo>
                  <a:pt x="121254" y="9540"/>
                  <a:pt x="130794" y="0"/>
                  <a:pt x="142652" y="0"/>
                </a:cubicBezTo>
                <a:cubicBezTo>
                  <a:pt x="154510" y="0"/>
                  <a:pt x="164050" y="9540"/>
                  <a:pt x="164050" y="21398"/>
                </a:cubicBezTo>
                <a:lnTo>
                  <a:pt x="164050" y="57061"/>
                </a:lnTo>
                <a:lnTo>
                  <a:pt x="213978" y="57061"/>
                </a:lnTo>
                <a:cubicBezTo>
                  <a:pt x="229759" y="57061"/>
                  <a:pt x="242509" y="69810"/>
                  <a:pt x="242509" y="85591"/>
                </a:cubicBezTo>
                <a:cubicBezTo>
                  <a:pt x="242509" y="101372"/>
                  <a:pt x="229759" y="114122"/>
                  <a:pt x="213978" y="114122"/>
                </a:cubicBezTo>
                <a:lnTo>
                  <a:pt x="111536" y="114122"/>
                </a:lnTo>
                <a:cubicBezTo>
                  <a:pt x="89336" y="114122"/>
                  <a:pt x="71326" y="132132"/>
                  <a:pt x="71326" y="154332"/>
                </a:cubicBezTo>
                <a:cubicBezTo>
                  <a:pt x="71326" y="174392"/>
                  <a:pt x="86037" y="191332"/>
                  <a:pt x="105830" y="194185"/>
                </a:cubicBezTo>
                <a:lnTo>
                  <a:pt x="187498" y="205865"/>
                </a:lnTo>
                <a:cubicBezTo>
                  <a:pt x="235465" y="212730"/>
                  <a:pt x="271039" y="253742"/>
                  <a:pt x="271039" y="302155"/>
                </a:cubicBezTo>
                <a:cubicBezTo>
                  <a:pt x="271039" y="355917"/>
                  <a:pt x="227441" y="399426"/>
                  <a:pt x="173768" y="399426"/>
                </a:cubicBezTo>
                <a:lnTo>
                  <a:pt x="164050" y="399426"/>
                </a:lnTo>
                <a:lnTo>
                  <a:pt x="164050" y="435089"/>
                </a:lnTo>
                <a:cubicBezTo>
                  <a:pt x="164050" y="446947"/>
                  <a:pt x="154510" y="456487"/>
                  <a:pt x="142652" y="456487"/>
                </a:cubicBezTo>
                <a:cubicBezTo>
                  <a:pt x="130794" y="456487"/>
                  <a:pt x="121254" y="446947"/>
                  <a:pt x="121254" y="435089"/>
                </a:cubicBezTo>
                <a:lnTo>
                  <a:pt x="121254" y="399426"/>
                </a:lnTo>
                <a:lnTo>
                  <a:pt x="57061" y="399426"/>
                </a:lnTo>
                <a:cubicBezTo>
                  <a:pt x="41280" y="399426"/>
                  <a:pt x="28530" y="386676"/>
                  <a:pt x="28530" y="370895"/>
                </a:cubicBezTo>
                <a:cubicBezTo>
                  <a:pt x="28530" y="355115"/>
                  <a:pt x="41280" y="342365"/>
                  <a:pt x="57061" y="342365"/>
                </a:cubicBezTo>
                <a:lnTo>
                  <a:pt x="173768" y="342365"/>
                </a:lnTo>
                <a:cubicBezTo>
                  <a:pt x="195968" y="342365"/>
                  <a:pt x="213978" y="324355"/>
                  <a:pt x="213978" y="302155"/>
                </a:cubicBezTo>
                <a:cubicBezTo>
                  <a:pt x="213978" y="282095"/>
                  <a:pt x="199267" y="265155"/>
                  <a:pt x="179474" y="262302"/>
                </a:cubicBezTo>
                <a:lnTo>
                  <a:pt x="97806" y="250622"/>
                </a:lnTo>
                <a:cubicBezTo>
                  <a:pt x="49839" y="243846"/>
                  <a:pt x="14265" y="202744"/>
                  <a:pt x="14265" y="154332"/>
                </a:cubicBezTo>
                <a:cubicBezTo>
                  <a:pt x="14265" y="100659"/>
                  <a:pt x="57863" y="57061"/>
                  <a:pt x="111536" y="57061"/>
                </a:cubicBezTo>
                <a:lnTo>
                  <a:pt x="121254" y="57061"/>
                </a:lnTo>
                <a:lnTo>
                  <a:pt x="121254" y="21398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5" name="Text 23"/>
          <p:cNvSpPr/>
          <p:nvPr/>
        </p:nvSpPr>
        <p:spPr>
          <a:xfrm>
            <a:off x="8283465" y="2290887"/>
            <a:ext cx="3366590" cy="34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6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16750" y="2709334"/>
            <a:ext cx="3300019" cy="45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 ingresos recurrentes anuales invertidos en tecnología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26547" y="3698388"/>
            <a:ext cx="3680424" cy="2206353"/>
          </a:xfrm>
          <a:custGeom>
            <a:avLst/>
            <a:gdLst/>
            <a:ahLst/>
            <a:cxnLst/>
            <a:rect l="l" t="t" r="r" b="b"/>
            <a:pathLst>
              <a:path w="3680424" h="2206353">
                <a:moveTo>
                  <a:pt x="114113" y="0"/>
                </a:moveTo>
                <a:lnTo>
                  <a:pt x="3566312" y="0"/>
                </a:lnTo>
                <a:cubicBezTo>
                  <a:pt x="3629334" y="0"/>
                  <a:pt x="3680424" y="51090"/>
                  <a:pt x="3680424" y="114113"/>
                </a:cubicBezTo>
                <a:lnTo>
                  <a:pt x="3680424" y="2092240"/>
                </a:lnTo>
                <a:cubicBezTo>
                  <a:pt x="3680424" y="2155263"/>
                  <a:pt x="3629334" y="2206353"/>
                  <a:pt x="3566312" y="2206353"/>
                </a:cubicBezTo>
                <a:lnTo>
                  <a:pt x="114113" y="2206353"/>
                </a:lnTo>
                <a:cubicBezTo>
                  <a:pt x="51090" y="2206353"/>
                  <a:pt x="0" y="2155263"/>
                  <a:pt x="0" y="2092240"/>
                </a:cubicBezTo>
                <a:lnTo>
                  <a:pt x="0" y="114113"/>
                </a:lnTo>
                <a:cubicBezTo>
                  <a:pt x="0" y="51090"/>
                  <a:pt x="51090" y="0"/>
                  <a:pt x="114113" y="0"/>
                </a:cubicBezTo>
                <a:close/>
              </a:path>
            </a:pathLst>
          </a:custGeom>
          <a:gradFill rotWithShape="1" flip="none">
            <a:gsLst>
              <a:gs pos="0">
                <a:srgbClr val="F5C518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9796766" y="3926632"/>
            <a:ext cx="342365" cy="456487"/>
          </a:xfrm>
          <a:custGeom>
            <a:avLst/>
            <a:gdLst/>
            <a:ahLst/>
            <a:cxnLst/>
            <a:rect l="l" t="t" r="r" b="b"/>
            <a:pathLst>
              <a:path w="342365" h="456487">
                <a:moveTo>
                  <a:pt x="261143" y="342365"/>
                </a:moveTo>
                <a:cubicBezTo>
                  <a:pt x="267651" y="322483"/>
                  <a:pt x="280668" y="304473"/>
                  <a:pt x="295379" y="288960"/>
                </a:cubicBezTo>
                <a:cubicBezTo>
                  <a:pt x="324534" y="258289"/>
                  <a:pt x="342365" y="216831"/>
                  <a:pt x="342365" y="171183"/>
                </a:cubicBezTo>
                <a:cubicBezTo>
                  <a:pt x="342365" y="76676"/>
                  <a:pt x="265690" y="0"/>
                  <a:pt x="171183" y="0"/>
                </a:cubicBezTo>
                <a:cubicBezTo>
                  <a:pt x="76676" y="0"/>
                  <a:pt x="0" y="76676"/>
                  <a:pt x="0" y="171183"/>
                </a:cubicBezTo>
                <a:cubicBezTo>
                  <a:pt x="0" y="216831"/>
                  <a:pt x="17832" y="258289"/>
                  <a:pt x="46986" y="288960"/>
                </a:cubicBezTo>
                <a:cubicBezTo>
                  <a:pt x="61697" y="304473"/>
                  <a:pt x="74803" y="322483"/>
                  <a:pt x="81223" y="342365"/>
                </a:cubicBezTo>
                <a:lnTo>
                  <a:pt x="261053" y="342365"/>
                </a:lnTo>
                <a:close/>
                <a:moveTo>
                  <a:pt x="256774" y="385161"/>
                </a:moveTo>
                <a:lnTo>
                  <a:pt x="85591" y="385161"/>
                </a:lnTo>
                <a:lnTo>
                  <a:pt x="85591" y="399426"/>
                </a:lnTo>
                <a:cubicBezTo>
                  <a:pt x="85591" y="438834"/>
                  <a:pt x="117510" y="470752"/>
                  <a:pt x="156917" y="470752"/>
                </a:cubicBezTo>
                <a:lnTo>
                  <a:pt x="185448" y="470752"/>
                </a:lnTo>
                <a:cubicBezTo>
                  <a:pt x="224855" y="470752"/>
                  <a:pt x="256774" y="438834"/>
                  <a:pt x="256774" y="399426"/>
                </a:cubicBezTo>
                <a:lnTo>
                  <a:pt x="256774" y="385161"/>
                </a:lnTo>
                <a:close/>
                <a:moveTo>
                  <a:pt x="164050" y="99856"/>
                </a:moveTo>
                <a:cubicBezTo>
                  <a:pt x="128565" y="99856"/>
                  <a:pt x="99856" y="128565"/>
                  <a:pt x="99856" y="164050"/>
                </a:cubicBezTo>
                <a:cubicBezTo>
                  <a:pt x="99856" y="175908"/>
                  <a:pt x="90317" y="185448"/>
                  <a:pt x="78459" y="185448"/>
                </a:cubicBezTo>
                <a:cubicBezTo>
                  <a:pt x="66601" y="185448"/>
                  <a:pt x="57061" y="175908"/>
                  <a:pt x="57061" y="164050"/>
                </a:cubicBezTo>
                <a:cubicBezTo>
                  <a:pt x="57061" y="104938"/>
                  <a:pt x="104938" y="57061"/>
                  <a:pt x="164050" y="57061"/>
                </a:cubicBezTo>
                <a:cubicBezTo>
                  <a:pt x="175908" y="57061"/>
                  <a:pt x="185448" y="66601"/>
                  <a:pt x="185448" y="78459"/>
                </a:cubicBezTo>
                <a:cubicBezTo>
                  <a:pt x="185448" y="90317"/>
                  <a:pt x="175908" y="99856"/>
                  <a:pt x="164050" y="99856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9" name="Text 27"/>
          <p:cNvSpPr/>
          <p:nvPr/>
        </p:nvSpPr>
        <p:spPr>
          <a:xfrm>
            <a:off x="8307240" y="4497240"/>
            <a:ext cx="3319039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8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Filosofía Tecnológica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16750" y="4839605"/>
            <a:ext cx="3300019" cy="68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Ser líder tecnológico, no solo seguir "lo último". Implementaciones muy acertadas con criterio económico claro.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0406" y="6056903"/>
            <a:ext cx="11431189" cy="798852"/>
          </a:xfrm>
          <a:custGeom>
            <a:avLst/>
            <a:gdLst/>
            <a:ahLst/>
            <a:cxnLst/>
            <a:rect l="l" t="t" r="r" b="b"/>
            <a:pathLst>
              <a:path w="11431189" h="798852">
                <a:moveTo>
                  <a:pt x="114124" y="0"/>
                </a:moveTo>
                <a:lnTo>
                  <a:pt x="11317065" y="0"/>
                </a:lnTo>
                <a:cubicBezTo>
                  <a:pt x="11380094" y="0"/>
                  <a:pt x="11431189" y="51095"/>
                  <a:pt x="11431189" y="114124"/>
                </a:cubicBezTo>
                <a:lnTo>
                  <a:pt x="11431189" y="684728"/>
                </a:lnTo>
                <a:cubicBezTo>
                  <a:pt x="11431189" y="747715"/>
                  <a:pt x="11380052" y="798852"/>
                  <a:pt x="11317065" y="798852"/>
                </a:cubicBezTo>
                <a:lnTo>
                  <a:pt x="114124" y="798852"/>
                </a:lnTo>
                <a:cubicBezTo>
                  <a:pt x="51095" y="798852"/>
                  <a:pt x="0" y="747757"/>
                  <a:pt x="0" y="684728"/>
                </a:cubicBezTo>
                <a:lnTo>
                  <a:pt x="0" y="114124"/>
                </a:lnTo>
                <a:cubicBezTo>
                  <a:pt x="0" y="51095"/>
                  <a:pt x="51095" y="0"/>
                  <a:pt x="114124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61098" y="6251332"/>
            <a:ext cx="133142" cy="152162"/>
          </a:xfrm>
          <a:custGeom>
            <a:avLst/>
            <a:gdLst/>
            <a:ahLst/>
            <a:cxnLst/>
            <a:rect l="l" t="t" r="r" b="b"/>
            <a:pathLst>
              <a:path w="133142" h="152162">
                <a:moveTo>
                  <a:pt x="0" y="64193"/>
                </a:moveTo>
                <a:cubicBezTo>
                  <a:pt x="0" y="44490"/>
                  <a:pt x="15959" y="28530"/>
                  <a:pt x="35663" y="28530"/>
                </a:cubicBezTo>
                <a:lnTo>
                  <a:pt x="38041" y="28530"/>
                </a:lnTo>
                <a:cubicBezTo>
                  <a:pt x="43301" y="28530"/>
                  <a:pt x="47551" y="32780"/>
                  <a:pt x="47551" y="38041"/>
                </a:cubicBezTo>
                <a:cubicBezTo>
                  <a:pt x="47551" y="43301"/>
                  <a:pt x="43301" y="47551"/>
                  <a:pt x="38041" y="47551"/>
                </a:cubicBezTo>
                <a:lnTo>
                  <a:pt x="35663" y="47551"/>
                </a:lnTo>
                <a:cubicBezTo>
                  <a:pt x="26480" y="47551"/>
                  <a:pt x="19020" y="55010"/>
                  <a:pt x="19020" y="64193"/>
                </a:cubicBezTo>
                <a:lnTo>
                  <a:pt x="19020" y="66571"/>
                </a:lnTo>
                <a:lnTo>
                  <a:pt x="38041" y="66571"/>
                </a:lnTo>
                <a:cubicBezTo>
                  <a:pt x="48531" y="66571"/>
                  <a:pt x="57061" y="75100"/>
                  <a:pt x="57061" y="85591"/>
                </a:cubicBezTo>
                <a:lnTo>
                  <a:pt x="57061" y="104612"/>
                </a:lnTo>
                <a:cubicBezTo>
                  <a:pt x="57061" y="115102"/>
                  <a:pt x="48531" y="123632"/>
                  <a:pt x="38041" y="123632"/>
                </a:cubicBezTo>
                <a:lnTo>
                  <a:pt x="19020" y="123632"/>
                </a:lnTo>
                <a:cubicBezTo>
                  <a:pt x="8529" y="123632"/>
                  <a:pt x="0" y="115102"/>
                  <a:pt x="0" y="104612"/>
                </a:cubicBezTo>
                <a:lnTo>
                  <a:pt x="0" y="64193"/>
                </a:lnTo>
                <a:close/>
                <a:moveTo>
                  <a:pt x="76081" y="64193"/>
                </a:moveTo>
                <a:cubicBezTo>
                  <a:pt x="76081" y="44490"/>
                  <a:pt x="92040" y="28530"/>
                  <a:pt x="111744" y="28530"/>
                </a:cubicBezTo>
                <a:lnTo>
                  <a:pt x="114122" y="28530"/>
                </a:lnTo>
                <a:cubicBezTo>
                  <a:pt x="119382" y="28530"/>
                  <a:pt x="123632" y="32780"/>
                  <a:pt x="123632" y="38041"/>
                </a:cubicBezTo>
                <a:cubicBezTo>
                  <a:pt x="123632" y="43301"/>
                  <a:pt x="119382" y="47551"/>
                  <a:pt x="114122" y="47551"/>
                </a:cubicBezTo>
                <a:lnTo>
                  <a:pt x="111744" y="47551"/>
                </a:lnTo>
                <a:cubicBezTo>
                  <a:pt x="102561" y="47551"/>
                  <a:pt x="95101" y="55010"/>
                  <a:pt x="95101" y="64193"/>
                </a:cubicBezTo>
                <a:lnTo>
                  <a:pt x="95101" y="66571"/>
                </a:lnTo>
                <a:lnTo>
                  <a:pt x="114122" y="66571"/>
                </a:lnTo>
                <a:cubicBezTo>
                  <a:pt x="124613" y="66571"/>
                  <a:pt x="133142" y="75100"/>
                  <a:pt x="133142" y="85591"/>
                </a:cubicBezTo>
                <a:lnTo>
                  <a:pt x="133142" y="104612"/>
                </a:lnTo>
                <a:cubicBezTo>
                  <a:pt x="133142" y="115102"/>
                  <a:pt x="124613" y="123632"/>
                  <a:pt x="114122" y="123632"/>
                </a:cubicBezTo>
                <a:lnTo>
                  <a:pt x="95101" y="123632"/>
                </a:lnTo>
                <a:cubicBezTo>
                  <a:pt x="84611" y="123632"/>
                  <a:pt x="76081" y="115102"/>
                  <a:pt x="76081" y="104612"/>
                </a:cubicBezTo>
                <a:lnTo>
                  <a:pt x="76081" y="64193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33" name="Text 31"/>
          <p:cNvSpPr/>
          <p:nvPr/>
        </p:nvSpPr>
        <p:spPr>
          <a:xfrm>
            <a:off x="779742" y="6209065"/>
            <a:ext cx="10955771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Salvador Olvera, Director de TI:</a:t>
            </a:r>
            <a:pPr>
              <a:lnSpc>
                <a:spcPct val="140000"/>
              </a:lnSpc>
            </a:pPr>
            <a:r>
              <a:rPr lang="en-US" sz="1198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"La adaptación a nuevas tecnologías no es una opción, sino una necesidad estratégica. El streaming y los servicios digitales son oportunidades para reconectar con audiencias que valoran la accesibilidad y personalización."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geekwire.com/fec1f4a698ff035da1cb920ecd826fe18a2ade9a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53" r="5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2152650" cy="390525"/>
          </a:xfrm>
          <a:custGeom>
            <a:avLst/>
            <a:gdLst/>
            <a:ahLst/>
            <a:cxnLst/>
            <a:rect l="l" t="t" r="r" b="b"/>
            <a:pathLst>
              <a:path w="2152650" h="390525">
                <a:moveTo>
                  <a:pt x="76199" y="0"/>
                </a:moveTo>
                <a:lnTo>
                  <a:pt x="2076451" y="0"/>
                </a:lnTo>
                <a:cubicBezTo>
                  <a:pt x="2118534" y="0"/>
                  <a:pt x="2152650" y="34116"/>
                  <a:pt x="2152650" y="76199"/>
                </a:cubicBezTo>
                <a:lnTo>
                  <a:pt x="2152650" y="314326"/>
                </a:lnTo>
                <a:cubicBezTo>
                  <a:pt x="2152650" y="356409"/>
                  <a:pt x="2118534" y="390525"/>
                  <a:pt x="20764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499535"/>
            <a:ext cx="19268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02. INFRAESTRUCTURA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884767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Infraestructura Cloud: Amazon Web Services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233" y="1460500"/>
            <a:ext cx="6771217" cy="2123017"/>
          </a:xfrm>
          <a:custGeom>
            <a:avLst/>
            <a:gdLst/>
            <a:ahLst/>
            <a:cxnLst/>
            <a:rect l="l" t="t" r="r" b="b"/>
            <a:pathLst>
              <a:path w="6771217" h="2123017">
                <a:moveTo>
                  <a:pt x="114303" y="0"/>
                </a:moveTo>
                <a:lnTo>
                  <a:pt x="6656913" y="0"/>
                </a:lnTo>
                <a:cubicBezTo>
                  <a:pt x="6720041" y="0"/>
                  <a:pt x="6771217" y="51175"/>
                  <a:pt x="6771217" y="114303"/>
                </a:cubicBezTo>
                <a:lnTo>
                  <a:pt x="6771217" y="2008713"/>
                </a:lnTo>
                <a:cubicBezTo>
                  <a:pt x="6771217" y="2071841"/>
                  <a:pt x="6720041" y="2123017"/>
                  <a:pt x="6656913" y="2123017"/>
                </a:cubicBezTo>
                <a:lnTo>
                  <a:pt x="114303" y="2123017"/>
                </a:lnTo>
                <a:cubicBezTo>
                  <a:pt x="51175" y="2123017"/>
                  <a:pt x="0" y="2071841"/>
                  <a:pt x="0" y="2008713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 w="11289">
            <a:solidFill>
              <a:srgbClr val="E50914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1873" y="169333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3578" y="178594"/>
                </a:moveTo>
                <a:cubicBezTo>
                  <a:pt x="23999" y="178594"/>
                  <a:pt x="0" y="154595"/>
                  <a:pt x="0" y="125016"/>
                </a:cubicBezTo>
                <a:cubicBezTo>
                  <a:pt x="0" y="101426"/>
                  <a:pt x="15255" y="81409"/>
                  <a:pt x="36426" y="74228"/>
                </a:cubicBezTo>
                <a:cubicBezTo>
                  <a:pt x="35942" y="71363"/>
                  <a:pt x="35719" y="68461"/>
                  <a:pt x="35719" y="65484"/>
                </a:cubicBezTo>
                <a:cubicBezTo>
                  <a:pt x="35719" y="35905"/>
                  <a:pt x="59717" y="11906"/>
                  <a:pt x="89297" y="11906"/>
                </a:cubicBezTo>
                <a:cubicBezTo>
                  <a:pt x="109910" y="11906"/>
                  <a:pt x="127806" y="23552"/>
                  <a:pt x="136773" y="40593"/>
                </a:cubicBezTo>
                <a:cubicBezTo>
                  <a:pt x="142056" y="37505"/>
                  <a:pt x="148233" y="35719"/>
                  <a:pt x="154781" y="35719"/>
                </a:cubicBezTo>
                <a:cubicBezTo>
                  <a:pt x="174501" y="35719"/>
                  <a:pt x="190500" y="51718"/>
                  <a:pt x="190500" y="71438"/>
                </a:cubicBezTo>
                <a:cubicBezTo>
                  <a:pt x="190500" y="77279"/>
                  <a:pt x="189086" y="82823"/>
                  <a:pt x="186593" y="87697"/>
                </a:cubicBezTo>
                <a:cubicBezTo>
                  <a:pt x="202964" y="95250"/>
                  <a:pt x="214313" y="111770"/>
                  <a:pt x="214313" y="130969"/>
                </a:cubicBezTo>
                <a:cubicBezTo>
                  <a:pt x="214313" y="157274"/>
                  <a:pt x="192993" y="178594"/>
                  <a:pt x="166688" y="178594"/>
                </a:cubicBezTo>
                <a:lnTo>
                  <a:pt x="53578" y="178594"/>
                </a:lnTo>
                <a:close/>
                <a:moveTo>
                  <a:pt x="113481" y="71065"/>
                </a:moveTo>
                <a:cubicBezTo>
                  <a:pt x="109984" y="67568"/>
                  <a:pt x="104329" y="67568"/>
                  <a:pt x="100868" y="71065"/>
                </a:cubicBezTo>
                <a:lnTo>
                  <a:pt x="74079" y="97854"/>
                </a:lnTo>
                <a:cubicBezTo>
                  <a:pt x="70582" y="101352"/>
                  <a:pt x="70582" y="107007"/>
                  <a:pt x="74079" y="110468"/>
                </a:cubicBezTo>
                <a:cubicBezTo>
                  <a:pt x="77577" y="113928"/>
                  <a:pt x="83232" y="113965"/>
                  <a:pt x="86692" y="110468"/>
                </a:cubicBezTo>
                <a:lnTo>
                  <a:pt x="98227" y="98933"/>
                </a:lnTo>
                <a:lnTo>
                  <a:pt x="98227" y="136922"/>
                </a:lnTo>
                <a:cubicBezTo>
                  <a:pt x="98227" y="141870"/>
                  <a:pt x="102208" y="145852"/>
                  <a:pt x="107156" y="145852"/>
                </a:cubicBezTo>
                <a:cubicBezTo>
                  <a:pt x="112105" y="145852"/>
                  <a:pt x="116086" y="141870"/>
                  <a:pt x="116086" y="136922"/>
                </a:cubicBezTo>
                <a:lnTo>
                  <a:pt x="116086" y="98933"/>
                </a:lnTo>
                <a:lnTo>
                  <a:pt x="127620" y="110468"/>
                </a:lnTo>
                <a:cubicBezTo>
                  <a:pt x="131118" y="113965"/>
                  <a:pt x="136773" y="113965"/>
                  <a:pt x="140233" y="110468"/>
                </a:cubicBezTo>
                <a:cubicBezTo>
                  <a:pt x="143694" y="106970"/>
                  <a:pt x="143731" y="101315"/>
                  <a:pt x="140233" y="97854"/>
                </a:cubicBezTo>
                <a:lnTo>
                  <a:pt x="113444" y="71065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9" name="Text 6"/>
          <p:cNvSpPr/>
          <p:nvPr/>
        </p:nvSpPr>
        <p:spPr>
          <a:xfrm>
            <a:off x="818092" y="1655234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Migración desde Servidores Tradicionales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9967" y="2036234"/>
            <a:ext cx="6457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Cinépolis migró desde servidores tradicionales en Morelia hacia AWS, convirtiéndose en uno de los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5C51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clientes corporativos más importantes de AWS en México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, junto con empresas como Aeroméxico, Banco Santander y Kavak.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9967" y="2893484"/>
            <a:ext cx="6457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Esta migración habilitó el crecimiento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19 países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y permitió actualizar el sistema de inventario para adaptarse al modelo de e-commerce.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5233" y="3744384"/>
            <a:ext cx="6771217" cy="1799167"/>
          </a:xfrm>
          <a:custGeom>
            <a:avLst/>
            <a:gdLst/>
            <a:ahLst/>
            <a:cxnLst/>
            <a:rect l="l" t="t" r="r" b="b"/>
            <a:pathLst>
              <a:path w="6771217" h="1799167">
                <a:moveTo>
                  <a:pt x="114301" y="0"/>
                </a:moveTo>
                <a:lnTo>
                  <a:pt x="6656916" y="0"/>
                </a:lnTo>
                <a:cubicBezTo>
                  <a:pt x="6720042" y="0"/>
                  <a:pt x="6771217" y="51174"/>
                  <a:pt x="6771217" y="114301"/>
                </a:cubicBezTo>
                <a:lnTo>
                  <a:pt x="6771217" y="1684866"/>
                </a:lnTo>
                <a:cubicBezTo>
                  <a:pt x="6771217" y="1747992"/>
                  <a:pt x="6720042" y="1799167"/>
                  <a:pt x="6656916" y="1799167"/>
                </a:cubicBezTo>
                <a:lnTo>
                  <a:pt x="114301" y="1799167"/>
                </a:lnTo>
                <a:cubicBezTo>
                  <a:pt x="51174" y="1799167"/>
                  <a:pt x="0" y="1747992"/>
                  <a:pt x="0" y="1684866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 w="11289">
            <a:solidFill>
              <a:srgbClr val="E50914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779" y="397721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4" name="Text 11"/>
          <p:cNvSpPr/>
          <p:nvPr/>
        </p:nvSpPr>
        <p:spPr>
          <a:xfrm>
            <a:off x="818092" y="3939118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Beneficios Clave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84729" y="43582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6" name="Text 13"/>
          <p:cNvSpPr/>
          <p:nvPr/>
        </p:nvSpPr>
        <p:spPr>
          <a:xfrm>
            <a:off x="814388" y="4320118"/>
            <a:ext cx="2981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Escalabilidad: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Manejo de picos inesperados de demanda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48100" y="43582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8" name="Text 15"/>
          <p:cNvSpPr/>
          <p:nvPr/>
        </p:nvSpPr>
        <p:spPr>
          <a:xfrm>
            <a:off x="4095750" y="4320118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Seguridad: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Infraestructura global confiable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4729" y="49297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0" name="Text 17"/>
          <p:cNvSpPr/>
          <p:nvPr/>
        </p:nvSpPr>
        <p:spPr>
          <a:xfrm>
            <a:off x="817298" y="489161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Velocidad: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Edge Locations en México aceleran entrega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843338" y="49297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2" name="Text 19"/>
          <p:cNvSpPr/>
          <p:nvPr/>
        </p:nvSpPr>
        <p:spPr>
          <a:xfrm>
            <a:off x="4085564" y="4891618"/>
            <a:ext cx="2952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Fiabilidad: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Cumplimiento de promesas a clientes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357533" y="1460500"/>
            <a:ext cx="4447117" cy="5009092"/>
          </a:xfrm>
          <a:custGeom>
            <a:avLst/>
            <a:gdLst/>
            <a:ahLst/>
            <a:cxnLst/>
            <a:rect l="l" t="t" r="r" b="b"/>
            <a:pathLst>
              <a:path w="4447117" h="5009092">
                <a:moveTo>
                  <a:pt x="114291" y="0"/>
                </a:moveTo>
                <a:lnTo>
                  <a:pt x="4332826" y="0"/>
                </a:lnTo>
                <a:cubicBezTo>
                  <a:pt x="4395947" y="0"/>
                  <a:pt x="4447117" y="51170"/>
                  <a:pt x="4447117" y="114291"/>
                </a:cubicBezTo>
                <a:lnTo>
                  <a:pt x="4447117" y="4894801"/>
                </a:lnTo>
                <a:cubicBezTo>
                  <a:pt x="4447117" y="4957922"/>
                  <a:pt x="4395947" y="5009092"/>
                  <a:pt x="4332826" y="5009092"/>
                </a:cubicBezTo>
                <a:lnTo>
                  <a:pt x="114291" y="5009092"/>
                </a:lnTo>
                <a:cubicBezTo>
                  <a:pt x="51170" y="5009092"/>
                  <a:pt x="0" y="4957922"/>
                  <a:pt x="0" y="4894801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E50914">
              <a:alpha val="20000"/>
            </a:srgbClr>
          </a:solidFill>
          <a:ln w="11289">
            <a:solidFill>
              <a:srgbClr val="E50914">
                <a:alpha val="50196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04642" y="1655234"/>
            <a:ext cx="415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Servicios AWS Utilizados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552267" y="2074334"/>
            <a:ext cx="4057650" cy="762000"/>
          </a:xfrm>
          <a:custGeom>
            <a:avLst/>
            <a:gdLst/>
            <a:ahLst/>
            <a:cxnLst/>
            <a:rect l="l" t="t" r="r" b="b"/>
            <a:pathLst>
              <a:path w="4057650" h="762000">
                <a:moveTo>
                  <a:pt x="76200" y="0"/>
                </a:moveTo>
                <a:lnTo>
                  <a:pt x="3981450" y="0"/>
                </a:lnTo>
                <a:cubicBezTo>
                  <a:pt x="4023506" y="0"/>
                  <a:pt x="4057650" y="34144"/>
                  <a:pt x="4057650" y="76200"/>
                </a:cubicBezTo>
                <a:lnTo>
                  <a:pt x="4057650" y="685800"/>
                </a:lnTo>
                <a:cubicBezTo>
                  <a:pt x="4057650" y="727856"/>
                  <a:pt x="4023506" y="762000"/>
                  <a:pt x="39814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7702286" y="222673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7" name="Text 24"/>
          <p:cNvSpPr/>
          <p:nvPr/>
        </p:nvSpPr>
        <p:spPr>
          <a:xfrm>
            <a:off x="8018992" y="2188634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Amazon S3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666567" y="2493434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Almacenamiento de contenido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552267" y="2950634"/>
            <a:ext cx="4057650" cy="762000"/>
          </a:xfrm>
          <a:custGeom>
            <a:avLst/>
            <a:gdLst/>
            <a:ahLst/>
            <a:cxnLst/>
            <a:rect l="l" t="t" r="r" b="b"/>
            <a:pathLst>
              <a:path w="4057650" h="762000">
                <a:moveTo>
                  <a:pt x="76200" y="0"/>
                </a:moveTo>
                <a:lnTo>
                  <a:pt x="3981450" y="0"/>
                </a:lnTo>
                <a:cubicBezTo>
                  <a:pt x="4023506" y="0"/>
                  <a:pt x="4057650" y="34144"/>
                  <a:pt x="4057650" y="76200"/>
                </a:cubicBezTo>
                <a:lnTo>
                  <a:pt x="4057650" y="685800"/>
                </a:lnTo>
                <a:cubicBezTo>
                  <a:pt x="4057650" y="727856"/>
                  <a:pt x="4023506" y="762000"/>
                  <a:pt x="39814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7678473" y="310303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31" name="Text 28"/>
          <p:cNvSpPr/>
          <p:nvPr/>
        </p:nvSpPr>
        <p:spPr>
          <a:xfrm>
            <a:off x="8018992" y="3064934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CloudFront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666567" y="3369734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Red de distribución de contenido (CDN)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552267" y="3826934"/>
            <a:ext cx="4057650" cy="762000"/>
          </a:xfrm>
          <a:custGeom>
            <a:avLst/>
            <a:gdLst/>
            <a:ahLst/>
            <a:cxnLst/>
            <a:rect l="l" t="t" r="r" b="b"/>
            <a:pathLst>
              <a:path w="4057650" h="762000">
                <a:moveTo>
                  <a:pt x="76200" y="0"/>
                </a:moveTo>
                <a:lnTo>
                  <a:pt x="3981450" y="0"/>
                </a:lnTo>
                <a:cubicBezTo>
                  <a:pt x="4023506" y="0"/>
                  <a:pt x="4057650" y="34144"/>
                  <a:pt x="4057650" y="76200"/>
                </a:cubicBezTo>
                <a:lnTo>
                  <a:pt x="4057650" y="685800"/>
                </a:lnTo>
                <a:cubicBezTo>
                  <a:pt x="4057650" y="727856"/>
                  <a:pt x="4023506" y="762000"/>
                  <a:pt x="39814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7714192" y="397933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35" name="Text 32"/>
          <p:cNvSpPr/>
          <p:nvPr/>
        </p:nvSpPr>
        <p:spPr>
          <a:xfrm>
            <a:off x="8018992" y="3941234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AWS Shield &amp; WAF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666567" y="4246034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Protección contra ataques DDoS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552267" y="4703234"/>
            <a:ext cx="4057650" cy="762000"/>
          </a:xfrm>
          <a:custGeom>
            <a:avLst/>
            <a:gdLst/>
            <a:ahLst/>
            <a:cxnLst/>
            <a:rect l="l" t="t" r="r" b="b"/>
            <a:pathLst>
              <a:path w="4057650" h="762000">
                <a:moveTo>
                  <a:pt x="76200" y="0"/>
                </a:moveTo>
                <a:lnTo>
                  <a:pt x="3981450" y="0"/>
                </a:lnTo>
                <a:cubicBezTo>
                  <a:pt x="4023506" y="0"/>
                  <a:pt x="4057650" y="34144"/>
                  <a:pt x="4057650" y="76200"/>
                </a:cubicBezTo>
                <a:lnTo>
                  <a:pt x="4057650" y="685800"/>
                </a:lnTo>
                <a:cubicBezTo>
                  <a:pt x="4057650" y="727856"/>
                  <a:pt x="4023506" y="762000"/>
                  <a:pt x="39814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7690379" y="48556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39" name="Text 36"/>
          <p:cNvSpPr/>
          <p:nvPr/>
        </p:nvSpPr>
        <p:spPr>
          <a:xfrm>
            <a:off x="8018992" y="4817534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Global Accelerator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666567" y="5122334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Optimización de enrutamiento global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543050" cy="390525"/>
          </a:xfrm>
          <a:custGeom>
            <a:avLst/>
            <a:gdLst/>
            <a:ahLst/>
            <a:cxnLst/>
            <a:rect l="l" t="t" r="r" b="b"/>
            <a:pathLst>
              <a:path w="1543050" h="390525">
                <a:moveTo>
                  <a:pt x="76199" y="0"/>
                </a:moveTo>
                <a:lnTo>
                  <a:pt x="1466851" y="0"/>
                </a:lnTo>
                <a:cubicBezTo>
                  <a:pt x="1508934" y="0"/>
                  <a:pt x="1543050" y="34116"/>
                  <a:pt x="1543050" y="76199"/>
                </a:cubicBezTo>
                <a:lnTo>
                  <a:pt x="1543050" y="314326"/>
                </a:lnTo>
                <a:cubicBezTo>
                  <a:pt x="1543050" y="356409"/>
                  <a:pt x="1508934" y="390525"/>
                  <a:pt x="14668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99535"/>
            <a:ext cx="13140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03. STREAMING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84767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Plataforma de Streaming: Cinépolis KLIC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7933" y="1456267"/>
            <a:ext cx="5598583" cy="2114550"/>
          </a:xfrm>
          <a:custGeom>
            <a:avLst/>
            <a:gdLst/>
            <a:ahLst/>
            <a:cxnLst/>
            <a:rect l="l" t="t" r="r" b="b"/>
            <a:pathLst>
              <a:path w="5598583" h="2114550">
                <a:moveTo>
                  <a:pt x="33867" y="0"/>
                </a:moveTo>
                <a:lnTo>
                  <a:pt x="5484292" y="0"/>
                </a:lnTo>
                <a:cubicBezTo>
                  <a:pt x="5547413" y="0"/>
                  <a:pt x="5598583" y="51170"/>
                  <a:pt x="5598583" y="114291"/>
                </a:cubicBezTo>
                <a:lnTo>
                  <a:pt x="5598583" y="2000259"/>
                </a:lnTo>
                <a:cubicBezTo>
                  <a:pt x="5598583" y="2063380"/>
                  <a:pt x="5547413" y="2114550"/>
                  <a:pt x="5484292" y="2114550"/>
                </a:cubicBezTo>
                <a:lnTo>
                  <a:pt x="33867" y="2114550"/>
                </a:lnTo>
                <a:cubicBezTo>
                  <a:pt x="15163" y="2114550"/>
                  <a:pt x="0" y="2099387"/>
                  <a:pt x="0" y="208068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97933" y="1456267"/>
            <a:ext cx="33867" cy="2114550"/>
          </a:xfrm>
          <a:custGeom>
            <a:avLst/>
            <a:gdLst/>
            <a:ahLst/>
            <a:cxnLst/>
            <a:rect l="l" t="t" r="r" b="b"/>
            <a:pathLst>
              <a:path w="33867" h="2114550">
                <a:moveTo>
                  <a:pt x="33867" y="0"/>
                </a:moveTo>
                <a:lnTo>
                  <a:pt x="33867" y="0"/>
                </a:lnTo>
                <a:lnTo>
                  <a:pt x="33867" y="2114550"/>
                </a:lnTo>
                <a:lnTo>
                  <a:pt x="33867" y="2114550"/>
                </a:lnTo>
                <a:cubicBezTo>
                  <a:pt x="15163" y="2114550"/>
                  <a:pt x="0" y="2099387"/>
                  <a:pt x="0" y="208068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7" name="Shape 5"/>
          <p:cNvSpPr/>
          <p:nvPr/>
        </p:nvSpPr>
        <p:spPr>
          <a:xfrm>
            <a:off x="629179" y="168486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70061" y="54732"/>
                </a:moveTo>
                <a:cubicBezTo>
                  <a:pt x="67233" y="56294"/>
                  <a:pt x="65484" y="59308"/>
                  <a:pt x="65484" y="62508"/>
                </a:cubicBezTo>
                <a:lnTo>
                  <a:pt x="65484" y="127992"/>
                </a:lnTo>
                <a:cubicBezTo>
                  <a:pt x="65484" y="131229"/>
                  <a:pt x="67233" y="134206"/>
                  <a:pt x="70061" y="135768"/>
                </a:cubicBezTo>
                <a:cubicBezTo>
                  <a:pt x="72889" y="137331"/>
                  <a:pt x="76312" y="137294"/>
                  <a:pt x="79102" y="135582"/>
                </a:cubicBezTo>
                <a:lnTo>
                  <a:pt x="132680" y="102840"/>
                </a:lnTo>
                <a:cubicBezTo>
                  <a:pt x="135322" y="101203"/>
                  <a:pt x="136959" y="98338"/>
                  <a:pt x="136959" y="95213"/>
                </a:cubicBezTo>
                <a:cubicBezTo>
                  <a:pt x="136959" y="92087"/>
                  <a:pt x="135322" y="89222"/>
                  <a:pt x="132680" y="87585"/>
                </a:cubicBezTo>
                <a:lnTo>
                  <a:pt x="79102" y="54843"/>
                </a:lnTo>
                <a:cubicBezTo>
                  <a:pt x="76349" y="53169"/>
                  <a:pt x="72889" y="53094"/>
                  <a:pt x="70061" y="54657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843492" y="1646767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TVOD: Transactional Video-On-Demand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5367" y="2027767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KLIC es el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5C51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producto digital más visible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de la transformación de Cinépolis. Es una plataforma de video bajo demanda transaccional que complementa el negocio físico, no lo canibaliza.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5367" y="2885017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La estrategia comercial ofrece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promociones creativas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como rentas gratuitas desde KLIC a asistentes de cines, creando sinergia entre ambos canales.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7933" y="3723217"/>
            <a:ext cx="5598583" cy="1504950"/>
          </a:xfrm>
          <a:custGeom>
            <a:avLst/>
            <a:gdLst/>
            <a:ahLst/>
            <a:cxnLst/>
            <a:rect l="l" t="t" r="r" b="b"/>
            <a:pathLst>
              <a:path w="5598583" h="1504950">
                <a:moveTo>
                  <a:pt x="33867" y="0"/>
                </a:moveTo>
                <a:lnTo>
                  <a:pt x="5484282" y="0"/>
                </a:lnTo>
                <a:cubicBezTo>
                  <a:pt x="5547409" y="0"/>
                  <a:pt x="5598583" y="51174"/>
                  <a:pt x="5598583" y="114301"/>
                </a:cubicBezTo>
                <a:lnTo>
                  <a:pt x="5598583" y="1390649"/>
                </a:lnTo>
                <a:cubicBezTo>
                  <a:pt x="5598583" y="1453776"/>
                  <a:pt x="5547409" y="1504950"/>
                  <a:pt x="5484282" y="1504950"/>
                </a:cubicBezTo>
                <a:lnTo>
                  <a:pt x="33867" y="1504950"/>
                </a:lnTo>
                <a:cubicBezTo>
                  <a:pt x="15163" y="1504950"/>
                  <a:pt x="0" y="1489787"/>
                  <a:pt x="0" y="147108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97933" y="3723217"/>
            <a:ext cx="33867" cy="1504950"/>
          </a:xfrm>
          <a:custGeom>
            <a:avLst/>
            <a:gdLst/>
            <a:ahLst/>
            <a:cxnLst/>
            <a:rect l="l" t="t" r="r" b="b"/>
            <a:pathLst>
              <a:path w="33867" h="1504950">
                <a:moveTo>
                  <a:pt x="33867" y="0"/>
                </a:moveTo>
                <a:lnTo>
                  <a:pt x="33867" y="0"/>
                </a:lnTo>
                <a:lnTo>
                  <a:pt x="33867" y="1504950"/>
                </a:lnTo>
                <a:lnTo>
                  <a:pt x="33867" y="1504950"/>
                </a:lnTo>
                <a:cubicBezTo>
                  <a:pt x="15163" y="1504950"/>
                  <a:pt x="0" y="1489787"/>
                  <a:pt x="0" y="147108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3" name="Shape 11"/>
          <p:cNvSpPr/>
          <p:nvPr/>
        </p:nvSpPr>
        <p:spPr>
          <a:xfrm>
            <a:off x="605367" y="3951817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4" name="Text 12"/>
          <p:cNvSpPr/>
          <p:nvPr/>
        </p:nvSpPr>
        <p:spPr>
          <a:xfrm>
            <a:off x="843492" y="3913717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Tecnología de Procesamiento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5367" y="4294717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Utiliza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Elemental Cloud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para procesar contenido de origen proveniente de estudios. El contenido se almacena en Amazon S3 y se entrega mediante CloudFront a múltiples dispositivos conectados.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1250" y="1456267"/>
            <a:ext cx="5619750" cy="4295775"/>
          </a:xfrm>
          <a:custGeom>
            <a:avLst/>
            <a:gdLst/>
            <a:ahLst/>
            <a:cxnLst/>
            <a:rect l="l" t="t" r="r" b="b"/>
            <a:pathLst>
              <a:path w="5619750" h="4295775">
                <a:moveTo>
                  <a:pt x="114311" y="0"/>
                </a:moveTo>
                <a:lnTo>
                  <a:pt x="5505439" y="0"/>
                </a:lnTo>
                <a:cubicBezTo>
                  <a:pt x="5568571" y="0"/>
                  <a:pt x="5619750" y="51179"/>
                  <a:pt x="5619750" y="114311"/>
                </a:cubicBezTo>
                <a:lnTo>
                  <a:pt x="5619750" y="4181464"/>
                </a:lnTo>
                <a:cubicBezTo>
                  <a:pt x="5619750" y="4244596"/>
                  <a:pt x="5568571" y="4295775"/>
                  <a:pt x="5505439" y="4295775"/>
                </a:cubicBezTo>
                <a:lnTo>
                  <a:pt x="114311" y="4295775"/>
                </a:lnTo>
                <a:cubicBezTo>
                  <a:pt x="51179" y="4295775"/>
                  <a:pt x="0" y="4244596"/>
                  <a:pt x="0" y="4181464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gradFill rotWithShape="1" flip="none">
            <a:gsLst>
              <a:gs pos="0">
                <a:srgbClr val="E50914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6334125" y="1646767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Disponibilidad Multiplataforma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35378" y="206586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34683" y="141703"/>
                </a:moveTo>
                <a:cubicBezTo>
                  <a:pt x="239469" y="141703"/>
                  <a:pt x="243891" y="144256"/>
                  <a:pt x="246283" y="148400"/>
                </a:cubicBezTo>
                <a:cubicBezTo>
                  <a:pt x="248676" y="152545"/>
                  <a:pt x="248676" y="157650"/>
                  <a:pt x="246283" y="161795"/>
                </a:cubicBezTo>
                <a:cubicBezTo>
                  <a:pt x="243891" y="165939"/>
                  <a:pt x="239469" y="168492"/>
                  <a:pt x="234683" y="168492"/>
                </a:cubicBezTo>
                <a:cubicBezTo>
                  <a:pt x="227291" y="168492"/>
                  <a:pt x="221289" y="162490"/>
                  <a:pt x="221289" y="155098"/>
                </a:cubicBezTo>
                <a:cubicBezTo>
                  <a:pt x="221289" y="147705"/>
                  <a:pt x="227291" y="141703"/>
                  <a:pt x="234683" y="141703"/>
                </a:cubicBezTo>
                <a:close/>
                <a:moveTo>
                  <a:pt x="86730" y="141703"/>
                </a:moveTo>
                <a:cubicBezTo>
                  <a:pt x="91515" y="141703"/>
                  <a:pt x="95937" y="144256"/>
                  <a:pt x="98330" y="148400"/>
                </a:cubicBezTo>
                <a:cubicBezTo>
                  <a:pt x="100722" y="152545"/>
                  <a:pt x="100722" y="157650"/>
                  <a:pt x="98330" y="161795"/>
                </a:cubicBezTo>
                <a:cubicBezTo>
                  <a:pt x="95937" y="165939"/>
                  <a:pt x="91515" y="168492"/>
                  <a:pt x="86730" y="168492"/>
                </a:cubicBezTo>
                <a:cubicBezTo>
                  <a:pt x="79337" y="168492"/>
                  <a:pt x="73335" y="162490"/>
                  <a:pt x="73335" y="155098"/>
                </a:cubicBezTo>
                <a:cubicBezTo>
                  <a:pt x="73335" y="147705"/>
                  <a:pt x="79337" y="141703"/>
                  <a:pt x="86730" y="141703"/>
                </a:cubicBezTo>
                <a:close/>
                <a:moveTo>
                  <a:pt x="239483" y="87846"/>
                </a:moveTo>
                <a:lnTo>
                  <a:pt x="266216" y="41523"/>
                </a:lnTo>
                <a:cubicBezTo>
                  <a:pt x="266663" y="40909"/>
                  <a:pt x="266942" y="40184"/>
                  <a:pt x="267053" y="39402"/>
                </a:cubicBezTo>
                <a:cubicBezTo>
                  <a:pt x="267165" y="38621"/>
                  <a:pt x="267165" y="37895"/>
                  <a:pt x="266998" y="37114"/>
                </a:cubicBezTo>
                <a:cubicBezTo>
                  <a:pt x="266830" y="36333"/>
                  <a:pt x="266495" y="35663"/>
                  <a:pt x="266049" y="35049"/>
                </a:cubicBezTo>
                <a:cubicBezTo>
                  <a:pt x="265602" y="34435"/>
                  <a:pt x="265044" y="33933"/>
                  <a:pt x="264375" y="33542"/>
                </a:cubicBezTo>
                <a:cubicBezTo>
                  <a:pt x="263705" y="33151"/>
                  <a:pt x="262979" y="32928"/>
                  <a:pt x="262198" y="32817"/>
                </a:cubicBezTo>
                <a:cubicBezTo>
                  <a:pt x="261417" y="32705"/>
                  <a:pt x="260691" y="32817"/>
                  <a:pt x="259966" y="33040"/>
                </a:cubicBezTo>
                <a:cubicBezTo>
                  <a:pt x="259240" y="33263"/>
                  <a:pt x="258570" y="33654"/>
                  <a:pt x="257956" y="34100"/>
                </a:cubicBezTo>
                <a:cubicBezTo>
                  <a:pt x="257342" y="34547"/>
                  <a:pt x="256896" y="35216"/>
                  <a:pt x="256561" y="35886"/>
                </a:cubicBezTo>
                <a:lnTo>
                  <a:pt x="229493" y="82823"/>
                </a:lnTo>
                <a:cubicBezTo>
                  <a:pt x="207838" y="73112"/>
                  <a:pt x="184398" y="68089"/>
                  <a:pt x="160679" y="68089"/>
                </a:cubicBezTo>
                <a:cubicBezTo>
                  <a:pt x="136959" y="68089"/>
                  <a:pt x="113519" y="73112"/>
                  <a:pt x="91864" y="82823"/>
                </a:cubicBezTo>
                <a:lnTo>
                  <a:pt x="64852" y="35942"/>
                </a:lnTo>
                <a:cubicBezTo>
                  <a:pt x="64517" y="35272"/>
                  <a:pt x="64015" y="34658"/>
                  <a:pt x="63457" y="34156"/>
                </a:cubicBezTo>
                <a:cubicBezTo>
                  <a:pt x="62898" y="33654"/>
                  <a:pt x="62173" y="33319"/>
                  <a:pt x="61447" y="33096"/>
                </a:cubicBezTo>
                <a:cubicBezTo>
                  <a:pt x="60722" y="32872"/>
                  <a:pt x="59941" y="32817"/>
                  <a:pt x="59215" y="32872"/>
                </a:cubicBezTo>
                <a:cubicBezTo>
                  <a:pt x="58489" y="32928"/>
                  <a:pt x="57708" y="33207"/>
                  <a:pt x="57038" y="33598"/>
                </a:cubicBezTo>
                <a:cubicBezTo>
                  <a:pt x="56369" y="33989"/>
                  <a:pt x="55811" y="34491"/>
                  <a:pt x="55364" y="35105"/>
                </a:cubicBezTo>
                <a:cubicBezTo>
                  <a:pt x="54918" y="35719"/>
                  <a:pt x="54583" y="36444"/>
                  <a:pt x="54415" y="37170"/>
                </a:cubicBezTo>
                <a:cubicBezTo>
                  <a:pt x="54248" y="37895"/>
                  <a:pt x="54248" y="38677"/>
                  <a:pt x="54359" y="39458"/>
                </a:cubicBezTo>
                <a:cubicBezTo>
                  <a:pt x="54471" y="40239"/>
                  <a:pt x="54806" y="40909"/>
                  <a:pt x="55197" y="41579"/>
                </a:cubicBezTo>
                <a:lnTo>
                  <a:pt x="81930" y="87902"/>
                </a:lnTo>
                <a:cubicBezTo>
                  <a:pt x="35998" y="112849"/>
                  <a:pt x="4576" y="159339"/>
                  <a:pt x="0" y="214313"/>
                </a:cubicBezTo>
                <a:lnTo>
                  <a:pt x="321469" y="214313"/>
                </a:lnTo>
                <a:cubicBezTo>
                  <a:pt x="316892" y="159339"/>
                  <a:pt x="285471" y="112849"/>
                  <a:pt x="239483" y="87846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9" name="Text 17"/>
          <p:cNvSpPr/>
          <p:nvPr/>
        </p:nvSpPr>
        <p:spPr>
          <a:xfrm>
            <a:off x="6348413" y="2427817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Android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7219" y="2065867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78091" y="149963"/>
                </a:moveTo>
                <a:cubicBezTo>
                  <a:pt x="177980" y="129480"/>
                  <a:pt x="187244" y="114021"/>
                  <a:pt x="205997" y="102636"/>
                </a:cubicBezTo>
                <a:cubicBezTo>
                  <a:pt x="195504" y="87623"/>
                  <a:pt x="179654" y="79363"/>
                  <a:pt x="158725" y="77744"/>
                </a:cubicBezTo>
                <a:cubicBezTo>
                  <a:pt x="138912" y="76181"/>
                  <a:pt x="117258" y="89297"/>
                  <a:pt x="109333" y="89297"/>
                </a:cubicBezTo>
                <a:cubicBezTo>
                  <a:pt x="100961" y="89297"/>
                  <a:pt x="81762" y="78302"/>
                  <a:pt x="66694" y="78302"/>
                </a:cubicBezTo>
                <a:cubicBezTo>
                  <a:pt x="35551" y="78804"/>
                  <a:pt x="2456" y="103138"/>
                  <a:pt x="2456" y="152642"/>
                </a:cubicBezTo>
                <a:cubicBezTo>
                  <a:pt x="2456" y="167264"/>
                  <a:pt x="5135" y="182389"/>
                  <a:pt x="10492" y="197960"/>
                </a:cubicBezTo>
                <a:cubicBezTo>
                  <a:pt x="17636" y="218442"/>
                  <a:pt x="43421" y="268672"/>
                  <a:pt x="70321" y="267835"/>
                </a:cubicBezTo>
                <a:cubicBezTo>
                  <a:pt x="84386" y="267500"/>
                  <a:pt x="94320" y="257845"/>
                  <a:pt x="112626" y="257845"/>
                </a:cubicBezTo>
                <a:cubicBezTo>
                  <a:pt x="130373" y="257845"/>
                  <a:pt x="139582" y="267835"/>
                  <a:pt x="155265" y="267835"/>
                </a:cubicBezTo>
                <a:cubicBezTo>
                  <a:pt x="182389" y="267444"/>
                  <a:pt x="205718" y="221791"/>
                  <a:pt x="212527" y="201253"/>
                </a:cubicBezTo>
                <a:cubicBezTo>
                  <a:pt x="176138" y="184119"/>
                  <a:pt x="178091" y="151023"/>
                  <a:pt x="178091" y="149963"/>
                </a:cubicBezTo>
                <a:close/>
                <a:moveTo>
                  <a:pt x="146503" y="58322"/>
                </a:moveTo>
                <a:cubicBezTo>
                  <a:pt x="161739" y="40239"/>
                  <a:pt x="160344" y="23775"/>
                  <a:pt x="159897" y="17859"/>
                </a:cubicBezTo>
                <a:cubicBezTo>
                  <a:pt x="146447" y="18641"/>
                  <a:pt x="130876" y="27012"/>
                  <a:pt x="122002" y="37337"/>
                </a:cubicBezTo>
                <a:cubicBezTo>
                  <a:pt x="112235" y="48388"/>
                  <a:pt x="106487" y="62061"/>
                  <a:pt x="107714" y="77465"/>
                </a:cubicBezTo>
                <a:cubicBezTo>
                  <a:pt x="122281" y="78581"/>
                  <a:pt x="135564" y="71103"/>
                  <a:pt x="146503" y="58322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1" name="Text 19"/>
          <p:cNvSpPr/>
          <p:nvPr/>
        </p:nvSpPr>
        <p:spPr>
          <a:xfrm>
            <a:off x="7686675" y="2427817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11903" y="206586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5719" y="53578"/>
                </a:moveTo>
                <a:lnTo>
                  <a:pt x="35719" y="187523"/>
                </a:lnTo>
                <a:lnTo>
                  <a:pt x="285750" y="187523"/>
                </a:lnTo>
                <a:lnTo>
                  <a:pt x="285750" y="53578"/>
                </a:lnTo>
                <a:lnTo>
                  <a:pt x="35719" y="53578"/>
                </a:lnTo>
                <a:close/>
                <a:moveTo>
                  <a:pt x="0" y="53578"/>
                </a:moveTo>
                <a:cubicBezTo>
                  <a:pt x="0" y="33877"/>
                  <a:pt x="16018" y="17859"/>
                  <a:pt x="35719" y="17859"/>
                </a:cubicBezTo>
                <a:lnTo>
                  <a:pt x="285750" y="17859"/>
                </a:lnTo>
                <a:cubicBezTo>
                  <a:pt x="305451" y="17859"/>
                  <a:pt x="321469" y="33877"/>
                  <a:pt x="321469" y="53578"/>
                </a:cubicBezTo>
                <a:lnTo>
                  <a:pt x="321469" y="187523"/>
                </a:lnTo>
                <a:cubicBezTo>
                  <a:pt x="321469" y="207225"/>
                  <a:pt x="305451" y="223242"/>
                  <a:pt x="285750" y="223242"/>
                </a:cubicBezTo>
                <a:lnTo>
                  <a:pt x="35719" y="223242"/>
                </a:lnTo>
                <a:cubicBezTo>
                  <a:pt x="16018" y="223242"/>
                  <a:pt x="0" y="207225"/>
                  <a:pt x="0" y="187523"/>
                </a:cubicBezTo>
                <a:lnTo>
                  <a:pt x="0" y="53578"/>
                </a:lnTo>
                <a:close/>
                <a:moveTo>
                  <a:pt x="89297" y="250031"/>
                </a:move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89297" y="285750"/>
                </a:lnTo>
                <a:cubicBezTo>
                  <a:pt x="79418" y="285750"/>
                  <a:pt x="71438" y="277769"/>
                  <a:pt x="71438" y="267891"/>
                </a:cubicBezTo>
                <a:cubicBezTo>
                  <a:pt x="71438" y="258012"/>
                  <a:pt x="79418" y="250031"/>
                  <a:pt x="89297" y="250031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3" name="Text 21"/>
          <p:cNvSpPr/>
          <p:nvPr/>
        </p:nvSpPr>
        <p:spPr>
          <a:xfrm>
            <a:off x="9024938" y="2427817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850166" y="206586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18678" y="207783"/>
                </a:moveTo>
                <a:cubicBezTo>
                  <a:pt x="312372" y="215708"/>
                  <a:pt x="297024" y="221345"/>
                  <a:pt x="297024" y="221345"/>
                </a:cubicBezTo>
                <a:lnTo>
                  <a:pt x="182556" y="262421"/>
                </a:lnTo>
                <a:lnTo>
                  <a:pt x="182556" y="232116"/>
                </a:lnTo>
                <a:lnTo>
                  <a:pt x="266774" y="202090"/>
                </a:lnTo>
                <a:cubicBezTo>
                  <a:pt x="276318" y="198686"/>
                  <a:pt x="277825" y="193830"/>
                  <a:pt x="270011" y="191263"/>
                </a:cubicBezTo>
                <a:cubicBezTo>
                  <a:pt x="262254" y="188695"/>
                  <a:pt x="248190" y="189421"/>
                  <a:pt x="238646" y="192881"/>
                </a:cubicBezTo>
                <a:lnTo>
                  <a:pt x="182556" y="212694"/>
                </a:lnTo>
                <a:lnTo>
                  <a:pt x="182556" y="181217"/>
                </a:lnTo>
                <a:cubicBezTo>
                  <a:pt x="195504" y="176864"/>
                  <a:pt x="208843" y="173627"/>
                  <a:pt x="224805" y="171841"/>
                </a:cubicBezTo>
                <a:cubicBezTo>
                  <a:pt x="247631" y="169329"/>
                  <a:pt x="275537" y="172176"/>
                  <a:pt x="297470" y="180491"/>
                </a:cubicBezTo>
                <a:cubicBezTo>
                  <a:pt x="322138" y="188305"/>
                  <a:pt x="324929" y="199858"/>
                  <a:pt x="318678" y="207783"/>
                </a:cubicBezTo>
                <a:close/>
                <a:moveTo>
                  <a:pt x="193439" y="156158"/>
                </a:moveTo>
                <a:lnTo>
                  <a:pt x="193439" y="78581"/>
                </a:lnTo>
                <a:cubicBezTo>
                  <a:pt x="193439" y="69484"/>
                  <a:pt x="191765" y="61113"/>
                  <a:pt x="183226" y="58713"/>
                </a:cubicBezTo>
                <a:cubicBezTo>
                  <a:pt x="176696" y="56592"/>
                  <a:pt x="172622" y="62675"/>
                  <a:pt x="172622" y="71772"/>
                </a:cubicBezTo>
                <a:lnTo>
                  <a:pt x="172622" y="265937"/>
                </a:lnTo>
                <a:lnTo>
                  <a:pt x="120272" y="249306"/>
                </a:lnTo>
                <a:lnTo>
                  <a:pt x="120272" y="17859"/>
                </a:lnTo>
                <a:cubicBezTo>
                  <a:pt x="142540" y="21989"/>
                  <a:pt x="174966" y="31756"/>
                  <a:pt x="192379" y="37616"/>
                </a:cubicBezTo>
                <a:cubicBezTo>
                  <a:pt x="236748" y="52853"/>
                  <a:pt x="251761" y="71828"/>
                  <a:pt x="251761" y="114523"/>
                </a:cubicBezTo>
                <a:cubicBezTo>
                  <a:pt x="251761" y="156102"/>
                  <a:pt x="226089" y="171896"/>
                  <a:pt x="193439" y="156158"/>
                </a:cubicBezTo>
                <a:close/>
                <a:moveTo>
                  <a:pt x="24166" y="228935"/>
                </a:moveTo>
                <a:cubicBezTo>
                  <a:pt x="-1172" y="221791"/>
                  <a:pt x="-5414" y="206890"/>
                  <a:pt x="6139" y="198351"/>
                </a:cubicBezTo>
                <a:cubicBezTo>
                  <a:pt x="16799" y="190426"/>
                  <a:pt x="34993" y="184454"/>
                  <a:pt x="34993" y="184454"/>
                </a:cubicBezTo>
                <a:lnTo>
                  <a:pt x="110058" y="157776"/>
                </a:lnTo>
                <a:lnTo>
                  <a:pt x="110058" y="188193"/>
                </a:lnTo>
                <a:lnTo>
                  <a:pt x="56034" y="207504"/>
                </a:lnTo>
                <a:cubicBezTo>
                  <a:pt x="46490" y="210908"/>
                  <a:pt x="45039" y="215764"/>
                  <a:pt x="52797" y="218331"/>
                </a:cubicBezTo>
                <a:cubicBezTo>
                  <a:pt x="60554" y="220898"/>
                  <a:pt x="74619" y="220173"/>
                  <a:pt x="84162" y="216712"/>
                </a:cubicBezTo>
                <a:lnTo>
                  <a:pt x="110058" y="207280"/>
                </a:lnTo>
                <a:lnTo>
                  <a:pt x="110058" y="234516"/>
                </a:lnTo>
                <a:cubicBezTo>
                  <a:pt x="81260" y="239706"/>
                  <a:pt x="53467" y="238590"/>
                  <a:pt x="24166" y="228935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5" name="Text 23"/>
          <p:cNvSpPr/>
          <p:nvPr/>
        </p:nvSpPr>
        <p:spPr>
          <a:xfrm>
            <a:off x="10363200" y="2427817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71097" y="2732617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06164" y="71438"/>
                </a:moveTo>
                <a:lnTo>
                  <a:pt x="187021" y="44648"/>
                </a:lnTo>
                <a:lnTo>
                  <a:pt x="63066" y="44648"/>
                </a:lnTo>
                <a:lnTo>
                  <a:pt x="43923" y="71438"/>
                </a:lnTo>
                <a:lnTo>
                  <a:pt x="206164" y="71438"/>
                </a:lnTo>
                <a:close/>
                <a:moveTo>
                  <a:pt x="0" y="82879"/>
                </a:moveTo>
                <a:cubicBezTo>
                  <a:pt x="0" y="75456"/>
                  <a:pt x="2344" y="68200"/>
                  <a:pt x="6641" y="62117"/>
                </a:cubicBezTo>
                <a:lnTo>
                  <a:pt x="33989" y="23887"/>
                </a:lnTo>
                <a:cubicBezTo>
                  <a:pt x="40686" y="14511"/>
                  <a:pt x="51513" y="8930"/>
                  <a:pt x="63010" y="8930"/>
                </a:cubicBezTo>
                <a:lnTo>
                  <a:pt x="186965" y="8930"/>
                </a:lnTo>
                <a:cubicBezTo>
                  <a:pt x="198518" y="8930"/>
                  <a:pt x="209345" y="14511"/>
                  <a:pt x="216043" y="23887"/>
                </a:cubicBezTo>
                <a:lnTo>
                  <a:pt x="243334" y="62117"/>
                </a:lnTo>
                <a:cubicBezTo>
                  <a:pt x="247687" y="68200"/>
                  <a:pt x="249975" y="75456"/>
                  <a:pt x="249975" y="82879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82879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7" name="Text 25"/>
          <p:cNvSpPr/>
          <p:nvPr/>
        </p:nvSpPr>
        <p:spPr>
          <a:xfrm>
            <a:off x="6348413" y="3094567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ROKU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73641" y="273261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5719" y="53578"/>
                </a:moveTo>
                <a:lnTo>
                  <a:pt x="35719" y="187523"/>
                </a:lnTo>
                <a:lnTo>
                  <a:pt x="285750" y="187523"/>
                </a:lnTo>
                <a:lnTo>
                  <a:pt x="285750" y="53578"/>
                </a:lnTo>
                <a:lnTo>
                  <a:pt x="35719" y="53578"/>
                </a:lnTo>
                <a:close/>
                <a:moveTo>
                  <a:pt x="0" y="53578"/>
                </a:moveTo>
                <a:cubicBezTo>
                  <a:pt x="0" y="33877"/>
                  <a:pt x="16018" y="17859"/>
                  <a:pt x="35719" y="17859"/>
                </a:cubicBezTo>
                <a:lnTo>
                  <a:pt x="285750" y="17859"/>
                </a:lnTo>
                <a:cubicBezTo>
                  <a:pt x="305451" y="17859"/>
                  <a:pt x="321469" y="33877"/>
                  <a:pt x="321469" y="53578"/>
                </a:cubicBezTo>
                <a:lnTo>
                  <a:pt x="321469" y="187523"/>
                </a:lnTo>
                <a:cubicBezTo>
                  <a:pt x="321469" y="207225"/>
                  <a:pt x="305451" y="223242"/>
                  <a:pt x="285750" y="223242"/>
                </a:cubicBezTo>
                <a:lnTo>
                  <a:pt x="35719" y="223242"/>
                </a:lnTo>
                <a:cubicBezTo>
                  <a:pt x="16018" y="223242"/>
                  <a:pt x="0" y="207225"/>
                  <a:pt x="0" y="187523"/>
                </a:cubicBezTo>
                <a:lnTo>
                  <a:pt x="0" y="53578"/>
                </a:lnTo>
                <a:close/>
                <a:moveTo>
                  <a:pt x="89297" y="250031"/>
                </a:move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89297" y="285750"/>
                </a:lnTo>
                <a:cubicBezTo>
                  <a:pt x="79418" y="285750"/>
                  <a:pt x="71438" y="277769"/>
                  <a:pt x="71438" y="267891"/>
                </a:cubicBezTo>
                <a:cubicBezTo>
                  <a:pt x="71438" y="258012"/>
                  <a:pt x="79418" y="250031"/>
                  <a:pt x="89297" y="250031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9" name="Text 27"/>
          <p:cNvSpPr/>
          <p:nvPr/>
        </p:nvSpPr>
        <p:spPr>
          <a:xfrm>
            <a:off x="7686675" y="3094567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Samsung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11903" y="273261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5719" y="53578"/>
                </a:moveTo>
                <a:lnTo>
                  <a:pt x="35719" y="187523"/>
                </a:lnTo>
                <a:lnTo>
                  <a:pt x="285750" y="187523"/>
                </a:lnTo>
                <a:lnTo>
                  <a:pt x="285750" y="53578"/>
                </a:lnTo>
                <a:lnTo>
                  <a:pt x="35719" y="53578"/>
                </a:lnTo>
                <a:close/>
                <a:moveTo>
                  <a:pt x="0" y="53578"/>
                </a:moveTo>
                <a:cubicBezTo>
                  <a:pt x="0" y="33877"/>
                  <a:pt x="16018" y="17859"/>
                  <a:pt x="35719" y="17859"/>
                </a:cubicBezTo>
                <a:lnTo>
                  <a:pt x="285750" y="17859"/>
                </a:lnTo>
                <a:cubicBezTo>
                  <a:pt x="305451" y="17859"/>
                  <a:pt x="321469" y="33877"/>
                  <a:pt x="321469" y="53578"/>
                </a:cubicBezTo>
                <a:lnTo>
                  <a:pt x="321469" y="187523"/>
                </a:lnTo>
                <a:cubicBezTo>
                  <a:pt x="321469" y="207225"/>
                  <a:pt x="305451" y="223242"/>
                  <a:pt x="285750" y="223242"/>
                </a:cubicBezTo>
                <a:lnTo>
                  <a:pt x="35719" y="223242"/>
                </a:lnTo>
                <a:cubicBezTo>
                  <a:pt x="16018" y="223242"/>
                  <a:pt x="0" y="207225"/>
                  <a:pt x="0" y="187523"/>
                </a:cubicBezTo>
                <a:lnTo>
                  <a:pt x="0" y="53578"/>
                </a:lnTo>
                <a:close/>
                <a:moveTo>
                  <a:pt x="89297" y="250031"/>
                </a:move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89297" y="285750"/>
                </a:lnTo>
                <a:cubicBezTo>
                  <a:pt x="79418" y="285750"/>
                  <a:pt x="71438" y="277769"/>
                  <a:pt x="71438" y="267891"/>
                </a:cubicBezTo>
                <a:cubicBezTo>
                  <a:pt x="71438" y="258012"/>
                  <a:pt x="79418" y="250031"/>
                  <a:pt x="89297" y="250031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31" name="Text 29"/>
          <p:cNvSpPr/>
          <p:nvPr/>
        </p:nvSpPr>
        <p:spPr>
          <a:xfrm>
            <a:off x="9024938" y="3094567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Sony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885884" y="2732617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42875"/>
                </a:moveTo>
                <a:cubicBezTo>
                  <a:pt x="0" y="125625"/>
                  <a:pt x="14004" y="111621"/>
                  <a:pt x="31254" y="111621"/>
                </a:cubicBezTo>
                <a:cubicBezTo>
                  <a:pt x="48503" y="111621"/>
                  <a:pt x="62508" y="125625"/>
                  <a:pt x="62508" y="142875"/>
                </a:cubicBezTo>
                <a:cubicBezTo>
                  <a:pt x="62508" y="160125"/>
                  <a:pt x="48503" y="174129"/>
                  <a:pt x="31254" y="174129"/>
                </a:cubicBezTo>
                <a:cubicBezTo>
                  <a:pt x="14004" y="174129"/>
                  <a:pt x="0" y="160125"/>
                  <a:pt x="0" y="142875"/>
                </a:cubicBezTo>
                <a:close/>
                <a:moveTo>
                  <a:pt x="93762" y="142875"/>
                </a:moveTo>
                <a:cubicBezTo>
                  <a:pt x="93762" y="125625"/>
                  <a:pt x="107766" y="111621"/>
                  <a:pt x="125016" y="111621"/>
                </a:cubicBezTo>
                <a:cubicBezTo>
                  <a:pt x="142265" y="111621"/>
                  <a:pt x="156270" y="125625"/>
                  <a:pt x="156270" y="142875"/>
                </a:cubicBezTo>
                <a:cubicBezTo>
                  <a:pt x="156270" y="160125"/>
                  <a:pt x="142265" y="174129"/>
                  <a:pt x="125016" y="174129"/>
                </a:cubicBezTo>
                <a:cubicBezTo>
                  <a:pt x="107766" y="174129"/>
                  <a:pt x="93762" y="160125"/>
                  <a:pt x="93762" y="142875"/>
                </a:cubicBezTo>
                <a:close/>
                <a:moveTo>
                  <a:pt x="218777" y="111621"/>
                </a:moveTo>
                <a:cubicBezTo>
                  <a:pt x="236027" y="111621"/>
                  <a:pt x="250031" y="125625"/>
                  <a:pt x="250031" y="142875"/>
                </a:cubicBezTo>
                <a:cubicBezTo>
                  <a:pt x="250031" y="160125"/>
                  <a:pt x="236027" y="174129"/>
                  <a:pt x="218777" y="174129"/>
                </a:cubicBezTo>
                <a:cubicBezTo>
                  <a:pt x="201528" y="174129"/>
                  <a:pt x="187523" y="160125"/>
                  <a:pt x="187523" y="142875"/>
                </a:cubicBezTo>
                <a:cubicBezTo>
                  <a:pt x="187523" y="125625"/>
                  <a:pt x="201528" y="111621"/>
                  <a:pt x="218777" y="111621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33" name="Text 31"/>
          <p:cNvSpPr/>
          <p:nvPr/>
        </p:nvSpPr>
        <p:spPr>
          <a:xfrm>
            <a:off x="10363200" y="3094567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Más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1750" y="3437467"/>
            <a:ext cx="5238750" cy="1524000"/>
          </a:xfrm>
          <a:custGeom>
            <a:avLst/>
            <a:gdLst/>
            <a:ahLst/>
            <a:cxnLst/>
            <a:rect l="l" t="t" r="r" b="b"/>
            <a:pathLst>
              <a:path w="5238750" h="152400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1447800"/>
                </a:lnTo>
                <a:cubicBezTo>
                  <a:pt x="5238750" y="1489856"/>
                  <a:pt x="5204606" y="1524000"/>
                  <a:pt x="516255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34150" y="3589867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Modelo de Precios Flexible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62713" y="3932767"/>
            <a:ext cx="942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5C51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$20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00813" y="4275667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Precio mínimo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79549" y="4047067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577380" y="3932767"/>
            <a:ext cx="962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5C51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$199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615480" y="4275667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Precio máximo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96050" y="4580467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Renta por película + suscripción mensual a canales especiales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5233" y="5911849"/>
            <a:ext cx="11419417" cy="560917"/>
          </a:xfrm>
          <a:custGeom>
            <a:avLst/>
            <a:gdLst/>
            <a:ahLst/>
            <a:cxnLst/>
            <a:rect l="l" t="t" r="r" b="b"/>
            <a:pathLst>
              <a:path w="11419417" h="560917">
                <a:moveTo>
                  <a:pt x="114298" y="0"/>
                </a:moveTo>
                <a:lnTo>
                  <a:pt x="11305119" y="0"/>
                </a:lnTo>
                <a:cubicBezTo>
                  <a:pt x="11368244" y="0"/>
                  <a:pt x="11419417" y="51173"/>
                  <a:pt x="11419417" y="114298"/>
                </a:cubicBezTo>
                <a:lnTo>
                  <a:pt x="11419417" y="446619"/>
                </a:lnTo>
                <a:cubicBezTo>
                  <a:pt x="11419417" y="509744"/>
                  <a:pt x="11368244" y="560917"/>
                  <a:pt x="11305119" y="560917"/>
                </a:cubicBezTo>
                <a:lnTo>
                  <a:pt x="114298" y="560917"/>
                </a:lnTo>
                <a:cubicBezTo>
                  <a:pt x="51173" y="560917"/>
                  <a:pt x="0" y="509744"/>
                  <a:pt x="0" y="446619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5C518">
              <a:alpha val="10196"/>
            </a:srgbClr>
          </a:solidFill>
          <a:ln w="11289">
            <a:solidFill>
              <a:srgbClr val="F5C518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0917" y="61108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44" name="Text 42"/>
          <p:cNvSpPr/>
          <p:nvPr/>
        </p:nvSpPr>
        <p:spPr>
          <a:xfrm>
            <a:off x="789517" y="6068483"/>
            <a:ext cx="10934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Crecimiento: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KLIC experimentó 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5C51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crecimiento 6 veces proyectado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de 2015 a 2016 en sus primeros años, demostrando la demanda del modelo híbrido.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2000250" cy="390525"/>
          </a:xfrm>
          <a:custGeom>
            <a:avLst/>
            <a:gdLst/>
            <a:ahLst/>
            <a:cxnLst/>
            <a:rect l="l" t="t" r="r" b="b"/>
            <a:pathLst>
              <a:path w="2000250" h="390525">
                <a:moveTo>
                  <a:pt x="76199" y="0"/>
                </a:moveTo>
                <a:lnTo>
                  <a:pt x="1924051" y="0"/>
                </a:lnTo>
                <a:cubicBezTo>
                  <a:pt x="1966134" y="0"/>
                  <a:pt x="2000250" y="34116"/>
                  <a:pt x="2000250" y="76199"/>
                </a:cubicBezTo>
                <a:lnTo>
                  <a:pt x="2000250" y="314326"/>
                </a:lnTo>
                <a:cubicBezTo>
                  <a:pt x="2000250" y="356409"/>
                  <a:pt x="1966134" y="390525"/>
                  <a:pt x="19240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99535"/>
            <a:ext cx="17708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04. OMNICANALIDAD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84767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Ecosistema Digital Omnicanal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56267"/>
            <a:ext cx="7572375" cy="3314700"/>
          </a:xfrm>
          <a:custGeom>
            <a:avLst/>
            <a:gdLst/>
            <a:ahLst/>
            <a:cxnLst/>
            <a:rect l="l" t="t" r="r" b="b"/>
            <a:pathLst>
              <a:path w="7572375" h="3314700">
                <a:moveTo>
                  <a:pt x="114291" y="0"/>
                </a:moveTo>
                <a:lnTo>
                  <a:pt x="7458084" y="0"/>
                </a:lnTo>
                <a:cubicBezTo>
                  <a:pt x="7521163" y="0"/>
                  <a:pt x="7572375" y="51212"/>
                  <a:pt x="7572375" y="114291"/>
                </a:cubicBezTo>
                <a:lnTo>
                  <a:pt x="7572375" y="3200409"/>
                </a:lnTo>
                <a:cubicBezTo>
                  <a:pt x="7572375" y="3263530"/>
                  <a:pt x="7521205" y="3314700"/>
                  <a:pt x="7458084" y="3314700"/>
                </a:cubicBezTo>
                <a:lnTo>
                  <a:pt x="114291" y="3314700"/>
                </a:lnTo>
                <a:cubicBezTo>
                  <a:pt x="51170" y="3314700"/>
                  <a:pt x="0" y="3263530"/>
                  <a:pt x="0" y="3200409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646767"/>
            <a:ext cx="728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Canales de Contacto Digitales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2065867"/>
            <a:ext cx="7267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El ecosistema digital ha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5C51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eliminado las largas filas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en taquilla y dulcería. Un porcentaje significativo de ventas de boletos y alimentos se realiza a través de canales digitales.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8433" y="2713569"/>
            <a:ext cx="3522133" cy="876300"/>
          </a:xfrm>
          <a:custGeom>
            <a:avLst/>
            <a:gdLst/>
            <a:ahLst/>
            <a:cxnLst/>
            <a:rect l="l" t="t" r="r" b="b"/>
            <a:pathLst>
              <a:path w="3522133" h="876300">
                <a:moveTo>
                  <a:pt x="33867" y="0"/>
                </a:moveTo>
                <a:lnTo>
                  <a:pt x="3445930" y="0"/>
                </a:lnTo>
                <a:cubicBezTo>
                  <a:pt x="3488016" y="0"/>
                  <a:pt x="3522133" y="34117"/>
                  <a:pt x="3522133" y="76203"/>
                </a:cubicBezTo>
                <a:lnTo>
                  <a:pt x="3522133" y="800097"/>
                </a:lnTo>
                <a:cubicBezTo>
                  <a:pt x="3522133" y="842183"/>
                  <a:pt x="3488016" y="876300"/>
                  <a:pt x="3445930" y="876300"/>
                </a:cubicBezTo>
                <a:lnTo>
                  <a:pt x="33867" y="876300"/>
                </a:lnTo>
                <a:cubicBezTo>
                  <a:pt x="15163" y="876300"/>
                  <a:pt x="0" y="861137"/>
                  <a:pt x="0" y="8424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88433" y="2713569"/>
            <a:ext cx="33867" cy="876300"/>
          </a:xfrm>
          <a:custGeom>
            <a:avLst/>
            <a:gdLst/>
            <a:ahLst/>
            <a:cxnLst/>
            <a:rect l="l" t="t" r="r" b="b"/>
            <a:pathLst>
              <a:path w="33867" h="876300">
                <a:moveTo>
                  <a:pt x="33867" y="0"/>
                </a:moveTo>
                <a:lnTo>
                  <a:pt x="33867" y="0"/>
                </a:lnTo>
                <a:lnTo>
                  <a:pt x="33867" y="876300"/>
                </a:lnTo>
                <a:lnTo>
                  <a:pt x="33867" y="876300"/>
                </a:lnTo>
                <a:cubicBezTo>
                  <a:pt x="15163" y="876300"/>
                  <a:pt x="0" y="861137"/>
                  <a:pt x="0" y="8424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10" name="Shape 8"/>
          <p:cNvSpPr/>
          <p:nvPr/>
        </p:nvSpPr>
        <p:spPr>
          <a:xfrm>
            <a:off x="814917" y="288501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1157817" y="2865969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App Móvil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7767" y="3208869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Compra de boletos y dulcería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39683" y="2713569"/>
            <a:ext cx="3522133" cy="876300"/>
          </a:xfrm>
          <a:custGeom>
            <a:avLst/>
            <a:gdLst/>
            <a:ahLst/>
            <a:cxnLst/>
            <a:rect l="l" t="t" r="r" b="b"/>
            <a:pathLst>
              <a:path w="3522133" h="876300">
                <a:moveTo>
                  <a:pt x="33867" y="0"/>
                </a:moveTo>
                <a:lnTo>
                  <a:pt x="3445930" y="0"/>
                </a:lnTo>
                <a:cubicBezTo>
                  <a:pt x="3488016" y="0"/>
                  <a:pt x="3522133" y="34117"/>
                  <a:pt x="3522133" y="76203"/>
                </a:cubicBezTo>
                <a:lnTo>
                  <a:pt x="3522133" y="800097"/>
                </a:lnTo>
                <a:cubicBezTo>
                  <a:pt x="3522133" y="842183"/>
                  <a:pt x="3488016" y="876300"/>
                  <a:pt x="3445930" y="876300"/>
                </a:cubicBezTo>
                <a:lnTo>
                  <a:pt x="33867" y="876300"/>
                </a:lnTo>
                <a:cubicBezTo>
                  <a:pt x="15163" y="876300"/>
                  <a:pt x="0" y="861137"/>
                  <a:pt x="0" y="8424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39683" y="2713569"/>
            <a:ext cx="33867" cy="876300"/>
          </a:xfrm>
          <a:custGeom>
            <a:avLst/>
            <a:gdLst/>
            <a:ahLst/>
            <a:cxnLst/>
            <a:rect l="l" t="t" r="r" b="b"/>
            <a:pathLst>
              <a:path w="33867" h="876300">
                <a:moveTo>
                  <a:pt x="33867" y="0"/>
                </a:moveTo>
                <a:lnTo>
                  <a:pt x="33867" y="0"/>
                </a:lnTo>
                <a:lnTo>
                  <a:pt x="33867" y="876300"/>
                </a:lnTo>
                <a:lnTo>
                  <a:pt x="33867" y="876300"/>
                </a:lnTo>
                <a:cubicBezTo>
                  <a:pt x="15163" y="876300"/>
                  <a:pt x="0" y="861137"/>
                  <a:pt x="0" y="8424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7592" y="28850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067" y="2865969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Sitio Web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09017" y="3208869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CineTicket integrado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8433" y="3704169"/>
            <a:ext cx="3522133" cy="876300"/>
          </a:xfrm>
          <a:custGeom>
            <a:avLst/>
            <a:gdLst/>
            <a:ahLst/>
            <a:cxnLst/>
            <a:rect l="l" t="t" r="r" b="b"/>
            <a:pathLst>
              <a:path w="3522133" h="876300">
                <a:moveTo>
                  <a:pt x="33867" y="0"/>
                </a:moveTo>
                <a:lnTo>
                  <a:pt x="3445930" y="0"/>
                </a:lnTo>
                <a:cubicBezTo>
                  <a:pt x="3488016" y="0"/>
                  <a:pt x="3522133" y="34117"/>
                  <a:pt x="3522133" y="76203"/>
                </a:cubicBezTo>
                <a:lnTo>
                  <a:pt x="3522133" y="800097"/>
                </a:lnTo>
                <a:cubicBezTo>
                  <a:pt x="3522133" y="842183"/>
                  <a:pt x="3488016" y="876300"/>
                  <a:pt x="3445930" y="876300"/>
                </a:cubicBezTo>
                <a:lnTo>
                  <a:pt x="33867" y="876300"/>
                </a:lnTo>
                <a:cubicBezTo>
                  <a:pt x="15163" y="876300"/>
                  <a:pt x="0" y="861137"/>
                  <a:pt x="0" y="8424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88433" y="3704169"/>
            <a:ext cx="33867" cy="876300"/>
          </a:xfrm>
          <a:custGeom>
            <a:avLst/>
            <a:gdLst/>
            <a:ahLst/>
            <a:cxnLst/>
            <a:rect l="l" t="t" r="r" b="b"/>
            <a:pathLst>
              <a:path w="33867" h="876300">
                <a:moveTo>
                  <a:pt x="33867" y="0"/>
                </a:moveTo>
                <a:lnTo>
                  <a:pt x="33867" y="0"/>
                </a:lnTo>
                <a:lnTo>
                  <a:pt x="33867" y="876300"/>
                </a:lnTo>
                <a:lnTo>
                  <a:pt x="33867" y="876300"/>
                </a:lnTo>
                <a:cubicBezTo>
                  <a:pt x="15163" y="876300"/>
                  <a:pt x="0" y="861137"/>
                  <a:pt x="0" y="8424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42" y="38756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1" name="Text 19"/>
          <p:cNvSpPr/>
          <p:nvPr/>
        </p:nvSpPr>
        <p:spPr>
          <a:xfrm>
            <a:off x="1157817" y="3856569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Kioscos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7767" y="4199469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Taquillas automáticas en cines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39683" y="3704169"/>
            <a:ext cx="3522133" cy="876300"/>
          </a:xfrm>
          <a:custGeom>
            <a:avLst/>
            <a:gdLst/>
            <a:ahLst/>
            <a:cxnLst/>
            <a:rect l="l" t="t" r="r" b="b"/>
            <a:pathLst>
              <a:path w="3522133" h="876300">
                <a:moveTo>
                  <a:pt x="33867" y="0"/>
                </a:moveTo>
                <a:lnTo>
                  <a:pt x="3445930" y="0"/>
                </a:lnTo>
                <a:cubicBezTo>
                  <a:pt x="3488016" y="0"/>
                  <a:pt x="3522133" y="34117"/>
                  <a:pt x="3522133" y="76203"/>
                </a:cubicBezTo>
                <a:lnTo>
                  <a:pt x="3522133" y="800097"/>
                </a:lnTo>
                <a:cubicBezTo>
                  <a:pt x="3522133" y="842183"/>
                  <a:pt x="3488016" y="876300"/>
                  <a:pt x="3445930" y="876300"/>
                </a:cubicBezTo>
                <a:lnTo>
                  <a:pt x="33867" y="876300"/>
                </a:lnTo>
                <a:cubicBezTo>
                  <a:pt x="15163" y="876300"/>
                  <a:pt x="0" y="861137"/>
                  <a:pt x="0" y="8424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239683" y="3704169"/>
            <a:ext cx="33867" cy="876300"/>
          </a:xfrm>
          <a:custGeom>
            <a:avLst/>
            <a:gdLst/>
            <a:ahLst/>
            <a:cxnLst/>
            <a:rect l="l" t="t" r="r" b="b"/>
            <a:pathLst>
              <a:path w="33867" h="876300">
                <a:moveTo>
                  <a:pt x="33867" y="0"/>
                </a:moveTo>
                <a:lnTo>
                  <a:pt x="33867" y="0"/>
                </a:lnTo>
                <a:lnTo>
                  <a:pt x="33867" y="876300"/>
                </a:lnTo>
                <a:lnTo>
                  <a:pt x="33867" y="876300"/>
                </a:lnTo>
                <a:cubicBezTo>
                  <a:pt x="15163" y="876300"/>
                  <a:pt x="0" y="861137"/>
                  <a:pt x="0" y="8424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25" name="Shape 23"/>
          <p:cNvSpPr/>
          <p:nvPr/>
        </p:nvSpPr>
        <p:spPr>
          <a:xfrm>
            <a:off x="4451879" y="387561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28575"/>
                </a:moveTo>
                <a:cubicBezTo>
                  <a:pt x="64740" y="28575"/>
                  <a:pt x="35406" y="54159"/>
                  <a:pt x="29602" y="87823"/>
                </a:cubicBezTo>
                <a:cubicBezTo>
                  <a:pt x="33754" y="86484"/>
                  <a:pt x="38219" y="85725"/>
                  <a:pt x="42863" y="85725"/>
                </a:cubicBezTo>
                <a:lnTo>
                  <a:pt x="50006" y="85725"/>
                </a:lnTo>
                <a:cubicBezTo>
                  <a:pt x="61838" y="85725"/>
                  <a:pt x="71438" y="95324"/>
                  <a:pt x="71438" y="107156"/>
                </a:cubicBezTo>
                <a:lnTo>
                  <a:pt x="71438" y="150019"/>
                </a:lnTo>
                <a:cubicBezTo>
                  <a:pt x="71438" y="161851"/>
                  <a:pt x="61838" y="171450"/>
                  <a:pt x="50006" y="171450"/>
                </a:cubicBezTo>
                <a:lnTo>
                  <a:pt x="42863" y="171450"/>
                </a:lnTo>
                <a:cubicBezTo>
                  <a:pt x="19199" y="171450"/>
                  <a:pt x="0" y="152251"/>
                  <a:pt x="0" y="128588"/>
                </a:cubicBezTo>
                <a:lnTo>
                  <a:pt x="0" y="100013"/>
                </a:lnTo>
                <a:cubicBezTo>
                  <a:pt x="0" y="44782"/>
                  <a:pt x="44782" y="0"/>
                  <a:pt x="100013" y="0"/>
                </a:cubicBezTo>
                <a:cubicBezTo>
                  <a:pt x="155243" y="0"/>
                  <a:pt x="200025" y="44782"/>
                  <a:pt x="200025" y="100013"/>
                </a:cubicBezTo>
                <a:lnTo>
                  <a:pt x="200025" y="175067"/>
                </a:lnTo>
                <a:cubicBezTo>
                  <a:pt x="200025" y="204668"/>
                  <a:pt x="176004" y="228645"/>
                  <a:pt x="146402" y="228645"/>
                </a:cubicBezTo>
                <a:lnTo>
                  <a:pt x="107156" y="228600"/>
                </a:lnTo>
                <a:lnTo>
                  <a:pt x="92869" y="228600"/>
                </a:lnTo>
                <a:cubicBezTo>
                  <a:pt x="81037" y="228600"/>
                  <a:pt x="71437" y="219001"/>
                  <a:pt x="71437" y="207169"/>
                </a:cubicBezTo>
                <a:cubicBezTo>
                  <a:pt x="71437" y="195337"/>
                  <a:pt x="81037" y="185738"/>
                  <a:pt x="92869" y="185738"/>
                </a:cubicBezTo>
                <a:lnTo>
                  <a:pt x="107156" y="185738"/>
                </a:lnTo>
                <a:cubicBezTo>
                  <a:pt x="118988" y="185738"/>
                  <a:pt x="128588" y="195337"/>
                  <a:pt x="128588" y="207169"/>
                </a:cubicBezTo>
                <a:lnTo>
                  <a:pt x="128588" y="207169"/>
                </a:lnTo>
                <a:lnTo>
                  <a:pt x="146447" y="207169"/>
                </a:lnTo>
                <a:cubicBezTo>
                  <a:pt x="164217" y="207169"/>
                  <a:pt x="178594" y="192792"/>
                  <a:pt x="178594" y="175022"/>
                </a:cubicBezTo>
                <a:lnTo>
                  <a:pt x="178594" y="165690"/>
                </a:lnTo>
                <a:cubicBezTo>
                  <a:pt x="172298" y="169352"/>
                  <a:pt x="164976" y="171405"/>
                  <a:pt x="157163" y="171405"/>
                </a:cubicBezTo>
                <a:lnTo>
                  <a:pt x="150019" y="171405"/>
                </a:lnTo>
                <a:cubicBezTo>
                  <a:pt x="138187" y="171405"/>
                  <a:pt x="128588" y="161806"/>
                  <a:pt x="128588" y="149974"/>
                </a:cubicBezTo>
                <a:lnTo>
                  <a:pt x="128588" y="107112"/>
                </a:lnTo>
                <a:cubicBezTo>
                  <a:pt x="128588" y="95280"/>
                  <a:pt x="138187" y="85680"/>
                  <a:pt x="150019" y="85680"/>
                </a:cubicBezTo>
                <a:lnTo>
                  <a:pt x="157163" y="85680"/>
                </a:lnTo>
                <a:cubicBezTo>
                  <a:pt x="161806" y="85680"/>
                  <a:pt x="166226" y="86395"/>
                  <a:pt x="170423" y="87779"/>
                </a:cubicBezTo>
                <a:cubicBezTo>
                  <a:pt x="164619" y="54159"/>
                  <a:pt x="135329" y="28530"/>
                  <a:pt x="100013" y="28530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6" name="Text 24"/>
          <p:cNvSpPr/>
          <p:nvPr/>
        </p:nvSpPr>
        <p:spPr>
          <a:xfrm>
            <a:off x="4809067" y="3856569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Call Center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09017" y="4199469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Atención telefónica integrada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4923369"/>
            <a:ext cx="7572375" cy="1257300"/>
          </a:xfrm>
          <a:custGeom>
            <a:avLst/>
            <a:gdLst/>
            <a:ahLst/>
            <a:cxnLst/>
            <a:rect l="l" t="t" r="r" b="b"/>
            <a:pathLst>
              <a:path w="7572375" h="1257300">
                <a:moveTo>
                  <a:pt x="114301" y="0"/>
                </a:moveTo>
                <a:lnTo>
                  <a:pt x="7458074" y="0"/>
                </a:lnTo>
                <a:cubicBezTo>
                  <a:pt x="7521158" y="0"/>
                  <a:pt x="7572375" y="51217"/>
                  <a:pt x="7572375" y="114301"/>
                </a:cubicBezTo>
                <a:lnTo>
                  <a:pt x="7572375" y="1142999"/>
                </a:lnTo>
                <a:cubicBezTo>
                  <a:pt x="7572375" y="1206083"/>
                  <a:pt x="7521158" y="1257300"/>
                  <a:pt x="745807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83406" y="515196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30" name="Text 28"/>
          <p:cNvSpPr/>
          <p:nvPr/>
        </p:nvSpPr>
        <p:spPr>
          <a:xfrm>
            <a:off x="809625" y="5113869"/>
            <a:ext cx="704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Aliados Tecnológicos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1500" y="5494869"/>
            <a:ext cx="7267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Cinépolis se apoya en aliados como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Ho1a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para infraestructura telefónica que eficientiza procesos de atención, gestionando hasta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5C51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15,000 llamadas diarias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en estrenos importantes.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02600" y="1456267"/>
            <a:ext cx="3705225" cy="3800475"/>
          </a:xfrm>
          <a:custGeom>
            <a:avLst/>
            <a:gdLst/>
            <a:ahLst/>
            <a:cxnLst/>
            <a:rect l="l" t="t" r="r" b="b"/>
            <a:pathLst>
              <a:path w="3705225" h="3800475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3686169"/>
                </a:lnTo>
                <a:cubicBezTo>
                  <a:pt x="3705225" y="3749298"/>
                  <a:pt x="3654048" y="3800475"/>
                  <a:pt x="3590919" y="3800475"/>
                </a:cubicBezTo>
                <a:lnTo>
                  <a:pt x="114306" y="3800475"/>
                </a:lnTo>
                <a:cubicBezTo>
                  <a:pt x="51177" y="3800475"/>
                  <a:pt x="0" y="3749298"/>
                  <a:pt x="0" y="3686169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gradFill rotWithShape="1" flip="none">
            <a:gsLst>
              <a:gs pos="0">
                <a:srgbClr val="E50914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33" name="Text 31"/>
          <p:cNvSpPr/>
          <p:nvPr/>
        </p:nvSpPr>
        <p:spPr>
          <a:xfrm>
            <a:off x="8245475" y="1749426"/>
            <a:ext cx="3419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Métricas de Éxito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78800" y="2168526"/>
            <a:ext cx="3552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5C51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55000" y="2701923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Boletos vendidos digitalmente (piso)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93100" y="3087157"/>
            <a:ext cx="3324225" cy="8467"/>
          </a:xfrm>
          <a:custGeom>
            <a:avLst/>
            <a:gdLst/>
            <a:ahLst/>
            <a:cxnLst/>
            <a:rect l="l" t="t" r="r" b="b"/>
            <a:pathLst>
              <a:path w="3324225" h="8467">
                <a:moveTo>
                  <a:pt x="0" y="0"/>
                </a:moveTo>
                <a:lnTo>
                  <a:pt x="3324225" y="0"/>
                </a:lnTo>
                <a:lnTo>
                  <a:pt x="3324225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37" name="Text 35"/>
          <p:cNvSpPr/>
          <p:nvPr/>
        </p:nvSpPr>
        <p:spPr>
          <a:xfrm>
            <a:off x="8293100" y="3243793"/>
            <a:ext cx="3552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C51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35%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93100" y="3777193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Meta de ventas digitales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93100" y="4162426"/>
            <a:ext cx="3324225" cy="8467"/>
          </a:xfrm>
          <a:custGeom>
            <a:avLst/>
            <a:gdLst/>
            <a:ahLst/>
            <a:cxnLst/>
            <a:rect l="l" t="t" r="r" b="b"/>
            <a:pathLst>
              <a:path w="3324225" h="8467">
                <a:moveTo>
                  <a:pt x="0" y="0"/>
                </a:moveTo>
                <a:lnTo>
                  <a:pt x="3324225" y="0"/>
                </a:lnTo>
                <a:lnTo>
                  <a:pt x="3324225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40" name="Text 38"/>
          <p:cNvSpPr/>
          <p:nvPr/>
        </p:nvSpPr>
        <p:spPr>
          <a:xfrm>
            <a:off x="9401043" y="4319057"/>
            <a:ext cx="504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C51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5K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838267" y="4376207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982994" y="4319057"/>
            <a:ext cx="67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C51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15K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93100" y="4738157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Llamadas diarias al Call Center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06834" y="5416549"/>
            <a:ext cx="3704167" cy="1056217"/>
          </a:xfrm>
          <a:custGeom>
            <a:avLst/>
            <a:gdLst/>
            <a:ahLst/>
            <a:cxnLst/>
            <a:rect l="l" t="t" r="r" b="b"/>
            <a:pathLst>
              <a:path w="3704167" h="1056217">
                <a:moveTo>
                  <a:pt x="114304" y="0"/>
                </a:moveTo>
                <a:lnTo>
                  <a:pt x="3589863" y="0"/>
                </a:lnTo>
                <a:cubicBezTo>
                  <a:pt x="3652991" y="0"/>
                  <a:pt x="3704167" y="51176"/>
                  <a:pt x="3704167" y="114304"/>
                </a:cubicBezTo>
                <a:lnTo>
                  <a:pt x="3704167" y="941913"/>
                </a:lnTo>
                <a:cubicBezTo>
                  <a:pt x="3704167" y="1005041"/>
                  <a:pt x="3652991" y="1056217"/>
                  <a:pt x="3589863" y="1056217"/>
                </a:cubicBezTo>
                <a:lnTo>
                  <a:pt x="114304" y="1056217"/>
                </a:lnTo>
                <a:cubicBezTo>
                  <a:pt x="51176" y="1056217"/>
                  <a:pt x="0" y="1005041"/>
                  <a:pt x="0" y="941913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5C518">
              <a:alpha val="10196"/>
            </a:srgbClr>
          </a:solidFill>
          <a:ln w="11289">
            <a:solidFill>
              <a:srgbClr val="F5C518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92042" y="56155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46" name="Text 44"/>
          <p:cNvSpPr/>
          <p:nvPr/>
        </p:nvSpPr>
        <p:spPr>
          <a:xfrm>
            <a:off x="8511117" y="5573185"/>
            <a:ext cx="32194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Juan Carlos Lozano: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"La tecnología juega un papel preponderante en cada operación de Cinépolis a nivel internacional."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2143125" cy="325438"/>
          </a:xfrm>
          <a:custGeom>
            <a:avLst/>
            <a:gdLst/>
            <a:ahLst/>
            <a:cxnLst/>
            <a:rect l="l" t="t" r="r" b="b"/>
            <a:pathLst>
              <a:path w="2143125" h="325438">
                <a:moveTo>
                  <a:pt x="63499" y="0"/>
                </a:moveTo>
                <a:lnTo>
                  <a:pt x="2079626" y="0"/>
                </a:lnTo>
                <a:cubicBezTo>
                  <a:pt x="2114695" y="0"/>
                  <a:pt x="2143125" y="28430"/>
                  <a:pt x="2143125" y="63499"/>
                </a:cubicBezTo>
                <a:lnTo>
                  <a:pt x="2143125" y="261938"/>
                </a:lnTo>
                <a:cubicBezTo>
                  <a:pt x="2143125" y="297008"/>
                  <a:pt x="2114695" y="325438"/>
                  <a:pt x="2079626" y="325438"/>
                </a:cubicBezTo>
                <a:lnTo>
                  <a:pt x="63499" y="325438"/>
                </a:lnTo>
                <a:cubicBezTo>
                  <a:pt x="28430" y="325438"/>
                  <a:pt x="0" y="297008"/>
                  <a:pt x="0" y="261938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416277"/>
            <a:ext cx="1953286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05. PROGRAMA DE LEALTAD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737308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Club Cinépolis Digital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1611" y="1213558"/>
            <a:ext cx="5681486" cy="1254125"/>
          </a:xfrm>
          <a:custGeom>
            <a:avLst/>
            <a:gdLst/>
            <a:ahLst/>
            <a:cxnLst/>
            <a:rect l="l" t="t" r="r" b="b"/>
            <a:pathLst>
              <a:path w="5681486" h="1254125">
                <a:moveTo>
                  <a:pt x="28222" y="0"/>
                </a:moveTo>
                <a:lnTo>
                  <a:pt x="5586235" y="0"/>
                </a:lnTo>
                <a:cubicBezTo>
                  <a:pt x="5638841" y="0"/>
                  <a:pt x="5681486" y="42645"/>
                  <a:pt x="5681486" y="95251"/>
                </a:cubicBezTo>
                <a:lnTo>
                  <a:pt x="5681486" y="1158874"/>
                </a:lnTo>
                <a:cubicBezTo>
                  <a:pt x="5681486" y="1211480"/>
                  <a:pt x="5638841" y="1254125"/>
                  <a:pt x="5586235" y="1254125"/>
                </a:cubicBezTo>
                <a:lnTo>
                  <a:pt x="28222" y="1254125"/>
                </a:lnTo>
                <a:cubicBezTo>
                  <a:pt x="12636" y="1254125"/>
                  <a:pt x="0" y="1241489"/>
                  <a:pt x="0" y="1225903"/>
                </a:cubicBezTo>
                <a:lnTo>
                  <a:pt x="0" y="28222"/>
                </a:lnTo>
                <a:cubicBezTo>
                  <a:pt x="0" y="12636"/>
                  <a:pt x="12636" y="0"/>
                  <a:pt x="2822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31611" y="1213558"/>
            <a:ext cx="28222" cy="1254125"/>
          </a:xfrm>
          <a:custGeom>
            <a:avLst/>
            <a:gdLst/>
            <a:ahLst/>
            <a:cxnLst/>
            <a:rect l="l" t="t" r="r" b="b"/>
            <a:pathLst>
              <a:path w="28222" h="1254125">
                <a:moveTo>
                  <a:pt x="28222" y="0"/>
                </a:moveTo>
                <a:lnTo>
                  <a:pt x="28222" y="0"/>
                </a:lnTo>
                <a:lnTo>
                  <a:pt x="28222" y="1254125"/>
                </a:lnTo>
                <a:lnTo>
                  <a:pt x="28222" y="1254125"/>
                </a:lnTo>
                <a:cubicBezTo>
                  <a:pt x="12636" y="1254125"/>
                  <a:pt x="0" y="1241489"/>
                  <a:pt x="0" y="1225903"/>
                </a:cubicBezTo>
                <a:lnTo>
                  <a:pt x="0" y="28222"/>
                </a:lnTo>
                <a:cubicBezTo>
                  <a:pt x="0" y="12636"/>
                  <a:pt x="12636" y="0"/>
                  <a:pt x="28222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7" name="Shape 5"/>
          <p:cNvSpPr/>
          <p:nvPr/>
        </p:nvSpPr>
        <p:spPr>
          <a:xfrm>
            <a:off x="524316" y="140405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702910" y="1372308"/>
            <a:ext cx="523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Problema Identificado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4472" y="1689808"/>
            <a:ext cx="5413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Un estudio reveló que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5C51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más del 40% de los asistentes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habían extraviado o dejado de utilizar su Tarjeta Club Cinépolis física. Esto representaba un grave problema porque la membresía es la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fuente principal de información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sobre visitas, películas vistas, consumos y establecimientos visitados.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1611" y="2594683"/>
            <a:ext cx="5681486" cy="1381125"/>
          </a:xfrm>
          <a:custGeom>
            <a:avLst/>
            <a:gdLst/>
            <a:ahLst/>
            <a:cxnLst/>
            <a:rect l="l" t="t" r="r" b="b"/>
            <a:pathLst>
              <a:path w="5681486" h="1381125">
                <a:moveTo>
                  <a:pt x="28222" y="0"/>
                </a:moveTo>
                <a:lnTo>
                  <a:pt x="5586230" y="0"/>
                </a:lnTo>
                <a:cubicBezTo>
                  <a:pt x="5638838" y="0"/>
                  <a:pt x="5681486" y="42648"/>
                  <a:pt x="5681486" y="95256"/>
                </a:cubicBezTo>
                <a:lnTo>
                  <a:pt x="5681486" y="1285869"/>
                </a:lnTo>
                <a:cubicBezTo>
                  <a:pt x="5681486" y="1338477"/>
                  <a:pt x="5638838" y="1381125"/>
                  <a:pt x="5586230" y="1381125"/>
                </a:cubicBezTo>
                <a:lnTo>
                  <a:pt x="28222" y="1381125"/>
                </a:lnTo>
                <a:cubicBezTo>
                  <a:pt x="12636" y="1381125"/>
                  <a:pt x="0" y="1368489"/>
                  <a:pt x="0" y="1352903"/>
                </a:cubicBezTo>
                <a:lnTo>
                  <a:pt x="0" y="28222"/>
                </a:lnTo>
                <a:cubicBezTo>
                  <a:pt x="0" y="12636"/>
                  <a:pt x="12636" y="0"/>
                  <a:pt x="2822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31611" y="2594683"/>
            <a:ext cx="28222" cy="1381125"/>
          </a:xfrm>
          <a:custGeom>
            <a:avLst/>
            <a:gdLst/>
            <a:ahLst/>
            <a:cxnLst/>
            <a:rect l="l" t="t" r="r" b="b"/>
            <a:pathLst>
              <a:path w="28222" h="1381125">
                <a:moveTo>
                  <a:pt x="28222" y="0"/>
                </a:moveTo>
                <a:lnTo>
                  <a:pt x="28222" y="0"/>
                </a:lnTo>
                <a:lnTo>
                  <a:pt x="28222" y="1381125"/>
                </a:lnTo>
                <a:lnTo>
                  <a:pt x="28222" y="1381125"/>
                </a:lnTo>
                <a:cubicBezTo>
                  <a:pt x="12636" y="1381125"/>
                  <a:pt x="0" y="1368489"/>
                  <a:pt x="0" y="1352903"/>
                </a:cubicBezTo>
                <a:lnTo>
                  <a:pt x="0" y="28222"/>
                </a:lnTo>
                <a:cubicBezTo>
                  <a:pt x="0" y="12636"/>
                  <a:pt x="12636" y="0"/>
                  <a:pt x="28222" y="0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4160" y="278518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02910" y="2753433"/>
            <a:ext cx="523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 Solución Digital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4472" y="3070933"/>
            <a:ext cx="54133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En 2022, Cinépolis transformó el programa a un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5C51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modelo completamente digital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por dos razones: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8285" y="340430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726722" y="3372558"/>
            <a:ext cx="3516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Eliminar barreras: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Registro desde cualquier dispositivo inteligente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8285" y="365830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8" name="Text 16"/>
          <p:cNvSpPr/>
          <p:nvPr/>
        </p:nvSpPr>
        <p:spPr>
          <a:xfrm>
            <a:off x="726722" y="3626558"/>
            <a:ext cx="3500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Datos verificados: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MFA para recopilar teléfonos y correos limpios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5375" y="1213558"/>
            <a:ext cx="5699125" cy="3619500"/>
          </a:xfrm>
          <a:custGeom>
            <a:avLst/>
            <a:gdLst/>
            <a:ahLst/>
            <a:cxnLst/>
            <a:rect l="l" t="t" r="r" b="b"/>
            <a:pathLst>
              <a:path w="5699125" h="3619500">
                <a:moveTo>
                  <a:pt x="95265" y="0"/>
                </a:moveTo>
                <a:lnTo>
                  <a:pt x="5603860" y="0"/>
                </a:lnTo>
                <a:cubicBezTo>
                  <a:pt x="5656473" y="0"/>
                  <a:pt x="5699125" y="42652"/>
                  <a:pt x="5699125" y="95265"/>
                </a:cubicBezTo>
                <a:lnTo>
                  <a:pt x="5699125" y="3524235"/>
                </a:lnTo>
                <a:cubicBezTo>
                  <a:pt x="5699125" y="3576848"/>
                  <a:pt x="5656473" y="3619500"/>
                  <a:pt x="5603860" y="3619500"/>
                </a:cubicBezTo>
                <a:lnTo>
                  <a:pt x="95265" y="3619500"/>
                </a:lnTo>
                <a:cubicBezTo>
                  <a:pt x="42652" y="3619500"/>
                  <a:pt x="0" y="3576848"/>
                  <a:pt x="0" y="3524235"/>
                </a:cubicBezTo>
                <a:lnTo>
                  <a:pt x="0" y="95265"/>
                </a:lnTo>
                <a:cubicBezTo>
                  <a:pt x="0" y="42687"/>
                  <a:pt x="42687" y="0"/>
                  <a:pt x="95265" y="0"/>
                </a:cubicBezTo>
                <a:close/>
              </a:path>
            </a:pathLst>
          </a:custGeom>
          <a:gradFill rotWithShape="1" flip="none">
            <a:gsLst>
              <a:gs pos="0">
                <a:srgbClr val="E50914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20" name="Text 18"/>
          <p:cNvSpPr/>
          <p:nvPr/>
        </p:nvSpPr>
        <p:spPr>
          <a:xfrm>
            <a:off x="6294438" y="1372308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Comparativa: Antes vs Después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34125" y="1721558"/>
            <a:ext cx="5381625" cy="1397000"/>
          </a:xfrm>
          <a:custGeom>
            <a:avLst/>
            <a:gdLst/>
            <a:ahLst/>
            <a:cxnLst/>
            <a:rect l="l" t="t" r="r" b="b"/>
            <a:pathLst>
              <a:path w="5381625" h="1397000">
                <a:moveTo>
                  <a:pt x="63494" y="0"/>
                </a:moveTo>
                <a:lnTo>
                  <a:pt x="5318131" y="0"/>
                </a:lnTo>
                <a:cubicBezTo>
                  <a:pt x="5353198" y="0"/>
                  <a:pt x="5381625" y="28427"/>
                  <a:pt x="5381625" y="63494"/>
                </a:cubicBezTo>
                <a:lnTo>
                  <a:pt x="5381625" y="1333506"/>
                </a:lnTo>
                <a:cubicBezTo>
                  <a:pt x="5381625" y="1368573"/>
                  <a:pt x="5353198" y="1397000"/>
                  <a:pt x="5318131" y="1397000"/>
                </a:cubicBezTo>
                <a:lnTo>
                  <a:pt x="63494" y="1397000"/>
                </a:lnTo>
                <a:cubicBezTo>
                  <a:pt x="28427" y="1397000"/>
                  <a:pt x="0" y="1368573"/>
                  <a:pt x="0" y="13335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80969" y="188824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46602" y="46602"/>
                </a:moveTo>
                <a:cubicBezTo>
                  <a:pt x="49225" y="43979"/>
                  <a:pt x="53467" y="43979"/>
                  <a:pt x="56062" y="46602"/>
                </a:cubicBezTo>
                <a:lnTo>
                  <a:pt x="71410" y="61950"/>
                </a:lnTo>
                <a:lnTo>
                  <a:pt x="86757" y="46602"/>
                </a:lnTo>
                <a:cubicBezTo>
                  <a:pt x="89381" y="43979"/>
                  <a:pt x="93622" y="43979"/>
                  <a:pt x="96217" y="46602"/>
                </a:cubicBezTo>
                <a:cubicBezTo>
                  <a:pt x="98813" y="49225"/>
                  <a:pt x="98840" y="53467"/>
                  <a:pt x="96217" y="56062"/>
                </a:cubicBezTo>
                <a:lnTo>
                  <a:pt x="80869" y="71410"/>
                </a:lnTo>
                <a:lnTo>
                  <a:pt x="96217" y="86757"/>
                </a:lnTo>
                <a:cubicBezTo>
                  <a:pt x="98840" y="89381"/>
                  <a:pt x="98840" y="93622"/>
                  <a:pt x="96217" y="96217"/>
                </a:cubicBezTo>
                <a:cubicBezTo>
                  <a:pt x="93594" y="98813"/>
                  <a:pt x="89353" y="98840"/>
                  <a:pt x="86757" y="96217"/>
                </a:cubicBezTo>
                <a:lnTo>
                  <a:pt x="71410" y="80869"/>
                </a:lnTo>
                <a:lnTo>
                  <a:pt x="56062" y="96217"/>
                </a:lnTo>
                <a:cubicBezTo>
                  <a:pt x="53439" y="98840"/>
                  <a:pt x="49197" y="98840"/>
                  <a:pt x="46602" y="96217"/>
                </a:cubicBezTo>
                <a:cubicBezTo>
                  <a:pt x="44007" y="93594"/>
                  <a:pt x="43979" y="89353"/>
                  <a:pt x="46602" y="86757"/>
                </a:cubicBezTo>
                <a:lnTo>
                  <a:pt x="61950" y="71410"/>
                </a:lnTo>
                <a:lnTo>
                  <a:pt x="46602" y="56062"/>
                </a:lnTo>
                <a:cubicBezTo>
                  <a:pt x="43979" y="53439"/>
                  <a:pt x="43979" y="49197"/>
                  <a:pt x="46602" y="46602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3" name="Text 21"/>
          <p:cNvSpPr/>
          <p:nvPr/>
        </p:nvSpPr>
        <p:spPr>
          <a:xfrm>
            <a:off x="6643688" y="1848558"/>
            <a:ext cx="5016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Modelo Análogo (Antes)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61125" y="2134308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Tarjeta física: $59 pesos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61125" y="2356558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Registro solo en punto de venta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61125" y="2578808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Datos no verificables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61125" y="2801058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40% perdieron o dejaron de usar tarjeta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1181" y="3252613"/>
            <a:ext cx="5363986" cy="1411111"/>
          </a:xfrm>
          <a:custGeom>
            <a:avLst/>
            <a:gdLst/>
            <a:ahLst/>
            <a:cxnLst/>
            <a:rect l="l" t="t" r="r" b="b"/>
            <a:pathLst>
              <a:path w="5363986" h="1411111">
                <a:moveTo>
                  <a:pt x="63500" y="0"/>
                </a:moveTo>
                <a:lnTo>
                  <a:pt x="5300486" y="0"/>
                </a:lnTo>
                <a:cubicBezTo>
                  <a:pt x="5335556" y="0"/>
                  <a:pt x="5363986" y="28430"/>
                  <a:pt x="5363986" y="63500"/>
                </a:cubicBezTo>
                <a:lnTo>
                  <a:pt x="5363986" y="1347611"/>
                </a:lnTo>
                <a:cubicBezTo>
                  <a:pt x="5363986" y="1382681"/>
                  <a:pt x="5335556" y="1411111"/>
                  <a:pt x="5300486" y="1411111"/>
                </a:cubicBezTo>
                <a:lnTo>
                  <a:pt x="63500" y="1411111"/>
                </a:lnTo>
                <a:cubicBezTo>
                  <a:pt x="28430" y="1411111"/>
                  <a:pt x="0" y="1382681"/>
                  <a:pt x="0" y="1347611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22578">
            <a:solidFill>
              <a:srgbClr val="F5C5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5080" y="342635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30" name="Text 28"/>
          <p:cNvSpPr/>
          <p:nvPr/>
        </p:nvSpPr>
        <p:spPr>
          <a:xfrm>
            <a:off x="6657799" y="3386665"/>
            <a:ext cx="4984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Modelo Digital (Ahora)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5236" y="3672415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Registro desde cualquier dispositivo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75236" y="3894665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MFA para datos verificados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75236" y="4116915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Membresía siempre a la mano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75236" y="4339165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Progressive Profiling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8903" y="4960055"/>
            <a:ext cx="5690306" cy="2007306"/>
          </a:xfrm>
          <a:custGeom>
            <a:avLst/>
            <a:gdLst/>
            <a:ahLst/>
            <a:cxnLst/>
            <a:rect l="l" t="t" r="r" b="b"/>
            <a:pathLst>
              <a:path w="5690306" h="2007306">
                <a:moveTo>
                  <a:pt x="95247" y="0"/>
                </a:moveTo>
                <a:lnTo>
                  <a:pt x="5595059" y="0"/>
                </a:lnTo>
                <a:cubicBezTo>
                  <a:pt x="5647662" y="0"/>
                  <a:pt x="5690306" y="42643"/>
                  <a:pt x="5690306" y="95247"/>
                </a:cubicBezTo>
                <a:lnTo>
                  <a:pt x="5690306" y="1912059"/>
                </a:lnTo>
                <a:cubicBezTo>
                  <a:pt x="5690306" y="1964662"/>
                  <a:pt x="5647662" y="2007306"/>
                  <a:pt x="5595059" y="2007306"/>
                </a:cubicBezTo>
                <a:lnTo>
                  <a:pt x="95247" y="2007306"/>
                </a:lnTo>
                <a:cubicBezTo>
                  <a:pt x="42643" y="2007306"/>
                  <a:pt x="0" y="1964662"/>
                  <a:pt x="0" y="1912059"/>
                </a:cubicBezTo>
                <a:lnTo>
                  <a:pt x="0" y="95247"/>
                </a:lnTo>
                <a:cubicBezTo>
                  <a:pt x="0" y="42643"/>
                  <a:pt x="42643" y="0"/>
                  <a:pt x="95247" y="0"/>
                </a:cubicBezTo>
                <a:close/>
              </a:path>
            </a:pathLst>
          </a:custGeom>
          <a:solidFill>
            <a:srgbClr val="F5C518">
              <a:alpha val="20000"/>
            </a:srgbClr>
          </a:solidFill>
          <a:ln w="11289">
            <a:solidFill>
              <a:srgbClr val="F5C518">
                <a:alpha val="5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1493" y="5122335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Resultados del Lanzamiento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45931" y="5439835"/>
            <a:ext cx="555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0" b="1" dirty="0">
                <a:solidFill>
                  <a:srgbClr val="F5C51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9 meses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09431" y="588433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para alcanzar máximo histórico de socios activos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1181" y="6170085"/>
            <a:ext cx="2635250" cy="635000"/>
          </a:xfrm>
          <a:custGeom>
            <a:avLst/>
            <a:gdLst/>
            <a:ahLst/>
            <a:cxnLst/>
            <a:rect l="l" t="t" r="r" b="b"/>
            <a:pathLst>
              <a:path w="2635250" h="635000">
                <a:moveTo>
                  <a:pt x="63500" y="0"/>
                </a:moveTo>
                <a:lnTo>
                  <a:pt x="2571750" y="0"/>
                </a:lnTo>
                <a:cubicBezTo>
                  <a:pt x="2606797" y="0"/>
                  <a:pt x="2635250" y="28453"/>
                  <a:pt x="2635250" y="63500"/>
                </a:cubicBezTo>
                <a:lnTo>
                  <a:pt x="2635250" y="571500"/>
                </a:lnTo>
                <a:cubicBezTo>
                  <a:pt x="2635250" y="606547"/>
                  <a:pt x="2606797" y="635000"/>
                  <a:pt x="257175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376900" y="6265335"/>
            <a:ext cx="2563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5C51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+300%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8650" y="6551085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Nuevos socios leales netos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72563" y="6170085"/>
            <a:ext cx="2635250" cy="635000"/>
          </a:xfrm>
          <a:custGeom>
            <a:avLst/>
            <a:gdLst/>
            <a:ahLst/>
            <a:cxnLst/>
            <a:rect l="l" t="t" r="r" b="b"/>
            <a:pathLst>
              <a:path w="2635250" h="635000">
                <a:moveTo>
                  <a:pt x="63500" y="0"/>
                </a:moveTo>
                <a:lnTo>
                  <a:pt x="2571750" y="0"/>
                </a:lnTo>
                <a:cubicBezTo>
                  <a:pt x="2606797" y="0"/>
                  <a:pt x="2635250" y="28453"/>
                  <a:pt x="2635250" y="63500"/>
                </a:cubicBezTo>
                <a:lnTo>
                  <a:pt x="2635250" y="571500"/>
                </a:lnTo>
                <a:cubicBezTo>
                  <a:pt x="2635250" y="606547"/>
                  <a:pt x="2606797" y="635000"/>
                  <a:pt x="257175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108281" y="6265335"/>
            <a:ext cx="2563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5C51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1.3M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40031" y="6551085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Nuevos socios en 3 meses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p.sfdcdigital.com/16455ed2a6cfb5d1bca3c091efdc6ddd58964e5f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5" b="1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2647950" cy="390525"/>
          </a:xfrm>
          <a:custGeom>
            <a:avLst/>
            <a:gdLst/>
            <a:ahLst/>
            <a:cxnLst/>
            <a:rect l="l" t="t" r="r" b="b"/>
            <a:pathLst>
              <a:path w="2647950" h="390525">
                <a:moveTo>
                  <a:pt x="76199" y="0"/>
                </a:moveTo>
                <a:lnTo>
                  <a:pt x="2571751" y="0"/>
                </a:lnTo>
                <a:cubicBezTo>
                  <a:pt x="2613834" y="0"/>
                  <a:pt x="2647950" y="34116"/>
                  <a:pt x="2647950" y="76199"/>
                </a:cubicBezTo>
                <a:lnTo>
                  <a:pt x="2647950" y="314326"/>
                </a:lnTo>
                <a:cubicBezTo>
                  <a:pt x="2647950" y="356409"/>
                  <a:pt x="2613834" y="390525"/>
                  <a:pt x="25717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499532"/>
            <a:ext cx="2417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06. INTELIGENCIA ARTIFICIAL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884769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Chatbot y Análisis Predictivo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233" y="1460503"/>
            <a:ext cx="6771217" cy="2256367"/>
          </a:xfrm>
          <a:custGeom>
            <a:avLst/>
            <a:gdLst/>
            <a:ahLst/>
            <a:cxnLst/>
            <a:rect l="l" t="t" r="r" b="b"/>
            <a:pathLst>
              <a:path w="6771217" h="2256367">
                <a:moveTo>
                  <a:pt x="114308" y="0"/>
                </a:moveTo>
                <a:lnTo>
                  <a:pt x="6656909" y="0"/>
                </a:lnTo>
                <a:cubicBezTo>
                  <a:pt x="6720039" y="0"/>
                  <a:pt x="6771217" y="51177"/>
                  <a:pt x="6771217" y="114308"/>
                </a:cubicBezTo>
                <a:lnTo>
                  <a:pt x="6771217" y="2142059"/>
                </a:lnTo>
                <a:cubicBezTo>
                  <a:pt x="6771217" y="2205189"/>
                  <a:pt x="6720039" y="2256367"/>
                  <a:pt x="6656909" y="2256367"/>
                </a:cubicBezTo>
                <a:lnTo>
                  <a:pt x="114308" y="2256367"/>
                </a:lnTo>
                <a:cubicBezTo>
                  <a:pt x="51177" y="2256367"/>
                  <a:pt x="0" y="2205189"/>
                  <a:pt x="0" y="2142059"/>
                </a:cubicBezTo>
                <a:lnTo>
                  <a:pt x="0" y="114308"/>
                </a:lnTo>
                <a:cubicBezTo>
                  <a:pt x="0" y="51177"/>
                  <a:pt x="51177" y="0"/>
                  <a:pt x="114308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 w="11289">
            <a:solidFill>
              <a:srgbClr val="E50914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9967" y="1693334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9" name="Text 6"/>
          <p:cNvSpPr/>
          <p:nvPr/>
        </p:nvSpPr>
        <p:spPr>
          <a:xfrm>
            <a:off x="818092" y="1655234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Primer Chatbot de Cinépolis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9967" y="2036234"/>
            <a:ext cx="6457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Cinépolis 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Gus Chat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se unieron para dotar a la cadena de su primer chatbot, capaz de resolver consultas sobre horarios, preventas, películas, asientos y precios.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9967" y="2645834"/>
            <a:ext cx="6381750" cy="876300"/>
          </a:xfrm>
          <a:custGeom>
            <a:avLst/>
            <a:gdLst/>
            <a:ahLst/>
            <a:cxnLst/>
            <a:rect l="l" t="t" r="r" b="b"/>
            <a:pathLst>
              <a:path w="6381750" h="876300">
                <a:moveTo>
                  <a:pt x="76203" y="0"/>
                </a:moveTo>
                <a:lnTo>
                  <a:pt x="6305547" y="0"/>
                </a:lnTo>
                <a:cubicBezTo>
                  <a:pt x="6347633" y="0"/>
                  <a:pt x="6381750" y="34117"/>
                  <a:pt x="6381750" y="76203"/>
                </a:cubicBezTo>
                <a:lnTo>
                  <a:pt x="6381750" y="800097"/>
                </a:lnTo>
                <a:cubicBezTo>
                  <a:pt x="6381750" y="842183"/>
                  <a:pt x="6347633" y="876300"/>
                  <a:pt x="63055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32367" y="2874434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Tasa de Resolución Automatizada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21400" y="2798234"/>
            <a:ext cx="85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C51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91%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2367" y="3255434"/>
            <a:ext cx="6076950" cy="114300"/>
          </a:xfrm>
          <a:custGeom>
            <a:avLst/>
            <a:gdLst/>
            <a:ahLst/>
            <a:cxnLst/>
            <a:rect l="l" t="t" r="r" b="b"/>
            <a:pathLst>
              <a:path w="6076950" h="114300">
                <a:moveTo>
                  <a:pt x="57150" y="0"/>
                </a:moveTo>
                <a:lnTo>
                  <a:pt x="6019800" y="0"/>
                </a:lnTo>
                <a:cubicBezTo>
                  <a:pt x="6051342" y="0"/>
                  <a:pt x="6076950" y="25608"/>
                  <a:pt x="6076950" y="57150"/>
                </a:cubicBezTo>
                <a:lnTo>
                  <a:pt x="6076950" y="57150"/>
                </a:lnTo>
                <a:cubicBezTo>
                  <a:pt x="6076950" y="88692"/>
                  <a:pt x="6051342" y="114300"/>
                  <a:pt x="60198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64153"/>
          </a:solidFill>
          <a:ln/>
        </p:spPr>
      </p:sp>
      <p:sp>
        <p:nvSpPr>
          <p:cNvPr id="15" name="Shape 12"/>
          <p:cNvSpPr/>
          <p:nvPr/>
        </p:nvSpPr>
        <p:spPr>
          <a:xfrm>
            <a:off x="732367" y="3255434"/>
            <a:ext cx="5534025" cy="114300"/>
          </a:xfrm>
          <a:custGeom>
            <a:avLst/>
            <a:gdLst/>
            <a:ahLst/>
            <a:cxnLst/>
            <a:rect l="l" t="t" r="r" b="b"/>
            <a:pathLst>
              <a:path w="5534025" h="114300">
                <a:moveTo>
                  <a:pt x="57150" y="0"/>
                </a:moveTo>
                <a:lnTo>
                  <a:pt x="5476875" y="0"/>
                </a:lnTo>
                <a:cubicBezTo>
                  <a:pt x="5508417" y="0"/>
                  <a:pt x="5534025" y="25608"/>
                  <a:pt x="5534025" y="57150"/>
                </a:cubicBezTo>
                <a:lnTo>
                  <a:pt x="5534025" y="57150"/>
                </a:lnTo>
                <a:cubicBezTo>
                  <a:pt x="5534025" y="88692"/>
                  <a:pt x="5508417" y="114300"/>
                  <a:pt x="54768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rotWithShape="1" flip="none">
            <a:gsLst>
              <a:gs pos="0">
                <a:srgbClr val="E50914"/>
              </a:gs>
              <a:gs pos="100000">
                <a:srgbClr val="F5C518"/>
              </a:gs>
            </a:gsLst>
            <a:lin ang="0" scaled="1"/>
          </a:gradFill>
          <a:ln/>
        </p:spPr>
      </p:sp>
      <p:sp>
        <p:nvSpPr>
          <p:cNvPr id="16" name="Shape 13"/>
          <p:cNvSpPr/>
          <p:nvPr/>
        </p:nvSpPr>
        <p:spPr>
          <a:xfrm>
            <a:off x="385233" y="3877732"/>
            <a:ext cx="6771217" cy="2275417"/>
          </a:xfrm>
          <a:custGeom>
            <a:avLst/>
            <a:gdLst/>
            <a:ahLst/>
            <a:cxnLst/>
            <a:rect l="l" t="t" r="r" b="b"/>
            <a:pathLst>
              <a:path w="6771217" h="2275417">
                <a:moveTo>
                  <a:pt x="114294" y="0"/>
                </a:moveTo>
                <a:lnTo>
                  <a:pt x="6656922" y="0"/>
                </a:lnTo>
                <a:cubicBezTo>
                  <a:pt x="6720045" y="0"/>
                  <a:pt x="6771217" y="51171"/>
                  <a:pt x="6771217" y="114294"/>
                </a:cubicBezTo>
                <a:lnTo>
                  <a:pt x="6771217" y="2161122"/>
                </a:lnTo>
                <a:cubicBezTo>
                  <a:pt x="6771217" y="2224245"/>
                  <a:pt x="6720045" y="2275417"/>
                  <a:pt x="6656922" y="2275417"/>
                </a:cubicBezTo>
                <a:lnTo>
                  <a:pt x="114294" y="2275417"/>
                </a:lnTo>
                <a:cubicBezTo>
                  <a:pt x="51171" y="2275417"/>
                  <a:pt x="0" y="2224245"/>
                  <a:pt x="0" y="2161122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 w="11289">
            <a:solidFill>
              <a:srgbClr val="E50914">
                <a:alpha val="3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779" y="41105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8" name="Text 15"/>
          <p:cNvSpPr/>
          <p:nvPr/>
        </p:nvSpPr>
        <p:spPr>
          <a:xfrm>
            <a:off x="818092" y="4072468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Machine Learning de AWS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9967" y="4453468"/>
            <a:ext cx="6457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Cinépolis utiliza las capacidades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5C51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Machine Learning de AWS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para múltiples aplicaciones: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9017" y="48535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1" name="Text 18"/>
          <p:cNvSpPr/>
          <p:nvPr/>
        </p:nvSpPr>
        <p:spPr>
          <a:xfrm>
            <a:off x="846667" y="4815418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Análisis de tráfico a salas físicas mediante lago de datos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08542" y="51583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28575"/>
                </a:move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28575"/>
                </a:lnTo>
                <a:close/>
                <a:moveTo>
                  <a:pt x="14288" y="109537"/>
                </a:moveTo>
                <a:lnTo>
                  <a:pt x="14288" y="119062"/>
                </a:lnTo>
                <a:cubicBezTo>
                  <a:pt x="14288" y="121682"/>
                  <a:pt x="16431" y="123825"/>
                  <a:pt x="19050" y="123825"/>
                </a:cubicBezTo>
                <a:lnTo>
                  <a:pt x="28575" y="123825"/>
                </a:lnTo>
                <a:cubicBezTo>
                  <a:pt x="31194" y="123825"/>
                  <a:pt x="33338" y="121682"/>
                  <a:pt x="33338" y="119062"/>
                </a:cubicBezTo>
                <a:lnTo>
                  <a:pt x="33338" y="109537"/>
                </a:lnTo>
                <a:cubicBezTo>
                  <a:pt x="33338" y="106918"/>
                  <a:pt x="31194" y="104775"/>
                  <a:pt x="28575" y="104775"/>
                </a:cubicBezTo>
                <a:lnTo>
                  <a:pt x="19050" y="104775"/>
                </a:lnTo>
                <a:cubicBezTo>
                  <a:pt x="16431" y="104775"/>
                  <a:pt x="14288" y="106918"/>
                  <a:pt x="14288" y="109537"/>
                </a:cubicBezTo>
                <a:close/>
                <a:moveTo>
                  <a:pt x="104775" y="104775"/>
                </a:moveTo>
                <a:cubicBezTo>
                  <a:pt x="102156" y="104775"/>
                  <a:pt x="100013" y="106918"/>
                  <a:pt x="100013" y="109537"/>
                </a:cubicBezTo>
                <a:lnTo>
                  <a:pt x="100013" y="119062"/>
                </a:lnTo>
                <a:cubicBezTo>
                  <a:pt x="100013" y="121682"/>
                  <a:pt x="102156" y="123825"/>
                  <a:pt x="104775" y="123825"/>
                </a:cubicBezTo>
                <a:lnTo>
                  <a:pt x="114300" y="123825"/>
                </a:lnTo>
                <a:cubicBezTo>
                  <a:pt x="116919" y="123825"/>
                  <a:pt x="119062" y="121682"/>
                  <a:pt x="119062" y="119062"/>
                </a:cubicBezTo>
                <a:lnTo>
                  <a:pt x="119062" y="109537"/>
                </a:lnTo>
                <a:cubicBezTo>
                  <a:pt x="119062" y="106918"/>
                  <a:pt x="116919" y="104775"/>
                  <a:pt x="114300" y="104775"/>
                </a:cubicBezTo>
                <a:lnTo>
                  <a:pt x="104775" y="104775"/>
                </a:lnTo>
                <a:close/>
                <a:moveTo>
                  <a:pt x="14288" y="71438"/>
                </a:moveTo>
                <a:lnTo>
                  <a:pt x="14288" y="80962"/>
                </a:lnTo>
                <a:cubicBezTo>
                  <a:pt x="14288" y="83582"/>
                  <a:pt x="16431" y="85725"/>
                  <a:pt x="19050" y="85725"/>
                </a:cubicBezTo>
                <a:lnTo>
                  <a:pt x="28575" y="85725"/>
                </a:lnTo>
                <a:cubicBezTo>
                  <a:pt x="31194" y="85725"/>
                  <a:pt x="33338" y="83582"/>
                  <a:pt x="33338" y="80962"/>
                </a:cubicBezTo>
                <a:lnTo>
                  <a:pt x="33338" y="71438"/>
                </a:lnTo>
                <a:cubicBezTo>
                  <a:pt x="33338" y="68818"/>
                  <a:pt x="31194" y="66675"/>
                  <a:pt x="28575" y="66675"/>
                </a:cubicBezTo>
                <a:lnTo>
                  <a:pt x="19050" y="66675"/>
                </a:lnTo>
                <a:cubicBezTo>
                  <a:pt x="16431" y="66675"/>
                  <a:pt x="14288" y="68818"/>
                  <a:pt x="14288" y="71438"/>
                </a:cubicBezTo>
                <a:close/>
                <a:moveTo>
                  <a:pt x="104775" y="66675"/>
                </a:moveTo>
                <a:cubicBezTo>
                  <a:pt x="102156" y="66675"/>
                  <a:pt x="100013" y="68818"/>
                  <a:pt x="100013" y="71438"/>
                </a:cubicBezTo>
                <a:lnTo>
                  <a:pt x="100013" y="80962"/>
                </a:lnTo>
                <a:cubicBezTo>
                  <a:pt x="100013" y="83582"/>
                  <a:pt x="102156" y="85725"/>
                  <a:pt x="104775" y="85725"/>
                </a:cubicBezTo>
                <a:lnTo>
                  <a:pt x="114300" y="85725"/>
                </a:lnTo>
                <a:cubicBezTo>
                  <a:pt x="116919" y="85725"/>
                  <a:pt x="119062" y="83582"/>
                  <a:pt x="119062" y="80962"/>
                </a:cubicBezTo>
                <a:lnTo>
                  <a:pt x="119062" y="71438"/>
                </a:lnTo>
                <a:cubicBezTo>
                  <a:pt x="119062" y="68818"/>
                  <a:pt x="116919" y="66675"/>
                  <a:pt x="114300" y="66675"/>
                </a:cubicBezTo>
                <a:lnTo>
                  <a:pt x="104775" y="66675"/>
                </a:lnTo>
                <a:close/>
                <a:moveTo>
                  <a:pt x="14288" y="33338"/>
                </a:moveTo>
                <a:lnTo>
                  <a:pt x="14288" y="42863"/>
                </a:lnTo>
                <a:cubicBezTo>
                  <a:pt x="14288" y="45482"/>
                  <a:pt x="16431" y="47625"/>
                  <a:pt x="19050" y="47625"/>
                </a:cubicBezTo>
                <a:lnTo>
                  <a:pt x="28575" y="47625"/>
                </a:lnTo>
                <a:cubicBezTo>
                  <a:pt x="31194" y="47625"/>
                  <a:pt x="33338" y="45482"/>
                  <a:pt x="33338" y="42863"/>
                </a:cubicBezTo>
                <a:lnTo>
                  <a:pt x="33338" y="33338"/>
                </a:lnTo>
                <a:cubicBezTo>
                  <a:pt x="33338" y="30718"/>
                  <a:pt x="31194" y="28575"/>
                  <a:pt x="28575" y="28575"/>
                </a:cubicBezTo>
                <a:lnTo>
                  <a:pt x="19050" y="28575"/>
                </a:lnTo>
                <a:cubicBezTo>
                  <a:pt x="16431" y="28575"/>
                  <a:pt x="14288" y="30718"/>
                  <a:pt x="14288" y="33338"/>
                </a:cubicBezTo>
                <a:close/>
                <a:moveTo>
                  <a:pt x="104775" y="28575"/>
                </a:moveTo>
                <a:cubicBezTo>
                  <a:pt x="102156" y="28575"/>
                  <a:pt x="100013" y="30718"/>
                  <a:pt x="100013" y="33338"/>
                </a:cubicBezTo>
                <a:lnTo>
                  <a:pt x="100013" y="42863"/>
                </a:lnTo>
                <a:cubicBezTo>
                  <a:pt x="100013" y="45482"/>
                  <a:pt x="102156" y="47625"/>
                  <a:pt x="104775" y="47625"/>
                </a:cubicBezTo>
                <a:lnTo>
                  <a:pt x="114300" y="47625"/>
                </a:lnTo>
                <a:cubicBezTo>
                  <a:pt x="116919" y="47625"/>
                  <a:pt x="119062" y="45482"/>
                  <a:pt x="119062" y="42863"/>
                </a:cubicBezTo>
                <a:lnTo>
                  <a:pt x="119062" y="33338"/>
                </a:lnTo>
                <a:cubicBezTo>
                  <a:pt x="119062" y="30718"/>
                  <a:pt x="116919" y="28575"/>
                  <a:pt x="114300" y="28575"/>
                </a:cubicBezTo>
                <a:lnTo>
                  <a:pt x="104775" y="28575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3" name="Text 20"/>
          <p:cNvSpPr/>
          <p:nvPr/>
        </p:nvSpPr>
        <p:spPr>
          <a:xfrm>
            <a:off x="846667" y="5120218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Identificación de películas más populares en lanzamiento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99017" y="54631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696" y="20479"/>
                </a:moveTo>
                <a:cubicBezTo>
                  <a:pt x="97959" y="16639"/>
                  <a:pt x="102066" y="14288"/>
                  <a:pt x="106501" y="14288"/>
                </a:cubicBezTo>
                <a:lnTo>
                  <a:pt x="107156" y="14288"/>
                </a:lnTo>
                <a:cubicBezTo>
                  <a:pt x="113734" y="14288"/>
                  <a:pt x="119062" y="19616"/>
                  <a:pt x="119062" y="26194"/>
                </a:cubicBezTo>
                <a:cubicBezTo>
                  <a:pt x="119062" y="32772"/>
                  <a:pt x="113734" y="38100"/>
                  <a:pt x="107156" y="38100"/>
                </a:cubicBezTo>
                <a:lnTo>
                  <a:pt x="85338" y="38100"/>
                </a:lnTo>
                <a:lnTo>
                  <a:pt x="95696" y="20479"/>
                </a:lnTo>
                <a:close/>
                <a:moveTo>
                  <a:pt x="56704" y="20479"/>
                </a:moveTo>
                <a:lnTo>
                  <a:pt x="67062" y="38100"/>
                </a:lnTo>
                <a:lnTo>
                  <a:pt x="45244" y="38100"/>
                </a:lnTo>
                <a:cubicBezTo>
                  <a:pt x="38666" y="38100"/>
                  <a:pt x="33338" y="32772"/>
                  <a:pt x="33338" y="26194"/>
                </a:cubicBezTo>
                <a:cubicBezTo>
                  <a:pt x="33338" y="19616"/>
                  <a:pt x="38666" y="14288"/>
                  <a:pt x="45244" y="14288"/>
                </a:cubicBezTo>
                <a:lnTo>
                  <a:pt x="45899" y="14288"/>
                </a:lnTo>
                <a:cubicBezTo>
                  <a:pt x="50334" y="14288"/>
                  <a:pt x="54471" y="16639"/>
                  <a:pt x="56704" y="20479"/>
                </a:cubicBezTo>
                <a:close/>
                <a:moveTo>
                  <a:pt x="83374" y="13246"/>
                </a:moveTo>
                <a:lnTo>
                  <a:pt x="76200" y="25450"/>
                </a:lnTo>
                <a:lnTo>
                  <a:pt x="69026" y="13246"/>
                </a:lnTo>
                <a:cubicBezTo>
                  <a:pt x="64204" y="5030"/>
                  <a:pt x="55394" y="0"/>
                  <a:pt x="45899" y="0"/>
                </a:cubicBezTo>
                <a:lnTo>
                  <a:pt x="45244" y="0"/>
                </a:lnTo>
                <a:cubicBezTo>
                  <a:pt x="30778" y="0"/>
                  <a:pt x="19050" y="11728"/>
                  <a:pt x="19050" y="26194"/>
                </a:cubicBezTo>
                <a:cubicBezTo>
                  <a:pt x="19050" y="30480"/>
                  <a:pt x="20092" y="34528"/>
                  <a:pt x="21908" y="38100"/>
                </a:cubicBezTo>
                <a:lnTo>
                  <a:pt x="9525" y="38100"/>
                </a:lnTo>
                <a:cubicBezTo>
                  <a:pt x="4256" y="38100"/>
                  <a:pt x="0" y="42356"/>
                  <a:pt x="0" y="47625"/>
                </a:cubicBezTo>
                <a:lnTo>
                  <a:pt x="0" y="57150"/>
                </a:lnTo>
                <a:cubicBezTo>
                  <a:pt x="0" y="62419"/>
                  <a:pt x="4256" y="66675"/>
                  <a:pt x="9525" y="66675"/>
                </a:cubicBezTo>
                <a:lnTo>
                  <a:pt x="142875" y="66675"/>
                </a:lnTo>
                <a:cubicBezTo>
                  <a:pt x="148144" y="66675"/>
                  <a:pt x="152400" y="62419"/>
                  <a:pt x="152400" y="57150"/>
                </a:cubicBezTo>
                <a:lnTo>
                  <a:pt x="152400" y="47625"/>
                </a:lnTo>
                <a:cubicBezTo>
                  <a:pt x="152400" y="42356"/>
                  <a:pt x="148144" y="38100"/>
                  <a:pt x="142875" y="38100"/>
                </a:cubicBezTo>
                <a:lnTo>
                  <a:pt x="130493" y="38100"/>
                </a:lnTo>
                <a:cubicBezTo>
                  <a:pt x="132308" y="34528"/>
                  <a:pt x="133350" y="30480"/>
                  <a:pt x="133350" y="26194"/>
                </a:cubicBezTo>
                <a:cubicBezTo>
                  <a:pt x="133350" y="11728"/>
                  <a:pt x="121622" y="0"/>
                  <a:pt x="107156" y="0"/>
                </a:cubicBezTo>
                <a:lnTo>
                  <a:pt x="106501" y="0"/>
                </a:lnTo>
                <a:cubicBezTo>
                  <a:pt x="97006" y="0"/>
                  <a:pt x="88196" y="5030"/>
                  <a:pt x="83374" y="13216"/>
                </a:cubicBezTo>
                <a:close/>
                <a:moveTo>
                  <a:pt x="142875" y="80962"/>
                </a:moveTo>
                <a:lnTo>
                  <a:pt x="83344" y="80962"/>
                </a:lnTo>
                <a:lnTo>
                  <a:pt x="83344" y="142875"/>
                </a:lnTo>
                <a:lnTo>
                  <a:pt x="123825" y="142875"/>
                </a:lnTo>
                <a:cubicBezTo>
                  <a:pt x="134332" y="142875"/>
                  <a:pt x="142875" y="134332"/>
                  <a:pt x="142875" y="123825"/>
                </a:cubicBezTo>
                <a:lnTo>
                  <a:pt x="142875" y="80962"/>
                </a:lnTo>
                <a:close/>
                <a:moveTo>
                  <a:pt x="69056" y="80962"/>
                </a:moveTo>
                <a:lnTo>
                  <a:pt x="9525" y="80962"/>
                </a:lnTo>
                <a:lnTo>
                  <a:pt x="9525" y="123825"/>
                </a:lnTo>
                <a:cubicBezTo>
                  <a:pt x="9525" y="134332"/>
                  <a:pt x="18068" y="142875"/>
                  <a:pt x="28575" y="142875"/>
                </a:cubicBezTo>
                <a:lnTo>
                  <a:pt x="69056" y="142875"/>
                </a:lnTo>
                <a:lnTo>
                  <a:pt x="69056" y="80962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5" name="Text 22"/>
          <p:cNvSpPr/>
          <p:nvPr/>
        </p:nvSpPr>
        <p:spPr>
          <a:xfrm>
            <a:off x="846667" y="5425018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Ofrecimiento de promociones personalizadas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08542" y="57679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3194" y="-7709"/>
                </a:moveTo>
                <a:cubicBezTo>
                  <a:pt x="69205" y="-10150"/>
                  <a:pt x="64175" y="-10150"/>
                  <a:pt x="60186" y="-7709"/>
                </a:cubicBezTo>
                <a:cubicBezTo>
                  <a:pt x="52923" y="-3274"/>
                  <a:pt x="48429" y="-2084"/>
                  <a:pt x="39916" y="-2262"/>
                </a:cubicBezTo>
                <a:cubicBezTo>
                  <a:pt x="35243" y="-2381"/>
                  <a:pt x="30897" y="149"/>
                  <a:pt x="28635" y="4256"/>
                </a:cubicBezTo>
                <a:cubicBezTo>
                  <a:pt x="24557" y="11728"/>
                  <a:pt x="21253" y="15032"/>
                  <a:pt x="13781" y="19110"/>
                </a:cubicBezTo>
                <a:cubicBezTo>
                  <a:pt x="9674" y="21342"/>
                  <a:pt x="7174" y="25718"/>
                  <a:pt x="7263" y="30391"/>
                </a:cubicBezTo>
                <a:cubicBezTo>
                  <a:pt x="7471" y="38904"/>
                  <a:pt x="6251" y="43398"/>
                  <a:pt x="1816" y="50661"/>
                </a:cubicBezTo>
                <a:cubicBezTo>
                  <a:pt x="-625" y="54650"/>
                  <a:pt x="-625" y="59680"/>
                  <a:pt x="1816" y="63669"/>
                </a:cubicBezTo>
                <a:cubicBezTo>
                  <a:pt x="6251" y="70931"/>
                  <a:pt x="7441" y="75426"/>
                  <a:pt x="7263" y="83939"/>
                </a:cubicBezTo>
                <a:cubicBezTo>
                  <a:pt x="7144" y="88612"/>
                  <a:pt x="9674" y="92958"/>
                  <a:pt x="13781" y="95220"/>
                </a:cubicBezTo>
                <a:cubicBezTo>
                  <a:pt x="20360" y="98822"/>
                  <a:pt x="23693" y="101798"/>
                  <a:pt x="27206" y="107573"/>
                </a:cubicBezTo>
                <a:lnTo>
                  <a:pt x="12710" y="136475"/>
                </a:lnTo>
                <a:cubicBezTo>
                  <a:pt x="10954" y="140018"/>
                  <a:pt x="12383" y="144304"/>
                  <a:pt x="15895" y="146060"/>
                </a:cubicBezTo>
                <a:lnTo>
                  <a:pt x="41493" y="158859"/>
                </a:lnTo>
                <a:cubicBezTo>
                  <a:pt x="44916" y="160556"/>
                  <a:pt x="49084" y="159276"/>
                  <a:pt x="50929" y="155942"/>
                </a:cubicBezTo>
                <a:lnTo>
                  <a:pt x="66645" y="127635"/>
                </a:lnTo>
                <a:lnTo>
                  <a:pt x="82361" y="155942"/>
                </a:lnTo>
                <a:cubicBezTo>
                  <a:pt x="84207" y="159276"/>
                  <a:pt x="88374" y="160586"/>
                  <a:pt x="91797" y="158859"/>
                </a:cubicBezTo>
                <a:lnTo>
                  <a:pt x="117396" y="146060"/>
                </a:lnTo>
                <a:cubicBezTo>
                  <a:pt x="120938" y="144304"/>
                  <a:pt x="122366" y="140018"/>
                  <a:pt x="120581" y="136475"/>
                </a:cubicBezTo>
                <a:lnTo>
                  <a:pt x="106114" y="107543"/>
                </a:lnTo>
                <a:cubicBezTo>
                  <a:pt x="109597" y="101769"/>
                  <a:pt x="112961" y="98792"/>
                  <a:pt x="119539" y="95190"/>
                </a:cubicBezTo>
                <a:cubicBezTo>
                  <a:pt x="123646" y="92958"/>
                  <a:pt x="126147" y="88583"/>
                  <a:pt x="126057" y="83909"/>
                </a:cubicBezTo>
                <a:cubicBezTo>
                  <a:pt x="125849" y="75396"/>
                  <a:pt x="127069" y="70902"/>
                  <a:pt x="131505" y="63639"/>
                </a:cubicBezTo>
                <a:cubicBezTo>
                  <a:pt x="133945" y="59650"/>
                  <a:pt x="133945" y="54620"/>
                  <a:pt x="131505" y="50631"/>
                </a:cubicBezTo>
                <a:cubicBezTo>
                  <a:pt x="127069" y="43369"/>
                  <a:pt x="125879" y="38874"/>
                  <a:pt x="126057" y="30361"/>
                </a:cubicBezTo>
                <a:cubicBezTo>
                  <a:pt x="126176" y="25688"/>
                  <a:pt x="123646" y="21342"/>
                  <a:pt x="119539" y="19080"/>
                </a:cubicBezTo>
                <a:cubicBezTo>
                  <a:pt x="112068" y="15002"/>
                  <a:pt x="108764" y="11698"/>
                  <a:pt x="104686" y="4227"/>
                </a:cubicBezTo>
                <a:cubicBezTo>
                  <a:pt x="102453" y="119"/>
                  <a:pt x="98078" y="-2381"/>
                  <a:pt x="93405" y="-2292"/>
                </a:cubicBezTo>
                <a:cubicBezTo>
                  <a:pt x="84892" y="-2084"/>
                  <a:pt x="80397" y="-3304"/>
                  <a:pt x="73134" y="-7739"/>
                </a:cubicBezTo>
                <a:close/>
                <a:moveTo>
                  <a:pt x="66675" y="28575"/>
                </a:moveTo>
                <a:cubicBezTo>
                  <a:pt x="82446" y="28575"/>
                  <a:pt x="95250" y="41379"/>
                  <a:pt x="95250" y="57150"/>
                </a:cubicBezTo>
                <a:cubicBezTo>
                  <a:pt x="95250" y="72921"/>
                  <a:pt x="82446" y="85725"/>
                  <a:pt x="66675" y="85725"/>
                </a:cubicBezTo>
                <a:cubicBezTo>
                  <a:pt x="50904" y="85725"/>
                  <a:pt x="38100" y="72921"/>
                  <a:pt x="38100" y="57150"/>
                </a:cubicBezTo>
                <a:cubicBezTo>
                  <a:pt x="38100" y="41379"/>
                  <a:pt x="50904" y="28575"/>
                  <a:pt x="66675" y="28575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7" name="Text 24"/>
          <p:cNvSpPr/>
          <p:nvPr/>
        </p:nvSpPr>
        <p:spPr>
          <a:xfrm>
            <a:off x="846667" y="5729818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Modelos de lealtad y venta en kioscos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357533" y="1460503"/>
            <a:ext cx="4447117" cy="3970867"/>
          </a:xfrm>
          <a:custGeom>
            <a:avLst/>
            <a:gdLst/>
            <a:ahLst/>
            <a:cxnLst/>
            <a:rect l="l" t="t" r="r" b="b"/>
            <a:pathLst>
              <a:path w="4447117" h="3970867">
                <a:moveTo>
                  <a:pt x="114282" y="0"/>
                </a:moveTo>
                <a:lnTo>
                  <a:pt x="4332835" y="0"/>
                </a:lnTo>
                <a:cubicBezTo>
                  <a:pt x="4395951" y="0"/>
                  <a:pt x="4447117" y="51166"/>
                  <a:pt x="4447117" y="114282"/>
                </a:cubicBezTo>
                <a:lnTo>
                  <a:pt x="4447117" y="3856585"/>
                </a:lnTo>
                <a:cubicBezTo>
                  <a:pt x="4447117" y="3919701"/>
                  <a:pt x="4395951" y="3970867"/>
                  <a:pt x="4332835" y="3970867"/>
                </a:cubicBezTo>
                <a:lnTo>
                  <a:pt x="114282" y="3970867"/>
                </a:lnTo>
                <a:cubicBezTo>
                  <a:pt x="51166" y="3970867"/>
                  <a:pt x="0" y="3919701"/>
                  <a:pt x="0" y="3856585"/>
                </a:cubicBezTo>
                <a:lnTo>
                  <a:pt x="0" y="114282"/>
                </a:lnTo>
                <a:cubicBezTo>
                  <a:pt x="0" y="51208"/>
                  <a:pt x="51208" y="0"/>
                  <a:pt x="114282" y="0"/>
                </a:cubicBezTo>
                <a:close/>
              </a:path>
            </a:pathLst>
          </a:custGeom>
          <a:solidFill>
            <a:srgbClr val="E50914">
              <a:alpha val="20000"/>
            </a:srgbClr>
          </a:solidFill>
          <a:ln w="11289">
            <a:solidFill>
              <a:srgbClr val="E50914">
                <a:alpha val="50196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04642" y="1655234"/>
            <a:ext cx="415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Impacto Operativo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552267" y="2074334"/>
            <a:ext cx="4057650" cy="1104900"/>
          </a:xfrm>
          <a:custGeom>
            <a:avLst/>
            <a:gdLst/>
            <a:ahLst/>
            <a:cxnLst/>
            <a:rect l="l" t="t" r="r" b="b"/>
            <a:pathLst>
              <a:path w="4057650" h="1104900">
                <a:moveTo>
                  <a:pt x="76205" y="0"/>
                </a:moveTo>
                <a:lnTo>
                  <a:pt x="3981445" y="0"/>
                </a:lnTo>
                <a:cubicBezTo>
                  <a:pt x="4023532" y="0"/>
                  <a:pt x="4057650" y="34118"/>
                  <a:pt x="4057650" y="76205"/>
                </a:cubicBezTo>
                <a:lnTo>
                  <a:pt x="4057650" y="1028695"/>
                </a:lnTo>
                <a:cubicBezTo>
                  <a:pt x="4057650" y="1070782"/>
                  <a:pt x="4023532" y="1104900"/>
                  <a:pt x="398144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7704667" y="2245784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32" name="Text 29"/>
          <p:cNvSpPr/>
          <p:nvPr/>
        </p:nvSpPr>
        <p:spPr>
          <a:xfrm>
            <a:off x="8104717" y="2226734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Redirección de Recursos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704667" y="2569634"/>
            <a:ext cx="3829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Fuerza humana redirigida hacia casos complejos de mayor valor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552267" y="3331634"/>
            <a:ext cx="4057650" cy="876300"/>
          </a:xfrm>
          <a:custGeom>
            <a:avLst/>
            <a:gdLst/>
            <a:ahLst/>
            <a:cxnLst/>
            <a:rect l="l" t="t" r="r" b="b"/>
            <a:pathLst>
              <a:path w="4057650" h="876300">
                <a:moveTo>
                  <a:pt x="76203" y="0"/>
                </a:moveTo>
                <a:lnTo>
                  <a:pt x="3981447" y="0"/>
                </a:lnTo>
                <a:cubicBezTo>
                  <a:pt x="4023533" y="0"/>
                  <a:pt x="4057650" y="34117"/>
                  <a:pt x="4057650" y="76203"/>
                </a:cubicBezTo>
                <a:lnTo>
                  <a:pt x="4057650" y="800097"/>
                </a:lnTo>
                <a:cubicBezTo>
                  <a:pt x="4057650" y="842183"/>
                  <a:pt x="4023533" y="876300"/>
                  <a:pt x="39814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7776104" y="3503084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36" name="Text 33"/>
          <p:cNvSpPr/>
          <p:nvPr/>
        </p:nvSpPr>
        <p:spPr>
          <a:xfrm>
            <a:off x="8104717" y="3484034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Reducción de Costos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704667" y="3826934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Reducción operativa sin deteriorar experiencia del usuario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552267" y="4360334"/>
            <a:ext cx="4057650" cy="876300"/>
          </a:xfrm>
          <a:custGeom>
            <a:avLst/>
            <a:gdLst/>
            <a:ahLst/>
            <a:cxnLst/>
            <a:rect l="l" t="t" r="r" b="b"/>
            <a:pathLst>
              <a:path w="4057650" h="876300">
                <a:moveTo>
                  <a:pt x="76203" y="0"/>
                </a:moveTo>
                <a:lnTo>
                  <a:pt x="3981447" y="0"/>
                </a:lnTo>
                <a:cubicBezTo>
                  <a:pt x="4023533" y="0"/>
                  <a:pt x="4057650" y="34117"/>
                  <a:pt x="4057650" y="76203"/>
                </a:cubicBezTo>
                <a:lnTo>
                  <a:pt x="4057650" y="800097"/>
                </a:lnTo>
                <a:cubicBezTo>
                  <a:pt x="4057650" y="842183"/>
                  <a:pt x="4023533" y="876300"/>
                  <a:pt x="39814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7733242" y="45317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40" name="Text 37"/>
          <p:cNvSpPr/>
          <p:nvPr/>
        </p:nvSpPr>
        <p:spPr>
          <a:xfrm>
            <a:off x="8104717" y="4512734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Atención 24/7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704667" y="4855634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Disponibilidad ininterrumpida para consultas frecuentes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357533" y="5592232"/>
            <a:ext cx="4447117" cy="1056217"/>
          </a:xfrm>
          <a:custGeom>
            <a:avLst/>
            <a:gdLst/>
            <a:ahLst/>
            <a:cxnLst/>
            <a:rect l="l" t="t" r="r" b="b"/>
            <a:pathLst>
              <a:path w="4447117" h="1056217">
                <a:moveTo>
                  <a:pt x="114304" y="0"/>
                </a:moveTo>
                <a:lnTo>
                  <a:pt x="4332813" y="0"/>
                </a:lnTo>
                <a:cubicBezTo>
                  <a:pt x="4395941" y="0"/>
                  <a:pt x="4447117" y="51176"/>
                  <a:pt x="4447117" y="114304"/>
                </a:cubicBezTo>
                <a:lnTo>
                  <a:pt x="4447117" y="941913"/>
                </a:lnTo>
                <a:cubicBezTo>
                  <a:pt x="4447117" y="1005041"/>
                  <a:pt x="4395941" y="1056217"/>
                  <a:pt x="4332813" y="1056217"/>
                </a:cubicBezTo>
                <a:lnTo>
                  <a:pt x="114304" y="1056217"/>
                </a:lnTo>
                <a:cubicBezTo>
                  <a:pt x="51176" y="1056217"/>
                  <a:pt x="0" y="1005041"/>
                  <a:pt x="0" y="941913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5C518">
              <a:alpha val="10196"/>
            </a:srgbClr>
          </a:solidFill>
          <a:ln w="11289">
            <a:solidFill>
              <a:srgbClr val="F5C518">
                <a:alpha val="30196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552267" y="57912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44" name="Text 41"/>
          <p:cNvSpPr/>
          <p:nvPr/>
        </p:nvSpPr>
        <p:spPr>
          <a:xfrm>
            <a:off x="7761817" y="5748868"/>
            <a:ext cx="3962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Análisis Predictivo: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Modelos que anticipan qué productos comprarán clientes según región, garantizando abastecimiento correcto de insumos.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2g2p0i8cc2bmh.cloudfront.net/7c4fb5544fac6831d3ca1d0903219f6552b934b6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1882" b="21882"/>
          <a:stretch/>
        </p:blipFill>
        <p:spPr>
          <a:xfrm>
            <a:off x="0" y="0"/>
            <a:ext cx="12192000" cy="685635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352"/>
          </a:xfrm>
          <a:custGeom>
            <a:avLst/>
            <a:gdLst/>
            <a:ahLst/>
            <a:cxnLst/>
            <a:rect l="l" t="t" r="r" b="b"/>
            <a:pathLst>
              <a:path w="12192000" h="6856352">
                <a:moveTo>
                  <a:pt x="0" y="0"/>
                </a:moveTo>
                <a:lnTo>
                  <a:pt x="12192000" y="0"/>
                </a:lnTo>
                <a:lnTo>
                  <a:pt x="12192000" y="6856352"/>
                </a:lnTo>
                <a:lnTo>
                  <a:pt x="0" y="6856352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51608" y="351608"/>
            <a:ext cx="1133935" cy="360398"/>
          </a:xfrm>
          <a:custGeom>
            <a:avLst/>
            <a:gdLst/>
            <a:ahLst/>
            <a:cxnLst/>
            <a:rect l="l" t="t" r="r" b="b"/>
            <a:pathLst>
              <a:path w="1133935" h="360398">
                <a:moveTo>
                  <a:pt x="70321" y="0"/>
                </a:moveTo>
                <a:lnTo>
                  <a:pt x="1063614" y="0"/>
                </a:lnTo>
                <a:cubicBezTo>
                  <a:pt x="1102451" y="0"/>
                  <a:pt x="1133935" y="31484"/>
                  <a:pt x="1133935" y="70321"/>
                </a:cubicBezTo>
                <a:lnTo>
                  <a:pt x="1133935" y="290077"/>
                </a:lnTo>
                <a:cubicBezTo>
                  <a:pt x="1133935" y="328914"/>
                  <a:pt x="1102451" y="360398"/>
                  <a:pt x="1063614" y="360398"/>
                </a:cubicBezTo>
                <a:lnTo>
                  <a:pt x="70321" y="360398"/>
                </a:lnTo>
                <a:cubicBezTo>
                  <a:pt x="31484" y="360398"/>
                  <a:pt x="0" y="328914"/>
                  <a:pt x="0" y="290077"/>
                </a:cubicBezTo>
                <a:lnTo>
                  <a:pt x="0" y="70321"/>
                </a:lnTo>
                <a:cubicBezTo>
                  <a:pt x="0" y="31510"/>
                  <a:pt x="31510" y="0"/>
                  <a:pt x="70321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5" name="Text 2"/>
          <p:cNvSpPr/>
          <p:nvPr/>
        </p:nvSpPr>
        <p:spPr>
          <a:xfrm>
            <a:off x="492251" y="460996"/>
            <a:ext cx="920162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spc="55" kern="0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07. IoT &amp; IA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1608" y="816514"/>
            <a:ext cx="11647008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2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IoT e IA en Operaciones: Palomiteras Inteligentes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55515" y="1347832"/>
            <a:ext cx="5651118" cy="2363586"/>
          </a:xfrm>
          <a:custGeom>
            <a:avLst/>
            <a:gdLst/>
            <a:ahLst/>
            <a:cxnLst/>
            <a:rect l="l" t="t" r="r" b="b"/>
            <a:pathLst>
              <a:path w="5651118" h="2363586">
                <a:moveTo>
                  <a:pt x="105487" y="0"/>
                </a:moveTo>
                <a:lnTo>
                  <a:pt x="5545632" y="0"/>
                </a:lnTo>
                <a:cubicBezTo>
                  <a:pt x="5603890" y="0"/>
                  <a:pt x="5651118" y="47228"/>
                  <a:pt x="5651118" y="105487"/>
                </a:cubicBezTo>
                <a:lnTo>
                  <a:pt x="5651118" y="2258099"/>
                </a:lnTo>
                <a:cubicBezTo>
                  <a:pt x="5651118" y="2316358"/>
                  <a:pt x="5603890" y="2363586"/>
                  <a:pt x="5545632" y="2363586"/>
                </a:cubicBezTo>
                <a:lnTo>
                  <a:pt x="105487" y="2363586"/>
                </a:lnTo>
                <a:cubicBezTo>
                  <a:pt x="47228" y="2363586"/>
                  <a:pt x="0" y="2316358"/>
                  <a:pt x="0" y="2258099"/>
                </a:cubicBezTo>
                <a:lnTo>
                  <a:pt x="0" y="105487"/>
                </a:lnTo>
                <a:cubicBezTo>
                  <a:pt x="0" y="47267"/>
                  <a:pt x="47267" y="0"/>
                  <a:pt x="105487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 w="11289">
            <a:solidFill>
              <a:srgbClr val="E50914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7201" y="1562702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60433" y="8241"/>
                </a:moveTo>
                <a:cubicBezTo>
                  <a:pt x="60433" y="3674"/>
                  <a:pt x="56759" y="0"/>
                  <a:pt x="52192" y="0"/>
                </a:cubicBezTo>
                <a:cubicBezTo>
                  <a:pt x="47625" y="0"/>
                  <a:pt x="43951" y="3674"/>
                  <a:pt x="43951" y="8241"/>
                </a:cubicBezTo>
                <a:lnTo>
                  <a:pt x="43951" y="21975"/>
                </a:lnTo>
                <a:cubicBezTo>
                  <a:pt x="31830" y="21975"/>
                  <a:pt x="21975" y="31830"/>
                  <a:pt x="21975" y="43951"/>
                </a:cubicBezTo>
                <a:lnTo>
                  <a:pt x="8241" y="43951"/>
                </a:lnTo>
                <a:cubicBezTo>
                  <a:pt x="3674" y="43951"/>
                  <a:pt x="0" y="47625"/>
                  <a:pt x="0" y="52192"/>
                </a:cubicBezTo>
                <a:cubicBezTo>
                  <a:pt x="0" y="56759"/>
                  <a:pt x="3674" y="60433"/>
                  <a:pt x="8241" y="60433"/>
                </a:cubicBezTo>
                <a:lnTo>
                  <a:pt x="21975" y="60433"/>
                </a:lnTo>
                <a:lnTo>
                  <a:pt x="21975" y="79661"/>
                </a:lnTo>
                <a:lnTo>
                  <a:pt x="8241" y="79661"/>
                </a:lnTo>
                <a:cubicBezTo>
                  <a:pt x="3674" y="79661"/>
                  <a:pt x="0" y="83335"/>
                  <a:pt x="0" y="87902"/>
                </a:cubicBezTo>
                <a:cubicBezTo>
                  <a:pt x="0" y="92469"/>
                  <a:pt x="3674" y="96143"/>
                  <a:pt x="8241" y="96143"/>
                </a:cubicBezTo>
                <a:lnTo>
                  <a:pt x="21975" y="96143"/>
                </a:lnTo>
                <a:lnTo>
                  <a:pt x="21975" y="115371"/>
                </a:lnTo>
                <a:lnTo>
                  <a:pt x="8241" y="115371"/>
                </a:lnTo>
                <a:cubicBezTo>
                  <a:pt x="3674" y="115371"/>
                  <a:pt x="0" y="119045"/>
                  <a:pt x="0" y="123612"/>
                </a:cubicBezTo>
                <a:cubicBezTo>
                  <a:pt x="0" y="128179"/>
                  <a:pt x="3674" y="131853"/>
                  <a:pt x="8241" y="131853"/>
                </a:cubicBezTo>
                <a:lnTo>
                  <a:pt x="21975" y="131853"/>
                </a:lnTo>
                <a:cubicBezTo>
                  <a:pt x="21975" y="143974"/>
                  <a:pt x="31830" y="153828"/>
                  <a:pt x="43951" y="153828"/>
                </a:cubicBezTo>
                <a:lnTo>
                  <a:pt x="43951" y="167563"/>
                </a:lnTo>
                <a:cubicBezTo>
                  <a:pt x="43951" y="172130"/>
                  <a:pt x="47625" y="175804"/>
                  <a:pt x="52192" y="175804"/>
                </a:cubicBezTo>
                <a:cubicBezTo>
                  <a:pt x="56759" y="175804"/>
                  <a:pt x="60433" y="172130"/>
                  <a:pt x="60433" y="167563"/>
                </a:cubicBezTo>
                <a:lnTo>
                  <a:pt x="60433" y="153828"/>
                </a:lnTo>
                <a:lnTo>
                  <a:pt x="79661" y="153828"/>
                </a:lnTo>
                <a:lnTo>
                  <a:pt x="79661" y="167563"/>
                </a:lnTo>
                <a:cubicBezTo>
                  <a:pt x="79661" y="172130"/>
                  <a:pt x="83335" y="175804"/>
                  <a:pt x="87902" y="175804"/>
                </a:cubicBezTo>
                <a:cubicBezTo>
                  <a:pt x="92469" y="175804"/>
                  <a:pt x="96143" y="172130"/>
                  <a:pt x="96143" y="167563"/>
                </a:cubicBezTo>
                <a:lnTo>
                  <a:pt x="96143" y="153828"/>
                </a:lnTo>
                <a:lnTo>
                  <a:pt x="115371" y="153828"/>
                </a:lnTo>
                <a:lnTo>
                  <a:pt x="115371" y="167563"/>
                </a:lnTo>
                <a:cubicBezTo>
                  <a:pt x="115371" y="172130"/>
                  <a:pt x="119045" y="175804"/>
                  <a:pt x="123612" y="175804"/>
                </a:cubicBezTo>
                <a:cubicBezTo>
                  <a:pt x="128179" y="175804"/>
                  <a:pt x="131853" y="172130"/>
                  <a:pt x="131853" y="167563"/>
                </a:cubicBezTo>
                <a:lnTo>
                  <a:pt x="131853" y="153828"/>
                </a:lnTo>
                <a:cubicBezTo>
                  <a:pt x="143974" y="153828"/>
                  <a:pt x="153828" y="143974"/>
                  <a:pt x="153828" y="131853"/>
                </a:cubicBezTo>
                <a:lnTo>
                  <a:pt x="167563" y="131853"/>
                </a:lnTo>
                <a:cubicBezTo>
                  <a:pt x="172130" y="131853"/>
                  <a:pt x="175804" y="128179"/>
                  <a:pt x="175804" y="123612"/>
                </a:cubicBezTo>
                <a:cubicBezTo>
                  <a:pt x="175804" y="119045"/>
                  <a:pt x="172130" y="115371"/>
                  <a:pt x="167563" y="115371"/>
                </a:cubicBezTo>
                <a:lnTo>
                  <a:pt x="153828" y="115371"/>
                </a:lnTo>
                <a:lnTo>
                  <a:pt x="153828" y="96143"/>
                </a:lnTo>
                <a:lnTo>
                  <a:pt x="167563" y="96143"/>
                </a:lnTo>
                <a:cubicBezTo>
                  <a:pt x="172130" y="96143"/>
                  <a:pt x="175804" y="92469"/>
                  <a:pt x="175804" y="87902"/>
                </a:cubicBezTo>
                <a:cubicBezTo>
                  <a:pt x="175804" y="83335"/>
                  <a:pt x="172130" y="79661"/>
                  <a:pt x="167563" y="79661"/>
                </a:cubicBezTo>
                <a:lnTo>
                  <a:pt x="153828" y="79661"/>
                </a:lnTo>
                <a:lnTo>
                  <a:pt x="153828" y="60433"/>
                </a:lnTo>
                <a:lnTo>
                  <a:pt x="167563" y="60433"/>
                </a:lnTo>
                <a:cubicBezTo>
                  <a:pt x="172130" y="60433"/>
                  <a:pt x="175804" y="56759"/>
                  <a:pt x="175804" y="52192"/>
                </a:cubicBezTo>
                <a:cubicBezTo>
                  <a:pt x="175804" y="47625"/>
                  <a:pt x="172130" y="43951"/>
                  <a:pt x="167563" y="43951"/>
                </a:cubicBezTo>
                <a:lnTo>
                  <a:pt x="153828" y="43951"/>
                </a:lnTo>
                <a:cubicBezTo>
                  <a:pt x="153828" y="31830"/>
                  <a:pt x="143974" y="21975"/>
                  <a:pt x="131853" y="21975"/>
                </a:cubicBezTo>
                <a:lnTo>
                  <a:pt x="131853" y="8241"/>
                </a:lnTo>
                <a:cubicBezTo>
                  <a:pt x="131853" y="3674"/>
                  <a:pt x="128179" y="0"/>
                  <a:pt x="123612" y="0"/>
                </a:cubicBezTo>
                <a:cubicBezTo>
                  <a:pt x="119045" y="0"/>
                  <a:pt x="115371" y="3674"/>
                  <a:pt x="115371" y="8241"/>
                </a:cubicBezTo>
                <a:lnTo>
                  <a:pt x="115371" y="21975"/>
                </a:lnTo>
                <a:lnTo>
                  <a:pt x="96143" y="21975"/>
                </a:lnTo>
                <a:lnTo>
                  <a:pt x="96143" y="8241"/>
                </a:lnTo>
                <a:cubicBezTo>
                  <a:pt x="96143" y="3674"/>
                  <a:pt x="92469" y="0"/>
                  <a:pt x="87902" y="0"/>
                </a:cubicBezTo>
                <a:cubicBezTo>
                  <a:pt x="83335" y="0"/>
                  <a:pt x="79661" y="3674"/>
                  <a:pt x="79661" y="8241"/>
                </a:cubicBezTo>
                <a:lnTo>
                  <a:pt x="79661" y="21975"/>
                </a:lnTo>
                <a:lnTo>
                  <a:pt x="60433" y="21975"/>
                </a:lnTo>
                <a:lnTo>
                  <a:pt x="60433" y="8241"/>
                </a:lnTo>
                <a:close/>
                <a:moveTo>
                  <a:pt x="54939" y="43951"/>
                </a:moveTo>
                <a:lnTo>
                  <a:pt x="120865" y="43951"/>
                </a:lnTo>
                <a:cubicBezTo>
                  <a:pt x="126943" y="43951"/>
                  <a:pt x="131853" y="48861"/>
                  <a:pt x="131853" y="54939"/>
                </a:cubicBezTo>
                <a:lnTo>
                  <a:pt x="131853" y="120865"/>
                </a:lnTo>
                <a:cubicBezTo>
                  <a:pt x="131853" y="126943"/>
                  <a:pt x="126943" y="131853"/>
                  <a:pt x="120865" y="131853"/>
                </a:cubicBezTo>
                <a:lnTo>
                  <a:pt x="54939" y="131853"/>
                </a:lnTo>
                <a:cubicBezTo>
                  <a:pt x="48861" y="131853"/>
                  <a:pt x="43951" y="126943"/>
                  <a:pt x="43951" y="120865"/>
                </a:cubicBezTo>
                <a:lnTo>
                  <a:pt x="43951" y="54939"/>
                </a:lnTo>
                <a:cubicBezTo>
                  <a:pt x="43951" y="48861"/>
                  <a:pt x="48861" y="43951"/>
                  <a:pt x="54939" y="43951"/>
                </a:cubicBezTo>
                <a:close/>
                <a:moveTo>
                  <a:pt x="60433" y="60433"/>
                </a:moveTo>
                <a:lnTo>
                  <a:pt x="60433" y="115371"/>
                </a:lnTo>
                <a:lnTo>
                  <a:pt x="115371" y="115371"/>
                </a:lnTo>
                <a:lnTo>
                  <a:pt x="115371" y="60433"/>
                </a:lnTo>
                <a:lnTo>
                  <a:pt x="60433" y="60433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9" name="Text 6"/>
          <p:cNvSpPr/>
          <p:nvPr/>
        </p:nvSpPr>
        <p:spPr>
          <a:xfrm>
            <a:off x="754980" y="1527541"/>
            <a:ext cx="515984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Sistema IoT + IA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5225" y="1879149"/>
            <a:ext cx="5362019" cy="45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Proyecto desarrollado en colaboración con </a:t>
            </a:r>
            <a:pPr>
              <a:lnSpc>
                <a:spcPct val="140000"/>
              </a:lnSpc>
            </a:pPr>
            <a:r>
              <a:rPr lang="en-US" sz="1107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XalDigital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y respaldado por AWS. Actualmente operando en </a:t>
            </a:r>
            <a:pPr>
              <a:lnSpc>
                <a:spcPct val="140000"/>
              </a:lnSpc>
            </a:pPr>
            <a:r>
              <a:rPr lang="en-US" sz="1107" b="1" dirty="0">
                <a:solidFill>
                  <a:srgbClr val="F5C51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25 sucursales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5225" y="2441721"/>
            <a:ext cx="5291697" cy="1089984"/>
          </a:xfrm>
          <a:custGeom>
            <a:avLst/>
            <a:gdLst/>
            <a:ahLst/>
            <a:cxnLst/>
            <a:rect l="l" t="t" r="r" b="b"/>
            <a:pathLst>
              <a:path w="5291697" h="1089984">
                <a:moveTo>
                  <a:pt x="70326" y="0"/>
                </a:moveTo>
                <a:lnTo>
                  <a:pt x="5221371" y="0"/>
                </a:lnTo>
                <a:cubicBezTo>
                  <a:pt x="5260211" y="0"/>
                  <a:pt x="5291697" y="31486"/>
                  <a:pt x="5291697" y="70326"/>
                </a:cubicBezTo>
                <a:lnTo>
                  <a:pt x="5291697" y="1019658"/>
                </a:lnTo>
                <a:cubicBezTo>
                  <a:pt x="5291697" y="1058498"/>
                  <a:pt x="5260211" y="1089984"/>
                  <a:pt x="5221371" y="1089984"/>
                </a:cubicBezTo>
                <a:lnTo>
                  <a:pt x="70326" y="1089984"/>
                </a:lnTo>
                <a:cubicBezTo>
                  <a:pt x="31486" y="1089984"/>
                  <a:pt x="0" y="1058498"/>
                  <a:pt x="0" y="1019658"/>
                </a:cubicBezTo>
                <a:lnTo>
                  <a:pt x="0" y="70326"/>
                </a:lnTo>
                <a:cubicBezTo>
                  <a:pt x="0" y="31512"/>
                  <a:pt x="31512" y="0"/>
                  <a:pt x="7032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75868" y="2582364"/>
            <a:ext cx="5089523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Variables Monitoreadas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409117" y="2933972"/>
            <a:ext cx="131853" cy="210965"/>
          </a:xfrm>
          <a:custGeom>
            <a:avLst/>
            <a:gdLst/>
            <a:ahLst/>
            <a:cxnLst/>
            <a:rect l="l" t="t" r="r" b="b"/>
            <a:pathLst>
              <a:path w="131853" h="210965">
                <a:moveTo>
                  <a:pt x="65926" y="0"/>
                </a:moveTo>
                <a:cubicBezTo>
                  <a:pt x="44088" y="0"/>
                  <a:pt x="26371" y="17718"/>
                  <a:pt x="26371" y="39556"/>
                </a:cubicBezTo>
                <a:lnTo>
                  <a:pt x="26371" y="107419"/>
                </a:lnTo>
                <a:cubicBezTo>
                  <a:pt x="14215" y="118256"/>
                  <a:pt x="6593" y="134078"/>
                  <a:pt x="6593" y="151631"/>
                </a:cubicBezTo>
                <a:cubicBezTo>
                  <a:pt x="6593" y="184388"/>
                  <a:pt x="33169" y="210965"/>
                  <a:pt x="65926" y="210965"/>
                </a:cubicBezTo>
                <a:cubicBezTo>
                  <a:pt x="98684" y="210965"/>
                  <a:pt x="125260" y="184388"/>
                  <a:pt x="125260" y="151631"/>
                </a:cubicBezTo>
                <a:cubicBezTo>
                  <a:pt x="125260" y="134078"/>
                  <a:pt x="117638" y="118256"/>
                  <a:pt x="105482" y="107419"/>
                </a:cubicBezTo>
                <a:lnTo>
                  <a:pt x="105482" y="39556"/>
                </a:lnTo>
                <a:cubicBezTo>
                  <a:pt x="105482" y="17718"/>
                  <a:pt x="87765" y="0"/>
                  <a:pt x="65926" y="0"/>
                </a:cubicBezTo>
                <a:close/>
                <a:moveTo>
                  <a:pt x="92297" y="151631"/>
                </a:moveTo>
                <a:cubicBezTo>
                  <a:pt x="92297" y="166176"/>
                  <a:pt x="80471" y="178001"/>
                  <a:pt x="65926" y="178001"/>
                </a:cubicBezTo>
                <a:cubicBezTo>
                  <a:pt x="51381" y="178001"/>
                  <a:pt x="39556" y="166176"/>
                  <a:pt x="39556" y="151631"/>
                </a:cubicBezTo>
                <a:cubicBezTo>
                  <a:pt x="39556" y="140547"/>
                  <a:pt x="46355" y="131070"/>
                  <a:pt x="56037" y="127197"/>
                </a:cubicBezTo>
                <a:lnTo>
                  <a:pt x="56037" y="89001"/>
                </a:lnTo>
                <a:cubicBezTo>
                  <a:pt x="56037" y="83521"/>
                  <a:pt x="60446" y="79112"/>
                  <a:pt x="65926" y="79112"/>
                </a:cubicBezTo>
                <a:cubicBezTo>
                  <a:pt x="71407" y="79112"/>
                  <a:pt x="75815" y="83521"/>
                  <a:pt x="75815" y="89001"/>
                </a:cubicBezTo>
                <a:lnTo>
                  <a:pt x="75815" y="127197"/>
                </a:lnTo>
                <a:cubicBezTo>
                  <a:pt x="85498" y="131111"/>
                  <a:pt x="92297" y="140588"/>
                  <a:pt x="92297" y="151631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4" name="Text 11"/>
          <p:cNvSpPr/>
          <p:nvPr/>
        </p:nvSpPr>
        <p:spPr>
          <a:xfrm>
            <a:off x="645103" y="3215258"/>
            <a:ext cx="1661347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Temperatura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086701" y="2933972"/>
            <a:ext cx="184594" cy="210965"/>
          </a:xfrm>
          <a:custGeom>
            <a:avLst/>
            <a:gdLst/>
            <a:ahLst/>
            <a:cxnLst/>
            <a:rect l="l" t="t" r="r" b="b"/>
            <a:pathLst>
              <a:path w="184594" h="210965">
                <a:moveTo>
                  <a:pt x="139599" y="-4079"/>
                </a:moveTo>
                <a:cubicBezTo>
                  <a:pt x="144503" y="-536"/>
                  <a:pt x="146316" y="5892"/>
                  <a:pt x="144091" y="11496"/>
                </a:cubicBezTo>
                <a:lnTo>
                  <a:pt x="111787" y="92297"/>
                </a:lnTo>
                <a:lnTo>
                  <a:pt x="171409" y="92297"/>
                </a:lnTo>
                <a:cubicBezTo>
                  <a:pt x="176971" y="92297"/>
                  <a:pt x="181916" y="95758"/>
                  <a:pt x="183811" y="100991"/>
                </a:cubicBezTo>
                <a:cubicBezTo>
                  <a:pt x="185707" y="106224"/>
                  <a:pt x="184100" y="112075"/>
                  <a:pt x="179856" y="115619"/>
                </a:cubicBezTo>
                <a:lnTo>
                  <a:pt x="61188" y="214508"/>
                </a:lnTo>
                <a:cubicBezTo>
                  <a:pt x="56532" y="218381"/>
                  <a:pt x="49898" y="218587"/>
                  <a:pt x="44995" y="215044"/>
                </a:cubicBezTo>
                <a:cubicBezTo>
                  <a:pt x="40092" y="211500"/>
                  <a:pt x="38279" y="205072"/>
                  <a:pt x="40504" y="199469"/>
                </a:cubicBezTo>
                <a:lnTo>
                  <a:pt x="72808" y="118668"/>
                </a:lnTo>
                <a:lnTo>
                  <a:pt x="13185" y="118668"/>
                </a:lnTo>
                <a:cubicBezTo>
                  <a:pt x="7623" y="118668"/>
                  <a:pt x="2678" y="115206"/>
                  <a:pt x="783" y="109974"/>
                </a:cubicBezTo>
                <a:cubicBezTo>
                  <a:pt x="-1113" y="104741"/>
                  <a:pt x="494" y="98890"/>
                  <a:pt x="4738" y="95346"/>
                </a:cubicBezTo>
                <a:lnTo>
                  <a:pt x="123406" y="-3544"/>
                </a:lnTo>
                <a:cubicBezTo>
                  <a:pt x="128062" y="-7417"/>
                  <a:pt x="134696" y="-7623"/>
                  <a:pt x="139599" y="-4079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6" name="Text 13"/>
          <p:cNvSpPr/>
          <p:nvPr/>
        </p:nvSpPr>
        <p:spPr>
          <a:xfrm>
            <a:off x="2349057" y="3215258"/>
            <a:ext cx="1661347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Consumo Eléctrico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777471" y="2933972"/>
            <a:ext cx="210965" cy="210965"/>
          </a:xfrm>
          <a:custGeom>
            <a:avLst/>
            <a:gdLst/>
            <a:ahLst/>
            <a:cxnLst/>
            <a:rect l="l" t="t" r="r" b="b"/>
            <a:pathLst>
              <a:path w="210965" h="210965">
                <a:moveTo>
                  <a:pt x="27153" y="94151"/>
                </a:moveTo>
                <a:cubicBezTo>
                  <a:pt x="32634" y="55831"/>
                  <a:pt x="65638" y="26371"/>
                  <a:pt x="105482" y="26371"/>
                </a:cubicBezTo>
                <a:cubicBezTo>
                  <a:pt x="127320" y="26371"/>
                  <a:pt x="147098" y="35229"/>
                  <a:pt x="161437" y="49527"/>
                </a:cubicBezTo>
                <a:cubicBezTo>
                  <a:pt x="161520" y="49610"/>
                  <a:pt x="161602" y="49692"/>
                  <a:pt x="161685" y="49774"/>
                </a:cubicBezTo>
                <a:lnTo>
                  <a:pt x="164816" y="52741"/>
                </a:lnTo>
                <a:lnTo>
                  <a:pt x="145079" y="52741"/>
                </a:lnTo>
                <a:cubicBezTo>
                  <a:pt x="137786" y="52741"/>
                  <a:pt x="131894" y="58633"/>
                  <a:pt x="131894" y="65926"/>
                </a:cubicBezTo>
                <a:cubicBezTo>
                  <a:pt x="131894" y="73220"/>
                  <a:pt x="137786" y="79112"/>
                  <a:pt x="145079" y="79112"/>
                </a:cubicBezTo>
                <a:lnTo>
                  <a:pt x="197821" y="79112"/>
                </a:lnTo>
                <a:cubicBezTo>
                  <a:pt x="205114" y="79112"/>
                  <a:pt x="211006" y="73220"/>
                  <a:pt x="211006" y="65926"/>
                </a:cubicBezTo>
                <a:lnTo>
                  <a:pt x="211006" y="13185"/>
                </a:lnTo>
                <a:cubicBezTo>
                  <a:pt x="211006" y="5892"/>
                  <a:pt x="205114" y="0"/>
                  <a:pt x="197821" y="0"/>
                </a:cubicBezTo>
                <a:cubicBezTo>
                  <a:pt x="190527" y="0"/>
                  <a:pt x="184635" y="5892"/>
                  <a:pt x="184635" y="13185"/>
                </a:cubicBezTo>
                <a:lnTo>
                  <a:pt x="184635" y="35188"/>
                </a:lnTo>
                <a:lnTo>
                  <a:pt x="179979" y="30779"/>
                </a:lnTo>
                <a:cubicBezTo>
                  <a:pt x="160902" y="11784"/>
                  <a:pt x="134531" y="0"/>
                  <a:pt x="105482" y="0"/>
                </a:cubicBezTo>
                <a:cubicBezTo>
                  <a:pt x="52329" y="0"/>
                  <a:pt x="8364" y="39309"/>
                  <a:pt x="1071" y="90443"/>
                </a:cubicBezTo>
                <a:cubicBezTo>
                  <a:pt x="41" y="97654"/>
                  <a:pt x="5027" y="104329"/>
                  <a:pt x="12238" y="105359"/>
                </a:cubicBezTo>
                <a:cubicBezTo>
                  <a:pt x="19448" y="106389"/>
                  <a:pt x="26123" y="101362"/>
                  <a:pt x="27153" y="94192"/>
                </a:cubicBezTo>
                <a:close/>
                <a:moveTo>
                  <a:pt x="209893" y="120522"/>
                </a:moveTo>
                <a:cubicBezTo>
                  <a:pt x="210923" y="113311"/>
                  <a:pt x="205897" y="106636"/>
                  <a:pt x="198727" y="105606"/>
                </a:cubicBezTo>
                <a:cubicBezTo>
                  <a:pt x="191558" y="104576"/>
                  <a:pt x="184841" y="109603"/>
                  <a:pt x="183811" y="116772"/>
                </a:cubicBezTo>
                <a:cubicBezTo>
                  <a:pt x="178331" y="155092"/>
                  <a:pt x="145327" y="184553"/>
                  <a:pt x="105482" y="184553"/>
                </a:cubicBezTo>
                <a:cubicBezTo>
                  <a:pt x="83644" y="184553"/>
                  <a:pt x="63866" y="175694"/>
                  <a:pt x="49527" y="161396"/>
                </a:cubicBezTo>
                <a:cubicBezTo>
                  <a:pt x="49445" y="161314"/>
                  <a:pt x="49362" y="161231"/>
                  <a:pt x="49280" y="161149"/>
                </a:cubicBezTo>
                <a:lnTo>
                  <a:pt x="46149" y="158182"/>
                </a:lnTo>
                <a:lnTo>
                  <a:pt x="65885" y="158182"/>
                </a:lnTo>
                <a:cubicBezTo>
                  <a:pt x="73178" y="158182"/>
                  <a:pt x="79071" y="152290"/>
                  <a:pt x="79071" y="144997"/>
                </a:cubicBezTo>
                <a:cubicBezTo>
                  <a:pt x="79071" y="137704"/>
                  <a:pt x="73178" y="131812"/>
                  <a:pt x="65885" y="131812"/>
                </a:cubicBezTo>
                <a:lnTo>
                  <a:pt x="13185" y="131853"/>
                </a:lnTo>
                <a:cubicBezTo>
                  <a:pt x="9683" y="131853"/>
                  <a:pt x="6304" y="133254"/>
                  <a:pt x="3832" y="135767"/>
                </a:cubicBezTo>
                <a:cubicBezTo>
                  <a:pt x="1360" y="138281"/>
                  <a:pt x="-41" y="141618"/>
                  <a:pt x="0" y="145162"/>
                </a:cubicBezTo>
                <a:lnTo>
                  <a:pt x="412" y="197491"/>
                </a:lnTo>
                <a:cubicBezTo>
                  <a:pt x="453" y="204784"/>
                  <a:pt x="6428" y="210635"/>
                  <a:pt x="13721" y="210553"/>
                </a:cubicBezTo>
                <a:cubicBezTo>
                  <a:pt x="21014" y="210470"/>
                  <a:pt x="26865" y="204537"/>
                  <a:pt x="26783" y="197244"/>
                </a:cubicBezTo>
                <a:lnTo>
                  <a:pt x="26618" y="176024"/>
                </a:lnTo>
                <a:lnTo>
                  <a:pt x="31027" y="180185"/>
                </a:lnTo>
                <a:cubicBezTo>
                  <a:pt x="50104" y="199180"/>
                  <a:pt x="76433" y="210965"/>
                  <a:pt x="105482" y="210965"/>
                </a:cubicBezTo>
                <a:cubicBezTo>
                  <a:pt x="158636" y="210965"/>
                  <a:pt x="202600" y="171656"/>
                  <a:pt x="209893" y="120522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8" name="Text 15"/>
          <p:cNvSpPr/>
          <p:nvPr/>
        </p:nvSpPr>
        <p:spPr>
          <a:xfrm>
            <a:off x="4053012" y="3215258"/>
            <a:ext cx="1661347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Ciclos de Cocción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55515" y="3859871"/>
            <a:ext cx="5651118" cy="2047139"/>
          </a:xfrm>
          <a:custGeom>
            <a:avLst/>
            <a:gdLst/>
            <a:ahLst/>
            <a:cxnLst/>
            <a:rect l="l" t="t" r="r" b="b"/>
            <a:pathLst>
              <a:path w="5651118" h="2047139">
                <a:moveTo>
                  <a:pt x="105489" y="0"/>
                </a:moveTo>
                <a:lnTo>
                  <a:pt x="5545629" y="0"/>
                </a:lnTo>
                <a:cubicBezTo>
                  <a:pt x="5603889" y="0"/>
                  <a:pt x="5651118" y="47229"/>
                  <a:pt x="5651118" y="105489"/>
                </a:cubicBezTo>
                <a:lnTo>
                  <a:pt x="5651118" y="1941650"/>
                </a:lnTo>
                <a:cubicBezTo>
                  <a:pt x="5651118" y="1999910"/>
                  <a:pt x="5603889" y="2047139"/>
                  <a:pt x="5545629" y="2047139"/>
                </a:cubicBezTo>
                <a:lnTo>
                  <a:pt x="105489" y="2047139"/>
                </a:lnTo>
                <a:cubicBezTo>
                  <a:pt x="47229" y="2047139"/>
                  <a:pt x="0" y="1999910"/>
                  <a:pt x="0" y="1941650"/>
                </a:cubicBezTo>
                <a:lnTo>
                  <a:pt x="0" y="105489"/>
                </a:lnTo>
                <a:cubicBezTo>
                  <a:pt x="0" y="47229"/>
                  <a:pt x="47229" y="0"/>
                  <a:pt x="105489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 w="11289">
            <a:solidFill>
              <a:srgbClr val="E50914">
                <a:alpha val="3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6213" y="4074745"/>
            <a:ext cx="197779" cy="175804"/>
          </a:xfrm>
          <a:custGeom>
            <a:avLst/>
            <a:gdLst/>
            <a:ahLst/>
            <a:cxnLst/>
            <a:rect l="l" t="t" r="r" b="b"/>
            <a:pathLst>
              <a:path w="197779" h="175804">
                <a:moveTo>
                  <a:pt x="76949" y="33341"/>
                </a:moveTo>
                <a:lnTo>
                  <a:pt x="76949" y="50372"/>
                </a:lnTo>
                <a:lnTo>
                  <a:pt x="77120" y="50544"/>
                </a:lnTo>
                <a:cubicBezTo>
                  <a:pt x="79352" y="22250"/>
                  <a:pt x="103010" y="0"/>
                  <a:pt x="131887" y="0"/>
                </a:cubicBezTo>
                <a:cubicBezTo>
                  <a:pt x="138789" y="0"/>
                  <a:pt x="145416" y="1270"/>
                  <a:pt x="151494" y="3605"/>
                </a:cubicBezTo>
                <a:cubicBezTo>
                  <a:pt x="154927" y="4910"/>
                  <a:pt x="155545" y="9271"/>
                  <a:pt x="152970" y="11880"/>
                </a:cubicBezTo>
                <a:lnTo>
                  <a:pt x="122513" y="42337"/>
                </a:lnTo>
                <a:cubicBezTo>
                  <a:pt x="121483" y="43367"/>
                  <a:pt x="120900" y="44775"/>
                  <a:pt x="120900" y="46217"/>
                </a:cubicBezTo>
                <a:lnTo>
                  <a:pt x="120900" y="60433"/>
                </a:lnTo>
                <a:cubicBezTo>
                  <a:pt x="120900" y="63454"/>
                  <a:pt x="123372" y="65926"/>
                  <a:pt x="126393" y="65926"/>
                </a:cubicBezTo>
                <a:lnTo>
                  <a:pt x="140609" y="65926"/>
                </a:lnTo>
                <a:cubicBezTo>
                  <a:pt x="142051" y="65926"/>
                  <a:pt x="143459" y="65343"/>
                  <a:pt x="144489" y="64313"/>
                </a:cubicBezTo>
                <a:lnTo>
                  <a:pt x="174945" y="33856"/>
                </a:lnTo>
                <a:cubicBezTo>
                  <a:pt x="177555" y="31246"/>
                  <a:pt x="181916" y="31899"/>
                  <a:pt x="183221" y="35332"/>
                </a:cubicBezTo>
                <a:cubicBezTo>
                  <a:pt x="185556" y="41410"/>
                  <a:pt x="186826" y="48037"/>
                  <a:pt x="186826" y="54939"/>
                </a:cubicBezTo>
                <a:cubicBezTo>
                  <a:pt x="186826" y="75747"/>
                  <a:pt x="175255" y="93877"/>
                  <a:pt x="158155" y="103182"/>
                </a:cubicBezTo>
                <a:lnTo>
                  <a:pt x="186139" y="131166"/>
                </a:lnTo>
                <a:cubicBezTo>
                  <a:pt x="192560" y="137587"/>
                  <a:pt x="192560" y="148026"/>
                  <a:pt x="186139" y="154481"/>
                </a:cubicBezTo>
                <a:lnTo>
                  <a:pt x="165503" y="175117"/>
                </a:lnTo>
                <a:cubicBezTo>
                  <a:pt x="159082" y="181538"/>
                  <a:pt x="148644" y="181538"/>
                  <a:pt x="142188" y="175117"/>
                </a:cubicBezTo>
                <a:lnTo>
                  <a:pt x="98924" y="131853"/>
                </a:lnTo>
                <a:cubicBezTo>
                  <a:pt x="89516" y="122445"/>
                  <a:pt x="87387" y="108538"/>
                  <a:pt x="92572" y="97070"/>
                </a:cubicBezTo>
                <a:lnTo>
                  <a:pt x="61428" y="65926"/>
                </a:lnTo>
                <a:lnTo>
                  <a:pt x="44397" y="65926"/>
                </a:lnTo>
                <a:cubicBezTo>
                  <a:pt x="40723" y="65926"/>
                  <a:pt x="37290" y="64107"/>
                  <a:pt x="35264" y="61051"/>
                </a:cubicBezTo>
                <a:lnTo>
                  <a:pt x="8035" y="20224"/>
                </a:lnTo>
                <a:cubicBezTo>
                  <a:pt x="6593" y="18061"/>
                  <a:pt x="6867" y="15142"/>
                  <a:pt x="8722" y="13288"/>
                </a:cubicBezTo>
                <a:lnTo>
                  <a:pt x="24310" y="-2301"/>
                </a:lnTo>
                <a:cubicBezTo>
                  <a:pt x="26165" y="-4155"/>
                  <a:pt x="29049" y="-4429"/>
                  <a:pt x="31246" y="-2987"/>
                </a:cubicBezTo>
                <a:lnTo>
                  <a:pt x="72073" y="24207"/>
                </a:lnTo>
                <a:cubicBezTo>
                  <a:pt x="75129" y="26233"/>
                  <a:pt x="76949" y="29667"/>
                  <a:pt x="76949" y="33341"/>
                </a:cubicBezTo>
                <a:close/>
                <a:moveTo>
                  <a:pt x="74030" y="101843"/>
                </a:moveTo>
                <a:cubicBezTo>
                  <a:pt x="71867" y="114547"/>
                  <a:pt x="74854" y="127973"/>
                  <a:pt x="83095" y="138720"/>
                </a:cubicBezTo>
                <a:lnTo>
                  <a:pt x="50475" y="171306"/>
                </a:lnTo>
                <a:cubicBezTo>
                  <a:pt x="40826" y="180954"/>
                  <a:pt x="25169" y="180954"/>
                  <a:pt x="15520" y="171306"/>
                </a:cubicBezTo>
                <a:cubicBezTo>
                  <a:pt x="5872" y="161657"/>
                  <a:pt x="5872" y="146000"/>
                  <a:pt x="15520" y="136351"/>
                </a:cubicBezTo>
                <a:lnTo>
                  <a:pt x="62012" y="89859"/>
                </a:lnTo>
                <a:lnTo>
                  <a:pt x="74030" y="101877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1" name="Text 18"/>
          <p:cNvSpPr/>
          <p:nvPr/>
        </p:nvSpPr>
        <p:spPr>
          <a:xfrm>
            <a:off x="754980" y="4039584"/>
            <a:ext cx="515984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Mantenimiento Predictivo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5225" y="4391192"/>
            <a:ext cx="5362019" cy="45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El objetivo es implementar </a:t>
            </a:r>
            <a:pPr>
              <a:lnSpc>
                <a:spcPct val="140000"/>
              </a:lnSpc>
            </a:pPr>
            <a:r>
              <a:rPr lang="en-US" sz="1107" b="1" dirty="0">
                <a:solidFill>
                  <a:srgbClr val="F5C51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mantenimiento predictivo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, evitando fallos críticos como sobrecalentamientos y permitiendo programación más eficiente.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61596" y="4988925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119437" y="19256"/>
                </a:moveTo>
                <a:cubicBezTo>
                  <a:pt x="123365" y="22113"/>
                  <a:pt x="124244" y="27607"/>
                  <a:pt x="121387" y="31535"/>
                </a:cubicBezTo>
                <a:lnTo>
                  <a:pt x="51066" y="128227"/>
                </a:lnTo>
                <a:cubicBezTo>
                  <a:pt x="49555" y="130315"/>
                  <a:pt x="47220" y="131606"/>
                  <a:pt x="44638" y="131825"/>
                </a:cubicBezTo>
                <a:cubicBezTo>
                  <a:pt x="42056" y="132045"/>
                  <a:pt x="39556" y="131084"/>
                  <a:pt x="37743" y="129271"/>
                </a:cubicBezTo>
                <a:lnTo>
                  <a:pt x="2582" y="94110"/>
                </a:lnTo>
                <a:cubicBezTo>
                  <a:pt x="-852" y="90676"/>
                  <a:pt x="-852" y="85100"/>
                  <a:pt x="2582" y="81666"/>
                </a:cubicBezTo>
                <a:cubicBezTo>
                  <a:pt x="6016" y="78233"/>
                  <a:pt x="11592" y="78233"/>
                  <a:pt x="15026" y="81666"/>
                </a:cubicBezTo>
                <a:lnTo>
                  <a:pt x="42907" y="109548"/>
                </a:lnTo>
                <a:lnTo>
                  <a:pt x="107185" y="21179"/>
                </a:lnTo>
                <a:cubicBezTo>
                  <a:pt x="110042" y="17251"/>
                  <a:pt x="115536" y="16372"/>
                  <a:pt x="119464" y="19229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4" name="Text 21"/>
          <p:cNvSpPr/>
          <p:nvPr/>
        </p:nvSpPr>
        <p:spPr>
          <a:xfrm>
            <a:off x="781351" y="4953764"/>
            <a:ext cx="259310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Revisiones basadas en número de cocciones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61596" y="5270211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119437" y="19256"/>
                </a:moveTo>
                <a:cubicBezTo>
                  <a:pt x="123365" y="22113"/>
                  <a:pt x="124244" y="27607"/>
                  <a:pt x="121387" y="31535"/>
                </a:cubicBezTo>
                <a:lnTo>
                  <a:pt x="51066" y="128227"/>
                </a:lnTo>
                <a:cubicBezTo>
                  <a:pt x="49555" y="130315"/>
                  <a:pt x="47220" y="131606"/>
                  <a:pt x="44638" y="131825"/>
                </a:cubicBezTo>
                <a:cubicBezTo>
                  <a:pt x="42056" y="132045"/>
                  <a:pt x="39556" y="131084"/>
                  <a:pt x="37743" y="129271"/>
                </a:cubicBezTo>
                <a:lnTo>
                  <a:pt x="2582" y="94110"/>
                </a:lnTo>
                <a:cubicBezTo>
                  <a:pt x="-852" y="90676"/>
                  <a:pt x="-852" y="85100"/>
                  <a:pt x="2582" y="81666"/>
                </a:cubicBezTo>
                <a:cubicBezTo>
                  <a:pt x="6016" y="78233"/>
                  <a:pt x="11592" y="78233"/>
                  <a:pt x="15026" y="81666"/>
                </a:cubicBezTo>
                <a:lnTo>
                  <a:pt x="42907" y="109548"/>
                </a:lnTo>
                <a:lnTo>
                  <a:pt x="107185" y="21179"/>
                </a:lnTo>
                <a:cubicBezTo>
                  <a:pt x="110042" y="17251"/>
                  <a:pt x="115536" y="16372"/>
                  <a:pt x="119464" y="19229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6" name="Text 23"/>
          <p:cNvSpPr/>
          <p:nvPr/>
        </p:nvSpPr>
        <p:spPr>
          <a:xfrm>
            <a:off x="781351" y="5235050"/>
            <a:ext cx="194263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Identificación de irregularidades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61596" y="5551497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119437" y="19256"/>
                </a:moveTo>
                <a:cubicBezTo>
                  <a:pt x="123365" y="22113"/>
                  <a:pt x="124244" y="27607"/>
                  <a:pt x="121387" y="31535"/>
                </a:cubicBezTo>
                <a:lnTo>
                  <a:pt x="51066" y="128227"/>
                </a:lnTo>
                <a:cubicBezTo>
                  <a:pt x="49555" y="130315"/>
                  <a:pt x="47220" y="131606"/>
                  <a:pt x="44638" y="131825"/>
                </a:cubicBezTo>
                <a:cubicBezTo>
                  <a:pt x="42056" y="132045"/>
                  <a:pt x="39556" y="131084"/>
                  <a:pt x="37743" y="129271"/>
                </a:cubicBezTo>
                <a:lnTo>
                  <a:pt x="2582" y="94110"/>
                </a:lnTo>
                <a:cubicBezTo>
                  <a:pt x="-852" y="90676"/>
                  <a:pt x="-852" y="85100"/>
                  <a:pt x="2582" y="81666"/>
                </a:cubicBezTo>
                <a:cubicBezTo>
                  <a:pt x="6016" y="78233"/>
                  <a:pt x="11592" y="78233"/>
                  <a:pt x="15026" y="81666"/>
                </a:cubicBezTo>
                <a:lnTo>
                  <a:pt x="42907" y="109548"/>
                </a:lnTo>
                <a:lnTo>
                  <a:pt x="107185" y="21179"/>
                </a:lnTo>
                <a:cubicBezTo>
                  <a:pt x="110042" y="17251"/>
                  <a:pt x="115536" y="16372"/>
                  <a:pt x="119464" y="19229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8" name="Text 25"/>
          <p:cNvSpPr/>
          <p:nvPr/>
        </p:nvSpPr>
        <p:spPr>
          <a:xfrm>
            <a:off x="781351" y="5516336"/>
            <a:ext cx="2812862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Decisiones rápidas para asegurar disponibilidad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86343" y="1347832"/>
            <a:ext cx="5651118" cy="3383248"/>
          </a:xfrm>
          <a:custGeom>
            <a:avLst/>
            <a:gdLst/>
            <a:ahLst/>
            <a:cxnLst/>
            <a:rect l="l" t="t" r="r" b="b"/>
            <a:pathLst>
              <a:path w="5651118" h="3383248">
                <a:moveTo>
                  <a:pt x="105490" y="0"/>
                </a:moveTo>
                <a:lnTo>
                  <a:pt x="5545629" y="0"/>
                </a:lnTo>
                <a:cubicBezTo>
                  <a:pt x="5603889" y="0"/>
                  <a:pt x="5651118" y="47229"/>
                  <a:pt x="5651118" y="105490"/>
                </a:cubicBezTo>
                <a:lnTo>
                  <a:pt x="5651118" y="3277759"/>
                </a:lnTo>
                <a:cubicBezTo>
                  <a:pt x="5651118" y="3336019"/>
                  <a:pt x="5603889" y="3383248"/>
                  <a:pt x="5545629" y="3383248"/>
                </a:cubicBezTo>
                <a:lnTo>
                  <a:pt x="105490" y="3383248"/>
                </a:lnTo>
                <a:cubicBezTo>
                  <a:pt x="47229" y="3383248"/>
                  <a:pt x="0" y="3336019"/>
                  <a:pt x="0" y="3277759"/>
                </a:cubicBezTo>
                <a:lnTo>
                  <a:pt x="0" y="105490"/>
                </a:lnTo>
                <a:cubicBezTo>
                  <a:pt x="0" y="47268"/>
                  <a:pt x="47268" y="0"/>
                  <a:pt x="105490" y="0"/>
                </a:cubicBezTo>
                <a:close/>
              </a:path>
            </a:pathLst>
          </a:custGeom>
          <a:solidFill>
            <a:srgbClr val="E50914">
              <a:alpha val="20000"/>
            </a:srgbClr>
          </a:solidFill>
          <a:ln w="11289">
            <a:solidFill>
              <a:srgbClr val="E50914">
                <a:alpha val="50196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22103" y="1527541"/>
            <a:ext cx="5379599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4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Panel de Control Centralizado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66054" y="1914310"/>
            <a:ext cx="5291697" cy="808698"/>
          </a:xfrm>
          <a:custGeom>
            <a:avLst/>
            <a:gdLst/>
            <a:ahLst/>
            <a:cxnLst/>
            <a:rect l="l" t="t" r="r" b="b"/>
            <a:pathLst>
              <a:path w="5291697" h="808698">
                <a:moveTo>
                  <a:pt x="70324" y="0"/>
                </a:moveTo>
                <a:lnTo>
                  <a:pt x="5221373" y="0"/>
                </a:lnTo>
                <a:cubicBezTo>
                  <a:pt x="5260212" y="0"/>
                  <a:pt x="5291697" y="31485"/>
                  <a:pt x="5291697" y="70324"/>
                </a:cubicBezTo>
                <a:lnTo>
                  <a:pt x="5291697" y="738374"/>
                </a:lnTo>
                <a:cubicBezTo>
                  <a:pt x="5291697" y="777213"/>
                  <a:pt x="5260212" y="808698"/>
                  <a:pt x="5221373" y="808698"/>
                </a:cubicBezTo>
                <a:lnTo>
                  <a:pt x="70324" y="808698"/>
                </a:lnTo>
                <a:cubicBezTo>
                  <a:pt x="31485" y="808698"/>
                  <a:pt x="0" y="777213"/>
                  <a:pt x="0" y="738374"/>
                </a:cubicBezTo>
                <a:lnTo>
                  <a:pt x="0" y="70324"/>
                </a:lnTo>
                <a:cubicBezTo>
                  <a:pt x="0" y="31485"/>
                  <a:pt x="31485" y="0"/>
                  <a:pt x="7032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528673" y="2090113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10988" y="10988"/>
                </a:moveTo>
                <a:cubicBezTo>
                  <a:pt x="17065" y="10988"/>
                  <a:pt x="21975" y="15898"/>
                  <a:pt x="21975" y="21975"/>
                </a:cubicBezTo>
                <a:lnTo>
                  <a:pt x="21975" y="137347"/>
                </a:lnTo>
                <a:cubicBezTo>
                  <a:pt x="21975" y="140368"/>
                  <a:pt x="24448" y="142841"/>
                  <a:pt x="27469" y="142841"/>
                </a:cubicBezTo>
                <a:lnTo>
                  <a:pt x="164816" y="142841"/>
                </a:lnTo>
                <a:cubicBezTo>
                  <a:pt x="170894" y="142841"/>
                  <a:pt x="175804" y="147751"/>
                  <a:pt x="175804" y="153828"/>
                </a:cubicBezTo>
                <a:cubicBezTo>
                  <a:pt x="175804" y="159906"/>
                  <a:pt x="170894" y="164816"/>
                  <a:pt x="164816" y="164816"/>
                </a:cubicBezTo>
                <a:lnTo>
                  <a:pt x="27469" y="164816"/>
                </a:lnTo>
                <a:cubicBezTo>
                  <a:pt x="12293" y="164816"/>
                  <a:pt x="0" y="152524"/>
                  <a:pt x="0" y="137347"/>
                </a:cubicBezTo>
                <a:lnTo>
                  <a:pt x="0" y="21975"/>
                </a:lnTo>
                <a:cubicBezTo>
                  <a:pt x="0" y="15898"/>
                  <a:pt x="4910" y="10988"/>
                  <a:pt x="10988" y="10988"/>
                </a:cubicBezTo>
                <a:close/>
                <a:moveTo>
                  <a:pt x="43951" y="32963"/>
                </a:moveTo>
                <a:cubicBezTo>
                  <a:pt x="43951" y="26886"/>
                  <a:pt x="48861" y="21975"/>
                  <a:pt x="54939" y="21975"/>
                </a:cubicBezTo>
                <a:lnTo>
                  <a:pt x="120865" y="21975"/>
                </a:lnTo>
                <a:cubicBezTo>
                  <a:pt x="126943" y="21975"/>
                  <a:pt x="131853" y="26886"/>
                  <a:pt x="131853" y="32963"/>
                </a:cubicBezTo>
                <a:cubicBezTo>
                  <a:pt x="131853" y="39041"/>
                  <a:pt x="126943" y="43951"/>
                  <a:pt x="120865" y="43951"/>
                </a:cubicBezTo>
                <a:lnTo>
                  <a:pt x="54939" y="43951"/>
                </a:lnTo>
                <a:cubicBezTo>
                  <a:pt x="48861" y="43951"/>
                  <a:pt x="43951" y="39041"/>
                  <a:pt x="43951" y="32963"/>
                </a:cubicBezTo>
                <a:close/>
                <a:moveTo>
                  <a:pt x="54939" y="60433"/>
                </a:moveTo>
                <a:lnTo>
                  <a:pt x="98890" y="60433"/>
                </a:lnTo>
                <a:cubicBezTo>
                  <a:pt x="104967" y="60433"/>
                  <a:pt x="109877" y="65343"/>
                  <a:pt x="109877" y="71420"/>
                </a:cubicBezTo>
                <a:cubicBezTo>
                  <a:pt x="109877" y="77498"/>
                  <a:pt x="104967" y="82408"/>
                  <a:pt x="98890" y="82408"/>
                </a:cubicBezTo>
                <a:lnTo>
                  <a:pt x="54939" y="82408"/>
                </a:lnTo>
                <a:cubicBezTo>
                  <a:pt x="48861" y="82408"/>
                  <a:pt x="43951" y="77498"/>
                  <a:pt x="43951" y="71420"/>
                </a:cubicBezTo>
                <a:cubicBezTo>
                  <a:pt x="43951" y="65343"/>
                  <a:pt x="48861" y="60433"/>
                  <a:pt x="54939" y="60433"/>
                </a:cubicBezTo>
                <a:close/>
                <a:moveTo>
                  <a:pt x="54939" y="98890"/>
                </a:moveTo>
                <a:lnTo>
                  <a:pt x="142841" y="98890"/>
                </a:lnTo>
                <a:cubicBezTo>
                  <a:pt x="148918" y="98890"/>
                  <a:pt x="153828" y="103800"/>
                  <a:pt x="153828" y="109877"/>
                </a:cubicBezTo>
                <a:cubicBezTo>
                  <a:pt x="153828" y="115955"/>
                  <a:pt x="148918" y="120865"/>
                  <a:pt x="142841" y="120865"/>
                </a:cubicBezTo>
                <a:lnTo>
                  <a:pt x="54939" y="120865"/>
                </a:lnTo>
                <a:cubicBezTo>
                  <a:pt x="48861" y="120865"/>
                  <a:pt x="43951" y="115955"/>
                  <a:pt x="43951" y="109877"/>
                </a:cubicBezTo>
                <a:cubicBezTo>
                  <a:pt x="43951" y="103800"/>
                  <a:pt x="48861" y="98890"/>
                  <a:pt x="54939" y="98890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33" name="Text 30"/>
          <p:cNvSpPr/>
          <p:nvPr/>
        </p:nvSpPr>
        <p:spPr>
          <a:xfrm>
            <a:off x="6831935" y="2054953"/>
            <a:ext cx="1889892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Visibilidad por Sucursal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506697" y="2371400"/>
            <a:ext cx="508073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Información centralizada ofreciendo visibilidad por ubicación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66054" y="2828490"/>
            <a:ext cx="5291697" cy="808698"/>
          </a:xfrm>
          <a:custGeom>
            <a:avLst/>
            <a:gdLst/>
            <a:ahLst/>
            <a:cxnLst/>
            <a:rect l="l" t="t" r="r" b="b"/>
            <a:pathLst>
              <a:path w="5291697" h="808698">
                <a:moveTo>
                  <a:pt x="70324" y="0"/>
                </a:moveTo>
                <a:lnTo>
                  <a:pt x="5221373" y="0"/>
                </a:lnTo>
                <a:cubicBezTo>
                  <a:pt x="5260212" y="0"/>
                  <a:pt x="5291697" y="31485"/>
                  <a:pt x="5291697" y="70324"/>
                </a:cubicBezTo>
                <a:lnTo>
                  <a:pt x="5291697" y="738374"/>
                </a:lnTo>
                <a:cubicBezTo>
                  <a:pt x="5291697" y="777213"/>
                  <a:pt x="5260212" y="808698"/>
                  <a:pt x="5221373" y="808698"/>
                </a:cubicBezTo>
                <a:lnTo>
                  <a:pt x="70324" y="808698"/>
                </a:lnTo>
                <a:cubicBezTo>
                  <a:pt x="31485" y="808698"/>
                  <a:pt x="0" y="777213"/>
                  <a:pt x="0" y="738374"/>
                </a:cubicBezTo>
                <a:lnTo>
                  <a:pt x="0" y="70324"/>
                </a:lnTo>
                <a:cubicBezTo>
                  <a:pt x="0" y="31485"/>
                  <a:pt x="31485" y="0"/>
                  <a:pt x="7032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6539661" y="3004294"/>
            <a:ext cx="153828" cy="175804"/>
          </a:xfrm>
          <a:custGeom>
            <a:avLst/>
            <a:gdLst/>
            <a:ahLst/>
            <a:cxnLst/>
            <a:rect l="l" t="t" r="r" b="b"/>
            <a:pathLst>
              <a:path w="153828" h="175804">
                <a:moveTo>
                  <a:pt x="76914" y="0"/>
                </a:moveTo>
                <a:cubicBezTo>
                  <a:pt x="70837" y="0"/>
                  <a:pt x="65926" y="4910"/>
                  <a:pt x="65926" y="10988"/>
                </a:cubicBezTo>
                <a:lnTo>
                  <a:pt x="65926" y="12087"/>
                </a:lnTo>
                <a:cubicBezTo>
                  <a:pt x="40861" y="17168"/>
                  <a:pt x="21975" y="39350"/>
                  <a:pt x="21975" y="65926"/>
                </a:cubicBezTo>
                <a:lnTo>
                  <a:pt x="21975" y="73378"/>
                </a:lnTo>
                <a:cubicBezTo>
                  <a:pt x="21975" y="89893"/>
                  <a:pt x="16344" y="105929"/>
                  <a:pt x="6043" y="118839"/>
                </a:cubicBezTo>
                <a:lnTo>
                  <a:pt x="2678" y="123028"/>
                </a:lnTo>
                <a:cubicBezTo>
                  <a:pt x="927" y="125192"/>
                  <a:pt x="0" y="127870"/>
                  <a:pt x="0" y="130651"/>
                </a:cubicBezTo>
                <a:cubicBezTo>
                  <a:pt x="0" y="137381"/>
                  <a:pt x="5460" y="142841"/>
                  <a:pt x="12190" y="142841"/>
                </a:cubicBezTo>
                <a:lnTo>
                  <a:pt x="141605" y="142841"/>
                </a:lnTo>
                <a:cubicBezTo>
                  <a:pt x="148335" y="142841"/>
                  <a:pt x="153794" y="137381"/>
                  <a:pt x="153794" y="130651"/>
                </a:cubicBezTo>
                <a:cubicBezTo>
                  <a:pt x="153794" y="127870"/>
                  <a:pt x="152867" y="125192"/>
                  <a:pt x="151116" y="123028"/>
                </a:cubicBezTo>
                <a:lnTo>
                  <a:pt x="147751" y="118839"/>
                </a:lnTo>
                <a:cubicBezTo>
                  <a:pt x="137484" y="105929"/>
                  <a:pt x="131853" y="89893"/>
                  <a:pt x="131853" y="73378"/>
                </a:cubicBezTo>
                <a:lnTo>
                  <a:pt x="131853" y="65926"/>
                </a:lnTo>
                <a:cubicBezTo>
                  <a:pt x="131853" y="39350"/>
                  <a:pt x="112968" y="17168"/>
                  <a:pt x="87902" y="12087"/>
                </a:cubicBezTo>
                <a:lnTo>
                  <a:pt x="87902" y="10988"/>
                </a:lnTo>
                <a:cubicBezTo>
                  <a:pt x="87902" y="4910"/>
                  <a:pt x="82992" y="0"/>
                  <a:pt x="76914" y="0"/>
                </a:cubicBezTo>
                <a:close/>
                <a:moveTo>
                  <a:pt x="55625" y="159322"/>
                </a:moveTo>
                <a:cubicBezTo>
                  <a:pt x="58063" y="168799"/>
                  <a:pt x="66682" y="175804"/>
                  <a:pt x="76914" y="175804"/>
                </a:cubicBezTo>
                <a:cubicBezTo>
                  <a:pt x="87147" y="175804"/>
                  <a:pt x="95765" y="168799"/>
                  <a:pt x="98203" y="159322"/>
                </a:cubicBezTo>
                <a:lnTo>
                  <a:pt x="55625" y="159322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37" name="Text 34"/>
          <p:cNvSpPr/>
          <p:nvPr/>
        </p:nvSpPr>
        <p:spPr>
          <a:xfrm>
            <a:off x="6831935" y="2969133"/>
            <a:ext cx="163497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Alertas Automáticas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506697" y="3285580"/>
            <a:ext cx="508073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Generación de alertas automáticas ante anomalías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366054" y="3742670"/>
            <a:ext cx="5291697" cy="808698"/>
          </a:xfrm>
          <a:custGeom>
            <a:avLst/>
            <a:gdLst/>
            <a:ahLst/>
            <a:cxnLst/>
            <a:rect l="l" t="t" r="r" b="b"/>
            <a:pathLst>
              <a:path w="5291697" h="808698">
                <a:moveTo>
                  <a:pt x="70324" y="0"/>
                </a:moveTo>
                <a:lnTo>
                  <a:pt x="5221373" y="0"/>
                </a:lnTo>
                <a:cubicBezTo>
                  <a:pt x="5260212" y="0"/>
                  <a:pt x="5291697" y="31485"/>
                  <a:pt x="5291697" y="70324"/>
                </a:cubicBezTo>
                <a:lnTo>
                  <a:pt x="5291697" y="738374"/>
                </a:lnTo>
                <a:cubicBezTo>
                  <a:pt x="5291697" y="777213"/>
                  <a:pt x="5260212" y="808698"/>
                  <a:pt x="5221373" y="808698"/>
                </a:cubicBezTo>
                <a:lnTo>
                  <a:pt x="70324" y="808698"/>
                </a:lnTo>
                <a:cubicBezTo>
                  <a:pt x="31485" y="808698"/>
                  <a:pt x="0" y="777213"/>
                  <a:pt x="0" y="738374"/>
                </a:cubicBezTo>
                <a:lnTo>
                  <a:pt x="0" y="70324"/>
                </a:lnTo>
                <a:cubicBezTo>
                  <a:pt x="0" y="31485"/>
                  <a:pt x="31485" y="0"/>
                  <a:pt x="7032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528673" y="3918474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0" y="87902"/>
                </a:moveTo>
                <a:cubicBezTo>
                  <a:pt x="0" y="39388"/>
                  <a:pt x="39388" y="0"/>
                  <a:pt x="87902" y="0"/>
                </a:cubicBezTo>
                <a:cubicBezTo>
                  <a:pt x="136416" y="0"/>
                  <a:pt x="175804" y="39388"/>
                  <a:pt x="175804" y="87902"/>
                </a:cubicBezTo>
                <a:cubicBezTo>
                  <a:pt x="175804" y="136416"/>
                  <a:pt x="136416" y="175804"/>
                  <a:pt x="87902" y="175804"/>
                </a:cubicBezTo>
                <a:cubicBezTo>
                  <a:pt x="39388" y="175804"/>
                  <a:pt x="0" y="136416"/>
                  <a:pt x="0" y="87902"/>
                </a:cubicBezTo>
                <a:close/>
                <a:moveTo>
                  <a:pt x="98890" y="32963"/>
                </a:moveTo>
                <a:cubicBezTo>
                  <a:pt x="98890" y="26899"/>
                  <a:pt x="93966" y="21975"/>
                  <a:pt x="87902" y="21975"/>
                </a:cubicBezTo>
                <a:cubicBezTo>
                  <a:pt x="81838" y="21975"/>
                  <a:pt x="76914" y="26899"/>
                  <a:pt x="76914" y="32963"/>
                </a:cubicBezTo>
                <a:cubicBezTo>
                  <a:pt x="76914" y="39028"/>
                  <a:pt x="81838" y="43951"/>
                  <a:pt x="87902" y="43951"/>
                </a:cubicBezTo>
                <a:cubicBezTo>
                  <a:pt x="93966" y="43951"/>
                  <a:pt x="98890" y="39028"/>
                  <a:pt x="98890" y="32963"/>
                </a:cubicBezTo>
                <a:close/>
                <a:moveTo>
                  <a:pt x="87902" y="142841"/>
                </a:moveTo>
                <a:cubicBezTo>
                  <a:pt x="100023" y="142841"/>
                  <a:pt x="109877" y="132986"/>
                  <a:pt x="109877" y="120865"/>
                </a:cubicBezTo>
                <a:cubicBezTo>
                  <a:pt x="109877" y="115303"/>
                  <a:pt x="107817" y="110186"/>
                  <a:pt x="104384" y="106341"/>
                </a:cubicBezTo>
                <a:lnTo>
                  <a:pt x="128248" y="58647"/>
                </a:lnTo>
                <a:cubicBezTo>
                  <a:pt x="130273" y="54561"/>
                  <a:pt x="128625" y="49617"/>
                  <a:pt x="124574" y="47591"/>
                </a:cubicBezTo>
                <a:cubicBezTo>
                  <a:pt x="120522" y="45565"/>
                  <a:pt x="115543" y="47213"/>
                  <a:pt x="113517" y="51265"/>
                </a:cubicBezTo>
                <a:lnTo>
                  <a:pt x="89653" y="98958"/>
                </a:lnTo>
                <a:cubicBezTo>
                  <a:pt x="89069" y="98924"/>
                  <a:pt x="88486" y="98890"/>
                  <a:pt x="87902" y="98890"/>
                </a:cubicBezTo>
                <a:cubicBezTo>
                  <a:pt x="75781" y="98890"/>
                  <a:pt x="65926" y="108744"/>
                  <a:pt x="65926" y="120865"/>
                </a:cubicBezTo>
                <a:cubicBezTo>
                  <a:pt x="65926" y="132986"/>
                  <a:pt x="75781" y="142841"/>
                  <a:pt x="87902" y="142841"/>
                </a:cubicBezTo>
                <a:close/>
                <a:moveTo>
                  <a:pt x="60433" y="49445"/>
                </a:moveTo>
                <a:cubicBezTo>
                  <a:pt x="60433" y="43381"/>
                  <a:pt x="55509" y="38457"/>
                  <a:pt x="49445" y="38457"/>
                </a:cubicBezTo>
                <a:cubicBezTo>
                  <a:pt x="43381" y="38457"/>
                  <a:pt x="38457" y="43381"/>
                  <a:pt x="38457" y="49445"/>
                </a:cubicBezTo>
                <a:cubicBezTo>
                  <a:pt x="38457" y="55509"/>
                  <a:pt x="43381" y="60433"/>
                  <a:pt x="49445" y="60433"/>
                </a:cubicBezTo>
                <a:cubicBezTo>
                  <a:pt x="55509" y="60433"/>
                  <a:pt x="60433" y="55509"/>
                  <a:pt x="60433" y="49445"/>
                </a:cubicBezTo>
                <a:close/>
                <a:moveTo>
                  <a:pt x="32963" y="98890"/>
                </a:moveTo>
                <a:cubicBezTo>
                  <a:pt x="39028" y="98890"/>
                  <a:pt x="43951" y="93966"/>
                  <a:pt x="43951" y="87902"/>
                </a:cubicBezTo>
                <a:cubicBezTo>
                  <a:pt x="43951" y="81838"/>
                  <a:pt x="39028" y="76914"/>
                  <a:pt x="32963" y="76914"/>
                </a:cubicBezTo>
                <a:cubicBezTo>
                  <a:pt x="26899" y="76914"/>
                  <a:pt x="21975" y="81838"/>
                  <a:pt x="21975" y="87902"/>
                </a:cubicBezTo>
                <a:cubicBezTo>
                  <a:pt x="21975" y="93966"/>
                  <a:pt x="26899" y="98890"/>
                  <a:pt x="32963" y="98890"/>
                </a:cubicBezTo>
                <a:close/>
                <a:moveTo>
                  <a:pt x="153828" y="87902"/>
                </a:moveTo>
                <a:cubicBezTo>
                  <a:pt x="153828" y="81838"/>
                  <a:pt x="148905" y="76914"/>
                  <a:pt x="142841" y="76914"/>
                </a:cubicBezTo>
                <a:cubicBezTo>
                  <a:pt x="136776" y="76914"/>
                  <a:pt x="131853" y="81838"/>
                  <a:pt x="131853" y="87902"/>
                </a:cubicBezTo>
                <a:cubicBezTo>
                  <a:pt x="131853" y="93966"/>
                  <a:pt x="136776" y="98890"/>
                  <a:pt x="142841" y="98890"/>
                </a:cubicBezTo>
                <a:cubicBezTo>
                  <a:pt x="148905" y="98890"/>
                  <a:pt x="153828" y="93966"/>
                  <a:pt x="153828" y="87902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41" name="Text 38"/>
          <p:cNvSpPr/>
          <p:nvPr/>
        </p:nvSpPr>
        <p:spPr>
          <a:xfrm>
            <a:off x="6831935" y="3883313"/>
            <a:ext cx="2030535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Análisis de Productividad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506697" y="4199760"/>
            <a:ext cx="508073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Métricas de rendimiento por equipo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186343" y="4879533"/>
            <a:ext cx="5651118" cy="1976817"/>
          </a:xfrm>
          <a:custGeom>
            <a:avLst/>
            <a:gdLst/>
            <a:ahLst/>
            <a:cxnLst/>
            <a:rect l="l" t="t" r="r" b="b"/>
            <a:pathLst>
              <a:path w="5651118" h="1976817">
                <a:moveTo>
                  <a:pt x="105483" y="0"/>
                </a:moveTo>
                <a:lnTo>
                  <a:pt x="5545636" y="0"/>
                </a:lnTo>
                <a:cubicBezTo>
                  <a:pt x="5603892" y="0"/>
                  <a:pt x="5651118" y="47226"/>
                  <a:pt x="5651118" y="105483"/>
                </a:cubicBezTo>
                <a:lnTo>
                  <a:pt x="5651118" y="1871334"/>
                </a:lnTo>
                <a:cubicBezTo>
                  <a:pt x="5651118" y="1929591"/>
                  <a:pt x="5603892" y="1976817"/>
                  <a:pt x="5545636" y="1976817"/>
                </a:cubicBezTo>
                <a:lnTo>
                  <a:pt x="105483" y="1976817"/>
                </a:lnTo>
                <a:cubicBezTo>
                  <a:pt x="47226" y="1976817"/>
                  <a:pt x="0" y="1929591"/>
                  <a:pt x="0" y="1871334"/>
                </a:cubicBezTo>
                <a:lnTo>
                  <a:pt x="0" y="105483"/>
                </a:lnTo>
                <a:cubicBezTo>
                  <a:pt x="0" y="47265"/>
                  <a:pt x="47265" y="0"/>
                  <a:pt x="105483" y="0"/>
                </a:cubicBezTo>
                <a:close/>
              </a:path>
            </a:pathLst>
          </a:custGeom>
          <a:solidFill>
            <a:srgbClr val="F5C518">
              <a:alpha val="20000"/>
            </a:srgbClr>
          </a:solidFill>
          <a:ln w="11289">
            <a:solidFill>
              <a:srgbClr val="F5C518">
                <a:alpha val="50196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22103" y="5059246"/>
            <a:ext cx="5379599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4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Conexión Estratégica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260572" y="5410854"/>
            <a:ext cx="5502662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22" b="1" dirty="0">
                <a:solidFill>
                  <a:srgbClr val="F5C51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50-60%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330894" y="5903105"/>
            <a:ext cx="536201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 los ingresos reales de una sala provienen de la dulcería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366054" y="6219552"/>
            <a:ext cx="5362019" cy="45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Garantizar disponibilidad continua del producto más vendido mediante mantenimiento predictivo tiene </a:t>
            </a:r>
            <a:pPr>
              <a:lnSpc>
                <a:spcPct val="140000"/>
              </a:lnSpc>
            </a:pPr>
            <a:r>
              <a:rPr lang="en-US" sz="1107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impacto directo en los márgenes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296" y="376296"/>
            <a:ext cx="2398889" cy="385704"/>
          </a:xfrm>
          <a:custGeom>
            <a:avLst/>
            <a:gdLst/>
            <a:ahLst/>
            <a:cxnLst/>
            <a:rect l="l" t="t" r="r" b="b"/>
            <a:pathLst>
              <a:path w="2398889" h="385704">
                <a:moveTo>
                  <a:pt x="75259" y="0"/>
                </a:moveTo>
                <a:lnTo>
                  <a:pt x="2323630" y="0"/>
                </a:lnTo>
                <a:cubicBezTo>
                  <a:pt x="2365195" y="0"/>
                  <a:pt x="2398889" y="33694"/>
                  <a:pt x="2398889" y="75259"/>
                </a:cubicBezTo>
                <a:lnTo>
                  <a:pt x="2398889" y="310445"/>
                </a:lnTo>
                <a:cubicBezTo>
                  <a:pt x="2398889" y="352009"/>
                  <a:pt x="2365195" y="385704"/>
                  <a:pt x="2323630" y="385704"/>
                </a:cubicBezTo>
                <a:lnTo>
                  <a:pt x="75259" y="385704"/>
                </a:lnTo>
                <a:cubicBezTo>
                  <a:pt x="33694" y="385704"/>
                  <a:pt x="0" y="352009"/>
                  <a:pt x="0" y="310445"/>
                </a:cubicBezTo>
                <a:lnTo>
                  <a:pt x="0" y="75259"/>
                </a:lnTo>
                <a:cubicBezTo>
                  <a:pt x="0" y="33722"/>
                  <a:pt x="33722" y="0"/>
                  <a:pt x="75259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26815" y="493365"/>
            <a:ext cx="2175071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spc="59" kern="0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08. MARKETING CREATIVO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6296" y="873846"/>
            <a:ext cx="11608741" cy="376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7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IA Generativa en Marketing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3021" y="1438291"/>
            <a:ext cx="6771243" cy="2483556"/>
          </a:xfrm>
          <a:custGeom>
            <a:avLst/>
            <a:gdLst/>
            <a:ahLst/>
            <a:cxnLst/>
            <a:rect l="l" t="t" r="r" b="b"/>
            <a:pathLst>
              <a:path w="6771243" h="2483556">
                <a:moveTo>
                  <a:pt x="33449" y="0"/>
                </a:moveTo>
                <a:lnTo>
                  <a:pt x="6658365" y="0"/>
                </a:lnTo>
                <a:cubicBezTo>
                  <a:pt x="6720706" y="0"/>
                  <a:pt x="6771243" y="50537"/>
                  <a:pt x="6771243" y="112878"/>
                </a:cubicBezTo>
                <a:lnTo>
                  <a:pt x="6771243" y="2370678"/>
                </a:lnTo>
                <a:cubicBezTo>
                  <a:pt x="6771243" y="2433019"/>
                  <a:pt x="6720706" y="2483556"/>
                  <a:pt x="6658365" y="2483556"/>
                </a:cubicBezTo>
                <a:lnTo>
                  <a:pt x="33449" y="2483556"/>
                </a:lnTo>
                <a:cubicBezTo>
                  <a:pt x="14975" y="2483556"/>
                  <a:pt x="0" y="2468580"/>
                  <a:pt x="0" y="2450107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93021" y="1438291"/>
            <a:ext cx="33449" cy="2483556"/>
          </a:xfrm>
          <a:custGeom>
            <a:avLst/>
            <a:gdLst/>
            <a:ahLst/>
            <a:cxnLst/>
            <a:rect l="l" t="t" r="r" b="b"/>
            <a:pathLst>
              <a:path w="33449" h="2483556">
                <a:moveTo>
                  <a:pt x="33449" y="0"/>
                </a:moveTo>
                <a:lnTo>
                  <a:pt x="33449" y="0"/>
                </a:lnTo>
                <a:lnTo>
                  <a:pt x="33449" y="2483556"/>
                </a:lnTo>
                <a:lnTo>
                  <a:pt x="33449" y="2483556"/>
                </a:lnTo>
                <a:cubicBezTo>
                  <a:pt x="14975" y="2483556"/>
                  <a:pt x="0" y="2468580"/>
                  <a:pt x="0" y="2450107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7" name="Shape 5"/>
          <p:cNvSpPr/>
          <p:nvPr/>
        </p:nvSpPr>
        <p:spPr>
          <a:xfrm>
            <a:off x="621412" y="1664068"/>
            <a:ext cx="188148" cy="188148"/>
          </a:xfrm>
          <a:custGeom>
            <a:avLst/>
            <a:gdLst/>
            <a:ahLst/>
            <a:cxnLst/>
            <a:rect l="l" t="t" r="r" b="b"/>
            <a:pathLst>
              <a:path w="188148" h="188148">
                <a:moveTo>
                  <a:pt x="146440" y="4483"/>
                </a:moveTo>
                <a:lnTo>
                  <a:pt x="114028" y="36895"/>
                </a:lnTo>
                <a:lnTo>
                  <a:pt x="151253" y="74120"/>
                </a:lnTo>
                <a:lnTo>
                  <a:pt x="183665" y="41709"/>
                </a:lnTo>
                <a:cubicBezTo>
                  <a:pt x="186531" y="38806"/>
                  <a:pt x="188148" y="34910"/>
                  <a:pt x="188148" y="30868"/>
                </a:cubicBezTo>
                <a:cubicBezTo>
                  <a:pt x="188148" y="26826"/>
                  <a:pt x="186531" y="22931"/>
                  <a:pt x="183665" y="20027"/>
                </a:cubicBezTo>
                <a:lnTo>
                  <a:pt x="168121" y="4483"/>
                </a:lnTo>
                <a:cubicBezTo>
                  <a:pt x="165218" y="1617"/>
                  <a:pt x="161322" y="0"/>
                  <a:pt x="157280" y="0"/>
                </a:cubicBezTo>
                <a:cubicBezTo>
                  <a:pt x="153238" y="0"/>
                  <a:pt x="149343" y="1617"/>
                  <a:pt x="146440" y="4483"/>
                </a:cubicBezTo>
                <a:close/>
                <a:moveTo>
                  <a:pt x="101571" y="49352"/>
                </a:moveTo>
                <a:lnTo>
                  <a:pt x="4483" y="146440"/>
                </a:lnTo>
                <a:cubicBezTo>
                  <a:pt x="1617" y="149343"/>
                  <a:pt x="0" y="153238"/>
                  <a:pt x="0" y="157280"/>
                </a:cubicBezTo>
                <a:cubicBezTo>
                  <a:pt x="0" y="161322"/>
                  <a:pt x="1617" y="165218"/>
                  <a:pt x="4483" y="168121"/>
                </a:cubicBezTo>
                <a:lnTo>
                  <a:pt x="20027" y="183665"/>
                </a:lnTo>
                <a:cubicBezTo>
                  <a:pt x="22931" y="186531"/>
                  <a:pt x="26826" y="188148"/>
                  <a:pt x="30868" y="188148"/>
                </a:cubicBezTo>
                <a:cubicBezTo>
                  <a:pt x="34910" y="188148"/>
                  <a:pt x="38806" y="186531"/>
                  <a:pt x="41709" y="183665"/>
                </a:cubicBezTo>
                <a:lnTo>
                  <a:pt x="138796" y="86578"/>
                </a:lnTo>
                <a:lnTo>
                  <a:pt x="101571" y="49352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833078" y="1626439"/>
            <a:ext cx="6237111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Producción Publicitaria con 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7893" y="2002735"/>
            <a:ext cx="6453481" cy="489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Cinépolis utilizó </a:t>
            </a:r>
            <a:pPr>
              <a:lnSpc>
                <a:spcPct val="140000"/>
              </a:lnSpc>
            </a:pPr>
            <a:r>
              <a:rPr lang="en-US" sz="1185" b="1" dirty="0">
                <a:solidFill>
                  <a:srgbClr val="F5C51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Inteligencia Artificial generativa</a:t>
            </a:r>
            <a:pPr>
              <a:lnSpc>
                <a:spcPct val="140000"/>
              </a:lnSpc>
            </a:pPr>
            <a:r>
              <a:rPr lang="en-US" sz="1185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para producir anuncios publicitarios que se proyectan antes de cada función en sus salas.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7893" y="2604809"/>
            <a:ext cx="6378222" cy="1128889"/>
          </a:xfrm>
          <a:custGeom>
            <a:avLst/>
            <a:gdLst/>
            <a:ahLst/>
            <a:cxnLst/>
            <a:rect l="l" t="t" r="r" b="b"/>
            <a:pathLst>
              <a:path w="6378222" h="1128889">
                <a:moveTo>
                  <a:pt x="75263" y="0"/>
                </a:moveTo>
                <a:lnTo>
                  <a:pt x="6302959" y="0"/>
                </a:lnTo>
                <a:cubicBezTo>
                  <a:pt x="6344526" y="0"/>
                  <a:pt x="6378222" y="33696"/>
                  <a:pt x="6378222" y="75263"/>
                </a:cubicBezTo>
                <a:lnTo>
                  <a:pt x="6378222" y="1053626"/>
                </a:lnTo>
                <a:cubicBezTo>
                  <a:pt x="6378222" y="1095192"/>
                  <a:pt x="6344526" y="1128889"/>
                  <a:pt x="6302959" y="1128889"/>
                </a:cubicBezTo>
                <a:lnTo>
                  <a:pt x="75263" y="1128889"/>
                </a:lnTo>
                <a:cubicBezTo>
                  <a:pt x="33696" y="1128889"/>
                  <a:pt x="0" y="1095192"/>
                  <a:pt x="0" y="1053626"/>
                </a:cubicBezTo>
                <a:lnTo>
                  <a:pt x="0" y="75263"/>
                </a:lnTo>
                <a:cubicBezTo>
                  <a:pt x="0" y="33696"/>
                  <a:pt x="33696" y="0"/>
                  <a:pt x="7526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48412" y="2755328"/>
            <a:ext cx="6161852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Ejemplo de Contenido Generado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8412" y="3093994"/>
            <a:ext cx="6152444" cy="489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"Un comercial en el que un grupo de espectadores huye de un pulpo gigantesco mientras comen palomitas a bordo de un vehículo que se transforma en un elefante en medio de la sabana."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3021" y="4072365"/>
            <a:ext cx="6771243" cy="1241778"/>
          </a:xfrm>
          <a:custGeom>
            <a:avLst/>
            <a:gdLst/>
            <a:ahLst/>
            <a:cxnLst/>
            <a:rect l="l" t="t" r="r" b="b"/>
            <a:pathLst>
              <a:path w="6771243" h="1241778">
                <a:moveTo>
                  <a:pt x="33449" y="0"/>
                </a:moveTo>
                <a:lnTo>
                  <a:pt x="6658353" y="0"/>
                </a:lnTo>
                <a:cubicBezTo>
                  <a:pt x="6720700" y="0"/>
                  <a:pt x="6771243" y="50543"/>
                  <a:pt x="6771243" y="112890"/>
                </a:cubicBezTo>
                <a:lnTo>
                  <a:pt x="6771243" y="1128888"/>
                </a:lnTo>
                <a:cubicBezTo>
                  <a:pt x="6771243" y="1191235"/>
                  <a:pt x="6720700" y="1241778"/>
                  <a:pt x="6658353" y="1241778"/>
                </a:cubicBezTo>
                <a:lnTo>
                  <a:pt x="33449" y="1241778"/>
                </a:lnTo>
                <a:cubicBezTo>
                  <a:pt x="14975" y="1241778"/>
                  <a:pt x="0" y="1226802"/>
                  <a:pt x="0" y="1208329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93021" y="4072365"/>
            <a:ext cx="33449" cy="1241778"/>
          </a:xfrm>
          <a:custGeom>
            <a:avLst/>
            <a:gdLst/>
            <a:ahLst/>
            <a:cxnLst/>
            <a:rect l="l" t="t" r="r" b="b"/>
            <a:pathLst>
              <a:path w="33449" h="1241778">
                <a:moveTo>
                  <a:pt x="33449" y="0"/>
                </a:moveTo>
                <a:lnTo>
                  <a:pt x="33449" y="0"/>
                </a:lnTo>
                <a:lnTo>
                  <a:pt x="33449" y="1241778"/>
                </a:lnTo>
                <a:lnTo>
                  <a:pt x="33449" y="1241778"/>
                </a:lnTo>
                <a:cubicBezTo>
                  <a:pt x="14975" y="1241778"/>
                  <a:pt x="0" y="1226802"/>
                  <a:pt x="0" y="1208329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652" y="4298142"/>
            <a:ext cx="211667" cy="188148"/>
          </a:xfrm>
          <a:custGeom>
            <a:avLst/>
            <a:gdLst/>
            <a:ahLst/>
            <a:cxnLst/>
            <a:rect l="l" t="t" r="r" b="b"/>
            <a:pathLst>
              <a:path w="211667" h="188148">
                <a:moveTo>
                  <a:pt x="141111" y="52917"/>
                </a:moveTo>
                <a:cubicBezTo>
                  <a:pt x="141111" y="88635"/>
                  <a:pt x="109508" y="117593"/>
                  <a:pt x="70556" y="117593"/>
                </a:cubicBezTo>
                <a:cubicBezTo>
                  <a:pt x="60744" y="117593"/>
                  <a:pt x="51410" y="115755"/>
                  <a:pt x="42921" y="112448"/>
                </a:cubicBezTo>
                <a:lnTo>
                  <a:pt x="12935" y="128323"/>
                </a:lnTo>
                <a:cubicBezTo>
                  <a:pt x="9518" y="130124"/>
                  <a:pt x="5328" y="129499"/>
                  <a:pt x="2572" y="126780"/>
                </a:cubicBezTo>
                <a:cubicBezTo>
                  <a:pt x="-184" y="124060"/>
                  <a:pt x="-808" y="119834"/>
                  <a:pt x="1029" y="116417"/>
                </a:cubicBezTo>
                <a:lnTo>
                  <a:pt x="14111" y="91722"/>
                </a:lnTo>
                <a:cubicBezTo>
                  <a:pt x="5255" y="80918"/>
                  <a:pt x="0" y="67469"/>
                  <a:pt x="0" y="52917"/>
                </a:cubicBezTo>
                <a:cubicBezTo>
                  <a:pt x="0" y="17198"/>
                  <a:pt x="31603" y="-11759"/>
                  <a:pt x="70556" y="-11759"/>
                </a:cubicBezTo>
                <a:cubicBezTo>
                  <a:pt x="109508" y="-11759"/>
                  <a:pt x="141111" y="17198"/>
                  <a:pt x="141111" y="52917"/>
                </a:cubicBezTo>
                <a:close/>
                <a:moveTo>
                  <a:pt x="141111" y="188148"/>
                </a:moveTo>
                <a:cubicBezTo>
                  <a:pt x="106532" y="188148"/>
                  <a:pt x="77758" y="165328"/>
                  <a:pt x="71731" y="135231"/>
                </a:cubicBezTo>
                <a:cubicBezTo>
                  <a:pt x="115829" y="134680"/>
                  <a:pt x="154157" y="103298"/>
                  <a:pt x="158383" y="60744"/>
                </a:cubicBezTo>
                <a:cubicBezTo>
                  <a:pt x="188993" y="67799"/>
                  <a:pt x="211667" y="93192"/>
                  <a:pt x="211667" y="123472"/>
                </a:cubicBezTo>
                <a:cubicBezTo>
                  <a:pt x="211667" y="138024"/>
                  <a:pt x="206412" y="151474"/>
                  <a:pt x="197556" y="162278"/>
                </a:cubicBezTo>
                <a:lnTo>
                  <a:pt x="210638" y="186972"/>
                </a:lnTo>
                <a:cubicBezTo>
                  <a:pt x="212438" y="190390"/>
                  <a:pt x="211814" y="194579"/>
                  <a:pt x="209094" y="197335"/>
                </a:cubicBezTo>
                <a:cubicBezTo>
                  <a:pt x="206375" y="200091"/>
                  <a:pt x="202149" y="200716"/>
                  <a:pt x="198731" y="198878"/>
                </a:cubicBezTo>
                <a:lnTo>
                  <a:pt x="168745" y="183003"/>
                </a:lnTo>
                <a:cubicBezTo>
                  <a:pt x="160257" y="186311"/>
                  <a:pt x="150923" y="188148"/>
                  <a:pt x="141111" y="188148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78" y="4260513"/>
            <a:ext cx="6237111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Debate Público Generado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7893" y="4636809"/>
            <a:ext cx="6453481" cy="489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El uso de IA generativa en publicidad generó </a:t>
            </a:r>
            <a:pPr>
              <a:lnSpc>
                <a:spcPct val="140000"/>
              </a:lnSpc>
            </a:pPr>
            <a:r>
              <a:rPr lang="en-US" sz="1185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debate público</a:t>
            </a:r>
            <a:pPr>
              <a:lnSpc>
                <a:spcPct val="140000"/>
              </a:lnSpc>
            </a:pPr>
            <a:r>
              <a:rPr lang="en-US" sz="1185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sobre el desplazamiento de creativos humanos en México, planteando preguntas sobre el futuro de la industria creativa.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52804" y="1438291"/>
            <a:ext cx="4459111" cy="4214519"/>
          </a:xfrm>
          <a:custGeom>
            <a:avLst/>
            <a:gdLst/>
            <a:ahLst/>
            <a:cxnLst/>
            <a:rect l="l" t="t" r="r" b="b"/>
            <a:pathLst>
              <a:path w="4459111" h="4214519">
                <a:moveTo>
                  <a:pt x="112907" y="0"/>
                </a:moveTo>
                <a:lnTo>
                  <a:pt x="4346204" y="0"/>
                </a:lnTo>
                <a:cubicBezTo>
                  <a:pt x="4408561" y="0"/>
                  <a:pt x="4459111" y="50550"/>
                  <a:pt x="4459111" y="112907"/>
                </a:cubicBezTo>
                <a:lnTo>
                  <a:pt x="4459111" y="4101612"/>
                </a:lnTo>
                <a:cubicBezTo>
                  <a:pt x="4459111" y="4163968"/>
                  <a:pt x="4408561" y="4214519"/>
                  <a:pt x="4346204" y="4214519"/>
                </a:cubicBezTo>
                <a:lnTo>
                  <a:pt x="112907" y="4214519"/>
                </a:lnTo>
                <a:cubicBezTo>
                  <a:pt x="50550" y="4214519"/>
                  <a:pt x="0" y="4163968"/>
                  <a:pt x="0" y="4101612"/>
                </a:cubicBezTo>
                <a:lnTo>
                  <a:pt x="0" y="112907"/>
                </a:lnTo>
                <a:cubicBezTo>
                  <a:pt x="0" y="50592"/>
                  <a:pt x="50592" y="0"/>
                  <a:pt x="112907" y="0"/>
                </a:cubicBezTo>
                <a:close/>
              </a:path>
            </a:pathLst>
          </a:custGeom>
          <a:gradFill rotWithShape="1" flip="none">
            <a:gsLst>
              <a:gs pos="0">
                <a:srgbClr val="E50914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19" name="Text 17"/>
          <p:cNvSpPr/>
          <p:nvPr/>
        </p:nvSpPr>
        <p:spPr>
          <a:xfrm>
            <a:off x="7493915" y="1626439"/>
            <a:ext cx="4176889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Implicaciones de la IA Generativa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57676" y="2040365"/>
            <a:ext cx="4071317" cy="1655704"/>
          </a:xfrm>
          <a:custGeom>
            <a:avLst/>
            <a:gdLst/>
            <a:ahLst/>
            <a:cxnLst/>
            <a:rect l="l" t="t" r="r" b="b"/>
            <a:pathLst>
              <a:path w="4071317" h="1655704">
                <a:moveTo>
                  <a:pt x="33449" y="0"/>
                </a:moveTo>
                <a:lnTo>
                  <a:pt x="3996065" y="0"/>
                </a:lnTo>
                <a:cubicBezTo>
                  <a:pt x="4037626" y="0"/>
                  <a:pt x="4071317" y="33691"/>
                  <a:pt x="4071317" y="75252"/>
                </a:cubicBezTo>
                <a:lnTo>
                  <a:pt x="4071317" y="1580452"/>
                </a:lnTo>
                <a:cubicBezTo>
                  <a:pt x="4071317" y="1622012"/>
                  <a:pt x="4037626" y="1655704"/>
                  <a:pt x="3996065" y="1655704"/>
                </a:cubicBezTo>
                <a:lnTo>
                  <a:pt x="33449" y="1655704"/>
                </a:lnTo>
                <a:cubicBezTo>
                  <a:pt x="14975" y="1655704"/>
                  <a:pt x="0" y="1640728"/>
                  <a:pt x="0" y="1622255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557676" y="2040365"/>
            <a:ext cx="33449" cy="1655704"/>
          </a:xfrm>
          <a:custGeom>
            <a:avLst/>
            <a:gdLst/>
            <a:ahLst/>
            <a:cxnLst/>
            <a:rect l="l" t="t" r="r" b="b"/>
            <a:pathLst>
              <a:path w="33449" h="1655704">
                <a:moveTo>
                  <a:pt x="33449" y="0"/>
                </a:moveTo>
                <a:lnTo>
                  <a:pt x="33449" y="0"/>
                </a:lnTo>
                <a:lnTo>
                  <a:pt x="33449" y="1655704"/>
                </a:lnTo>
                <a:lnTo>
                  <a:pt x="33449" y="1655704"/>
                </a:lnTo>
                <a:cubicBezTo>
                  <a:pt x="14975" y="1655704"/>
                  <a:pt x="0" y="1640728"/>
                  <a:pt x="0" y="1622255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2" name="Shape 20"/>
          <p:cNvSpPr/>
          <p:nvPr/>
        </p:nvSpPr>
        <p:spPr>
          <a:xfrm>
            <a:off x="7748437" y="2228513"/>
            <a:ext cx="188148" cy="188148"/>
          </a:xfrm>
          <a:custGeom>
            <a:avLst/>
            <a:gdLst/>
            <a:ahLst/>
            <a:cxnLst/>
            <a:rect l="l" t="t" r="r" b="b"/>
            <a:pathLst>
              <a:path w="188148" h="188148">
                <a:moveTo>
                  <a:pt x="47037" y="117593"/>
                </a:moveTo>
                <a:lnTo>
                  <a:pt x="9003" y="117593"/>
                </a:lnTo>
                <a:cubicBezTo>
                  <a:pt x="-147" y="117593"/>
                  <a:pt x="-5769" y="107634"/>
                  <a:pt x="-1066" y="99770"/>
                </a:cubicBezTo>
                <a:lnTo>
                  <a:pt x="18374" y="67359"/>
                </a:lnTo>
                <a:cubicBezTo>
                  <a:pt x="21571" y="62030"/>
                  <a:pt x="27304" y="58796"/>
                  <a:pt x="33514" y="58796"/>
                </a:cubicBezTo>
                <a:lnTo>
                  <a:pt x="68424" y="58796"/>
                </a:lnTo>
                <a:cubicBezTo>
                  <a:pt x="96389" y="11429"/>
                  <a:pt x="138098" y="9040"/>
                  <a:pt x="165989" y="13119"/>
                </a:cubicBezTo>
                <a:cubicBezTo>
                  <a:pt x="170693" y="13817"/>
                  <a:pt x="174368" y="17492"/>
                  <a:pt x="175029" y="22159"/>
                </a:cubicBezTo>
                <a:cubicBezTo>
                  <a:pt x="179108" y="50050"/>
                  <a:pt x="176720" y="91759"/>
                  <a:pt x="129352" y="119724"/>
                </a:cubicBezTo>
                <a:lnTo>
                  <a:pt x="129352" y="154634"/>
                </a:lnTo>
                <a:cubicBezTo>
                  <a:pt x="129352" y="160845"/>
                  <a:pt x="126118" y="166577"/>
                  <a:pt x="120790" y="169774"/>
                </a:cubicBezTo>
                <a:lnTo>
                  <a:pt x="88378" y="189214"/>
                </a:lnTo>
                <a:cubicBezTo>
                  <a:pt x="80551" y="193918"/>
                  <a:pt x="70556" y="188258"/>
                  <a:pt x="70556" y="179145"/>
                </a:cubicBezTo>
                <a:lnTo>
                  <a:pt x="70556" y="141111"/>
                </a:lnTo>
                <a:cubicBezTo>
                  <a:pt x="70556" y="128139"/>
                  <a:pt x="60009" y="117593"/>
                  <a:pt x="47037" y="117593"/>
                </a:cubicBezTo>
                <a:lnTo>
                  <a:pt x="47000" y="117593"/>
                </a:lnTo>
                <a:close/>
                <a:moveTo>
                  <a:pt x="146991" y="58796"/>
                </a:moveTo>
                <a:cubicBezTo>
                  <a:pt x="146991" y="49061"/>
                  <a:pt x="139087" y="41157"/>
                  <a:pt x="129352" y="41157"/>
                </a:cubicBezTo>
                <a:cubicBezTo>
                  <a:pt x="119617" y="41157"/>
                  <a:pt x="111713" y="49061"/>
                  <a:pt x="111713" y="58796"/>
                </a:cubicBezTo>
                <a:cubicBezTo>
                  <a:pt x="111713" y="68531"/>
                  <a:pt x="119617" y="76435"/>
                  <a:pt x="129352" y="76435"/>
                </a:cubicBezTo>
                <a:cubicBezTo>
                  <a:pt x="139087" y="76435"/>
                  <a:pt x="146991" y="68531"/>
                  <a:pt x="146991" y="58796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3" name="Text 21"/>
          <p:cNvSpPr/>
          <p:nvPr/>
        </p:nvSpPr>
        <p:spPr>
          <a:xfrm>
            <a:off x="8072993" y="2190883"/>
            <a:ext cx="818444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Ventajas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24919" y="2529550"/>
            <a:ext cx="382881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Velocidad de producción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24919" y="2792957"/>
            <a:ext cx="382881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Reducción de costos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24919" y="3056365"/>
            <a:ext cx="382881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Creatividad ilimitada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24919" y="3319772"/>
            <a:ext cx="382881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Personalización masiva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57676" y="3808957"/>
            <a:ext cx="4071317" cy="1655704"/>
          </a:xfrm>
          <a:custGeom>
            <a:avLst/>
            <a:gdLst/>
            <a:ahLst/>
            <a:cxnLst/>
            <a:rect l="l" t="t" r="r" b="b"/>
            <a:pathLst>
              <a:path w="4071317" h="1655704">
                <a:moveTo>
                  <a:pt x="33449" y="0"/>
                </a:moveTo>
                <a:lnTo>
                  <a:pt x="3996065" y="0"/>
                </a:lnTo>
                <a:cubicBezTo>
                  <a:pt x="4037626" y="0"/>
                  <a:pt x="4071317" y="33691"/>
                  <a:pt x="4071317" y="75252"/>
                </a:cubicBezTo>
                <a:lnTo>
                  <a:pt x="4071317" y="1580452"/>
                </a:lnTo>
                <a:cubicBezTo>
                  <a:pt x="4071317" y="1622012"/>
                  <a:pt x="4037626" y="1655704"/>
                  <a:pt x="3996065" y="1655704"/>
                </a:cubicBezTo>
                <a:lnTo>
                  <a:pt x="33449" y="1655704"/>
                </a:lnTo>
                <a:cubicBezTo>
                  <a:pt x="14975" y="1655704"/>
                  <a:pt x="0" y="1640728"/>
                  <a:pt x="0" y="1622255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57676" y="3808957"/>
            <a:ext cx="33449" cy="1655704"/>
          </a:xfrm>
          <a:custGeom>
            <a:avLst/>
            <a:gdLst/>
            <a:ahLst/>
            <a:cxnLst/>
            <a:rect l="l" t="t" r="r" b="b"/>
            <a:pathLst>
              <a:path w="33449" h="1655704">
                <a:moveTo>
                  <a:pt x="33449" y="0"/>
                </a:moveTo>
                <a:lnTo>
                  <a:pt x="33449" y="0"/>
                </a:lnTo>
                <a:lnTo>
                  <a:pt x="33449" y="1655704"/>
                </a:lnTo>
                <a:lnTo>
                  <a:pt x="33449" y="1655704"/>
                </a:lnTo>
                <a:cubicBezTo>
                  <a:pt x="14975" y="1655704"/>
                  <a:pt x="0" y="1640728"/>
                  <a:pt x="0" y="1622255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0" name="Shape 28"/>
          <p:cNvSpPr/>
          <p:nvPr/>
        </p:nvSpPr>
        <p:spPr>
          <a:xfrm>
            <a:off x="7748437" y="3997105"/>
            <a:ext cx="188148" cy="188148"/>
          </a:xfrm>
          <a:custGeom>
            <a:avLst/>
            <a:gdLst/>
            <a:ahLst/>
            <a:cxnLst/>
            <a:rect l="l" t="t" r="r" b="b"/>
            <a:pathLst>
              <a:path w="188148" h="188148">
                <a:moveTo>
                  <a:pt x="94074" y="188148"/>
                </a:moveTo>
                <a:cubicBezTo>
                  <a:pt x="145995" y="188148"/>
                  <a:pt x="188148" y="145995"/>
                  <a:pt x="188148" y="94074"/>
                </a:cubicBezTo>
                <a:cubicBezTo>
                  <a:pt x="188148" y="42153"/>
                  <a:pt x="145995" y="0"/>
                  <a:pt x="94074" y="0"/>
                </a:cubicBezTo>
                <a:cubicBezTo>
                  <a:pt x="42153" y="0"/>
                  <a:pt x="0" y="42153"/>
                  <a:pt x="0" y="94074"/>
                </a:cubicBezTo>
                <a:cubicBezTo>
                  <a:pt x="0" y="145995"/>
                  <a:pt x="42153" y="188148"/>
                  <a:pt x="94074" y="188148"/>
                </a:cubicBezTo>
                <a:close/>
                <a:moveTo>
                  <a:pt x="94074" y="49977"/>
                </a:moveTo>
                <a:cubicBezTo>
                  <a:pt x="98962" y="49977"/>
                  <a:pt x="102894" y="53909"/>
                  <a:pt x="102894" y="58796"/>
                </a:cubicBezTo>
                <a:lnTo>
                  <a:pt x="102894" y="99954"/>
                </a:lnTo>
                <a:cubicBezTo>
                  <a:pt x="102894" y="104841"/>
                  <a:pt x="98962" y="108773"/>
                  <a:pt x="94074" y="108773"/>
                </a:cubicBezTo>
                <a:cubicBezTo>
                  <a:pt x="89187" y="108773"/>
                  <a:pt x="85255" y="104841"/>
                  <a:pt x="85255" y="99954"/>
                </a:cubicBezTo>
                <a:lnTo>
                  <a:pt x="85255" y="58796"/>
                </a:lnTo>
                <a:cubicBezTo>
                  <a:pt x="85255" y="53909"/>
                  <a:pt x="89187" y="49977"/>
                  <a:pt x="94074" y="49977"/>
                </a:cubicBezTo>
                <a:close/>
                <a:moveTo>
                  <a:pt x="84262" y="129352"/>
                </a:moveTo>
                <a:cubicBezTo>
                  <a:pt x="84039" y="125710"/>
                  <a:pt x="85855" y="122245"/>
                  <a:pt x="88978" y="120356"/>
                </a:cubicBezTo>
                <a:cubicBezTo>
                  <a:pt x="92100" y="118468"/>
                  <a:pt x="96012" y="118468"/>
                  <a:pt x="99134" y="120356"/>
                </a:cubicBezTo>
                <a:cubicBezTo>
                  <a:pt x="102256" y="122245"/>
                  <a:pt x="104072" y="125710"/>
                  <a:pt x="103849" y="129352"/>
                </a:cubicBezTo>
                <a:cubicBezTo>
                  <a:pt x="104072" y="132994"/>
                  <a:pt x="102256" y="136459"/>
                  <a:pt x="99134" y="138347"/>
                </a:cubicBezTo>
                <a:cubicBezTo>
                  <a:pt x="96012" y="140236"/>
                  <a:pt x="92100" y="140236"/>
                  <a:pt x="88978" y="138347"/>
                </a:cubicBezTo>
                <a:cubicBezTo>
                  <a:pt x="85855" y="136459"/>
                  <a:pt x="84039" y="132994"/>
                  <a:pt x="84262" y="129352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1" name="Text 29"/>
          <p:cNvSpPr/>
          <p:nvPr/>
        </p:nvSpPr>
        <p:spPr>
          <a:xfrm>
            <a:off x="8072993" y="3959476"/>
            <a:ext cx="780815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Desafíos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24919" y="4298142"/>
            <a:ext cx="382881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Desplazamiento laboral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24919" y="4561550"/>
            <a:ext cx="382881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Ética creativa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24919" y="4824957"/>
            <a:ext cx="382881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Autenticidad de marca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24919" y="5088365"/>
            <a:ext cx="382881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• Regulación pendiente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56985" y="5807509"/>
            <a:ext cx="4458066" cy="1043177"/>
          </a:xfrm>
          <a:custGeom>
            <a:avLst/>
            <a:gdLst/>
            <a:ahLst/>
            <a:cxnLst/>
            <a:rect l="l" t="t" r="r" b="b"/>
            <a:pathLst>
              <a:path w="4458066" h="1043177">
                <a:moveTo>
                  <a:pt x="112893" y="0"/>
                </a:moveTo>
                <a:lnTo>
                  <a:pt x="4345173" y="0"/>
                </a:lnTo>
                <a:cubicBezTo>
                  <a:pt x="4407522" y="0"/>
                  <a:pt x="4458066" y="50544"/>
                  <a:pt x="4458066" y="112893"/>
                </a:cubicBezTo>
                <a:lnTo>
                  <a:pt x="4458066" y="930284"/>
                </a:lnTo>
                <a:cubicBezTo>
                  <a:pt x="4458066" y="992633"/>
                  <a:pt x="4407522" y="1043177"/>
                  <a:pt x="4345173" y="1043177"/>
                </a:cubicBezTo>
                <a:lnTo>
                  <a:pt x="112893" y="1043177"/>
                </a:lnTo>
                <a:cubicBezTo>
                  <a:pt x="50544" y="1043177"/>
                  <a:pt x="0" y="992633"/>
                  <a:pt x="0" y="930284"/>
                </a:cubicBezTo>
                <a:lnTo>
                  <a:pt x="0" y="112893"/>
                </a:lnTo>
                <a:cubicBezTo>
                  <a:pt x="0" y="50544"/>
                  <a:pt x="50544" y="0"/>
                  <a:pt x="112893" y="0"/>
                </a:cubicBezTo>
                <a:close/>
              </a:path>
            </a:pathLst>
          </a:custGeom>
          <a:solidFill>
            <a:srgbClr val="F5C518">
              <a:alpha val="10196"/>
            </a:srgbClr>
          </a:solidFill>
          <a:ln w="11289">
            <a:solidFill>
              <a:srgbClr val="F5C518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30499" y="6004016"/>
            <a:ext cx="150519" cy="150519"/>
          </a:xfrm>
          <a:custGeom>
            <a:avLst/>
            <a:gdLst/>
            <a:ahLst/>
            <a:cxnLst/>
            <a:rect l="l" t="t" r="r" b="b"/>
            <a:pathLst>
              <a:path w="150519" h="150519">
                <a:moveTo>
                  <a:pt x="75259" y="150519"/>
                </a:moveTo>
                <a:cubicBezTo>
                  <a:pt x="116796" y="150519"/>
                  <a:pt x="150519" y="116796"/>
                  <a:pt x="150519" y="75259"/>
                </a:cubicBezTo>
                <a:cubicBezTo>
                  <a:pt x="150519" y="33723"/>
                  <a:pt x="116796" y="0"/>
                  <a:pt x="75259" y="0"/>
                </a:cubicBezTo>
                <a:cubicBezTo>
                  <a:pt x="33723" y="0"/>
                  <a:pt x="0" y="33723"/>
                  <a:pt x="0" y="75259"/>
                </a:cubicBezTo>
                <a:cubicBezTo>
                  <a:pt x="0" y="116796"/>
                  <a:pt x="33723" y="150519"/>
                  <a:pt x="75259" y="150519"/>
                </a:cubicBezTo>
                <a:close/>
                <a:moveTo>
                  <a:pt x="65852" y="47037"/>
                </a:moveTo>
                <a:cubicBezTo>
                  <a:pt x="65852" y="41845"/>
                  <a:pt x="70067" y="37630"/>
                  <a:pt x="75259" y="37630"/>
                </a:cubicBezTo>
                <a:cubicBezTo>
                  <a:pt x="80451" y="37630"/>
                  <a:pt x="84667" y="41845"/>
                  <a:pt x="84667" y="47037"/>
                </a:cubicBezTo>
                <a:cubicBezTo>
                  <a:pt x="84667" y="52229"/>
                  <a:pt x="80451" y="56444"/>
                  <a:pt x="75259" y="56444"/>
                </a:cubicBezTo>
                <a:cubicBezTo>
                  <a:pt x="70067" y="56444"/>
                  <a:pt x="65852" y="52229"/>
                  <a:pt x="65852" y="47037"/>
                </a:cubicBezTo>
                <a:close/>
                <a:moveTo>
                  <a:pt x="63500" y="65852"/>
                </a:moveTo>
                <a:lnTo>
                  <a:pt x="77611" y="65852"/>
                </a:lnTo>
                <a:cubicBezTo>
                  <a:pt x="81521" y="65852"/>
                  <a:pt x="84667" y="68997"/>
                  <a:pt x="84667" y="72907"/>
                </a:cubicBezTo>
                <a:lnTo>
                  <a:pt x="84667" y="98778"/>
                </a:lnTo>
                <a:lnTo>
                  <a:pt x="87019" y="98778"/>
                </a:lnTo>
                <a:cubicBezTo>
                  <a:pt x="90928" y="98778"/>
                  <a:pt x="94074" y="101923"/>
                  <a:pt x="94074" y="105833"/>
                </a:cubicBezTo>
                <a:cubicBezTo>
                  <a:pt x="94074" y="109743"/>
                  <a:pt x="90928" y="112889"/>
                  <a:pt x="87019" y="112889"/>
                </a:cubicBezTo>
                <a:lnTo>
                  <a:pt x="63500" y="112889"/>
                </a:lnTo>
                <a:cubicBezTo>
                  <a:pt x="59590" y="112889"/>
                  <a:pt x="56444" y="109743"/>
                  <a:pt x="56444" y="105833"/>
                </a:cubicBezTo>
                <a:cubicBezTo>
                  <a:pt x="56444" y="101923"/>
                  <a:pt x="59590" y="98778"/>
                  <a:pt x="63500" y="98778"/>
                </a:cubicBezTo>
                <a:lnTo>
                  <a:pt x="70556" y="98778"/>
                </a:lnTo>
                <a:lnTo>
                  <a:pt x="70556" y="79963"/>
                </a:lnTo>
                <a:lnTo>
                  <a:pt x="63500" y="79963"/>
                </a:lnTo>
                <a:cubicBezTo>
                  <a:pt x="59590" y="79963"/>
                  <a:pt x="56444" y="76817"/>
                  <a:pt x="56444" y="72907"/>
                </a:cubicBezTo>
                <a:cubicBezTo>
                  <a:pt x="56444" y="68997"/>
                  <a:pt x="59590" y="65852"/>
                  <a:pt x="63500" y="65852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38" name="Text 36"/>
          <p:cNvSpPr/>
          <p:nvPr/>
        </p:nvSpPr>
        <p:spPr>
          <a:xfrm>
            <a:off x="7755580" y="5962206"/>
            <a:ext cx="3980030" cy="73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Contexto Industrial:</a:t>
            </a:r>
            <a:pPr>
              <a:lnSpc>
                <a:spcPct val="140000"/>
              </a:lnSpc>
            </a:pPr>
            <a:r>
              <a:rPr lang="en-US" sz="1185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La industria audiovisual experimenta un crecimiento acelerado donde el </a:t>
            </a:r>
            <a:pPr>
              <a:lnSpc>
                <a:spcPct val="140000"/>
              </a:lnSpc>
            </a:pPr>
            <a:r>
              <a:rPr lang="en-US" sz="1185" b="1" dirty="0">
                <a:solidFill>
                  <a:srgbClr val="F5C51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85% del contenido en internet será audiovisual</a:t>
            </a:r>
            <a:pPr>
              <a:lnSpc>
                <a:spcPct val="140000"/>
              </a:lnSpc>
            </a:pPr>
            <a:r>
              <a:rPr lang="en-US" sz="1185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2514600" cy="390525"/>
          </a:xfrm>
          <a:custGeom>
            <a:avLst/>
            <a:gdLst/>
            <a:ahLst/>
            <a:cxnLst/>
            <a:rect l="l" t="t" r="r" b="b"/>
            <a:pathLst>
              <a:path w="2514600" h="390525">
                <a:moveTo>
                  <a:pt x="76199" y="0"/>
                </a:moveTo>
                <a:lnTo>
                  <a:pt x="2438401" y="0"/>
                </a:lnTo>
                <a:cubicBezTo>
                  <a:pt x="2480484" y="0"/>
                  <a:pt x="2514600" y="34116"/>
                  <a:pt x="2514600" y="76199"/>
                </a:cubicBezTo>
                <a:lnTo>
                  <a:pt x="2514600" y="314326"/>
                </a:lnTo>
                <a:cubicBezTo>
                  <a:pt x="2514600" y="356409"/>
                  <a:pt x="2480484" y="390525"/>
                  <a:pt x="24384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99532"/>
            <a:ext cx="228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09. IMPACTO ESTRATÉGICO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84769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Conexión entre Tecnologías y Objetivos Estratégicos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56269"/>
            <a:ext cx="11430000" cy="3028950"/>
          </a:xfrm>
          <a:custGeom>
            <a:avLst/>
            <a:gdLst/>
            <a:ahLst/>
            <a:cxnLst/>
            <a:rect l="l" t="t" r="r" b="b"/>
            <a:pathLst>
              <a:path w="11430000" h="3028950">
                <a:moveTo>
                  <a:pt x="114313" y="0"/>
                </a:moveTo>
                <a:lnTo>
                  <a:pt x="11315687" y="0"/>
                </a:lnTo>
                <a:cubicBezTo>
                  <a:pt x="11378821" y="0"/>
                  <a:pt x="11430000" y="51179"/>
                  <a:pt x="11430000" y="114313"/>
                </a:cubicBezTo>
                <a:lnTo>
                  <a:pt x="11430000" y="2914637"/>
                </a:lnTo>
                <a:cubicBezTo>
                  <a:pt x="11430000" y="2977771"/>
                  <a:pt x="11378821" y="3028950"/>
                  <a:pt x="11315687" y="3028950"/>
                </a:cubicBezTo>
                <a:lnTo>
                  <a:pt x="114313" y="3028950"/>
                </a:lnTo>
                <a:cubicBezTo>
                  <a:pt x="51179" y="3028950"/>
                  <a:pt x="0" y="2977771"/>
                  <a:pt x="0" y="2914637"/>
                </a:cubicBezTo>
                <a:lnTo>
                  <a:pt x="0" y="114313"/>
                </a:lnTo>
                <a:cubicBezTo>
                  <a:pt x="0" y="51179"/>
                  <a:pt x="51179" y="0"/>
                  <a:pt x="11431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1608669"/>
          <a:ext cx="11125200" cy="3378200"/>
        </p:xfrm>
        <a:graphic>
          <a:graphicData uri="http://schemas.openxmlformats.org/drawingml/2006/table">
            <a:tbl>
              <a:tblPr/>
              <a:tblGrid>
                <a:gridCol w="3124200"/>
                <a:gridCol w="3343275"/>
                <a:gridCol w="4657725"/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Objetivo Estratégico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E50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Tecnología IT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E50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Resultado Documentado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E50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1D5D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Expansión Internacional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1D5D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AWS Global + KLIC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 países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    con infraestructura digital centralizada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1D5D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Aumentar Ingresos Dulcería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1D5D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IoT + IA + Venta Móvil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Disponibilidad garantizada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    ; venta digital creciente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1D5D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Fidelización del Cliente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1D5D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Club Digital + Base de Datos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Máximo histórico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    de socios activos en 9 meses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1D5D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Reducción de Costos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1D5D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Chatbot (91%) + Mant. Predictivo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Recursos liberados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    hacia tareas de mayor valor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1D5D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Competir vs Streaming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1D5D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KLIC sobre AWS con Escalabilidad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Crecimiento 6x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    proyectado; complementariedad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1D5D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Omnicanalidad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1D5D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App + Web + Kioscos + Call Center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20% boletos digitales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    con meta de 35%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81000" y="4639735"/>
            <a:ext cx="3705225" cy="1257300"/>
          </a:xfrm>
          <a:custGeom>
            <a:avLst/>
            <a:gdLst/>
            <a:ahLst/>
            <a:cxnLst/>
            <a:rect l="l" t="t" r="r" b="b"/>
            <a:pathLst>
              <a:path w="3705225" h="1257300">
                <a:moveTo>
                  <a:pt x="114301" y="0"/>
                </a:moveTo>
                <a:lnTo>
                  <a:pt x="3590924" y="0"/>
                </a:lnTo>
                <a:cubicBezTo>
                  <a:pt x="3654008" y="0"/>
                  <a:pt x="3705225" y="51217"/>
                  <a:pt x="3705225" y="114301"/>
                </a:cubicBezTo>
                <a:lnTo>
                  <a:pt x="3705225" y="1142999"/>
                </a:lnTo>
                <a:cubicBezTo>
                  <a:pt x="3705225" y="1206083"/>
                  <a:pt x="3654008" y="1257300"/>
                  <a:pt x="359092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E50914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2063750" y="479213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6642" y="0"/>
                </a:moveTo>
                <a:lnTo>
                  <a:pt x="246660" y="0"/>
                </a:lnTo>
                <a:cubicBezTo>
                  <a:pt x="264408" y="0"/>
                  <a:pt x="278874" y="14600"/>
                  <a:pt x="278204" y="32281"/>
                </a:cubicBezTo>
                <a:cubicBezTo>
                  <a:pt x="278070" y="35830"/>
                  <a:pt x="277937" y="39380"/>
                  <a:pt x="277736" y="42863"/>
                </a:cubicBezTo>
                <a:lnTo>
                  <a:pt x="310954" y="42863"/>
                </a:lnTo>
                <a:cubicBezTo>
                  <a:pt x="328434" y="42863"/>
                  <a:pt x="343838" y="57329"/>
                  <a:pt x="342498" y="76215"/>
                </a:cubicBezTo>
                <a:cubicBezTo>
                  <a:pt x="337475" y="145666"/>
                  <a:pt x="301980" y="183840"/>
                  <a:pt x="263470" y="203798"/>
                </a:cubicBezTo>
                <a:cubicBezTo>
                  <a:pt x="252889" y="209290"/>
                  <a:pt x="242106" y="213375"/>
                  <a:pt x="231859" y="216389"/>
                </a:cubicBezTo>
                <a:cubicBezTo>
                  <a:pt x="218331" y="235543"/>
                  <a:pt x="204267" y="245656"/>
                  <a:pt x="193082" y="251080"/>
                </a:cubicBezTo>
                <a:lnTo>
                  <a:pt x="193082" y="300038"/>
                </a:lnTo>
                <a:lnTo>
                  <a:pt x="235945" y="300038"/>
                </a:lnTo>
                <a:cubicBezTo>
                  <a:pt x="247799" y="300038"/>
                  <a:pt x="257376" y="309615"/>
                  <a:pt x="257376" y="321469"/>
                </a:cubicBezTo>
                <a:cubicBezTo>
                  <a:pt x="257376" y="333323"/>
                  <a:pt x="247799" y="342900"/>
                  <a:pt x="235945" y="342900"/>
                </a:cubicBezTo>
                <a:lnTo>
                  <a:pt x="107357" y="342900"/>
                </a:lnTo>
                <a:cubicBezTo>
                  <a:pt x="95503" y="342900"/>
                  <a:pt x="85926" y="333323"/>
                  <a:pt x="85926" y="321469"/>
                </a:cubicBezTo>
                <a:cubicBezTo>
                  <a:pt x="85926" y="309615"/>
                  <a:pt x="95503" y="300038"/>
                  <a:pt x="107357" y="300038"/>
                </a:cubicBezTo>
                <a:lnTo>
                  <a:pt x="150220" y="300038"/>
                </a:lnTo>
                <a:lnTo>
                  <a:pt x="150220" y="251080"/>
                </a:lnTo>
                <a:cubicBezTo>
                  <a:pt x="139504" y="245924"/>
                  <a:pt x="126176" y="236347"/>
                  <a:pt x="113184" y="218733"/>
                </a:cubicBezTo>
                <a:cubicBezTo>
                  <a:pt x="100861" y="215518"/>
                  <a:pt x="87466" y="210629"/>
                  <a:pt x="74407" y="203262"/>
                </a:cubicBezTo>
                <a:cubicBezTo>
                  <a:pt x="38174" y="182969"/>
                  <a:pt x="5492" y="144728"/>
                  <a:pt x="804" y="76081"/>
                </a:cubicBezTo>
                <a:cubicBezTo>
                  <a:pt x="-469" y="57262"/>
                  <a:pt x="14868" y="42796"/>
                  <a:pt x="32348" y="42796"/>
                </a:cubicBezTo>
                <a:lnTo>
                  <a:pt x="65566" y="42796"/>
                </a:lnTo>
                <a:cubicBezTo>
                  <a:pt x="65365" y="39313"/>
                  <a:pt x="65231" y="35830"/>
                  <a:pt x="65097" y="32214"/>
                </a:cubicBezTo>
                <a:cubicBezTo>
                  <a:pt x="64428" y="14466"/>
                  <a:pt x="78894" y="-67"/>
                  <a:pt x="96642" y="-67"/>
                </a:cubicBezTo>
                <a:close/>
                <a:moveTo>
                  <a:pt x="67977" y="75009"/>
                </a:moveTo>
                <a:lnTo>
                  <a:pt x="32884" y="75009"/>
                </a:lnTo>
                <a:cubicBezTo>
                  <a:pt x="37036" y="131735"/>
                  <a:pt x="63088" y="160132"/>
                  <a:pt x="89944" y="175200"/>
                </a:cubicBezTo>
                <a:cubicBezTo>
                  <a:pt x="80300" y="150220"/>
                  <a:pt x="72330" y="117604"/>
                  <a:pt x="67977" y="75009"/>
                </a:cubicBezTo>
                <a:close/>
                <a:moveTo>
                  <a:pt x="254496" y="171986"/>
                </a:moveTo>
                <a:cubicBezTo>
                  <a:pt x="281620" y="156046"/>
                  <a:pt x="306132" y="127717"/>
                  <a:pt x="310284" y="75009"/>
                </a:cubicBezTo>
                <a:lnTo>
                  <a:pt x="275258" y="75009"/>
                </a:lnTo>
                <a:cubicBezTo>
                  <a:pt x="271105" y="115796"/>
                  <a:pt x="263604" y="147474"/>
                  <a:pt x="254496" y="171986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9" name="Text 6"/>
          <p:cNvSpPr/>
          <p:nvPr/>
        </p:nvSpPr>
        <p:spPr>
          <a:xfrm>
            <a:off x="485775" y="5211235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+25 Años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5300" y="5516035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 evolución digital continua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41800" y="4639735"/>
            <a:ext cx="3705225" cy="1257300"/>
          </a:xfrm>
          <a:custGeom>
            <a:avLst/>
            <a:gdLst/>
            <a:ahLst/>
            <a:cxnLst/>
            <a:rect l="l" t="t" r="r" b="b"/>
            <a:pathLst>
              <a:path w="3705225" h="1257300">
                <a:moveTo>
                  <a:pt x="114301" y="0"/>
                </a:moveTo>
                <a:lnTo>
                  <a:pt x="3590924" y="0"/>
                </a:lnTo>
                <a:cubicBezTo>
                  <a:pt x="3654008" y="0"/>
                  <a:pt x="3705225" y="51217"/>
                  <a:pt x="3705225" y="114301"/>
                </a:cubicBezTo>
                <a:lnTo>
                  <a:pt x="3705225" y="1142999"/>
                </a:lnTo>
                <a:cubicBezTo>
                  <a:pt x="3705225" y="1206083"/>
                  <a:pt x="3654008" y="1257300"/>
                  <a:pt x="359092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E50914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12" name="Shape 9"/>
          <p:cNvSpPr/>
          <p:nvPr/>
        </p:nvSpPr>
        <p:spPr>
          <a:xfrm>
            <a:off x="5881688" y="4792135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14313" y="10716"/>
                </a:moveTo>
                <a:cubicBezTo>
                  <a:pt x="252754" y="10716"/>
                  <a:pt x="283964" y="41925"/>
                  <a:pt x="283964" y="80367"/>
                </a:cubicBezTo>
                <a:cubicBezTo>
                  <a:pt x="283964" y="118809"/>
                  <a:pt x="252754" y="150019"/>
                  <a:pt x="214313" y="150019"/>
                </a:cubicBezTo>
                <a:cubicBezTo>
                  <a:pt x="175871" y="150019"/>
                  <a:pt x="144661" y="118809"/>
                  <a:pt x="144661" y="80367"/>
                </a:cubicBezTo>
                <a:cubicBezTo>
                  <a:pt x="144661" y="41925"/>
                  <a:pt x="175871" y="10716"/>
                  <a:pt x="214313" y="10716"/>
                </a:cubicBezTo>
                <a:close/>
                <a:moveTo>
                  <a:pt x="64294" y="58936"/>
                </a:moveTo>
                <a:cubicBezTo>
                  <a:pt x="90907" y="58936"/>
                  <a:pt x="112514" y="80543"/>
                  <a:pt x="112514" y="107156"/>
                </a:cubicBezTo>
                <a:cubicBezTo>
                  <a:pt x="112514" y="133770"/>
                  <a:pt x="90907" y="155377"/>
                  <a:pt x="64294" y="155377"/>
                </a:cubicBezTo>
                <a:cubicBezTo>
                  <a:pt x="37680" y="155377"/>
                  <a:pt x="16073" y="133770"/>
                  <a:pt x="16073" y="107156"/>
                </a:cubicBezTo>
                <a:cubicBezTo>
                  <a:pt x="16073" y="80543"/>
                  <a:pt x="37680" y="58936"/>
                  <a:pt x="64294" y="58936"/>
                </a:cubicBezTo>
                <a:close/>
                <a:moveTo>
                  <a:pt x="0" y="278606"/>
                </a:moveTo>
                <a:cubicBezTo>
                  <a:pt x="0" y="231257"/>
                  <a:pt x="38375" y="192881"/>
                  <a:pt x="85725" y="192881"/>
                </a:cubicBezTo>
                <a:cubicBezTo>
                  <a:pt x="94298" y="192881"/>
                  <a:pt x="102602" y="194154"/>
                  <a:pt x="110438" y="196498"/>
                </a:cubicBezTo>
                <a:cubicBezTo>
                  <a:pt x="88404" y="221144"/>
                  <a:pt x="75009" y="253692"/>
                  <a:pt x="75009" y="289322"/>
                </a:cubicBezTo>
                <a:lnTo>
                  <a:pt x="75009" y="300038"/>
                </a:lnTo>
                <a:cubicBezTo>
                  <a:pt x="75009" y="307672"/>
                  <a:pt x="76617" y="314905"/>
                  <a:pt x="79497" y="321469"/>
                </a:cubicBezTo>
                <a:lnTo>
                  <a:pt x="21431" y="321469"/>
                </a:lnTo>
                <a:cubicBezTo>
                  <a:pt x="9577" y="321469"/>
                  <a:pt x="0" y="311892"/>
                  <a:pt x="0" y="300038"/>
                </a:cubicBezTo>
                <a:lnTo>
                  <a:pt x="0" y="278606"/>
                </a:lnTo>
                <a:close/>
                <a:moveTo>
                  <a:pt x="349128" y="321469"/>
                </a:moveTo>
                <a:cubicBezTo>
                  <a:pt x="352008" y="314905"/>
                  <a:pt x="353616" y="307672"/>
                  <a:pt x="353616" y="300038"/>
                </a:cubicBezTo>
                <a:lnTo>
                  <a:pt x="353616" y="289322"/>
                </a:lnTo>
                <a:cubicBezTo>
                  <a:pt x="353616" y="253692"/>
                  <a:pt x="340221" y="221144"/>
                  <a:pt x="318187" y="196498"/>
                </a:cubicBezTo>
                <a:cubicBezTo>
                  <a:pt x="326023" y="194154"/>
                  <a:pt x="334328" y="192881"/>
                  <a:pt x="342900" y="192881"/>
                </a:cubicBezTo>
                <a:cubicBezTo>
                  <a:pt x="390250" y="192881"/>
                  <a:pt x="428625" y="231257"/>
                  <a:pt x="428625" y="278606"/>
                </a:cubicBezTo>
                <a:lnTo>
                  <a:pt x="428625" y="300038"/>
                </a:lnTo>
                <a:cubicBezTo>
                  <a:pt x="428625" y="311892"/>
                  <a:pt x="419048" y="321469"/>
                  <a:pt x="407194" y="321469"/>
                </a:cubicBezTo>
                <a:lnTo>
                  <a:pt x="349128" y="321469"/>
                </a:lnTo>
                <a:close/>
                <a:moveTo>
                  <a:pt x="316111" y="107156"/>
                </a:moveTo>
                <a:cubicBezTo>
                  <a:pt x="316111" y="80543"/>
                  <a:pt x="337718" y="58936"/>
                  <a:pt x="364331" y="58936"/>
                </a:cubicBezTo>
                <a:cubicBezTo>
                  <a:pt x="390945" y="58936"/>
                  <a:pt x="412552" y="80543"/>
                  <a:pt x="412552" y="107156"/>
                </a:cubicBezTo>
                <a:cubicBezTo>
                  <a:pt x="412552" y="133770"/>
                  <a:pt x="390945" y="155377"/>
                  <a:pt x="364331" y="155377"/>
                </a:cubicBezTo>
                <a:cubicBezTo>
                  <a:pt x="337718" y="155377"/>
                  <a:pt x="316111" y="133770"/>
                  <a:pt x="316111" y="107156"/>
                </a:cubicBezTo>
                <a:close/>
                <a:moveTo>
                  <a:pt x="107156" y="289322"/>
                </a:moveTo>
                <a:cubicBezTo>
                  <a:pt x="107156" y="230118"/>
                  <a:pt x="155109" y="182166"/>
                  <a:pt x="214313" y="182166"/>
                </a:cubicBezTo>
                <a:cubicBezTo>
                  <a:pt x="273516" y="182166"/>
                  <a:pt x="321469" y="230118"/>
                  <a:pt x="321469" y="289322"/>
                </a:cubicBezTo>
                <a:lnTo>
                  <a:pt x="321469" y="300038"/>
                </a:lnTo>
                <a:cubicBezTo>
                  <a:pt x="321469" y="311892"/>
                  <a:pt x="311892" y="321469"/>
                  <a:pt x="300038" y="321469"/>
                </a:cubicBezTo>
                <a:lnTo>
                  <a:pt x="128588" y="321469"/>
                </a:lnTo>
                <a:cubicBezTo>
                  <a:pt x="116733" y="321469"/>
                  <a:pt x="107156" y="311892"/>
                  <a:pt x="107156" y="300038"/>
                </a:cubicBezTo>
                <a:lnTo>
                  <a:pt x="107156" y="289322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3" name="Text 10"/>
          <p:cNvSpPr/>
          <p:nvPr/>
        </p:nvSpPr>
        <p:spPr>
          <a:xfrm>
            <a:off x="4346575" y="5211235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19 Países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56100" y="5516035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con presencia internacional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02600" y="4639735"/>
            <a:ext cx="3705225" cy="1257300"/>
          </a:xfrm>
          <a:custGeom>
            <a:avLst/>
            <a:gdLst/>
            <a:ahLst/>
            <a:cxnLst/>
            <a:rect l="l" t="t" r="r" b="b"/>
            <a:pathLst>
              <a:path w="3705225" h="1257300">
                <a:moveTo>
                  <a:pt x="114301" y="0"/>
                </a:moveTo>
                <a:lnTo>
                  <a:pt x="3590924" y="0"/>
                </a:lnTo>
                <a:cubicBezTo>
                  <a:pt x="3654008" y="0"/>
                  <a:pt x="3705225" y="51217"/>
                  <a:pt x="3705225" y="114301"/>
                </a:cubicBezTo>
                <a:lnTo>
                  <a:pt x="3705225" y="1142999"/>
                </a:lnTo>
                <a:cubicBezTo>
                  <a:pt x="3705225" y="1206083"/>
                  <a:pt x="3654008" y="1257300"/>
                  <a:pt x="359092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E50914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16" name="Shape 13"/>
          <p:cNvSpPr/>
          <p:nvPr/>
        </p:nvSpPr>
        <p:spPr>
          <a:xfrm>
            <a:off x="9785350" y="479213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7" name="Text 14"/>
          <p:cNvSpPr/>
          <p:nvPr/>
        </p:nvSpPr>
        <p:spPr>
          <a:xfrm>
            <a:off x="8207375" y="5211235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16900" y="5516035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inversión anual en tecnología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io.forbes.com/05938cf002f8ef6d104c00077f1502894553a7e7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0344" b="103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E50914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770604"/>
            <a:ext cx="1866900" cy="390525"/>
          </a:xfrm>
          <a:custGeom>
            <a:avLst/>
            <a:gdLst/>
            <a:ahLst/>
            <a:cxnLst/>
            <a:rect l="l" t="t" r="r" b="b"/>
            <a:pathLst>
              <a:path w="1866900" h="390525">
                <a:moveTo>
                  <a:pt x="76199" y="0"/>
                </a:moveTo>
                <a:lnTo>
                  <a:pt x="1790701" y="0"/>
                </a:lnTo>
                <a:cubicBezTo>
                  <a:pt x="1832784" y="0"/>
                  <a:pt x="1866900" y="34116"/>
                  <a:pt x="1866900" y="76199"/>
                </a:cubicBezTo>
                <a:lnTo>
                  <a:pt x="1866900" y="314326"/>
                </a:lnTo>
                <a:cubicBezTo>
                  <a:pt x="1866900" y="356409"/>
                  <a:pt x="1832784" y="390525"/>
                  <a:pt x="17907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889136"/>
            <a:ext cx="16367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10. CONCLUSIONES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74369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Liderazgo Tecnológico Estratégico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233" y="1964402"/>
            <a:ext cx="5609167" cy="2313517"/>
          </a:xfrm>
          <a:custGeom>
            <a:avLst/>
            <a:gdLst/>
            <a:ahLst/>
            <a:cxnLst/>
            <a:rect l="l" t="t" r="r" b="b"/>
            <a:pathLst>
              <a:path w="5609167" h="2313517">
                <a:moveTo>
                  <a:pt x="114311" y="0"/>
                </a:moveTo>
                <a:lnTo>
                  <a:pt x="5494856" y="0"/>
                </a:lnTo>
                <a:cubicBezTo>
                  <a:pt x="5557988" y="0"/>
                  <a:pt x="5609167" y="51179"/>
                  <a:pt x="5609167" y="114311"/>
                </a:cubicBezTo>
                <a:lnTo>
                  <a:pt x="5609167" y="2199206"/>
                </a:lnTo>
                <a:cubicBezTo>
                  <a:pt x="5609167" y="2262338"/>
                  <a:pt x="5557988" y="2313517"/>
                  <a:pt x="5494856" y="2313517"/>
                </a:cubicBezTo>
                <a:lnTo>
                  <a:pt x="114311" y="2313517"/>
                </a:lnTo>
                <a:cubicBezTo>
                  <a:pt x="51179" y="2313517"/>
                  <a:pt x="0" y="2262338"/>
                  <a:pt x="0" y="2199206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 w="11289">
            <a:solidFill>
              <a:srgbClr val="E50914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7592" y="219723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9" name="Text 6"/>
          <p:cNvSpPr/>
          <p:nvPr/>
        </p:nvSpPr>
        <p:spPr>
          <a:xfrm>
            <a:off x="818092" y="2159133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Filosofía Tecnológica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9967" y="2540133"/>
            <a:ext cx="5295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Cinépolis hace una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5C51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distinción clara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entre ser líder tecnológico y perseguir indiscriminadamente "lo último". La implementación de innovaciones debe ser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muy acertada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9967" y="3397383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94267" y="3511683"/>
            <a:ext cx="506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"El criterio de adopción es que la tecnología sirva para mantener el liderazgo, no para demostrarlo."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95483" y="1964402"/>
            <a:ext cx="5609167" cy="2313517"/>
          </a:xfrm>
          <a:custGeom>
            <a:avLst/>
            <a:gdLst/>
            <a:ahLst/>
            <a:cxnLst/>
            <a:rect l="l" t="t" r="r" b="b"/>
            <a:pathLst>
              <a:path w="5609167" h="2313517">
                <a:moveTo>
                  <a:pt x="114311" y="0"/>
                </a:moveTo>
                <a:lnTo>
                  <a:pt x="5494856" y="0"/>
                </a:lnTo>
                <a:cubicBezTo>
                  <a:pt x="5557988" y="0"/>
                  <a:pt x="5609167" y="51179"/>
                  <a:pt x="5609167" y="114311"/>
                </a:cubicBezTo>
                <a:lnTo>
                  <a:pt x="5609167" y="2199206"/>
                </a:lnTo>
                <a:cubicBezTo>
                  <a:pt x="5609167" y="2262338"/>
                  <a:pt x="5557988" y="2313517"/>
                  <a:pt x="5494856" y="2313517"/>
                </a:cubicBezTo>
                <a:lnTo>
                  <a:pt x="114311" y="2313517"/>
                </a:lnTo>
                <a:cubicBezTo>
                  <a:pt x="51179" y="2313517"/>
                  <a:pt x="0" y="2262338"/>
                  <a:pt x="0" y="2199206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 w="11289">
            <a:solidFill>
              <a:srgbClr val="E50914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14029" y="219723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5" name="Text 12"/>
          <p:cNvSpPr/>
          <p:nvPr/>
        </p:nvSpPr>
        <p:spPr>
          <a:xfrm>
            <a:off x="6628342" y="2159133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Resultados Tangibles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9267" y="25782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7" name="Text 14"/>
          <p:cNvSpPr/>
          <p:nvPr/>
        </p:nvSpPr>
        <p:spPr>
          <a:xfrm>
            <a:off x="6656917" y="2540133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Ecosistema digital que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eliminó filas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en taquilla y dulcería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409267" y="28830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19" name="Text 16"/>
          <p:cNvSpPr/>
          <p:nvPr/>
        </p:nvSpPr>
        <p:spPr>
          <a:xfrm>
            <a:off x="6656917" y="2844933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Clientes disfrutan películas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sin preocupaciones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9267" y="31878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1" name="Text 18"/>
          <p:cNvSpPr/>
          <p:nvPr/>
        </p:nvSpPr>
        <p:spPr>
          <a:xfrm>
            <a:off x="6656917" y="3149733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Soluciones basadas en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preferencias de usuarios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y objetivos de negocio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09267" y="34926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3" name="Text 20"/>
          <p:cNvSpPr/>
          <p:nvPr/>
        </p:nvSpPr>
        <p:spPr>
          <a:xfrm>
            <a:off x="6656917" y="3454533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+25 años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de evolución digital continua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85233" y="4514981"/>
            <a:ext cx="11419417" cy="1570567"/>
          </a:xfrm>
          <a:custGeom>
            <a:avLst/>
            <a:gdLst/>
            <a:ahLst/>
            <a:cxnLst/>
            <a:rect l="l" t="t" r="r" b="b"/>
            <a:pathLst>
              <a:path w="11419417" h="1570567">
                <a:moveTo>
                  <a:pt x="114306" y="0"/>
                </a:moveTo>
                <a:lnTo>
                  <a:pt x="11305111" y="0"/>
                </a:lnTo>
                <a:cubicBezTo>
                  <a:pt x="11368240" y="0"/>
                  <a:pt x="11419417" y="51176"/>
                  <a:pt x="11419417" y="114306"/>
                </a:cubicBezTo>
                <a:lnTo>
                  <a:pt x="11419417" y="1456261"/>
                </a:lnTo>
                <a:cubicBezTo>
                  <a:pt x="11419417" y="1519390"/>
                  <a:pt x="11368240" y="1570567"/>
                  <a:pt x="11305111" y="1570567"/>
                </a:cubicBezTo>
                <a:lnTo>
                  <a:pt x="114306" y="1570567"/>
                </a:lnTo>
                <a:cubicBezTo>
                  <a:pt x="51176" y="1570567"/>
                  <a:pt x="0" y="1519390"/>
                  <a:pt x="0" y="1456261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rotWithShape="1" flip="none">
            <a:gsLst>
              <a:gs pos="0">
                <a:srgbClr val="E50914">
                  <a:alpha val="30000"/>
                </a:srgbClr>
              </a:gs>
              <a:gs pos="100000">
                <a:srgbClr val="F5C518">
                  <a:alpha val="20000"/>
                </a:srgbClr>
              </a:gs>
            </a:gsLst>
            <a:lin ang="0" scaled="1"/>
          </a:gradFill>
          <a:ln w="11289">
            <a:solidFill>
              <a:srgbClr val="F5C518">
                <a:alpha val="30196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3298" y="5127622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144661"/>
                </a:moveTo>
                <a:cubicBezTo>
                  <a:pt x="0" y="100258"/>
                  <a:pt x="35964" y="64294"/>
                  <a:pt x="80367" y="64294"/>
                </a:cubicBezTo>
                <a:lnTo>
                  <a:pt x="85725" y="64294"/>
                </a:lnTo>
                <a:cubicBezTo>
                  <a:pt x="97579" y="64294"/>
                  <a:pt x="107156" y="73871"/>
                  <a:pt x="107156" y="85725"/>
                </a:cubicBezTo>
                <a:cubicBezTo>
                  <a:pt x="107156" y="97579"/>
                  <a:pt x="97579" y="107156"/>
                  <a:pt x="85725" y="107156"/>
                </a:cubicBezTo>
                <a:lnTo>
                  <a:pt x="80367" y="107156"/>
                </a:lnTo>
                <a:cubicBezTo>
                  <a:pt x="59673" y="107156"/>
                  <a:pt x="42863" y="123966"/>
                  <a:pt x="42863" y="144661"/>
                </a:cubicBezTo>
                <a:lnTo>
                  <a:pt x="42863" y="150019"/>
                </a:lnTo>
                <a:lnTo>
                  <a:pt x="85725" y="150019"/>
                </a:lnTo>
                <a:cubicBezTo>
                  <a:pt x="109366" y="150019"/>
                  <a:pt x="128588" y="169240"/>
                  <a:pt x="128588" y="192881"/>
                </a:cubicBezTo>
                <a:lnTo>
                  <a:pt x="128588" y="235744"/>
                </a:lnTo>
                <a:cubicBezTo>
                  <a:pt x="128588" y="259385"/>
                  <a:pt x="109366" y="278606"/>
                  <a:pt x="85725" y="278606"/>
                </a:cubicBezTo>
                <a:lnTo>
                  <a:pt x="42863" y="278606"/>
                </a:lnTo>
                <a:cubicBezTo>
                  <a:pt x="19221" y="278606"/>
                  <a:pt x="0" y="259385"/>
                  <a:pt x="0" y="235744"/>
                </a:cubicBezTo>
                <a:lnTo>
                  <a:pt x="0" y="144661"/>
                </a:lnTo>
                <a:close/>
                <a:moveTo>
                  <a:pt x="171450" y="144661"/>
                </a:moveTo>
                <a:cubicBezTo>
                  <a:pt x="171450" y="100258"/>
                  <a:pt x="207414" y="64294"/>
                  <a:pt x="251817" y="64294"/>
                </a:cubicBezTo>
                <a:lnTo>
                  <a:pt x="257175" y="64294"/>
                </a:lnTo>
                <a:cubicBezTo>
                  <a:pt x="269029" y="64294"/>
                  <a:pt x="278606" y="73871"/>
                  <a:pt x="278606" y="85725"/>
                </a:cubicBezTo>
                <a:cubicBezTo>
                  <a:pt x="278606" y="97579"/>
                  <a:pt x="269029" y="107156"/>
                  <a:pt x="257175" y="107156"/>
                </a:cubicBezTo>
                <a:lnTo>
                  <a:pt x="251817" y="107156"/>
                </a:lnTo>
                <a:cubicBezTo>
                  <a:pt x="231123" y="107156"/>
                  <a:pt x="214313" y="123966"/>
                  <a:pt x="214313" y="144661"/>
                </a:cubicBezTo>
                <a:lnTo>
                  <a:pt x="214313" y="150019"/>
                </a:lnTo>
                <a:lnTo>
                  <a:pt x="257175" y="150019"/>
                </a:lnTo>
                <a:cubicBezTo>
                  <a:pt x="280816" y="150019"/>
                  <a:pt x="300038" y="169240"/>
                  <a:pt x="300038" y="192881"/>
                </a:cubicBezTo>
                <a:lnTo>
                  <a:pt x="300038" y="235744"/>
                </a:lnTo>
                <a:cubicBezTo>
                  <a:pt x="300038" y="259385"/>
                  <a:pt x="280816" y="278606"/>
                  <a:pt x="257175" y="278606"/>
                </a:cubicBezTo>
                <a:lnTo>
                  <a:pt x="214313" y="278606"/>
                </a:lnTo>
                <a:cubicBezTo>
                  <a:pt x="190671" y="278606"/>
                  <a:pt x="171450" y="259385"/>
                  <a:pt x="171450" y="235744"/>
                </a:cubicBezTo>
                <a:lnTo>
                  <a:pt x="171450" y="144661"/>
                </a:lnTo>
                <a:close/>
              </a:path>
            </a:pathLst>
          </a:custGeom>
          <a:solidFill>
            <a:srgbClr val="F5C518"/>
          </a:solidFill>
          <a:ln/>
        </p:spPr>
      </p:sp>
      <p:sp>
        <p:nvSpPr>
          <p:cNvPr id="26" name="Text 23"/>
          <p:cNvSpPr/>
          <p:nvPr/>
        </p:nvSpPr>
        <p:spPr>
          <a:xfrm>
            <a:off x="999199" y="4709713"/>
            <a:ext cx="1070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 Clave del Éxito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99199" y="5052613"/>
            <a:ext cx="106965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D1D5D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La transformación digital de Cinépolis demuestra que la tecnología debe estar al servicio de la estrategia de negocio, no al revés. Cada implementación tecnológica responde a un objetivo comercial claro y medible, creando un ecosistema digital que beneficia tanto a la empresa como a sus clientes.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CINÉPOLIS: Transformación Digital y Tecnologías IT</dc:title>
  <dc:subject>CINÉPOLIS: Transformación Digital y Tecnologías IT</dc:subject>
  <dc:creator>Kimi</dc:creator>
  <cp:lastModifiedBy>Kimi</cp:lastModifiedBy>
  <cp:revision>1</cp:revision>
  <dcterms:created xsi:type="dcterms:W3CDTF">2026-03-21T03:25:35Z</dcterms:created>
  <dcterms:modified xsi:type="dcterms:W3CDTF">2026-03-21T03:25:35Z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{"Label":"CINÉPOLIS: Transformación Digital y Tecnologías IT","ContentProducer":"001191110108MACG2KBH8F10000","ProduceID":"19d0e6bc-0f52-8557-8000-00006169eb3c","ReservedCode1":"","ContentPropagator":"001191110108MACG2KBH8F20000","PropagateID":"19d0e6bc-0f52-8557-8000-00006169eb3c","ReservedCode2":""}</vt:lpwstr>
  </property>
</Properties>
</file>